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4033428"/>
            <a:ext cx="2011680"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4060860"/>
            <a:ext cx="201168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4088292"/>
            <a:ext cx="2011680" cy="18288"/>
          </a:xfrm>
          <a:prstGeom prst="rect">
            <a:avLst/>
          </a:prstGeom>
          <a:solidFill>
            <a:srgbClr val="3A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411480"/>
            <a:ext cx="3657600" cy="182880"/>
          </a:xfrm>
          <a:prstGeom prst="rect">
            <a:avLst/>
          </a:prstGeom>
          <a:noFill/>
        </p:spPr>
        <p:txBody>
          <a:bodyPr wrap="square">
            <a:spAutoFit/>
          </a:bodyPr>
          <a:lstStyle/>
          <a:p>
            <a:pPr algn="l"/>
            <a:r>
              <a:rPr sz="700" b="1" i="0">
                <a:solidFill>
                  <a:srgbClr val="C5D2E5"/>
                </a:solidFill>
              </a:rPr>
              <a:t>LAYOUT ／ 表紙 (title_cover)</a:t>
            </a:r>
          </a:p>
        </p:txBody>
      </p:sp>
      <p:sp>
        <p:nvSpPr>
          <p:cNvPr id="8" name="TextBox 7"/>
          <p:cNvSpPr txBox="1"/>
          <p:nvPr/>
        </p:nvSpPr>
        <p:spPr>
          <a:xfrm>
            <a:off x="485371" y="3218688"/>
            <a:ext cx="10972800" cy="822960"/>
          </a:xfrm>
          <a:prstGeom prst="rect">
            <a:avLst/>
          </a:prstGeom>
          <a:noFill/>
        </p:spPr>
        <p:txBody>
          <a:bodyPr wrap="square">
            <a:spAutoFit/>
          </a:bodyPr>
          <a:lstStyle/>
          <a:p>
            <a:pPr algn="l"/>
            <a:r>
              <a:rPr sz="4000" b="1" i="0" dirty="0" err="1">
                <a:solidFill>
                  <a:srgbClr val="FFFFFF"/>
                </a:solidFill>
              </a:rPr>
              <a:t>タイトル</a:t>
            </a:r>
            <a:endParaRPr sz="4000" b="1" i="0" dirty="0">
              <a:solidFill>
                <a:srgbClr val="FFFFFF"/>
              </a:solidFill>
            </a:endParaRPr>
          </a:p>
        </p:txBody>
      </p:sp>
      <p:sp>
        <p:nvSpPr>
          <p:cNvPr id="9" name="TextBox 8"/>
          <p:cNvSpPr txBox="1"/>
          <p:nvPr/>
        </p:nvSpPr>
        <p:spPr>
          <a:xfrm>
            <a:off x="457200" y="4246233"/>
            <a:ext cx="9144000" cy="411480"/>
          </a:xfrm>
          <a:prstGeom prst="rect">
            <a:avLst/>
          </a:prstGeom>
          <a:noFill/>
        </p:spPr>
        <p:txBody>
          <a:bodyPr wrap="square">
            <a:spAutoFit/>
          </a:bodyPr>
          <a:lstStyle/>
          <a:p>
            <a:pPr algn="l"/>
            <a:r>
              <a:rPr sz="1600" b="1" i="0" dirty="0" err="1">
                <a:solidFill>
                  <a:srgbClr val="C5D2E5"/>
                </a:solidFill>
              </a:rPr>
              <a:t>サブタイトル</a:t>
            </a:r>
            <a:r>
              <a:rPr sz="1600" b="1" i="0" dirty="0">
                <a:solidFill>
                  <a:srgbClr val="C5D2E5"/>
                </a:solidFill>
              </a:rPr>
              <a:t> ／ </a:t>
            </a:r>
            <a:r>
              <a:rPr sz="1600" b="1" i="0" dirty="0" err="1">
                <a:solidFill>
                  <a:srgbClr val="C5D2E5"/>
                </a:solidFill>
              </a:rPr>
              <a:t>このスライドで伝える主張を一行で記す</a:t>
            </a:r>
            <a:endParaRPr sz="1600" b="1" i="0" dirty="0">
              <a:solidFill>
                <a:srgbClr val="C5D2E5"/>
              </a:solidFill>
            </a:endParaRPr>
          </a:p>
        </p:txBody>
      </p:sp>
      <p:sp>
        <p:nvSpPr>
          <p:cNvPr id="10" name="Rectangle 9"/>
          <p:cNvSpPr/>
          <p:nvPr/>
        </p:nvSpPr>
        <p:spPr>
          <a:xfrm>
            <a:off x="563727" y="6002528"/>
            <a:ext cx="11064240" cy="9144"/>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3727" y="6066536"/>
            <a:ext cx="1828800" cy="164592"/>
          </a:xfrm>
          <a:prstGeom prst="rect">
            <a:avLst/>
          </a:prstGeom>
          <a:noFill/>
        </p:spPr>
        <p:txBody>
          <a:bodyPr wrap="square">
            <a:spAutoFit/>
          </a:bodyPr>
          <a:lstStyle/>
          <a:p>
            <a:pPr algn="l"/>
            <a:r>
              <a:rPr sz="700" b="1" i="0">
                <a:solidFill>
                  <a:srgbClr val="C5D2E5"/>
                </a:solidFill>
              </a:rPr>
              <a:t>PREPARED BY</a:t>
            </a:r>
          </a:p>
        </p:txBody>
      </p:sp>
      <p:sp>
        <p:nvSpPr>
          <p:cNvPr id="12" name="TextBox 11"/>
          <p:cNvSpPr txBox="1"/>
          <p:nvPr/>
        </p:nvSpPr>
        <p:spPr>
          <a:xfrm>
            <a:off x="563727" y="6249416"/>
            <a:ext cx="2286000" cy="201168"/>
          </a:xfrm>
          <a:prstGeom prst="rect">
            <a:avLst/>
          </a:prstGeom>
          <a:noFill/>
        </p:spPr>
        <p:txBody>
          <a:bodyPr wrap="square">
            <a:spAutoFit/>
          </a:bodyPr>
          <a:lstStyle/>
          <a:p>
            <a:pPr algn="l"/>
            <a:r>
              <a:rPr sz="900" b="0" i="0">
                <a:solidFill>
                  <a:srgbClr val="FFFFFF"/>
                </a:solidFill>
              </a:rPr>
              <a:t>提案者名 ／ 所属部署</a:t>
            </a:r>
          </a:p>
        </p:txBody>
      </p:sp>
      <p:sp>
        <p:nvSpPr>
          <p:cNvPr id="13" name="TextBox 12"/>
          <p:cNvSpPr txBox="1"/>
          <p:nvPr/>
        </p:nvSpPr>
        <p:spPr>
          <a:xfrm>
            <a:off x="4587087" y="6066536"/>
            <a:ext cx="914400" cy="164592"/>
          </a:xfrm>
          <a:prstGeom prst="rect">
            <a:avLst/>
          </a:prstGeom>
          <a:noFill/>
        </p:spPr>
        <p:txBody>
          <a:bodyPr wrap="square">
            <a:spAutoFit/>
          </a:bodyPr>
          <a:lstStyle/>
          <a:p>
            <a:pPr algn="l"/>
            <a:r>
              <a:rPr sz="700" b="1" i="0">
                <a:solidFill>
                  <a:srgbClr val="C5D2E5"/>
                </a:solidFill>
              </a:rPr>
              <a:t>DATE</a:t>
            </a:r>
          </a:p>
        </p:txBody>
      </p:sp>
      <p:sp>
        <p:nvSpPr>
          <p:cNvPr id="14" name="TextBox 13"/>
          <p:cNvSpPr txBox="1"/>
          <p:nvPr/>
        </p:nvSpPr>
        <p:spPr>
          <a:xfrm>
            <a:off x="4587087" y="6249416"/>
            <a:ext cx="1828800" cy="201168"/>
          </a:xfrm>
          <a:prstGeom prst="rect">
            <a:avLst/>
          </a:prstGeom>
          <a:noFill/>
        </p:spPr>
        <p:txBody>
          <a:bodyPr wrap="square">
            <a:spAutoFit/>
          </a:bodyPr>
          <a:lstStyle/>
          <a:p>
            <a:pPr algn="l"/>
            <a:r>
              <a:rPr sz="900" b="0" i="0">
                <a:solidFill>
                  <a:srgbClr val="FFFFFF"/>
                </a:solidFill>
              </a:rPr>
              <a:t>2026年XX月XX日</a:t>
            </a:r>
          </a:p>
        </p:txBody>
      </p:sp>
      <p:sp>
        <p:nvSpPr>
          <p:cNvPr id="15" name="TextBox 14"/>
          <p:cNvSpPr txBox="1"/>
          <p:nvPr/>
        </p:nvSpPr>
        <p:spPr>
          <a:xfrm>
            <a:off x="8244687" y="6066536"/>
            <a:ext cx="1828800" cy="164592"/>
          </a:xfrm>
          <a:prstGeom prst="rect">
            <a:avLst/>
          </a:prstGeom>
          <a:noFill/>
        </p:spPr>
        <p:txBody>
          <a:bodyPr wrap="square">
            <a:spAutoFit/>
          </a:bodyPr>
          <a:lstStyle/>
          <a:p>
            <a:pPr algn="l"/>
            <a:r>
              <a:rPr sz="700" b="1" i="0">
                <a:solidFill>
                  <a:srgbClr val="C5D2E5"/>
                </a:solidFill>
              </a:rPr>
              <a:t>CONFIDENTIAL</a:t>
            </a:r>
          </a:p>
        </p:txBody>
      </p:sp>
      <p:sp>
        <p:nvSpPr>
          <p:cNvPr id="16" name="TextBox 15"/>
          <p:cNvSpPr txBox="1"/>
          <p:nvPr/>
        </p:nvSpPr>
        <p:spPr>
          <a:xfrm>
            <a:off x="8244687" y="6249416"/>
            <a:ext cx="2286000" cy="201168"/>
          </a:xfrm>
          <a:prstGeom prst="rect">
            <a:avLst/>
          </a:prstGeom>
          <a:noFill/>
        </p:spPr>
        <p:txBody>
          <a:bodyPr wrap="square">
            <a:spAutoFit/>
          </a:bodyPr>
          <a:lstStyle/>
          <a:p>
            <a:pPr algn="l"/>
            <a:r>
              <a:rPr sz="900" b="0" i="0">
                <a:solidFill>
                  <a:srgbClr val="FFFFFF"/>
                </a:solidFill>
              </a:rPr>
              <a:t>社外秘 ／ 取扱注意</a:t>
            </a:r>
          </a:p>
        </p:txBody>
      </p:sp>
      <p:sp>
        <p:nvSpPr>
          <p:cNvPr id="17" name="Rectangle 16"/>
          <p:cNvSpPr/>
          <p:nvPr/>
        </p:nvSpPr>
        <p:spPr>
          <a:xfrm>
            <a:off x="0" y="6784848"/>
            <a:ext cx="12191695" cy="73152"/>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本提案の結論：新施策の導入により収益性と顧客満足度を同時に改善できる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title_summary ／ 用途: エグゼクティブサマリー ／ 件数: 3〜5論点</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819726"/>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452279"/>
            <a:ext cx="10844784" cy="310896"/>
          </a:xfrm>
          <a:prstGeom prst="rect">
            <a:avLst/>
          </a:prstGeom>
          <a:noFill/>
        </p:spPr>
        <p:txBody>
          <a:bodyPr wrap="square">
            <a:spAutoFit/>
          </a:bodyPr>
          <a:lstStyle/>
          <a:p>
            <a:pPr algn="l"/>
            <a:r>
              <a:rPr sz="850" b="0" i="0" dirty="0">
                <a:solidFill>
                  <a:srgbClr val="FFFFFF"/>
                </a:solidFill>
              </a:rPr>
              <a:t>このスライドで伝える主張：新施策は既存顧客の継続率を15%改善し、年間売上を2.4億円押し上げる試算であり、今期中の意思決定が最大の投資対効果をもたらす。</a:t>
            </a:r>
          </a:p>
        </p:txBody>
      </p:sp>
      <p:sp>
        <p:nvSpPr>
          <p:cNvPr id="10" name="Rectangle 9"/>
          <p:cNvSpPr/>
          <p:nvPr/>
        </p:nvSpPr>
        <p:spPr>
          <a:xfrm>
            <a:off x="594820" y="2419925"/>
            <a:ext cx="3566160" cy="4105656"/>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548" y="2511365"/>
            <a:ext cx="3346704" cy="164592"/>
          </a:xfrm>
          <a:prstGeom prst="rect">
            <a:avLst/>
          </a:prstGeom>
          <a:noFill/>
        </p:spPr>
        <p:txBody>
          <a:bodyPr wrap="square">
            <a:spAutoFit/>
          </a:bodyPr>
          <a:lstStyle/>
          <a:p>
            <a:pPr algn="l"/>
            <a:r>
              <a:rPr sz="750" b="1" i="0">
                <a:solidFill>
                  <a:srgbClr val="1D51A3"/>
                </a:solidFill>
              </a:rPr>
              <a:t>論点 01</a:t>
            </a:r>
          </a:p>
        </p:txBody>
      </p:sp>
      <p:sp>
        <p:nvSpPr>
          <p:cNvPr id="12" name="TextBox 11"/>
          <p:cNvSpPr txBox="1"/>
          <p:nvPr/>
        </p:nvSpPr>
        <p:spPr>
          <a:xfrm>
            <a:off x="704548" y="2694245"/>
            <a:ext cx="3346704" cy="320040"/>
          </a:xfrm>
          <a:prstGeom prst="rect">
            <a:avLst/>
          </a:prstGeom>
          <a:noFill/>
        </p:spPr>
        <p:txBody>
          <a:bodyPr wrap="square">
            <a:spAutoFit/>
          </a:bodyPr>
          <a:lstStyle/>
          <a:p>
            <a:pPr algn="l"/>
            <a:r>
              <a:rPr sz="1000" b="1" i="0">
                <a:solidFill>
                  <a:srgbClr val="0C3570"/>
                </a:solidFill>
              </a:rPr>
              <a:t>市場環境の変化が機会を生む</a:t>
            </a:r>
          </a:p>
        </p:txBody>
      </p:sp>
      <p:sp>
        <p:nvSpPr>
          <p:cNvPr id="13" name="TextBox 12"/>
          <p:cNvSpPr txBox="1"/>
          <p:nvPr/>
        </p:nvSpPr>
        <p:spPr>
          <a:xfrm>
            <a:off x="704548" y="3032573"/>
            <a:ext cx="3346704" cy="347472"/>
          </a:xfrm>
          <a:prstGeom prst="rect">
            <a:avLst/>
          </a:prstGeom>
          <a:noFill/>
        </p:spPr>
        <p:txBody>
          <a:bodyPr wrap="square">
            <a:spAutoFit/>
          </a:bodyPr>
          <a:lstStyle/>
          <a:p>
            <a:pPr algn="l"/>
            <a:r>
              <a:rPr sz="750" b="0" i="0">
                <a:solidFill>
                  <a:srgbClr val="444444"/>
                </a:solidFill>
              </a:rPr>
              <a:t>競合他社の対応が遅れている領域で、早期参入による先行優位を確保できる状況にある。</a:t>
            </a:r>
          </a:p>
        </p:txBody>
      </p:sp>
      <p:sp>
        <p:nvSpPr>
          <p:cNvPr id="14" name="TextBox 13"/>
          <p:cNvSpPr txBox="1"/>
          <p:nvPr/>
        </p:nvSpPr>
        <p:spPr>
          <a:xfrm>
            <a:off x="731980" y="3425765"/>
            <a:ext cx="3291840" cy="502920"/>
          </a:xfrm>
          <a:prstGeom prst="rect">
            <a:avLst/>
          </a:prstGeom>
          <a:noFill/>
        </p:spPr>
        <p:txBody>
          <a:bodyPr wrap="square">
            <a:spAutoFit/>
          </a:bodyPr>
          <a:lstStyle/>
          <a:p>
            <a:pPr algn="l"/>
            <a:r>
              <a:rPr sz="700" b="0" i="0">
                <a:solidFill>
                  <a:srgbClr val="444444"/>
                </a:solidFill>
              </a:rPr>
              <a:t>▶ 成長性：対象市場は年率18%で拡大しており、今後3年間で導入企業数が2倍以上になる見込みであることから、提案の成立余地は十分に大きい。</a:t>
            </a:r>
          </a:p>
        </p:txBody>
      </p:sp>
      <p:sp>
        <p:nvSpPr>
          <p:cNvPr id="15" name="TextBox 14"/>
          <p:cNvSpPr txBox="1"/>
          <p:nvPr/>
        </p:nvSpPr>
        <p:spPr>
          <a:xfrm>
            <a:off x="731980" y="3956117"/>
            <a:ext cx="3291840" cy="502920"/>
          </a:xfrm>
          <a:prstGeom prst="rect">
            <a:avLst/>
          </a:prstGeom>
          <a:noFill/>
        </p:spPr>
        <p:txBody>
          <a:bodyPr wrap="square">
            <a:spAutoFit/>
          </a:bodyPr>
          <a:lstStyle/>
          <a:p>
            <a:pPr algn="l"/>
            <a:r>
              <a:rPr sz="700" b="0" i="0">
                <a:solidFill>
                  <a:srgbClr val="444444"/>
                </a:solidFill>
              </a:rPr>
              <a:t>▶ 参入機会：既存プレイヤーの製品が旧来型アーキテクチャに依存しているため、新技術を活用した提案が差別化要因として機能しやすい環境にある。</a:t>
            </a:r>
          </a:p>
        </p:txBody>
      </p:sp>
      <p:sp>
        <p:nvSpPr>
          <p:cNvPr id="16" name="Rectangle 15"/>
          <p:cNvSpPr/>
          <p:nvPr/>
        </p:nvSpPr>
        <p:spPr>
          <a:xfrm>
            <a:off x="4298139" y="2419925"/>
            <a:ext cx="3566160" cy="4105656"/>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07868" y="2511365"/>
            <a:ext cx="3346704" cy="164592"/>
          </a:xfrm>
          <a:prstGeom prst="rect">
            <a:avLst/>
          </a:prstGeom>
          <a:noFill/>
        </p:spPr>
        <p:txBody>
          <a:bodyPr wrap="square">
            <a:spAutoFit/>
          </a:bodyPr>
          <a:lstStyle/>
          <a:p>
            <a:pPr algn="l"/>
            <a:r>
              <a:rPr sz="750" b="1" i="0">
                <a:solidFill>
                  <a:srgbClr val="1D51A3"/>
                </a:solidFill>
              </a:rPr>
              <a:t>論点 02</a:t>
            </a:r>
          </a:p>
        </p:txBody>
      </p:sp>
      <p:sp>
        <p:nvSpPr>
          <p:cNvPr id="18" name="TextBox 17"/>
          <p:cNvSpPr txBox="1"/>
          <p:nvPr/>
        </p:nvSpPr>
        <p:spPr>
          <a:xfrm>
            <a:off x="4407868" y="2694245"/>
            <a:ext cx="3346704" cy="320040"/>
          </a:xfrm>
          <a:prstGeom prst="rect">
            <a:avLst/>
          </a:prstGeom>
          <a:noFill/>
        </p:spPr>
        <p:txBody>
          <a:bodyPr wrap="square">
            <a:spAutoFit/>
          </a:bodyPr>
          <a:lstStyle/>
          <a:p>
            <a:pPr algn="l"/>
            <a:r>
              <a:rPr sz="1000" b="1" i="0">
                <a:solidFill>
                  <a:srgbClr val="0C3570"/>
                </a:solidFill>
              </a:rPr>
              <a:t>顧客課題は3点に集約される</a:t>
            </a:r>
          </a:p>
        </p:txBody>
      </p:sp>
      <p:sp>
        <p:nvSpPr>
          <p:cNvPr id="19" name="TextBox 18"/>
          <p:cNvSpPr txBox="1"/>
          <p:nvPr/>
        </p:nvSpPr>
        <p:spPr>
          <a:xfrm>
            <a:off x="4407868" y="3032573"/>
            <a:ext cx="3346704" cy="347472"/>
          </a:xfrm>
          <a:prstGeom prst="rect">
            <a:avLst/>
          </a:prstGeom>
          <a:noFill/>
        </p:spPr>
        <p:txBody>
          <a:bodyPr wrap="square">
            <a:spAutoFit/>
          </a:bodyPr>
          <a:lstStyle/>
          <a:p>
            <a:pPr algn="l"/>
            <a:r>
              <a:rPr sz="750" b="0" i="0">
                <a:solidFill>
                  <a:srgbClr val="444444"/>
                </a:solidFill>
              </a:rPr>
              <a:t>コスト・品質・スピードの3軸で顧客の意思決定が行われており、本提案はすべての軸で優位性を持つ。</a:t>
            </a:r>
          </a:p>
        </p:txBody>
      </p:sp>
      <p:sp>
        <p:nvSpPr>
          <p:cNvPr id="20" name="TextBox 19"/>
          <p:cNvSpPr txBox="1"/>
          <p:nvPr/>
        </p:nvSpPr>
        <p:spPr>
          <a:xfrm>
            <a:off x="4435300" y="3425765"/>
            <a:ext cx="3291840" cy="502920"/>
          </a:xfrm>
          <a:prstGeom prst="rect">
            <a:avLst/>
          </a:prstGeom>
          <a:noFill/>
        </p:spPr>
        <p:txBody>
          <a:bodyPr wrap="square">
            <a:spAutoFit/>
          </a:bodyPr>
          <a:lstStyle/>
          <a:p>
            <a:pPr algn="l"/>
            <a:r>
              <a:rPr sz="700" b="0" i="0">
                <a:solidFill>
                  <a:srgbClr val="444444"/>
                </a:solidFill>
              </a:rPr>
              <a:t>▶ コスト：初期費用を抑えつつ運用コストを削減できる構造により、投資回収期間を従来比40%短縮できることが試算で確認されている。</a:t>
            </a:r>
          </a:p>
        </p:txBody>
      </p:sp>
      <p:sp>
        <p:nvSpPr>
          <p:cNvPr id="21" name="TextBox 20"/>
          <p:cNvSpPr txBox="1"/>
          <p:nvPr/>
        </p:nvSpPr>
        <p:spPr>
          <a:xfrm>
            <a:off x="4435300" y="3956117"/>
            <a:ext cx="3291840" cy="502920"/>
          </a:xfrm>
          <a:prstGeom prst="rect">
            <a:avLst/>
          </a:prstGeom>
          <a:noFill/>
        </p:spPr>
        <p:txBody>
          <a:bodyPr wrap="square">
            <a:spAutoFit/>
          </a:bodyPr>
          <a:lstStyle/>
          <a:p>
            <a:pPr algn="l"/>
            <a:r>
              <a:rPr sz="700" b="0" i="0">
                <a:solidFill>
                  <a:srgbClr val="444444"/>
                </a:solidFill>
              </a:rPr>
              <a:t>▶ スピード：導入から稼働まで最短4週間で完了するため、競合他社の平均導入期間（3ヶ月）と比較して意思決定のハードルが大幅に低い。</a:t>
            </a:r>
          </a:p>
        </p:txBody>
      </p:sp>
      <p:sp>
        <p:nvSpPr>
          <p:cNvPr id="22" name="Rectangle 21"/>
          <p:cNvSpPr/>
          <p:nvPr/>
        </p:nvSpPr>
        <p:spPr>
          <a:xfrm>
            <a:off x="8001459" y="2419925"/>
            <a:ext cx="3566160" cy="4105656"/>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11187" y="2511365"/>
            <a:ext cx="3346704" cy="164592"/>
          </a:xfrm>
          <a:prstGeom prst="rect">
            <a:avLst/>
          </a:prstGeom>
          <a:noFill/>
        </p:spPr>
        <p:txBody>
          <a:bodyPr wrap="square">
            <a:spAutoFit/>
          </a:bodyPr>
          <a:lstStyle/>
          <a:p>
            <a:pPr algn="l"/>
            <a:r>
              <a:rPr sz="750" b="1" i="0">
                <a:solidFill>
                  <a:srgbClr val="93B5E6"/>
                </a:solidFill>
              </a:rPr>
              <a:t>論点 03</a:t>
            </a:r>
          </a:p>
        </p:txBody>
      </p:sp>
      <p:sp>
        <p:nvSpPr>
          <p:cNvPr id="24" name="TextBox 23"/>
          <p:cNvSpPr txBox="1"/>
          <p:nvPr/>
        </p:nvSpPr>
        <p:spPr>
          <a:xfrm>
            <a:off x="8111187" y="2694245"/>
            <a:ext cx="3346704" cy="320040"/>
          </a:xfrm>
          <a:prstGeom prst="rect">
            <a:avLst/>
          </a:prstGeom>
          <a:noFill/>
        </p:spPr>
        <p:txBody>
          <a:bodyPr wrap="square">
            <a:spAutoFit/>
          </a:bodyPr>
          <a:lstStyle/>
          <a:p>
            <a:pPr algn="l"/>
            <a:r>
              <a:rPr sz="1000" b="1" i="0">
                <a:solidFill>
                  <a:srgbClr val="FFFFFF"/>
                </a:solidFill>
              </a:rPr>
              <a:t>推奨アクションは今期中の承認</a:t>
            </a:r>
          </a:p>
        </p:txBody>
      </p:sp>
      <p:sp>
        <p:nvSpPr>
          <p:cNvPr id="25" name="TextBox 24"/>
          <p:cNvSpPr txBox="1"/>
          <p:nvPr/>
        </p:nvSpPr>
        <p:spPr>
          <a:xfrm>
            <a:off x="8111187" y="3032573"/>
            <a:ext cx="3346704" cy="347472"/>
          </a:xfrm>
          <a:prstGeom prst="rect">
            <a:avLst/>
          </a:prstGeom>
          <a:noFill/>
        </p:spPr>
        <p:txBody>
          <a:bodyPr wrap="square">
            <a:spAutoFit/>
          </a:bodyPr>
          <a:lstStyle/>
          <a:p>
            <a:pPr algn="l"/>
            <a:r>
              <a:rPr sz="750" b="0" i="0">
                <a:solidFill>
                  <a:srgbClr val="FFFFFF"/>
                </a:solidFill>
              </a:rPr>
              <a:t>予算サイクルと市場タイミングを考慮すると、今期中の意思決定が最大の投資対効果をもたらす。</a:t>
            </a:r>
          </a:p>
        </p:txBody>
      </p:sp>
      <p:sp>
        <p:nvSpPr>
          <p:cNvPr id="26" name="TextBox 25"/>
          <p:cNvSpPr txBox="1"/>
          <p:nvPr/>
        </p:nvSpPr>
        <p:spPr>
          <a:xfrm>
            <a:off x="8138620" y="3425765"/>
            <a:ext cx="3291840" cy="502920"/>
          </a:xfrm>
          <a:prstGeom prst="rect">
            <a:avLst/>
          </a:prstGeom>
          <a:noFill/>
        </p:spPr>
        <p:txBody>
          <a:bodyPr wrap="square">
            <a:spAutoFit/>
          </a:bodyPr>
          <a:lstStyle/>
          <a:p>
            <a:pPr algn="l"/>
            <a:r>
              <a:rPr sz="700" b="0" i="0">
                <a:solidFill>
                  <a:srgbClr val="FFFFFF"/>
                </a:solidFill>
              </a:rPr>
              <a:t>▶ 緊急性：競合他社が同様の施策を検討中であり、先行して導入することで顧客獲得コストを現状比30%低減できる時間的優位が存在する。</a:t>
            </a:r>
          </a:p>
        </p:txBody>
      </p:sp>
      <p:sp>
        <p:nvSpPr>
          <p:cNvPr id="27" name="TextBox 26"/>
          <p:cNvSpPr txBox="1"/>
          <p:nvPr/>
        </p:nvSpPr>
        <p:spPr>
          <a:xfrm>
            <a:off x="8138620" y="3956117"/>
            <a:ext cx="3291840" cy="502920"/>
          </a:xfrm>
          <a:prstGeom prst="rect">
            <a:avLst/>
          </a:prstGeom>
          <a:noFill/>
        </p:spPr>
        <p:txBody>
          <a:bodyPr wrap="square">
            <a:spAutoFit/>
          </a:bodyPr>
          <a:lstStyle/>
          <a:p>
            <a:pPr algn="l"/>
            <a:r>
              <a:rPr sz="700" b="0" i="0">
                <a:solidFill>
                  <a:srgbClr val="FFFFFF"/>
                </a:solidFill>
              </a:rPr>
              <a:t>▶ 次のステップ：本日の承認後、2週間以内にパイロット計画を策定し、翌月から試験運用を開始することで年度内の成果確認が可能となる。</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本日のアジェンダ：4つのテーマで意思決定に必要な情報を提供する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title_agenda ／ 用途: 議題・目次 ／ 件数: 4〜6項目</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17320"/>
            <a:ext cx="5486400" cy="242316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508760"/>
            <a:ext cx="548640" cy="457200"/>
          </a:xfrm>
          <a:prstGeom prst="rect">
            <a:avLst/>
          </a:prstGeom>
          <a:noFill/>
        </p:spPr>
        <p:txBody>
          <a:bodyPr wrap="square">
            <a:spAutoFit/>
          </a:bodyPr>
          <a:lstStyle/>
          <a:p>
            <a:pPr algn="l"/>
            <a:r>
              <a:rPr sz="2200" b="1" i="0">
                <a:solidFill>
                  <a:srgbClr val="CCD8EE"/>
                </a:solidFill>
              </a:rPr>
              <a:t>01</a:t>
            </a:r>
          </a:p>
        </p:txBody>
      </p:sp>
      <p:sp>
        <p:nvSpPr>
          <p:cNvPr id="10" name="TextBox 9"/>
          <p:cNvSpPr txBox="1"/>
          <p:nvPr/>
        </p:nvSpPr>
        <p:spPr>
          <a:xfrm>
            <a:off x="1325880" y="1527048"/>
            <a:ext cx="4572000" cy="320040"/>
          </a:xfrm>
          <a:prstGeom prst="rect">
            <a:avLst/>
          </a:prstGeom>
          <a:noFill/>
        </p:spPr>
        <p:txBody>
          <a:bodyPr wrap="square">
            <a:spAutoFit/>
          </a:bodyPr>
          <a:lstStyle/>
          <a:p>
            <a:pPr algn="l"/>
            <a:r>
              <a:rPr sz="1100" b="1" i="0">
                <a:solidFill>
                  <a:srgbClr val="0C3570"/>
                </a:solidFill>
              </a:rPr>
              <a:t>市場環境の現状分析</a:t>
            </a:r>
          </a:p>
        </p:txBody>
      </p:sp>
      <p:sp>
        <p:nvSpPr>
          <p:cNvPr id="11" name="TextBox 10"/>
          <p:cNvSpPr txBox="1"/>
          <p:nvPr/>
        </p:nvSpPr>
        <p:spPr>
          <a:xfrm>
            <a:off x="1325880" y="1874519"/>
            <a:ext cx="4572000" cy="502920"/>
          </a:xfrm>
          <a:prstGeom prst="rect">
            <a:avLst/>
          </a:prstGeom>
          <a:noFill/>
        </p:spPr>
        <p:txBody>
          <a:bodyPr wrap="square">
            <a:spAutoFit/>
          </a:bodyPr>
          <a:lstStyle/>
          <a:p>
            <a:pPr algn="l"/>
            <a:r>
              <a:rPr sz="800" b="0" i="0">
                <a:solidFill>
                  <a:srgbClr val="444444"/>
                </a:solidFill>
              </a:rPr>
              <a:t>外部環境の変化と機会を整理し、今取り組むべき理由を示す。競合動向・顧客ニーズ・規制変化の3軸で分析する。</a:t>
            </a:r>
          </a:p>
        </p:txBody>
      </p:sp>
      <p:sp>
        <p:nvSpPr>
          <p:cNvPr id="12" name="TextBox 11"/>
          <p:cNvSpPr txBox="1"/>
          <p:nvPr/>
        </p:nvSpPr>
        <p:spPr>
          <a:xfrm>
            <a:off x="1325880" y="2423160"/>
            <a:ext cx="4572000" cy="411480"/>
          </a:xfrm>
          <a:prstGeom prst="rect">
            <a:avLst/>
          </a:prstGeom>
          <a:noFill/>
        </p:spPr>
        <p:txBody>
          <a:bodyPr wrap="square">
            <a:spAutoFit/>
          </a:bodyPr>
          <a:lstStyle/>
          <a:p>
            <a:pPr algn="l"/>
            <a:r>
              <a:rPr sz="750" b="0" i="0">
                <a:solidFill>
                  <a:srgbClr val="444444"/>
                </a:solidFill>
              </a:rPr>
              <a:t>▶ 市場規模・成長率・参入障壁の定量データをもとに、現時点での機会の大きさを客観的に評価する。</a:t>
            </a:r>
          </a:p>
        </p:txBody>
      </p:sp>
      <p:sp>
        <p:nvSpPr>
          <p:cNvPr id="13" name="Rectangle 12"/>
          <p:cNvSpPr/>
          <p:nvPr/>
        </p:nvSpPr>
        <p:spPr>
          <a:xfrm>
            <a:off x="6217920" y="1417320"/>
            <a:ext cx="5486400" cy="242316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508760"/>
            <a:ext cx="548640" cy="457200"/>
          </a:xfrm>
          <a:prstGeom prst="rect">
            <a:avLst/>
          </a:prstGeom>
          <a:noFill/>
        </p:spPr>
        <p:txBody>
          <a:bodyPr wrap="square">
            <a:spAutoFit/>
          </a:bodyPr>
          <a:lstStyle/>
          <a:p>
            <a:pPr algn="l"/>
            <a:r>
              <a:rPr sz="2200" b="1" i="0">
                <a:solidFill>
                  <a:srgbClr val="CCD8EE"/>
                </a:solidFill>
              </a:rPr>
              <a:t>02</a:t>
            </a:r>
          </a:p>
        </p:txBody>
      </p:sp>
      <p:sp>
        <p:nvSpPr>
          <p:cNvPr id="15" name="TextBox 14"/>
          <p:cNvSpPr txBox="1"/>
          <p:nvPr/>
        </p:nvSpPr>
        <p:spPr>
          <a:xfrm>
            <a:off x="6995159" y="1527048"/>
            <a:ext cx="4572000" cy="320040"/>
          </a:xfrm>
          <a:prstGeom prst="rect">
            <a:avLst/>
          </a:prstGeom>
          <a:noFill/>
        </p:spPr>
        <p:txBody>
          <a:bodyPr wrap="square">
            <a:spAutoFit/>
          </a:bodyPr>
          <a:lstStyle/>
          <a:p>
            <a:pPr algn="l"/>
            <a:r>
              <a:rPr sz="1100" b="1" i="0">
                <a:solidFill>
                  <a:srgbClr val="0C3570"/>
                </a:solidFill>
              </a:rPr>
              <a:t>課題の特定と優先順位付け</a:t>
            </a:r>
          </a:p>
        </p:txBody>
      </p:sp>
      <p:sp>
        <p:nvSpPr>
          <p:cNvPr id="16" name="TextBox 15"/>
          <p:cNvSpPr txBox="1"/>
          <p:nvPr/>
        </p:nvSpPr>
        <p:spPr>
          <a:xfrm>
            <a:off x="6995159" y="1874519"/>
            <a:ext cx="4572000" cy="502920"/>
          </a:xfrm>
          <a:prstGeom prst="rect">
            <a:avLst/>
          </a:prstGeom>
          <a:noFill/>
        </p:spPr>
        <p:txBody>
          <a:bodyPr wrap="square">
            <a:spAutoFit/>
          </a:bodyPr>
          <a:lstStyle/>
          <a:p>
            <a:pPr algn="l"/>
            <a:r>
              <a:rPr sz="800" b="0" i="0">
                <a:solidFill>
                  <a:srgbClr val="444444"/>
                </a:solidFill>
              </a:rPr>
              <a:t>顧客インタビューと定量調査から抽出した課題を構造化し、解決インパクトの大きい順に優先順位を設定する。</a:t>
            </a:r>
          </a:p>
        </p:txBody>
      </p:sp>
      <p:sp>
        <p:nvSpPr>
          <p:cNvPr id="17" name="TextBox 16"/>
          <p:cNvSpPr txBox="1"/>
          <p:nvPr/>
        </p:nvSpPr>
        <p:spPr>
          <a:xfrm>
            <a:off x="6995159" y="2423160"/>
            <a:ext cx="4572000" cy="411480"/>
          </a:xfrm>
          <a:prstGeom prst="rect">
            <a:avLst/>
          </a:prstGeom>
          <a:noFill/>
        </p:spPr>
        <p:txBody>
          <a:bodyPr wrap="square">
            <a:spAutoFit/>
          </a:bodyPr>
          <a:lstStyle/>
          <a:p>
            <a:pPr algn="l"/>
            <a:r>
              <a:rPr sz="750" b="0" i="0">
                <a:solidFill>
                  <a:srgbClr val="444444"/>
                </a:solidFill>
              </a:rPr>
              <a:t>▶ 課題の根本原因を因果関係で整理し、対処すべき優先課題と先送り可能な課題を明確に区別して提示する。</a:t>
            </a:r>
          </a:p>
        </p:txBody>
      </p:sp>
      <p:sp>
        <p:nvSpPr>
          <p:cNvPr id="18" name="Rectangle 17"/>
          <p:cNvSpPr/>
          <p:nvPr/>
        </p:nvSpPr>
        <p:spPr>
          <a:xfrm>
            <a:off x="548640" y="3977639"/>
            <a:ext cx="5486400" cy="242316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4069079"/>
            <a:ext cx="548640" cy="457200"/>
          </a:xfrm>
          <a:prstGeom prst="rect">
            <a:avLst/>
          </a:prstGeom>
          <a:noFill/>
        </p:spPr>
        <p:txBody>
          <a:bodyPr wrap="square">
            <a:spAutoFit/>
          </a:bodyPr>
          <a:lstStyle/>
          <a:p>
            <a:pPr algn="l"/>
            <a:r>
              <a:rPr sz="2200" b="1" i="0">
                <a:solidFill>
                  <a:srgbClr val="CCD8EE"/>
                </a:solidFill>
              </a:rPr>
              <a:t>03</a:t>
            </a:r>
          </a:p>
        </p:txBody>
      </p:sp>
      <p:sp>
        <p:nvSpPr>
          <p:cNvPr id="20" name="TextBox 19"/>
          <p:cNvSpPr txBox="1"/>
          <p:nvPr/>
        </p:nvSpPr>
        <p:spPr>
          <a:xfrm>
            <a:off x="1325880" y="4087368"/>
            <a:ext cx="4572000" cy="320040"/>
          </a:xfrm>
          <a:prstGeom prst="rect">
            <a:avLst/>
          </a:prstGeom>
          <a:noFill/>
        </p:spPr>
        <p:txBody>
          <a:bodyPr wrap="square">
            <a:spAutoFit/>
          </a:bodyPr>
          <a:lstStyle/>
          <a:p>
            <a:pPr algn="l"/>
            <a:r>
              <a:rPr sz="1100" b="1" i="0">
                <a:solidFill>
                  <a:srgbClr val="0C3570"/>
                </a:solidFill>
              </a:rPr>
              <a:t>提案内容と期待効果の説明</a:t>
            </a:r>
          </a:p>
        </p:txBody>
      </p:sp>
      <p:sp>
        <p:nvSpPr>
          <p:cNvPr id="21" name="TextBox 20"/>
          <p:cNvSpPr txBox="1"/>
          <p:nvPr/>
        </p:nvSpPr>
        <p:spPr>
          <a:xfrm>
            <a:off x="1325880" y="4434840"/>
            <a:ext cx="4572000" cy="502920"/>
          </a:xfrm>
          <a:prstGeom prst="rect">
            <a:avLst/>
          </a:prstGeom>
          <a:noFill/>
        </p:spPr>
        <p:txBody>
          <a:bodyPr wrap="square">
            <a:spAutoFit/>
          </a:bodyPr>
          <a:lstStyle/>
          <a:p>
            <a:pPr algn="l"/>
            <a:r>
              <a:rPr sz="800" b="0" i="0">
                <a:solidFill>
                  <a:srgbClr val="444444"/>
                </a:solidFill>
              </a:rPr>
              <a:t>具体的な施策内容・実施スケジュール・投資対効果を示し、承認に必要な判断材料をすべて提供する。</a:t>
            </a:r>
          </a:p>
        </p:txBody>
      </p:sp>
      <p:sp>
        <p:nvSpPr>
          <p:cNvPr id="22" name="TextBox 21"/>
          <p:cNvSpPr txBox="1"/>
          <p:nvPr/>
        </p:nvSpPr>
        <p:spPr>
          <a:xfrm>
            <a:off x="1325880" y="4983479"/>
            <a:ext cx="4572000" cy="411480"/>
          </a:xfrm>
          <a:prstGeom prst="rect">
            <a:avLst/>
          </a:prstGeom>
          <a:noFill/>
        </p:spPr>
        <p:txBody>
          <a:bodyPr wrap="square">
            <a:spAutoFit/>
          </a:bodyPr>
          <a:lstStyle/>
          <a:p>
            <a:pPr algn="l"/>
            <a:r>
              <a:rPr sz="750" b="0" i="0">
                <a:solidFill>
                  <a:srgbClr val="444444"/>
                </a:solidFill>
              </a:rPr>
              <a:t>▶ 類似事例のデータを根拠として、期待効果の実現可能性と達成条件を定量的に説明する。</a:t>
            </a:r>
          </a:p>
        </p:txBody>
      </p:sp>
      <p:sp>
        <p:nvSpPr>
          <p:cNvPr id="23" name="Rectangle 22"/>
          <p:cNvSpPr/>
          <p:nvPr/>
        </p:nvSpPr>
        <p:spPr>
          <a:xfrm>
            <a:off x="6217920" y="3977639"/>
            <a:ext cx="5486400" cy="242316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55080" y="4069079"/>
            <a:ext cx="548640" cy="457200"/>
          </a:xfrm>
          <a:prstGeom prst="rect">
            <a:avLst/>
          </a:prstGeom>
          <a:noFill/>
        </p:spPr>
        <p:txBody>
          <a:bodyPr wrap="square">
            <a:spAutoFit/>
          </a:bodyPr>
          <a:lstStyle/>
          <a:p>
            <a:pPr algn="l"/>
            <a:r>
              <a:rPr sz="2200" b="1" i="0">
                <a:solidFill>
                  <a:srgbClr val="FFFFFF"/>
                </a:solidFill>
              </a:rPr>
              <a:t>04</a:t>
            </a:r>
          </a:p>
        </p:txBody>
      </p:sp>
      <p:sp>
        <p:nvSpPr>
          <p:cNvPr id="25" name="TextBox 24"/>
          <p:cNvSpPr txBox="1"/>
          <p:nvPr/>
        </p:nvSpPr>
        <p:spPr>
          <a:xfrm>
            <a:off x="6995159" y="4087368"/>
            <a:ext cx="4572000" cy="320040"/>
          </a:xfrm>
          <a:prstGeom prst="rect">
            <a:avLst/>
          </a:prstGeom>
          <a:noFill/>
        </p:spPr>
        <p:txBody>
          <a:bodyPr wrap="square">
            <a:spAutoFit/>
          </a:bodyPr>
          <a:lstStyle/>
          <a:p>
            <a:pPr algn="l"/>
            <a:r>
              <a:rPr sz="1100" b="1" i="0">
                <a:solidFill>
                  <a:srgbClr val="FFFFFF"/>
                </a:solidFill>
              </a:rPr>
              <a:t>意思決定と次のアクション</a:t>
            </a:r>
          </a:p>
        </p:txBody>
      </p:sp>
      <p:sp>
        <p:nvSpPr>
          <p:cNvPr id="26" name="TextBox 25"/>
          <p:cNvSpPr txBox="1"/>
          <p:nvPr/>
        </p:nvSpPr>
        <p:spPr>
          <a:xfrm>
            <a:off x="6995159" y="4434840"/>
            <a:ext cx="4572000" cy="502920"/>
          </a:xfrm>
          <a:prstGeom prst="rect">
            <a:avLst/>
          </a:prstGeom>
          <a:noFill/>
        </p:spPr>
        <p:txBody>
          <a:bodyPr wrap="square">
            <a:spAutoFit/>
          </a:bodyPr>
          <a:lstStyle/>
          <a:p>
            <a:pPr algn="l"/>
            <a:r>
              <a:rPr sz="800" b="0" i="0">
                <a:solidFill>
                  <a:srgbClr val="FFFFFF"/>
                </a:solidFill>
              </a:rPr>
              <a:t>本日確認いただきたい承認事項と、承認後の具体的なネクストステップを明示する。</a:t>
            </a:r>
          </a:p>
        </p:txBody>
      </p:sp>
      <p:sp>
        <p:nvSpPr>
          <p:cNvPr id="27" name="TextBox 26"/>
          <p:cNvSpPr txBox="1"/>
          <p:nvPr/>
        </p:nvSpPr>
        <p:spPr>
          <a:xfrm>
            <a:off x="6995159" y="4983479"/>
            <a:ext cx="4572000" cy="411480"/>
          </a:xfrm>
          <a:prstGeom prst="rect">
            <a:avLst/>
          </a:prstGeom>
          <a:noFill/>
        </p:spPr>
        <p:txBody>
          <a:bodyPr wrap="square">
            <a:spAutoFit/>
          </a:bodyPr>
          <a:lstStyle/>
          <a:p>
            <a:pPr algn="l"/>
            <a:r>
              <a:rPr sz="750" b="0" i="0">
                <a:solidFill>
                  <a:srgbClr val="FFFFFF"/>
                </a:solidFill>
              </a:rPr>
              <a:t>▶ 承認条件・リスク対応方針・担当者アサインの3点を確認し、プロジェクト開始の合意を得る。</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第2章：市場環境の変化が示す、今取り組むべき3つの理由</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chapter_overview ／ 用途: 章の導入・論点整理 ／ 件数: 2〜5論点</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この章では、市場・顧客・競合の変化から、今取り組むべき理由を示す。3つの論点を通じて、現状維持のリスクと早期行動の優位性を明確にする。</a:t>
            </a:r>
          </a:p>
        </p:txBody>
      </p:sp>
      <p:sp>
        <p:nvSpPr>
          <p:cNvPr id="10" name="Rectangle 9"/>
          <p:cNvSpPr/>
          <p:nvPr/>
        </p:nvSpPr>
        <p:spPr>
          <a:xfrm>
            <a:off x="548640" y="1828800"/>
            <a:ext cx="356616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20240"/>
            <a:ext cx="3346704" cy="164592"/>
          </a:xfrm>
          <a:prstGeom prst="rect">
            <a:avLst/>
          </a:prstGeom>
          <a:noFill/>
        </p:spPr>
        <p:txBody>
          <a:bodyPr wrap="square">
            <a:spAutoFit/>
          </a:bodyPr>
          <a:lstStyle/>
          <a:p>
            <a:pPr algn="l"/>
            <a:r>
              <a:rPr sz="750" b="1" i="0">
                <a:solidFill>
                  <a:srgbClr val="1D51A3"/>
                </a:solidFill>
              </a:rPr>
              <a:t>論点 01</a:t>
            </a:r>
          </a:p>
        </p:txBody>
      </p:sp>
      <p:sp>
        <p:nvSpPr>
          <p:cNvPr id="12" name="TextBox 11"/>
          <p:cNvSpPr txBox="1"/>
          <p:nvPr/>
        </p:nvSpPr>
        <p:spPr>
          <a:xfrm>
            <a:off x="658368" y="2103120"/>
            <a:ext cx="3346704" cy="320040"/>
          </a:xfrm>
          <a:prstGeom prst="rect">
            <a:avLst/>
          </a:prstGeom>
          <a:noFill/>
        </p:spPr>
        <p:txBody>
          <a:bodyPr wrap="square">
            <a:spAutoFit/>
          </a:bodyPr>
          <a:lstStyle/>
          <a:p>
            <a:pPr algn="l"/>
            <a:r>
              <a:rPr sz="1000" b="1" i="0">
                <a:solidFill>
                  <a:srgbClr val="0C3570"/>
                </a:solidFill>
              </a:rPr>
              <a:t>市場変化：拡大が加速している</a:t>
            </a:r>
          </a:p>
        </p:txBody>
      </p:sp>
      <p:sp>
        <p:nvSpPr>
          <p:cNvPr id="13" name="TextBox 12"/>
          <p:cNvSpPr txBox="1"/>
          <p:nvPr/>
        </p:nvSpPr>
        <p:spPr>
          <a:xfrm>
            <a:off x="658368" y="2441448"/>
            <a:ext cx="3346704" cy="347472"/>
          </a:xfrm>
          <a:prstGeom prst="rect">
            <a:avLst/>
          </a:prstGeom>
          <a:noFill/>
        </p:spPr>
        <p:txBody>
          <a:bodyPr wrap="square">
            <a:spAutoFit/>
          </a:bodyPr>
          <a:lstStyle/>
          <a:p>
            <a:pPr algn="l"/>
            <a:r>
              <a:rPr sz="750" b="0" i="0">
                <a:solidFill>
                  <a:srgbClr val="444444"/>
                </a:solidFill>
              </a:rPr>
              <a:t>市場規模や導入企業数が増えており、今後の需要拡大を前提にした施策提案が成立しやすい環境にある。</a:t>
            </a:r>
          </a:p>
        </p:txBody>
      </p:sp>
      <p:sp>
        <p:nvSpPr>
          <p:cNvPr id="14" name="TextBox 13"/>
          <p:cNvSpPr txBox="1"/>
          <p:nvPr/>
        </p:nvSpPr>
        <p:spPr>
          <a:xfrm>
            <a:off x="685800" y="2834640"/>
            <a:ext cx="3291840" cy="502920"/>
          </a:xfrm>
          <a:prstGeom prst="rect">
            <a:avLst/>
          </a:prstGeom>
          <a:noFill/>
        </p:spPr>
        <p:txBody>
          <a:bodyPr wrap="square">
            <a:spAutoFit/>
          </a:bodyPr>
          <a:lstStyle/>
          <a:p>
            <a:pPr algn="l"/>
            <a:r>
              <a:rPr sz="700" b="0" i="0">
                <a:solidFill>
                  <a:srgbClr val="444444"/>
                </a:solidFill>
              </a:rPr>
              <a:t>▶ 成長性：対象市場は年率18%で拡大しており、今後3年間で導入企業数が2倍以上になる見込みであることから、提案の成立余地は十分に大きい。</a:t>
            </a:r>
          </a:p>
        </p:txBody>
      </p:sp>
      <p:sp>
        <p:nvSpPr>
          <p:cNvPr id="15" name="TextBox 14"/>
          <p:cNvSpPr txBox="1"/>
          <p:nvPr/>
        </p:nvSpPr>
        <p:spPr>
          <a:xfrm>
            <a:off x="685800" y="3364992"/>
            <a:ext cx="3291840" cy="502920"/>
          </a:xfrm>
          <a:prstGeom prst="rect">
            <a:avLst/>
          </a:prstGeom>
          <a:noFill/>
        </p:spPr>
        <p:txBody>
          <a:bodyPr wrap="square">
            <a:spAutoFit/>
          </a:bodyPr>
          <a:lstStyle/>
          <a:p>
            <a:pPr algn="l"/>
            <a:r>
              <a:rPr sz="700" b="0" i="0">
                <a:solidFill>
                  <a:srgbClr val="444444"/>
                </a:solidFill>
              </a:rPr>
              <a:t>▶ 参入機会：既存企業の対応が限定的な領域では、早期に提案を開始することで先行優位を取りやすく、顧客獲得コストを抑制できる。</a:t>
            </a:r>
          </a:p>
        </p:txBody>
      </p:sp>
      <p:sp>
        <p:nvSpPr>
          <p:cNvPr id="16" name="Rectangle 15"/>
          <p:cNvSpPr/>
          <p:nvPr/>
        </p:nvSpPr>
        <p:spPr>
          <a:xfrm>
            <a:off x="4251959" y="1828800"/>
            <a:ext cx="356616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61688" y="1920240"/>
            <a:ext cx="3346704" cy="164592"/>
          </a:xfrm>
          <a:prstGeom prst="rect">
            <a:avLst/>
          </a:prstGeom>
          <a:noFill/>
        </p:spPr>
        <p:txBody>
          <a:bodyPr wrap="square">
            <a:spAutoFit/>
          </a:bodyPr>
          <a:lstStyle/>
          <a:p>
            <a:pPr algn="l"/>
            <a:r>
              <a:rPr sz="750" b="1" i="0">
                <a:solidFill>
                  <a:srgbClr val="1D51A3"/>
                </a:solidFill>
              </a:rPr>
              <a:t>論点 02</a:t>
            </a:r>
          </a:p>
        </p:txBody>
      </p:sp>
      <p:sp>
        <p:nvSpPr>
          <p:cNvPr id="18" name="TextBox 17"/>
          <p:cNvSpPr txBox="1"/>
          <p:nvPr/>
        </p:nvSpPr>
        <p:spPr>
          <a:xfrm>
            <a:off x="4361688" y="2103120"/>
            <a:ext cx="3346704" cy="320040"/>
          </a:xfrm>
          <a:prstGeom prst="rect">
            <a:avLst/>
          </a:prstGeom>
          <a:noFill/>
        </p:spPr>
        <p:txBody>
          <a:bodyPr wrap="square">
            <a:spAutoFit/>
          </a:bodyPr>
          <a:lstStyle/>
          <a:p>
            <a:pPr algn="l"/>
            <a:r>
              <a:rPr sz="1000" b="1" i="0">
                <a:solidFill>
                  <a:srgbClr val="0C3570"/>
                </a:solidFill>
              </a:rPr>
              <a:t>顧客変化：ニーズが高度化している</a:t>
            </a:r>
          </a:p>
        </p:txBody>
      </p:sp>
      <p:sp>
        <p:nvSpPr>
          <p:cNvPr id="19" name="TextBox 18"/>
          <p:cNvSpPr txBox="1"/>
          <p:nvPr/>
        </p:nvSpPr>
        <p:spPr>
          <a:xfrm>
            <a:off x="4361688" y="2441448"/>
            <a:ext cx="3346704" cy="347472"/>
          </a:xfrm>
          <a:prstGeom prst="rect">
            <a:avLst/>
          </a:prstGeom>
          <a:noFill/>
        </p:spPr>
        <p:txBody>
          <a:bodyPr wrap="square">
            <a:spAutoFit/>
          </a:bodyPr>
          <a:lstStyle/>
          <a:p>
            <a:pPr algn="l"/>
            <a:r>
              <a:rPr sz="750" b="0" i="0">
                <a:solidFill>
                  <a:srgbClr val="444444"/>
                </a:solidFill>
              </a:rPr>
              <a:t>顧客の要求水準が上がり、従来の提案では差別化が困難になっている。新たな価値提供が求められている。</a:t>
            </a:r>
          </a:p>
        </p:txBody>
      </p:sp>
      <p:sp>
        <p:nvSpPr>
          <p:cNvPr id="20" name="TextBox 19"/>
          <p:cNvSpPr txBox="1"/>
          <p:nvPr/>
        </p:nvSpPr>
        <p:spPr>
          <a:xfrm>
            <a:off x="4389120" y="2834640"/>
            <a:ext cx="3291840" cy="502920"/>
          </a:xfrm>
          <a:prstGeom prst="rect">
            <a:avLst/>
          </a:prstGeom>
          <a:noFill/>
        </p:spPr>
        <p:txBody>
          <a:bodyPr wrap="square">
            <a:spAutoFit/>
          </a:bodyPr>
          <a:lstStyle/>
          <a:p>
            <a:pPr algn="l"/>
            <a:r>
              <a:rPr sz="700" b="0" i="0">
                <a:solidFill>
                  <a:srgbClr val="444444"/>
                </a:solidFill>
              </a:rPr>
              <a:t>▶ ニーズ高度化：顧客が求める機能・品質・スピードの基準が年々上昇しており、従来型の提案では競合との差別化が難しくなっている。</a:t>
            </a:r>
          </a:p>
        </p:txBody>
      </p:sp>
      <p:sp>
        <p:nvSpPr>
          <p:cNvPr id="21" name="TextBox 20"/>
          <p:cNvSpPr txBox="1"/>
          <p:nvPr/>
        </p:nvSpPr>
        <p:spPr>
          <a:xfrm>
            <a:off x="4389120" y="3364992"/>
            <a:ext cx="3291840" cy="502920"/>
          </a:xfrm>
          <a:prstGeom prst="rect">
            <a:avLst/>
          </a:prstGeom>
          <a:noFill/>
        </p:spPr>
        <p:txBody>
          <a:bodyPr wrap="square">
            <a:spAutoFit/>
          </a:bodyPr>
          <a:lstStyle/>
          <a:p>
            <a:pPr algn="l"/>
            <a:r>
              <a:rPr sz="700" b="0" i="0">
                <a:solidFill>
                  <a:srgbClr val="444444"/>
                </a:solidFill>
              </a:rPr>
              <a:t>▶ 意思決定の変化：購買担当者の権限が現場に移行しており、技術的な優位性よりも導入容易性と即効性が評価される傾向が強まっている。</a:t>
            </a:r>
          </a:p>
        </p:txBody>
      </p:sp>
      <p:sp>
        <p:nvSpPr>
          <p:cNvPr id="22" name="Rectangle 21"/>
          <p:cNvSpPr/>
          <p:nvPr/>
        </p:nvSpPr>
        <p:spPr>
          <a:xfrm>
            <a:off x="7955279" y="1828800"/>
            <a:ext cx="3566160"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65007" y="1920240"/>
            <a:ext cx="3346704" cy="164592"/>
          </a:xfrm>
          <a:prstGeom prst="rect">
            <a:avLst/>
          </a:prstGeom>
          <a:noFill/>
        </p:spPr>
        <p:txBody>
          <a:bodyPr wrap="square">
            <a:spAutoFit/>
          </a:bodyPr>
          <a:lstStyle/>
          <a:p>
            <a:pPr algn="l"/>
            <a:r>
              <a:rPr sz="750" b="1" i="0">
                <a:solidFill>
                  <a:srgbClr val="93B5E6"/>
                </a:solidFill>
              </a:rPr>
              <a:t>論点 03</a:t>
            </a:r>
          </a:p>
        </p:txBody>
      </p:sp>
      <p:sp>
        <p:nvSpPr>
          <p:cNvPr id="24" name="TextBox 23"/>
          <p:cNvSpPr txBox="1"/>
          <p:nvPr/>
        </p:nvSpPr>
        <p:spPr>
          <a:xfrm>
            <a:off x="8065007" y="2103120"/>
            <a:ext cx="3346704" cy="320040"/>
          </a:xfrm>
          <a:prstGeom prst="rect">
            <a:avLst/>
          </a:prstGeom>
          <a:noFill/>
        </p:spPr>
        <p:txBody>
          <a:bodyPr wrap="square">
            <a:spAutoFit/>
          </a:bodyPr>
          <a:lstStyle/>
          <a:p>
            <a:pPr algn="l"/>
            <a:r>
              <a:rPr sz="1000" b="1" i="0">
                <a:solidFill>
                  <a:srgbClr val="FFFFFF"/>
                </a:solidFill>
              </a:rPr>
              <a:t>競合変化：対応の遅れが機会を生む</a:t>
            </a:r>
          </a:p>
        </p:txBody>
      </p:sp>
      <p:sp>
        <p:nvSpPr>
          <p:cNvPr id="25" name="TextBox 24"/>
          <p:cNvSpPr txBox="1"/>
          <p:nvPr/>
        </p:nvSpPr>
        <p:spPr>
          <a:xfrm>
            <a:off x="8065007" y="2441448"/>
            <a:ext cx="3346704" cy="347472"/>
          </a:xfrm>
          <a:prstGeom prst="rect">
            <a:avLst/>
          </a:prstGeom>
          <a:noFill/>
        </p:spPr>
        <p:txBody>
          <a:bodyPr wrap="square">
            <a:spAutoFit/>
          </a:bodyPr>
          <a:lstStyle/>
          <a:p>
            <a:pPr algn="l"/>
            <a:r>
              <a:rPr sz="750" b="0" i="0">
                <a:solidFill>
                  <a:srgbClr val="FFFFFF"/>
                </a:solidFill>
              </a:rPr>
              <a:t>主要競合が旧来型アーキテクチャに依存しており、新技術を活用した提案が差別化要因として機能する。</a:t>
            </a:r>
          </a:p>
        </p:txBody>
      </p:sp>
      <p:sp>
        <p:nvSpPr>
          <p:cNvPr id="26" name="TextBox 25"/>
          <p:cNvSpPr txBox="1"/>
          <p:nvPr/>
        </p:nvSpPr>
        <p:spPr>
          <a:xfrm>
            <a:off x="8092440" y="2834640"/>
            <a:ext cx="3291840" cy="502920"/>
          </a:xfrm>
          <a:prstGeom prst="rect">
            <a:avLst/>
          </a:prstGeom>
          <a:noFill/>
        </p:spPr>
        <p:txBody>
          <a:bodyPr wrap="square">
            <a:spAutoFit/>
          </a:bodyPr>
          <a:lstStyle/>
          <a:p>
            <a:pPr algn="l"/>
            <a:r>
              <a:rPr sz="700" b="0" i="0">
                <a:solidFill>
                  <a:srgbClr val="FFFFFF"/>
                </a:solidFill>
              </a:rPr>
              <a:t>▶ 競合の弱点：主要競合3社はいずれも既存システムへの依存度が高く、新技術への移行コストが大きいため、短期間での対応が困難な状況にある。</a:t>
            </a:r>
          </a:p>
        </p:txBody>
      </p:sp>
      <p:sp>
        <p:nvSpPr>
          <p:cNvPr id="27" name="TextBox 26"/>
          <p:cNvSpPr txBox="1"/>
          <p:nvPr/>
        </p:nvSpPr>
        <p:spPr>
          <a:xfrm>
            <a:off x="8092440" y="3364992"/>
            <a:ext cx="3291840" cy="502920"/>
          </a:xfrm>
          <a:prstGeom prst="rect">
            <a:avLst/>
          </a:prstGeom>
          <a:noFill/>
        </p:spPr>
        <p:txBody>
          <a:bodyPr wrap="square">
            <a:spAutoFit/>
          </a:bodyPr>
          <a:lstStyle/>
          <a:p>
            <a:pPr algn="l"/>
            <a:r>
              <a:rPr sz="700" b="0" i="0">
                <a:solidFill>
                  <a:srgbClr val="FFFFFF"/>
                </a:solidFill>
              </a:rPr>
              <a:t>▶ 先行優位：今期中に提案を開始することで、競合が追随する前に顧客との関係を構築し、スイッチングコストを高めることができる。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結論：新施策の導入により、顧客継続率を15%改善し年間2.4億円の増収が見込める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one_message ／ 用途: 単一メッセージ訴求 ／ 件数: 1件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17320"/>
            <a:ext cx="11064240" cy="525780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417320"/>
            <a:ext cx="54864" cy="52578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1554480"/>
            <a:ext cx="2743200" cy="201168"/>
          </a:xfrm>
          <a:prstGeom prst="rect">
            <a:avLst/>
          </a:prstGeom>
          <a:noFill/>
        </p:spPr>
        <p:txBody>
          <a:bodyPr wrap="square">
            <a:spAutoFit/>
          </a:bodyPr>
          <a:lstStyle/>
          <a:p>
            <a:pPr algn="l"/>
            <a:r>
              <a:rPr sz="800" b="1" i="0">
                <a:solidFill>
                  <a:srgbClr val="1D51A3"/>
                </a:solidFill>
              </a:rPr>
              <a:t>MESSAGE 01</a:t>
            </a:r>
          </a:p>
        </p:txBody>
      </p:sp>
      <p:sp>
        <p:nvSpPr>
          <p:cNvPr id="11" name="TextBox 10"/>
          <p:cNvSpPr txBox="1"/>
          <p:nvPr/>
        </p:nvSpPr>
        <p:spPr>
          <a:xfrm>
            <a:off x="777240" y="1828800"/>
            <a:ext cx="10607040" cy="640080"/>
          </a:xfrm>
          <a:prstGeom prst="rect">
            <a:avLst/>
          </a:prstGeom>
          <a:noFill/>
        </p:spPr>
        <p:txBody>
          <a:bodyPr wrap="square">
            <a:spAutoFit/>
          </a:bodyPr>
          <a:lstStyle/>
          <a:p>
            <a:pPr algn="l"/>
            <a:r>
              <a:rPr sz="1800" b="1" i="0">
                <a:solidFill>
                  <a:srgbClr val="0C3570"/>
                </a:solidFill>
              </a:rPr>
              <a:t>「ひとつのスライドには、ひとつのメッセージだけを配置する」</a:t>
            </a:r>
          </a:p>
        </p:txBody>
      </p:sp>
      <p:sp>
        <p:nvSpPr>
          <p:cNvPr id="12" name="TextBox 11"/>
          <p:cNvSpPr txBox="1"/>
          <p:nvPr/>
        </p:nvSpPr>
        <p:spPr>
          <a:xfrm>
            <a:off x="777240" y="2560320"/>
            <a:ext cx="10607040" cy="457200"/>
          </a:xfrm>
          <a:prstGeom prst="rect">
            <a:avLst/>
          </a:prstGeom>
          <a:noFill/>
        </p:spPr>
        <p:txBody>
          <a:bodyPr wrap="square">
            <a:spAutoFit/>
          </a:bodyPr>
          <a:lstStyle/>
          <a:p>
            <a:pPr algn="l"/>
            <a:r>
              <a:rPr sz="1000" b="0" i="0">
                <a:solidFill>
                  <a:srgbClr val="444444"/>
                </a:solidFill>
              </a:rPr>
              <a:t>聞き手の視線を分散させず、最も伝えたい核心となる主張や、意思決定を促すキーメッセージを提示する際に最適な基本レイアウトです。</a:t>
            </a:r>
          </a:p>
        </p:txBody>
      </p:sp>
      <p:sp>
        <p:nvSpPr>
          <p:cNvPr id="13" name="TextBox 12"/>
          <p:cNvSpPr txBox="1"/>
          <p:nvPr/>
        </p:nvSpPr>
        <p:spPr>
          <a:xfrm>
            <a:off x="777240" y="3200400"/>
            <a:ext cx="5212080" cy="731520"/>
          </a:xfrm>
          <a:prstGeom prst="rect">
            <a:avLst/>
          </a:prstGeom>
          <a:noFill/>
        </p:spPr>
        <p:txBody>
          <a:bodyPr wrap="square">
            <a:spAutoFit/>
          </a:bodyPr>
          <a:lstStyle/>
          <a:p>
            <a:pPr algn="l"/>
            <a:r>
              <a:rPr sz="800" b="0" i="0">
                <a:solidFill>
                  <a:srgbClr val="444444"/>
                </a:solidFill>
              </a:rPr>
              <a:t>▶ 根拠1：顧客インタビュー50件の分析から、継続率低下の主因は「導入後サポートの不足」であることが判明しており、本施策はその課題を直接解決する。</a:t>
            </a:r>
          </a:p>
        </p:txBody>
      </p:sp>
      <p:sp>
        <p:nvSpPr>
          <p:cNvPr id="14" name="TextBox 13"/>
          <p:cNvSpPr txBox="1"/>
          <p:nvPr/>
        </p:nvSpPr>
        <p:spPr>
          <a:xfrm>
            <a:off x="6263640" y="3200400"/>
            <a:ext cx="5212080" cy="731520"/>
          </a:xfrm>
          <a:prstGeom prst="rect">
            <a:avLst/>
          </a:prstGeom>
          <a:noFill/>
        </p:spPr>
        <p:txBody>
          <a:bodyPr wrap="square">
            <a:spAutoFit/>
          </a:bodyPr>
          <a:lstStyle/>
          <a:p>
            <a:pPr algn="l"/>
            <a:r>
              <a:rPr sz="800" b="0" i="0">
                <a:solidFill>
                  <a:srgbClr val="444444"/>
                </a:solidFill>
              </a:rPr>
              <a:t>▶ 根拠2：類似施策を導入した競合他社3社の事例では、平均して継続率が12〜18%改善しており、本試算の15%は保守的な見積もりである。</a:t>
            </a:r>
          </a:p>
        </p:txBody>
      </p:sp>
      <p:sp>
        <p:nvSpPr>
          <p:cNvPr id="15" name="TextBox 14"/>
          <p:cNvSpPr txBox="1"/>
          <p:nvPr/>
        </p:nvSpPr>
        <p:spPr>
          <a:xfrm>
            <a:off x="777240" y="4023360"/>
            <a:ext cx="5212080" cy="731520"/>
          </a:xfrm>
          <a:prstGeom prst="rect">
            <a:avLst/>
          </a:prstGeom>
          <a:noFill/>
        </p:spPr>
        <p:txBody>
          <a:bodyPr wrap="square">
            <a:spAutoFit/>
          </a:bodyPr>
          <a:lstStyle/>
          <a:p>
            <a:pPr algn="l"/>
            <a:r>
              <a:rPr sz="800" b="0" i="0">
                <a:solidFill>
                  <a:srgbClr val="444444"/>
                </a:solidFill>
              </a:rPr>
              <a:t>▶ 示唆1：継続率1%の改善が年間約1,600万円の収益改善に相当するため、15%改善で2.4億円の増収効果が期待でき、投資回収期間は8ヶ月と試算される。</a:t>
            </a:r>
          </a:p>
        </p:txBody>
      </p:sp>
      <p:sp>
        <p:nvSpPr>
          <p:cNvPr id="16" name="TextBox 15"/>
          <p:cNvSpPr txBox="1"/>
          <p:nvPr/>
        </p:nvSpPr>
        <p:spPr>
          <a:xfrm>
            <a:off x="6263640" y="4023360"/>
            <a:ext cx="5212080" cy="731520"/>
          </a:xfrm>
          <a:prstGeom prst="rect">
            <a:avLst/>
          </a:prstGeom>
          <a:noFill/>
        </p:spPr>
        <p:txBody>
          <a:bodyPr wrap="square">
            <a:spAutoFit/>
          </a:bodyPr>
          <a:lstStyle/>
          <a:p>
            <a:pPr algn="l"/>
            <a:r>
              <a:rPr sz="800" b="0" i="0">
                <a:solidFill>
                  <a:srgbClr val="444444"/>
                </a:solidFill>
              </a:rPr>
              <a:t>▶ 示唆2：今期中に施策を開始することで、来期の業績目標達成に直接貢献できるため、意思決定の遅延は機会損失に直結することを認識すべきである。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顧客課題は2つの軸に集約できる：コスト負担と運用複雑性が意思決定を阻害している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cards_2 ／ 用途: 2要点の並列整理 ／ 件数: 2件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意思決定を左右する要因は、コスト・運用の2点に整理できる。両課題を同時に解決することが、本提案の核心的な価値である。</a:t>
            </a:r>
          </a:p>
        </p:txBody>
      </p:sp>
      <p:sp>
        <p:nvSpPr>
          <p:cNvPr id="10" name="Rectangle 9"/>
          <p:cNvSpPr/>
          <p:nvPr/>
        </p:nvSpPr>
        <p:spPr>
          <a:xfrm>
            <a:off x="548640" y="1828800"/>
            <a:ext cx="544068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20240"/>
            <a:ext cx="5221224" cy="164592"/>
          </a:xfrm>
          <a:prstGeom prst="rect">
            <a:avLst/>
          </a:prstGeom>
          <a:noFill/>
        </p:spPr>
        <p:txBody>
          <a:bodyPr wrap="square">
            <a:spAutoFit/>
          </a:bodyPr>
          <a:lstStyle/>
          <a:p>
            <a:pPr algn="l"/>
            <a:r>
              <a:rPr sz="750" b="1" i="0">
                <a:solidFill>
                  <a:srgbClr val="1D51A3"/>
                </a:solidFill>
              </a:rPr>
              <a:t>課題 01</a:t>
            </a:r>
          </a:p>
        </p:txBody>
      </p:sp>
      <p:sp>
        <p:nvSpPr>
          <p:cNvPr id="12" name="TextBox 11"/>
          <p:cNvSpPr txBox="1"/>
          <p:nvPr/>
        </p:nvSpPr>
        <p:spPr>
          <a:xfrm>
            <a:off x="658368" y="2103120"/>
            <a:ext cx="5221224" cy="320040"/>
          </a:xfrm>
          <a:prstGeom prst="rect">
            <a:avLst/>
          </a:prstGeom>
          <a:noFill/>
        </p:spPr>
        <p:txBody>
          <a:bodyPr wrap="square">
            <a:spAutoFit/>
          </a:bodyPr>
          <a:lstStyle/>
          <a:p>
            <a:pPr algn="l"/>
            <a:r>
              <a:rPr sz="1000" b="1" i="0">
                <a:solidFill>
                  <a:srgbClr val="0C3570"/>
                </a:solidFill>
              </a:rPr>
              <a:t>コスト負担が意思決定を遅らせる</a:t>
            </a:r>
          </a:p>
        </p:txBody>
      </p:sp>
      <p:sp>
        <p:nvSpPr>
          <p:cNvPr id="13" name="TextBox 12"/>
          <p:cNvSpPr txBox="1"/>
          <p:nvPr/>
        </p:nvSpPr>
        <p:spPr>
          <a:xfrm>
            <a:off x="658368" y="2441448"/>
            <a:ext cx="5221224" cy="347472"/>
          </a:xfrm>
          <a:prstGeom prst="rect">
            <a:avLst/>
          </a:prstGeom>
          <a:noFill/>
        </p:spPr>
        <p:txBody>
          <a:bodyPr wrap="square">
            <a:spAutoFit/>
          </a:bodyPr>
          <a:lstStyle/>
          <a:p>
            <a:pPr algn="l"/>
            <a:r>
              <a:rPr sz="750" b="0" i="0">
                <a:solidFill>
                  <a:srgbClr val="444444"/>
                </a:solidFill>
              </a:rPr>
              <a:t>導入費だけでなく、運用費や人的負担まで含めた総コストが判断材料になる。</a:t>
            </a:r>
          </a:p>
        </p:txBody>
      </p:sp>
      <p:sp>
        <p:nvSpPr>
          <p:cNvPr id="14" name="TextBox 13"/>
          <p:cNvSpPr txBox="1"/>
          <p:nvPr/>
        </p:nvSpPr>
        <p:spPr>
          <a:xfrm>
            <a:off x="685800" y="2834640"/>
            <a:ext cx="5166360" cy="502920"/>
          </a:xfrm>
          <a:prstGeom prst="rect">
            <a:avLst/>
          </a:prstGeom>
          <a:noFill/>
        </p:spPr>
        <p:txBody>
          <a:bodyPr wrap="square">
            <a:spAutoFit/>
          </a:bodyPr>
          <a:lstStyle/>
          <a:p>
            <a:pPr algn="l"/>
            <a:r>
              <a:rPr sz="700" b="0" i="0">
                <a:solidFill>
                  <a:srgbClr val="444444"/>
                </a:solidFill>
              </a:rPr>
              <a:t>▶ 初期費用：導入時に大きな費用が発生すると、短期的な投資対効果を説明できない限り、決裁が遅れやすく、競合他社への流出リスクが高まる。</a:t>
            </a:r>
          </a:p>
        </p:txBody>
      </p:sp>
      <p:sp>
        <p:nvSpPr>
          <p:cNvPr id="15" name="TextBox 14"/>
          <p:cNvSpPr txBox="1"/>
          <p:nvPr/>
        </p:nvSpPr>
        <p:spPr>
          <a:xfrm>
            <a:off x="685800" y="3364992"/>
            <a:ext cx="5166360" cy="502920"/>
          </a:xfrm>
          <a:prstGeom prst="rect">
            <a:avLst/>
          </a:prstGeom>
          <a:noFill/>
        </p:spPr>
        <p:txBody>
          <a:bodyPr wrap="square">
            <a:spAutoFit/>
          </a:bodyPr>
          <a:lstStyle/>
          <a:p>
            <a:pPr algn="l"/>
            <a:r>
              <a:rPr sz="700" b="0" i="0">
                <a:solidFill>
                  <a:srgbClr val="444444"/>
                </a:solidFill>
              </a:rPr>
              <a:t>▶ 運用負荷：導入後に現場の作業や管理工数が増える場合、費用以上に社内定着の障壁になりやすく、ROIの実現を妨げる主因となる。</a:t>
            </a:r>
          </a:p>
        </p:txBody>
      </p:sp>
      <p:sp>
        <p:nvSpPr>
          <p:cNvPr id="16" name="TextBox 15"/>
          <p:cNvSpPr txBox="1"/>
          <p:nvPr/>
        </p:nvSpPr>
        <p:spPr>
          <a:xfrm>
            <a:off x="685800" y="3895344"/>
            <a:ext cx="5166360" cy="502920"/>
          </a:xfrm>
          <a:prstGeom prst="rect">
            <a:avLst/>
          </a:prstGeom>
          <a:noFill/>
        </p:spPr>
        <p:txBody>
          <a:bodyPr wrap="square">
            <a:spAutoFit/>
          </a:bodyPr>
          <a:lstStyle/>
          <a:p>
            <a:pPr algn="l"/>
            <a:r>
              <a:rPr sz="700" b="0" i="0">
                <a:solidFill>
                  <a:srgbClr val="444444"/>
                </a:solidFill>
              </a:rPr>
              <a:t>▶ 対応策：月額サブスクリプション型の料金体系と、既存業務フローへの統合設計により、初期・運用両面のコスト懸念を解消できる。</a:t>
            </a:r>
          </a:p>
        </p:txBody>
      </p:sp>
      <p:sp>
        <p:nvSpPr>
          <p:cNvPr id="17" name="Rectangle 16"/>
          <p:cNvSpPr/>
          <p:nvPr/>
        </p:nvSpPr>
        <p:spPr>
          <a:xfrm>
            <a:off x="6080759" y="1828800"/>
            <a:ext cx="5440680"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90488" y="1920240"/>
            <a:ext cx="5221224" cy="164592"/>
          </a:xfrm>
          <a:prstGeom prst="rect">
            <a:avLst/>
          </a:prstGeom>
          <a:noFill/>
        </p:spPr>
        <p:txBody>
          <a:bodyPr wrap="square">
            <a:spAutoFit/>
          </a:bodyPr>
          <a:lstStyle/>
          <a:p>
            <a:pPr algn="l"/>
            <a:r>
              <a:rPr sz="750" b="1" i="0">
                <a:solidFill>
                  <a:srgbClr val="93B5E6"/>
                </a:solidFill>
              </a:rPr>
              <a:t>課題 02</a:t>
            </a:r>
          </a:p>
        </p:txBody>
      </p:sp>
      <p:sp>
        <p:nvSpPr>
          <p:cNvPr id="19" name="TextBox 18"/>
          <p:cNvSpPr txBox="1"/>
          <p:nvPr/>
        </p:nvSpPr>
        <p:spPr>
          <a:xfrm>
            <a:off x="6190488" y="2103120"/>
            <a:ext cx="5221224" cy="320040"/>
          </a:xfrm>
          <a:prstGeom prst="rect">
            <a:avLst/>
          </a:prstGeom>
          <a:noFill/>
        </p:spPr>
        <p:txBody>
          <a:bodyPr wrap="square">
            <a:spAutoFit/>
          </a:bodyPr>
          <a:lstStyle/>
          <a:p>
            <a:pPr algn="l"/>
            <a:r>
              <a:rPr sz="1000" b="1" i="0">
                <a:solidFill>
                  <a:srgbClr val="FFFFFF"/>
                </a:solidFill>
              </a:rPr>
              <a:t>運用複雑性が現場定着を妨げる</a:t>
            </a:r>
          </a:p>
        </p:txBody>
      </p:sp>
      <p:sp>
        <p:nvSpPr>
          <p:cNvPr id="20" name="TextBox 19"/>
          <p:cNvSpPr txBox="1"/>
          <p:nvPr/>
        </p:nvSpPr>
        <p:spPr>
          <a:xfrm>
            <a:off x="6190488" y="2441448"/>
            <a:ext cx="5221224" cy="347472"/>
          </a:xfrm>
          <a:prstGeom prst="rect">
            <a:avLst/>
          </a:prstGeom>
          <a:noFill/>
        </p:spPr>
        <p:txBody>
          <a:bodyPr wrap="square">
            <a:spAutoFit/>
          </a:bodyPr>
          <a:lstStyle/>
          <a:p>
            <a:pPr algn="l"/>
            <a:r>
              <a:rPr sz="750" b="0" i="0">
                <a:solidFill>
                  <a:srgbClr val="FFFFFF"/>
                </a:solidFill>
              </a:rPr>
              <a:t>システムの複雑さが現場担当者の習熟を妨げ、導入後の活用率低下と成果未達の主因となっている。</a:t>
            </a:r>
          </a:p>
        </p:txBody>
      </p:sp>
      <p:sp>
        <p:nvSpPr>
          <p:cNvPr id="21" name="TextBox 20"/>
          <p:cNvSpPr txBox="1"/>
          <p:nvPr/>
        </p:nvSpPr>
        <p:spPr>
          <a:xfrm>
            <a:off x="6217920" y="2834640"/>
            <a:ext cx="5166360" cy="502920"/>
          </a:xfrm>
          <a:prstGeom prst="rect">
            <a:avLst/>
          </a:prstGeom>
          <a:noFill/>
        </p:spPr>
        <p:txBody>
          <a:bodyPr wrap="square">
            <a:spAutoFit/>
          </a:bodyPr>
          <a:lstStyle/>
          <a:p>
            <a:pPr algn="l"/>
            <a:r>
              <a:rPr sz="700" b="0" i="0">
                <a:solidFill>
                  <a:srgbClr val="FFFFFF"/>
                </a:solidFill>
              </a:rPr>
              <a:t>▶ 習熟コスト：操作が複雑なシステムは研修コストと習熟期間が長くなり、現場担当者の抵抗感が高まって活用率が低下する傾向がある。</a:t>
            </a:r>
          </a:p>
        </p:txBody>
      </p:sp>
      <p:sp>
        <p:nvSpPr>
          <p:cNvPr id="22" name="TextBox 21"/>
          <p:cNvSpPr txBox="1"/>
          <p:nvPr/>
        </p:nvSpPr>
        <p:spPr>
          <a:xfrm>
            <a:off x="6217920" y="3364992"/>
            <a:ext cx="5166360" cy="502920"/>
          </a:xfrm>
          <a:prstGeom prst="rect">
            <a:avLst/>
          </a:prstGeom>
          <a:noFill/>
        </p:spPr>
        <p:txBody>
          <a:bodyPr wrap="square">
            <a:spAutoFit/>
          </a:bodyPr>
          <a:lstStyle/>
          <a:p>
            <a:pPr algn="l"/>
            <a:r>
              <a:rPr sz="700" b="0" i="0">
                <a:solidFill>
                  <a:srgbClr val="FFFFFF"/>
                </a:solidFill>
              </a:rPr>
              <a:t>▶ 保守負担：システム更新や障害対応に専任担当者が必要な場合、IT人材不足の企業では運用継続が困難になり、解約リスクが高まる。</a:t>
            </a:r>
          </a:p>
        </p:txBody>
      </p:sp>
      <p:sp>
        <p:nvSpPr>
          <p:cNvPr id="23" name="TextBox 22"/>
          <p:cNvSpPr txBox="1"/>
          <p:nvPr/>
        </p:nvSpPr>
        <p:spPr>
          <a:xfrm>
            <a:off x="6217920" y="3895344"/>
            <a:ext cx="5166360" cy="502920"/>
          </a:xfrm>
          <a:prstGeom prst="rect">
            <a:avLst/>
          </a:prstGeom>
          <a:noFill/>
        </p:spPr>
        <p:txBody>
          <a:bodyPr wrap="square">
            <a:spAutoFit/>
          </a:bodyPr>
          <a:lstStyle/>
          <a:p>
            <a:pPr algn="l"/>
            <a:r>
              <a:rPr sz="700" b="0" i="0">
                <a:solidFill>
                  <a:srgbClr val="FFFFFF"/>
                </a:solidFill>
              </a:rPr>
              <a:t>▶ 対応策：直感的なUIと自動化機能により、専任担当者なしで運用可能な設計とし、現場定着率を高める仕組みを提供する。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顧客課題は3つに集約できる：コスト・品質・スピードが意思決定を左右する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cards_3 ／ 用途: 3要点の並列整理 ／ 件数: 3件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意思決定を左右する要因は、コスト・品質・スピードの3点に整理できる。本提案はすべての軸で競合優位を持つ。</a:t>
            </a:r>
          </a:p>
        </p:txBody>
      </p:sp>
      <p:sp>
        <p:nvSpPr>
          <p:cNvPr id="10" name="Rectangle 9"/>
          <p:cNvSpPr/>
          <p:nvPr/>
        </p:nvSpPr>
        <p:spPr>
          <a:xfrm>
            <a:off x="548640" y="1828800"/>
            <a:ext cx="359664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20240"/>
            <a:ext cx="3377184" cy="164592"/>
          </a:xfrm>
          <a:prstGeom prst="rect">
            <a:avLst/>
          </a:prstGeom>
          <a:noFill/>
        </p:spPr>
        <p:txBody>
          <a:bodyPr wrap="square">
            <a:spAutoFit/>
          </a:bodyPr>
          <a:lstStyle/>
          <a:p>
            <a:pPr algn="l"/>
            <a:r>
              <a:rPr sz="750" b="1" i="0">
                <a:solidFill>
                  <a:srgbClr val="1D51A3"/>
                </a:solidFill>
              </a:rPr>
              <a:t>課題 01</a:t>
            </a:r>
          </a:p>
        </p:txBody>
      </p:sp>
      <p:sp>
        <p:nvSpPr>
          <p:cNvPr id="12" name="TextBox 11"/>
          <p:cNvSpPr txBox="1"/>
          <p:nvPr/>
        </p:nvSpPr>
        <p:spPr>
          <a:xfrm>
            <a:off x="658368" y="2103120"/>
            <a:ext cx="3377184" cy="320040"/>
          </a:xfrm>
          <a:prstGeom prst="rect">
            <a:avLst/>
          </a:prstGeom>
          <a:noFill/>
        </p:spPr>
        <p:txBody>
          <a:bodyPr wrap="square">
            <a:spAutoFit/>
          </a:bodyPr>
          <a:lstStyle/>
          <a:p>
            <a:pPr algn="l"/>
            <a:r>
              <a:rPr sz="1000" b="1" i="0">
                <a:solidFill>
                  <a:srgbClr val="0C3570"/>
                </a:solidFill>
              </a:rPr>
              <a:t>コスト負担が判断を遅らせる</a:t>
            </a:r>
          </a:p>
        </p:txBody>
      </p:sp>
      <p:sp>
        <p:nvSpPr>
          <p:cNvPr id="13" name="TextBox 12"/>
          <p:cNvSpPr txBox="1"/>
          <p:nvPr/>
        </p:nvSpPr>
        <p:spPr>
          <a:xfrm>
            <a:off x="658368" y="2441448"/>
            <a:ext cx="3377184" cy="347472"/>
          </a:xfrm>
          <a:prstGeom prst="rect">
            <a:avLst/>
          </a:prstGeom>
          <a:noFill/>
        </p:spPr>
        <p:txBody>
          <a:bodyPr wrap="square">
            <a:spAutoFit/>
          </a:bodyPr>
          <a:lstStyle/>
          <a:p>
            <a:pPr algn="l"/>
            <a:r>
              <a:rPr sz="750" b="0" i="0">
                <a:solidFill>
                  <a:srgbClr val="444444"/>
                </a:solidFill>
              </a:rPr>
              <a:t>導入費だけでなく、運用費や人的負担まで含めた総コストが判断材料になる。</a:t>
            </a:r>
          </a:p>
        </p:txBody>
      </p:sp>
      <p:sp>
        <p:nvSpPr>
          <p:cNvPr id="14" name="TextBox 13"/>
          <p:cNvSpPr txBox="1"/>
          <p:nvPr/>
        </p:nvSpPr>
        <p:spPr>
          <a:xfrm>
            <a:off x="685800" y="2834640"/>
            <a:ext cx="3322320" cy="502920"/>
          </a:xfrm>
          <a:prstGeom prst="rect">
            <a:avLst/>
          </a:prstGeom>
          <a:noFill/>
        </p:spPr>
        <p:txBody>
          <a:bodyPr wrap="square">
            <a:spAutoFit/>
          </a:bodyPr>
          <a:lstStyle/>
          <a:p>
            <a:pPr algn="l"/>
            <a:r>
              <a:rPr sz="700" b="0" i="0">
                <a:solidFill>
                  <a:srgbClr val="444444"/>
                </a:solidFill>
              </a:rPr>
              <a:t>▶ 初期費用：導入時に大きな費用が発生すると、短期的な投資対効果を説明できない限り、決裁が遅れやすく機会損失が生じる。</a:t>
            </a:r>
          </a:p>
        </p:txBody>
      </p:sp>
      <p:sp>
        <p:nvSpPr>
          <p:cNvPr id="15" name="TextBox 14"/>
          <p:cNvSpPr txBox="1"/>
          <p:nvPr/>
        </p:nvSpPr>
        <p:spPr>
          <a:xfrm>
            <a:off x="685800" y="3364992"/>
            <a:ext cx="3322320" cy="502920"/>
          </a:xfrm>
          <a:prstGeom prst="rect">
            <a:avLst/>
          </a:prstGeom>
          <a:noFill/>
        </p:spPr>
        <p:txBody>
          <a:bodyPr wrap="square">
            <a:spAutoFit/>
          </a:bodyPr>
          <a:lstStyle/>
          <a:p>
            <a:pPr algn="l"/>
            <a:r>
              <a:rPr sz="700" b="0" i="0">
                <a:solidFill>
                  <a:srgbClr val="444444"/>
                </a:solidFill>
              </a:rPr>
              <a:t>▶ 運用負荷：導入後に現場の作業や管理工数が増える場合、費用以上に社内定着の障壁になりやすく、ROI実現を妨げる。</a:t>
            </a:r>
          </a:p>
        </p:txBody>
      </p:sp>
      <p:sp>
        <p:nvSpPr>
          <p:cNvPr id="16" name="Rectangle 15"/>
          <p:cNvSpPr/>
          <p:nvPr/>
        </p:nvSpPr>
        <p:spPr>
          <a:xfrm>
            <a:off x="4236720" y="1828800"/>
            <a:ext cx="359664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46448" y="1920240"/>
            <a:ext cx="3377184" cy="164592"/>
          </a:xfrm>
          <a:prstGeom prst="rect">
            <a:avLst/>
          </a:prstGeom>
          <a:noFill/>
        </p:spPr>
        <p:txBody>
          <a:bodyPr wrap="square">
            <a:spAutoFit/>
          </a:bodyPr>
          <a:lstStyle/>
          <a:p>
            <a:pPr algn="l"/>
            <a:r>
              <a:rPr sz="750" b="1" i="0">
                <a:solidFill>
                  <a:srgbClr val="1D51A3"/>
                </a:solidFill>
              </a:rPr>
              <a:t>課題 02</a:t>
            </a:r>
          </a:p>
        </p:txBody>
      </p:sp>
      <p:sp>
        <p:nvSpPr>
          <p:cNvPr id="18" name="TextBox 17"/>
          <p:cNvSpPr txBox="1"/>
          <p:nvPr/>
        </p:nvSpPr>
        <p:spPr>
          <a:xfrm>
            <a:off x="4346448" y="2103120"/>
            <a:ext cx="3377184" cy="320040"/>
          </a:xfrm>
          <a:prstGeom prst="rect">
            <a:avLst/>
          </a:prstGeom>
          <a:noFill/>
        </p:spPr>
        <p:txBody>
          <a:bodyPr wrap="square">
            <a:spAutoFit/>
          </a:bodyPr>
          <a:lstStyle/>
          <a:p>
            <a:pPr algn="l"/>
            <a:r>
              <a:rPr sz="1000" b="1" i="0">
                <a:solidFill>
                  <a:srgbClr val="0C3570"/>
                </a:solidFill>
              </a:rPr>
              <a:t>品質基準が年々高度化している</a:t>
            </a:r>
          </a:p>
        </p:txBody>
      </p:sp>
      <p:sp>
        <p:nvSpPr>
          <p:cNvPr id="19" name="TextBox 18"/>
          <p:cNvSpPr txBox="1"/>
          <p:nvPr/>
        </p:nvSpPr>
        <p:spPr>
          <a:xfrm>
            <a:off x="4346448" y="2441448"/>
            <a:ext cx="3377184" cy="347472"/>
          </a:xfrm>
          <a:prstGeom prst="rect">
            <a:avLst/>
          </a:prstGeom>
          <a:noFill/>
        </p:spPr>
        <p:txBody>
          <a:bodyPr wrap="square">
            <a:spAutoFit/>
          </a:bodyPr>
          <a:lstStyle/>
          <a:p>
            <a:pPr algn="l"/>
            <a:r>
              <a:rPr sz="750" b="0" i="0">
                <a:solidFill>
                  <a:srgbClr val="444444"/>
                </a:solidFill>
              </a:rPr>
              <a:t>顧客が求める機能・信頼性・セキュリティの基準が上昇し、従来型の提案では差別化が困難になっている。</a:t>
            </a:r>
          </a:p>
        </p:txBody>
      </p:sp>
      <p:sp>
        <p:nvSpPr>
          <p:cNvPr id="20" name="TextBox 19"/>
          <p:cNvSpPr txBox="1"/>
          <p:nvPr/>
        </p:nvSpPr>
        <p:spPr>
          <a:xfrm>
            <a:off x="4373880" y="2834640"/>
            <a:ext cx="3322320" cy="502920"/>
          </a:xfrm>
          <a:prstGeom prst="rect">
            <a:avLst/>
          </a:prstGeom>
          <a:noFill/>
        </p:spPr>
        <p:txBody>
          <a:bodyPr wrap="square">
            <a:spAutoFit/>
          </a:bodyPr>
          <a:lstStyle/>
          <a:p>
            <a:pPr algn="l"/>
            <a:r>
              <a:rPr sz="700" b="0" i="0">
                <a:solidFill>
                  <a:srgbClr val="444444"/>
                </a:solidFill>
              </a:rPr>
              <a:t>▶ 機能要件：顧客の業務プロセスに深く統合できる機能が求められており、汎用的な製品では個別要件への対応が難しくなっている。</a:t>
            </a:r>
          </a:p>
        </p:txBody>
      </p:sp>
      <p:sp>
        <p:nvSpPr>
          <p:cNvPr id="21" name="TextBox 20"/>
          <p:cNvSpPr txBox="1"/>
          <p:nvPr/>
        </p:nvSpPr>
        <p:spPr>
          <a:xfrm>
            <a:off x="4373880" y="3364992"/>
            <a:ext cx="3322320" cy="502920"/>
          </a:xfrm>
          <a:prstGeom prst="rect">
            <a:avLst/>
          </a:prstGeom>
          <a:noFill/>
        </p:spPr>
        <p:txBody>
          <a:bodyPr wrap="square">
            <a:spAutoFit/>
          </a:bodyPr>
          <a:lstStyle/>
          <a:p>
            <a:pPr algn="l"/>
            <a:r>
              <a:rPr sz="700" b="0" i="0">
                <a:solidFill>
                  <a:srgbClr val="444444"/>
                </a:solidFill>
              </a:rPr>
              <a:t>▶ 信頼性：システム障害による業務停止リスクへの懸念が高まっており、99.9%以上の稼働率保証が選定基準の必須条件となっている。</a:t>
            </a:r>
          </a:p>
        </p:txBody>
      </p:sp>
      <p:sp>
        <p:nvSpPr>
          <p:cNvPr id="22" name="Rectangle 21"/>
          <p:cNvSpPr/>
          <p:nvPr/>
        </p:nvSpPr>
        <p:spPr>
          <a:xfrm>
            <a:off x="7924799" y="1828800"/>
            <a:ext cx="3596640"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34527" y="1920240"/>
            <a:ext cx="3377184" cy="164592"/>
          </a:xfrm>
          <a:prstGeom prst="rect">
            <a:avLst/>
          </a:prstGeom>
          <a:noFill/>
        </p:spPr>
        <p:txBody>
          <a:bodyPr wrap="square">
            <a:spAutoFit/>
          </a:bodyPr>
          <a:lstStyle/>
          <a:p>
            <a:pPr algn="l"/>
            <a:r>
              <a:rPr sz="750" b="1" i="0">
                <a:solidFill>
                  <a:srgbClr val="93B5E6"/>
                </a:solidFill>
              </a:rPr>
              <a:t>課題 03</a:t>
            </a:r>
          </a:p>
        </p:txBody>
      </p:sp>
      <p:sp>
        <p:nvSpPr>
          <p:cNvPr id="24" name="TextBox 23"/>
          <p:cNvSpPr txBox="1"/>
          <p:nvPr/>
        </p:nvSpPr>
        <p:spPr>
          <a:xfrm>
            <a:off x="8034527" y="2103120"/>
            <a:ext cx="3377184" cy="320040"/>
          </a:xfrm>
          <a:prstGeom prst="rect">
            <a:avLst/>
          </a:prstGeom>
          <a:noFill/>
        </p:spPr>
        <p:txBody>
          <a:bodyPr wrap="square">
            <a:spAutoFit/>
          </a:bodyPr>
          <a:lstStyle/>
          <a:p>
            <a:pPr algn="l"/>
            <a:r>
              <a:rPr sz="1000" b="1" i="0">
                <a:solidFill>
                  <a:srgbClr val="FFFFFF"/>
                </a:solidFill>
              </a:rPr>
              <a:t>スピードが競争優位を決める</a:t>
            </a:r>
          </a:p>
        </p:txBody>
      </p:sp>
      <p:sp>
        <p:nvSpPr>
          <p:cNvPr id="25" name="TextBox 24"/>
          <p:cNvSpPr txBox="1"/>
          <p:nvPr/>
        </p:nvSpPr>
        <p:spPr>
          <a:xfrm>
            <a:off x="8034527" y="2441448"/>
            <a:ext cx="3377184" cy="347472"/>
          </a:xfrm>
          <a:prstGeom prst="rect">
            <a:avLst/>
          </a:prstGeom>
          <a:noFill/>
        </p:spPr>
        <p:txBody>
          <a:bodyPr wrap="square">
            <a:spAutoFit/>
          </a:bodyPr>
          <a:lstStyle/>
          <a:p>
            <a:pPr algn="l"/>
            <a:r>
              <a:rPr sz="750" b="0" i="0">
                <a:solidFill>
                  <a:srgbClr val="FFFFFF"/>
                </a:solidFill>
              </a:rPr>
              <a:t>導入から成果創出までの期間が短いほど、顧客の評価が高く、継続率・推奨率ともに向上する傾向がある。</a:t>
            </a:r>
          </a:p>
        </p:txBody>
      </p:sp>
      <p:sp>
        <p:nvSpPr>
          <p:cNvPr id="26" name="TextBox 25"/>
          <p:cNvSpPr txBox="1"/>
          <p:nvPr/>
        </p:nvSpPr>
        <p:spPr>
          <a:xfrm>
            <a:off x="8061960" y="2834640"/>
            <a:ext cx="3322320" cy="502920"/>
          </a:xfrm>
          <a:prstGeom prst="rect">
            <a:avLst/>
          </a:prstGeom>
          <a:noFill/>
        </p:spPr>
        <p:txBody>
          <a:bodyPr wrap="square">
            <a:spAutoFit/>
          </a:bodyPr>
          <a:lstStyle/>
          <a:p>
            <a:pPr algn="l"/>
            <a:r>
              <a:rPr sz="700" b="0" i="0">
                <a:solidFill>
                  <a:srgbClr val="FFFFFF"/>
                </a:solidFill>
              </a:rPr>
              <a:t>▶ 導入速度：競合他社の平均導入期間が3ヶ月であるのに対し、本提案は最短4週間での稼働が可能であり、意思決定のハードルが大幅に低い。</a:t>
            </a:r>
          </a:p>
        </p:txBody>
      </p:sp>
      <p:sp>
        <p:nvSpPr>
          <p:cNvPr id="27" name="TextBox 26"/>
          <p:cNvSpPr txBox="1"/>
          <p:nvPr/>
        </p:nvSpPr>
        <p:spPr>
          <a:xfrm>
            <a:off x="8061960" y="3364992"/>
            <a:ext cx="3322320" cy="502920"/>
          </a:xfrm>
          <a:prstGeom prst="rect">
            <a:avLst/>
          </a:prstGeom>
          <a:noFill/>
        </p:spPr>
        <p:txBody>
          <a:bodyPr wrap="square">
            <a:spAutoFit/>
          </a:bodyPr>
          <a:lstStyle/>
          <a:p>
            <a:pPr algn="l"/>
            <a:r>
              <a:rPr sz="700" b="0" i="0">
                <a:solidFill>
                  <a:srgbClr val="FFFFFF"/>
                </a:solidFill>
              </a:rPr>
              <a:t>▶ 成果速度：導入後2週間以内に初期成果が確認できる設計により、現場担当者のモチベーション維持と経営層への報告が容易になる。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施策の効果は4つの領域で確認できる：売上・コスト・品質・スピードすべてで改善が見込める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cards_4 ／ 用途: 4要点の並列整理 ／ 件数: 4件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本施策は売上・コスト・品質・スピードの4軸すべてで改善効果が見込まれ、単一施策として最大の投資対効果をもたらす。</a:t>
            </a:r>
          </a:p>
        </p:txBody>
      </p:sp>
      <p:sp>
        <p:nvSpPr>
          <p:cNvPr id="10" name="Rectangle 9"/>
          <p:cNvSpPr/>
          <p:nvPr/>
        </p:nvSpPr>
        <p:spPr>
          <a:xfrm>
            <a:off x="548640" y="1828800"/>
            <a:ext cx="267462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20240"/>
            <a:ext cx="2455163" cy="164592"/>
          </a:xfrm>
          <a:prstGeom prst="rect">
            <a:avLst/>
          </a:prstGeom>
          <a:noFill/>
        </p:spPr>
        <p:txBody>
          <a:bodyPr wrap="square">
            <a:spAutoFit/>
          </a:bodyPr>
          <a:lstStyle/>
          <a:p>
            <a:pPr algn="l"/>
            <a:r>
              <a:rPr sz="750" b="1" i="0">
                <a:solidFill>
                  <a:srgbClr val="1D51A3"/>
                </a:solidFill>
              </a:rPr>
              <a:t>効果 01</a:t>
            </a:r>
          </a:p>
        </p:txBody>
      </p:sp>
      <p:sp>
        <p:nvSpPr>
          <p:cNvPr id="12" name="TextBox 11"/>
          <p:cNvSpPr txBox="1"/>
          <p:nvPr/>
        </p:nvSpPr>
        <p:spPr>
          <a:xfrm>
            <a:off x="658368" y="2103120"/>
            <a:ext cx="2455163" cy="320040"/>
          </a:xfrm>
          <a:prstGeom prst="rect">
            <a:avLst/>
          </a:prstGeom>
          <a:noFill/>
        </p:spPr>
        <p:txBody>
          <a:bodyPr wrap="square">
            <a:spAutoFit/>
          </a:bodyPr>
          <a:lstStyle/>
          <a:p>
            <a:pPr algn="l"/>
            <a:r>
              <a:rPr sz="1000" b="1" i="0">
                <a:solidFill>
                  <a:srgbClr val="0C3570"/>
                </a:solidFill>
              </a:rPr>
              <a:t>売上15%増加</a:t>
            </a:r>
          </a:p>
        </p:txBody>
      </p:sp>
      <p:sp>
        <p:nvSpPr>
          <p:cNvPr id="13" name="TextBox 12"/>
          <p:cNvSpPr txBox="1"/>
          <p:nvPr/>
        </p:nvSpPr>
        <p:spPr>
          <a:xfrm>
            <a:off x="658368" y="2441448"/>
            <a:ext cx="2455163" cy="347472"/>
          </a:xfrm>
          <a:prstGeom prst="rect">
            <a:avLst/>
          </a:prstGeom>
          <a:noFill/>
        </p:spPr>
        <p:txBody>
          <a:bodyPr wrap="square">
            <a:spAutoFit/>
          </a:bodyPr>
          <a:lstStyle/>
          <a:p>
            <a:pPr algn="l"/>
            <a:r>
              <a:rPr sz="750" b="0" i="0">
                <a:solidFill>
                  <a:srgbClr val="444444"/>
                </a:solidFill>
              </a:rPr>
              <a:t>継続率改善と新規獲得の両輪で、年間売上を2.4億円押し上げる効果が試算されている。</a:t>
            </a:r>
          </a:p>
        </p:txBody>
      </p:sp>
      <p:sp>
        <p:nvSpPr>
          <p:cNvPr id="14" name="TextBox 13"/>
          <p:cNvSpPr txBox="1"/>
          <p:nvPr/>
        </p:nvSpPr>
        <p:spPr>
          <a:xfrm>
            <a:off x="685800" y="2834640"/>
            <a:ext cx="2400300" cy="502920"/>
          </a:xfrm>
          <a:prstGeom prst="rect">
            <a:avLst/>
          </a:prstGeom>
          <a:noFill/>
        </p:spPr>
        <p:txBody>
          <a:bodyPr wrap="square">
            <a:spAutoFit/>
          </a:bodyPr>
          <a:lstStyle/>
          <a:p>
            <a:pPr algn="l"/>
            <a:r>
              <a:rPr sz="700" b="0" i="0">
                <a:solidFill>
                  <a:srgbClr val="444444"/>
                </a:solidFill>
              </a:rPr>
              <a:t>▶ 継続率：既存顧客の継続率を15%改善することで、解約による機会損失を年間1.6億円削減できる。</a:t>
            </a:r>
          </a:p>
        </p:txBody>
      </p:sp>
      <p:sp>
        <p:nvSpPr>
          <p:cNvPr id="15" name="TextBox 14"/>
          <p:cNvSpPr txBox="1"/>
          <p:nvPr/>
        </p:nvSpPr>
        <p:spPr>
          <a:xfrm>
            <a:off x="685800" y="3364992"/>
            <a:ext cx="2400300" cy="502920"/>
          </a:xfrm>
          <a:prstGeom prst="rect">
            <a:avLst/>
          </a:prstGeom>
          <a:noFill/>
        </p:spPr>
        <p:txBody>
          <a:bodyPr wrap="square">
            <a:spAutoFit/>
          </a:bodyPr>
          <a:lstStyle/>
          <a:p>
            <a:pPr algn="l"/>
            <a:r>
              <a:rPr sz="700" b="0" i="0">
                <a:solidFill>
                  <a:srgbClr val="444444"/>
                </a:solidFill>
              </a:rPr>
              <a:t>▶ 新規獲得：顧客紹介率の向上により、新規獲得コストを現状比25%削減しながら獲得数を増やせる。</a:t>
            </a:r>
          </a:p>
        </p:txBody>
      </p:sp>
      <p:sp>
        <p:nvSpPr>
          <p:cNvPr id="16" name="Rectangle 15"/>
          <p:cNvSpPr/>
          <p:nvPr/>
        </p:nvSpPr>
        <p:spPr>
          <a:xfrm>
            <a:off x="3314700" y="1828800"/>
            <a:ext cx="267462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24428" y="1920240"/>
            <a:ext cx="2455163" cy="164592"/>
          </a:xfrm>
          <a:prstGeom prst="rect">
            <a:avLst/>
          </a:prstGeom>
          <a:noFill/>
        </p:spPr>
        <p:txBody>
          <a:bodyPr wrap="square">
            <a:spAutoFit/>
          </a:bodyPr>
          <a:lstStyle/>
          <a:p>
            <a:pPr algn="l"/>
            <a:r>
              <a:rPr sz="750" b="1" i="0">
                <a:solidFill>
                  <a:srgbClr val="1D51A3"/>
                </a:solidFill>
              </a:rPr>
              <a:t>効果 02</a:t>
            </a:r>
          </a:p>
        </p:txBody>
      </p:sp>
      <p:sp>
        <p:nvSpPr>
          <p:cNvPr id="18" name="TextBox 17"/>
          <p:cNvSpPr txBox="1"/>
          <p:nvPr/>
        </p:nvSpPr>
        <p:spPr>
          <a:xfrm>
            <a:off x="3424428" y="2103120"/>
            <a:ext cx="2455163" cy="320040"/>
          </a:xfrm>
          <a:prstGeom prst="rect">
            <a:avLst/>
          </a:prstGeom>
          <a:noFill/>
        </p:spPr>
        <p:txBody>
          <a:bodyPr wrap="square">
            <a:spAutoFit/>
          </a:bodyPr>
          <a:lstStyle/>
          <a:p>
            <a:pPr algn="l"/>
            <a:r>
              <a:rPr sz="1000" b="1" i="0">
                <a:solidFill>
                  <a:srgbClr val="0C3570"/>
                </a:solidFill>
              </a:rPr>
              <a:t>運用コスト20%削減</a:t>
            </a:r>
          </a:p>
        </p:txBody>
      </p:sp>
      <p:sp>
        <p:nvSpPr>
          <p:cNvPr id="19" name="TextBox 18"/>
          <p:cNvSpPr txBox="1"/>
          <p:nvPr/>
        </p:nvSpPr>
        <p:spPr>
          <a:xfrm>
            <a:off x="3424428" y="2441448"/>
            <a:ext cx="2455163" cy="347472"/>
          </a:xfrm>
          <a:prstGeom prst="rect">
            <a:avLst/>
          </a:prstGeom>
          <a:noFill/>
        </p:spPr>
        <p:txBody>
          <a:bodyPr wrap="square">
            <a:spAutoFit/>
          </a:bodyPr>
          <a:lstStyle/>
          <a:p>
            <a:pPr algn="l"/>
            <a:r>
              <a:rPr sz="750" b="0" i="0">
                <a:solidFill>
                  <a:srgbClr val="444444"/>
                </a:solidFill>
              </a:rPr>
              <a:t>自動化と業務効率化により、現状の運用コストを年間8,000万円削減できる見込みである。</a:t>
            </a:r>
          </a:p>
        </p:txBody>
      </p:sp>
      <p:sp>
        <p:nvSpPr>
          <p:cNvPr id="20" name="TextBox 19"/>
          <p:cNvSpPr txBox="1"/>
          <p:nvPr/>
        </p:nvSpPr>
        <p:spPr>
          <a:xfrm>
            <a:off x="3451860" y="2834640"/>
            <a:ext cx="2400300" cy="502920"/>
          </a:xfrm>
          <a:prstGeom prst="rect">
            <a:avLst/>
          </a:prstGeom>
          <a:noFill/>
        </p:spPr>
        <p:txBody>
          <a:bodyPr wrap="square">
            <a:spAutoFit/>
          </a:bodyPr>
          <a:lstStyle/>
          <a:p>
            <a:pPr algn="l"/>
            <a:r>
              <a:rPr sz="700" b="0" i="0">
                <a:solidFill>
                  <a:srgbClr val="444444"/>
                </a:solidFill>
              </a:rPr>
              <a:t>▶ 自動化：手動対応が必要だった問い合わせの60%を自動化することで、サポート人件費を大幅に削減できる。</a:t>
            </a:r>
          </a:p>
        </p:txBody>
      </p:sp>
      <p:sp>
        <p:nvSpPr>
          <p:cNvPr id="21" name="TextBox 20"/>
          <p:cNvSpPr txBox="1"/>
          <p:nvPr/>
        </p:nvSpPr>
        <p:spPr>
          <a:xfrm>
            <a:off x="3451860" y="3364992"/>
            <a:ext cx="2400300" cy="502920"/>
          </a:xfrm>
          <a:prstGeom prst="rect">
            <a:avLst/>
          </a:prstGeom>
          <a:noFill/>
        </p:spPr>
        <p:txBody>
          <a:bodyPr wrap="square">
            <a:spAutoFit/>
          </a:bodyPr>
          <a:lstStyle/>
          <a:p>
            <a:pPr algn="l"/>
            <a:r>
              <a:rPr sz="700" b="0" i="0">
                <a:solidFill>
                  <a:srgbClr val="444444"/>
                </a:solidFill>
              </a:rPr>
              <a:t>▶ 効率化：業務プロセスの標準化により、担当者1人あたりの処理件数が現状比40%向上する。</a:t>
            </a:r>
          </a:p>
        </p:txBody>
      </p:sp>
      <p:sp>
        <p:nvSpPr>
          <p:cNvPr id="22" name="Rectangle 21"/>
          <p:cNvSpPr/>
          <p:nvPr/>
        </p:nvSpPr>
        <p:spPr>
          <a:xfrm>
            <a:off x="6080759" y="1828800"/>
            <a:ext cx="267462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90488" y="1920240"/>
            <a:ext cx="2455163" cy="164592"/>
          </a:xfrm>
          <a:prstGeom prst="rect">
            <a:avLst/>
          </a:prstGeom>
          <a:noFill/>
        </p:spPr>
        <p:txBody>
          <a:bodyPr wrap="square">
            <a:spAutoFit/>
          </a:bodyPr>
          <a:lstStyle/>
          <a:p>
            <a:pPr algn="l"/>
            <a:r>
              <a:rPr sz="750" b="1" i="0">
                <a:solidFill>
                  <a:srgbClr val="1D51A3"/>
                </a:solidFill>
              </a:rPr>
              <a:t>効果 03</a:t>
            </a:r>
          </a:p>
        </p:txBody>
      </p:sp>
      <p:sp>
        <p:nvSpPr>
          <p:cNvPr id="24" name="TextBox 23"/>
          <p:cNvSpPr txBox="1"/>
          <p:nvPr/>
        </p:nvSpPr>
        <p:spPr>
          <a:xfrm>
            <a:off x="6190488" y="2103120"/>
            <a:ext cx="2455163" cy="320040"/>
          </a:xfrm>
          <a:prstGeom prst="rect">
            <a:avLst/>
          </a:prstGeom>
          <a:noFill/>
        </p:spPr>
        <p:txBody>
          <a:bodyPr wrap="square">
            <a:spAutoFit/>
          </a:bodyPr>
          <a:lstStyle/>
          <a:p>
            <a:pPr algn="l"/>
            <a:r>
              <a:rPr sz="1000" b="1" i="0">
                <a:solidFill>
                  <a:srgbClr val="0C3570"/>
                </a:solidFill>
              </a:rPr>
              <a:t>品質スコア向上</a:t>
            </a:r>
          </a:p>
        </p:txBody>
      </p:sp>
      <p:sp>
        <p:nvSpPr>
          <p:cNvPr id="25" name="TextBox 24"/>
          <p:cNvSpPr txBox="1"/>
          <p:nvPr/>
        </p:nvSpPr>
        <p:spPr>
          <a:xfrm>
            <a:off x="6190488" y="2441448"/>
            <a:ext cx="2455163" cy="347472"/>
          </a:xfrm>
          <a:prstGeom prst="rect">
            <a:avLst/>
          </a:prstGeom>
          <a:noFill/>
        </p:spPr>
        <p:txBody>
          <a:bodyPr wrap="square">
            <a:spAutoFit/>
          </a:bodyPr>
          <a:lstStyle/>
          <a:p>
            <a:pPr algn="l"/>
            <a:r>
              <a:rPr sz="750" b="0" i="0">
                <a:solidFill>
                  <a:srgbClr val="444444"/>
                </a:solidFill>
              </a:rPr>
              <a:t>顧客満足度スコアが現状の72点から85点以上に改善し、NPS（推奨度）も20ポイント向上する。</a:t>
            </a:r>
          </a:p>
        </p:txBody>
      </p:sp>
      <p:sp>
        <p:nvSpPr>
          <p:cNvPr id="26" name="TextBox 25"/>
          <p:cNvSpPr txBox="1"/>
          <p:nvPr/>
        </p:nvSpPr>
        <p:spPr>
          <a:xfrm>
            <a:off x="6217920" y="2834640"/>
            <a:ext cx="2400300" cy="502920"/>
          </a:xfrm>
          <a:prstGeom prst="rect">
            <a:avLst/>
          </a:prstGeom>
          <a:noFill/>
        </p:spPr>
        <p:txBody>
          <a:bodyPr wrap="square">
            <a:spAutoFit/>
          </a:bodyPr>
          <a:lstStyle/>
          <a:p>
            <a:pPr algn="l"/>
            <a:r>
              <a:rPr sz="700" b="0" i="0">
                <a:solidFill>
                  <a:srgbClr val="444444"/>
                </a:solidFill>
              </a:rPr>
              <a:t>▶ 満足度：対応品質の均一化と応答速度の改善により、顧客満足度調査のスコアが18%向上する見込みである。</a:t>
            </a:r>
          </a:p>
        </p:txBody>
      </p:sp>
      <p:sp>
        <p:nvSpPr>
          <p:cNvPr id="27" name="TextBox 26"/>
          <p:cNvSpPr txBox="1"/>
          <p:nvPr/>
        </p:nvSpPr>
        <p:spPr>
          <a:xfrm>
            <a:off x="6217920" y="3364992"/>
            <a:ext cx="2400300" cy="502920"/>
          </a:xfrm>
          <a:prstGeom prst="rect">
            <a:avLst/>
          </a:prstGeom>
          <a:noFill/>
        </p:spPr>
        <p:txBody>
          <a:bodyPr wrap="square">
            <a:spAutoFit/>
          </a:bodyPr>
          <a:lstStyle/>
          <a:p>
            <a:pPr algn="l"/>
            <a:r>
              <a:rPr sz="700" b="0" i="0">
                <a:solidFill>
                  <a:srgbClr val="444444"/>
                </a:solidFill>
              </a:rPr>
              <a:t>▶ 推奨度：NPS向上により口コミ経由の新規問い合わせが増加し、マーケティングコストの削減にも貢献する。</a:t>
            </a:r>
          </a:p>
        </p:txBody>
      </p:sp>
      <p:sp>
        <p:nvSpPr>
          <p:cNvPr id="28" name="Rectangle 27"/>
          <p:cNvSpPr/>
          <p:nvPr/>
        </p:nvSpPr>
        <p:spPr>
          <a:xfrm>
            <a:off x="8846819" y="1828800"/>
            <a:ext cx="2674620"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956547" y="1920240"/>
            <a:ext cx="2455163" cy="164592"/>
          </a:xfrm>
          <a:prstGeom prst="rect">
            <a:avLst/>
          </a:prstGeom>
          <a:noFill/>
        </p:spPr>
        <p:txBody>
          <a:bodyPr wrap="square">
            <a:spAutoFit/>
          </a:bodyPr>
          <a:lstStyle/>
          <a:p>
            <a:pPr algn="l"/>
            <a:r>
              <a:rPr sz="750" b="1" i="0">
                <a:solidFill>
                  <a:srgbClr val="93B5E6"/>
                </a:solidFill>
              </a:rPr>
              <a:t>効果 04</a:t>
            </a:r>
          </a:p>
        </p:txBody>
      </p:sp>
      <p:sp>
        <p:nvSpPr>
          <p:cNvPr id="30" name="TextBox 29"/>
          <p:cNvSpPr txBox="1"/>
          <p:nvPr/>
        </p:nvSpPr>
        <p:spPr>
          <a:xfrm>
            <a:off x="8956547" y="2103120"/>
            <a:ext cx="2455163" cy="320040"/>
          </a:xfrm>
          <a:prstGeom prst="rect">
            <a:avLst/>
          </a:prstGeom>
          <a:noFill/>
        </p:spPr>
        <p:txBody>
          <a:bodyPr wrap="square">
            <a:spAutoFit/>
          </a:bodyPr>
          <a:lstStyle/>
          <a:p>
            <a:pPr algn="l"/>
            <a:r>
              <a:rPr sz="1000" b="1" i="0">
                <a:solidFill>
                  <a:srgbClr val="FFFFFF"/>
                </a:solidFill>
              </a:rPr>
              <a:t>対応速度50%短縮</a:t>
            </a:r>
          </a:p>
        </p:txBody>
      </p:sp>
      <p:sp>
        <p:nvSpPr>
          <p:cNvPr id="31" name="TextBox 30"/>
          <p:cNvSpPr txBox="1"/>
          <p:nvPr/>
        </p:nvSpPr>
        <p:spPr>
          <a:xfrm>
            <a:off x="8956547" y="2441448"/>
            <a:ext cx="2455163" cy="347472"/>
          </a:xfrm>
          <a:prstGeom prst="rect">
            <a:avLst/>
          </a:prstGeom>
          <a:noFill/>
        </p:spPr>
        <p:txBody>
          <a:bodyPr wrap="square">
            <a:spAutoFit/>
          </a:bodyPr>
          <a:lstStyle/>
          <a:p>
            <a:pPr algn="l"/>
            <a:r>
              <a:rPr sz="750" b="0" i="0">
                <a:solidFill>
                  <a:srgbClr val="FFFFFF"/>
                </a:solidFill>
              </a:rPr>
              <a:t>平均対応時間を現状の48時間から24時間以内に短縮し、顧客の待機ストレスを解消する。</a:t>
            </a:r>
          </a:p>
        </p:txBody>
      </p:sp>
      <p:sp>
        <p:nvSpPr>
          <p:cNvPr id="32" name="TextBox 31"/>
          <p:cNvSpPr txBox="1"/>
          <p:nvPr/>
        </p:nvSpPr>
        <p:spPr>
          <a:xfrm>
            <a:off x="8983980" y="2834640"/>
            <a:ext cx="2400300" cy="502920"/>
          </a:xfrm>
          <a:prstGeom prst="rect">
            <a:avLst/>
          </a:prstGeom>
          <a:noFill/>
        </p:spPr>
        <p:txBody>
          <a:bodyPr wrap="square">
            <a:spAutoFit/>
          </a:bodyPr>
          <a:lstStyle/>
          <a:p>
            <a:pPr algn="l"/>
            <a:r>
              <a:rPr sz="700" b="0" i="0">
                <a:solidFill>
                  <a:srgbClr val="FFFFFF"/>
                </a:solidFill>
              </a:rPr>
              <a:t>▶ 初動速度：AIによる自動トリアージにより、問い合わせ受付から担当者アサインまでの時間を現状比70%短縮できる。</a:t>
            </a:r>
          </a:p>
        </p:txBody>
      </p:sp>
      <p:sp>
        <p:nvSpPr>
          <p:cNvPr id="33" name="TextBox 32"/>
          <p:cNvSpPr txBox="1"/>
          <p:nvPr/>
        </p:nvSpPr>
        <p:spPr>
          <a:xfrm>
            <a:off x="8983980" y="3364992"/>
            <a:ext cx="2400300" cy="502920"/>
          </a:xfrm>
          <a:prstGeom prst="rect">
            <a:avLst/>
          </a:prstGeom>
          <a:noFill/>
        </p:spPr>
        <p:txBody>
          <a:bodyPr wrap="square">
            <a:spAutoFit/>
          </a:bodyPr>
          <a:lstStyle/>
          <a:p>
            <a:pPr algn="l"/>
            <a:r>
              <a:rPr sz="700" b="0" i="0">
                <a:solidFill>
                  <a:srgbClr val="FFFFFF"/>
                </a:solidFill>
              </a:rPr>
              <a:t>▶ 解決速度：ナレッジベースの整備により、担当者の解決時間が平均40%短縮され、顧客の待機時間が大幅に減少する。</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導入プロセスは5つのフェーズで構成される：各フェーズに明確な成果物と完了条件を設定する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cards_5 ／ 用途: 5要点の並列整理 ／ 件数: 5件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導入プロセスを5フェーズに分解し、各フェーズの目的・成果物・完了条件を明確にすることで、確実な実行を担保する。</a:t>
            </a:r>
          </a:p>
        </p:txBody>
      </p:sp>
      <p:sp>
        <p:nvSpPr>
          <p:cNvPr id="10" name="Rectangle 9"/>
          <p:cNvSpPr/>
          <p:nvPr/>
        </p:nvSpPr>
        <p:spPr>
          <a:xfrm>
            <a:off x="548640" y="1828800"/>
            <a:ext cx="2121408"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20240"/>
            <a:ext cx="1901952" cy="164592"/>
          </a:xfrm>
          <a:prstGeom prst="rect">
            <a:avLst/>
          </a:prstGeom>
          <a:noFill/>
        </p:spPr>
        <p:txBody>
          <a:bodyPr wrap="square">
            <a:spAutoFit/>
          </a:bodyPr>
          <a:lstStyle/>
          <a:p>
            <a:pPr algn="l"/>
            <a:r>
              <a:rPr sz="750" b="1" i="0">
                <a:solidFill>
                  <a:srgbClr val="1D51A3"/>
                </a:solidFill>
              </a:rPr>
              <a:t>Phase 01</a:t>
            </a:r>
          </a:p>
        </p:txBody>
      </p:sp>
      <p:sp>
        <p:nvSpPr>
          <p:cNvPr id="12" name="TextBox 11"/>
          <p:cNvSpPr txBox="1"/>
          <p:nvPr/>
        </p:nvSpPr>
        <p:spPr>
          <a:xfrm>
            <a:off x="658368" y="2103120"/>
            <a:ext cx="1901952" cy="320040"/>
          </a:xfrm>
          <a:prstGeom prst="rect">
            <a:avLst/>
          </a:prstGeom>
          <a:noFill/>
        </p:spPr>
        <p:txBody>
          <a:bodyPr wrap="square">
            <a:spAutoFit/>
          </a:bodyPr>
          <a:lstStyle/>
          <a:p>
            <a:pPr algn="l"/>
            <a:r>
              <a:rPr sz="1000" b="1" i="0">
                <a:solidFill>
                  <a:srgbClr val="0C3570"/>
                </a:solidFill>
              </a:rPr>
              <a:t>要件定義</a:t>
            </a:r>
          </a:p>
        </p:txBody>
      </p:sp>
      <p:sp>
        <p:nvSpPr>
          <p:cNvPr id="13" name="TextBox 12"/>
          <p:cNvSpPr txBox="1"/>
          <p:nvPr/>
        </p:nvSpPr>
        <p:spPr>
          <a:xfrm>
            <a:off x="658368" y="2441448"/>
            <a:ext cx="1901952" cy="347472"/>
          </a:xfrm>
          <a:prstGeom prst="rect">
            <a:avLst/>
          </a:prstGeom>
          <a:noFill/>
        </p:spPr>
        <p:txBody>
          <a:bodyPr wrap="square">
            <a:spAutoFit/>
          </a:bodyPr>
          <a:lstStyle/>
          <a:p>
            <a:pPr algn="l"/>
            <a:r>
              <a:rPr sz="750" b="0" i="0">
                <a:solidFill>
                  <a:srgbClr val="444444"/>
                </a:solidFill>
              </a:rPr>
              <a:t>業務要件を漏れなく（MECE）明確化し、優先順位を設定する。</a:t>
            </a:r>
          </a:p>
        </p:txBody>
      </p:sp>
      <p:sp>
        <p:nvSpPr>
          <p:cNvPr id="14" name="TextBox 13"/>
          <p:cNvSpPr txBox="1"/>
          <p:nvPr/>
        </p:nvSpPr>
        <p:spPr>
          <a:xfrm>
            <a:off x="685800" y="2834640"/>
            <a:ext cx="1847088" cy="502920"/>
          </a:xfrm>
          <a:prstGeom prst="rect">
            <a:avLst/>
          </a:prstGeom>
          <a:noFill/>
        </p:spPr>
        <p:txBody>
          <a:bodyPr wrap="square">
            <a:spAutoFit/>
          </a:bodyPr>
          <a:lstStyle/>
          <a:p>
            <a:pPr algn="l"/>
            <a:r>
              <a:rPr sz="700" b="0" i="0">
                <a:solidFill>
                  <a:srgbClr val="444444"/>
                </a:solidFill>
              </a:rPr>
              <a:t>▶ 成果物：要件定義書・優先順位マトリクス・承認済みスコープ</a:t>
            </a:r>
          </a:p>
        </p:txBody>
      </p:sp>
      <p:sp>
        <p:nvSpPr>
          <p:cNvPr id="15" name="TextBox 14"/>
          <p:cNvSpPr txBox="1"/>
          <p:nvPr/>
        </p:nvSpPr>
        <p:spPr>
          <a:xfrm>
            <a:off x="685800" y="3364992"/>
            <a:ext cx="1847088" cy="502920"/>
          </a:xfrm>
          <a:prstGeom prst="rect">
            <a:avLst/>
          </a:prstGeom>
          <a:noFill/>
        </p:spPr>
        <p:txBody>
          <a:bodyPr wrap="square">
            <a:spAutoFit/>
          </a:bodyPr>
          <a:lstStyle/>
          <a:p>
            <a:pPr algn="l"/>
            <a:r>
              <a:rPr sz="700" b="0" i="0">
                <a:solidFill>
                  <a:srgbClr val="444444"/>
                </a:solidFill>
              </a:rPr>
              <a:t>▶ 完了条件：全ステークホルダーの合意取得と文書化の完了</a:t>
            </a:r>
          </a:p>
        </p:txBody>
      </p:sp>
      <p:sp>
        <p:nvSpPr>
          <p:cNvPr id="16" name="Rectangle 15"/>
          <p:cNvSpPr/>
          <p:nvPr/>
        </p:nvSpPr>
        <p:spPr>
          <a:xfrm>
            <a:off x="2761488" y="1828800"/>
            <a:ext cx="2121408"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871216" y="1920240"/>
            <a:ext cx="1901952" cy="164592"/>
          </a:xfrm>
          <a:prstGeom prst="rect">
            <a:avLst/>
          </a:prstGeom>
          <a:noFill/>
        </p:spPr>
        <p:txBody>
          <a:bodyPr wrap="square">
            <a:spAutoFit/>
          </a:bodyPr>
          <a:lstStyle/>
          <a:p>
            <a:pPr algn="l"/>
            <a:r>
              <a:rPr sz="750" b="1" i="0">
                <a:solidFill>
                  <a:srgbClr val="1D51A3"/>
                </a:solidFill>
              </a:rPr>
              <a:t>Phase 02</a:t>
            </a:r>
          </a:p>
        </p:txBody>
      </p:sp>
      <p:sp>
        <p:nvSpPr>
          <p:cNvPr id="18" name="TextBox 17"/>
          <p:cNvSpPr txBox="1"/>
          <p:nvPr/>
        </p:nvSpPr>
        <p:spPr>
          <a:xfrm>
            <a:off x="2871216" y="2103120"/>
            <a:ext cx="1901952" cy="320040"/>
          </a:xfrm>
          <a:prstGeom prst="rect">
            <a:avLst/>
          </a:prstGeom>
          <a:noFill/>
        </p:spPr>
        <p:txBody>
          <a:bodyPr wrap="square">
            <a:spAutoFit/>
          </a:bodyPr>
          <a:lstStyle/>
          <a:p>
            <a:pPr algn="l"/>
            <a:r>
              <a:rPr sz="1000" b="1" i="0">
                <a:solidFill>
                  <a:srgbClr val="0C3570"/>
                </a:solidFill>
              </a:rPr>
              <a:t>設計・構築</a:t>
            </a:r>
          </a:p>
        </p:txBody>
      </p:sp>
      <p:sp>
        <p:nvSpPr>
          <p:cNvPr id="19" name="TextBox 18"/>
          <p:cNvSpPr txBox="1"/>
          <p:nvPr/>
        </p:nvSpPr>
        <p:spPr>
          <a:xfrm>
            <a:off x="2871216" y="2441448"/>
            <a:ext cx="1901952" cy="347472"/>
          </a:xfrm>
          <a:prstGeom prst="rect">
            <a:avLst/>
          </a:prstGeom>
          <a:noFill/>
        </p:spPr>
        <p:txBody>
          <a:bodyPr wrap="square">
            <a:spAutoFit/>
          </a:bodyPr>
          <a:lstStyle/>
          <a:p>
            <a:pPr algn="l"/>
            <a:r>
              <a:rPr sz="750" b="0" i="0">
                <a:solidFill>
                  <a:srgbClr val="444444"/>
                </a:solidFill>
              </a:rPr>
              <a:t>確定したスペックに沿って、安定した実装を進める。</a:t>
            </a:r>
          </a:p>
        </p:txBody>
      </p:sp>
      <p:sp>
        <p:nvSpPr>
          <p:cNvPr id="20" name="TextBox 19"/>
          <p:cNvSpPr txBox="1"/>
          <p:nvPr/>
        </p:nvSpPr>
        <p:spPr>
          <a:xfrm>
            <a:off x="2898648" y="2834640"/>
            <a:ext cx="1847088" cy="502920"/>
          </a:xfrm>
          <a:prstGeom prst="rect">
            <a:avLst/>
          </a:prstGeom>
          <a:noFill/>
        </p:spPr>
        <p:txBody>
          <a:bodyPr wrap="square">
            <a:spAutoFit/>
          </a:bodyPr>
          <a:lstStyle/>
          <a:p>
            <a:pPr algn="l"/>
            <a:r>
              <a:rPr sz="700" b="0" i="0">
                <a:solidFill>
                  <a:srgbClr val="444444"/>
                </a:solidFill>
              </a:rPr>
              <a:t>▶ 成果物：設計書・プロトタイプ・コードレビュー完了報告</a:t>
            </a:r>
          </a:p>
        </p:txBody>
      </p:sp>
      <p:sp>
        <p:nvSpPr>
          <p:cNvPr id="21" name="TextBox 20"/>
          <p:cNvSpPr txBox="1"/>
          <p:nvPr/>
        </p:nvSpPr>
        <p:spPr>
          <a:xfrm>
            <a:off x="2898648" y="3364992"/>
            <a:ext cx="1847088" cy="502920"/>
          </a:xfrm>
          <a:prstGeom prst="rect">
            <a:avLst/>
          </a:prstGeom>
          <a:noFill/>
        </p:spPr>
        <p:txBody>
          <a:bodyPr wrap="square">
            <a:spAutoFit/>
          </a:bodyPr>
          <a:lstStyle/>
          <a:p>
            <a:pPr algn="l"/>
            <a:r>
              <a:rPr sz="700" b="0" i="0">
                <a:solidFill>
                  <a:srgbClr val="444444"/>
                </a:solidFill>
              </a:rPr>
              <a:t>▶ 完了条件：設計レビュー通過と単体テスト全件パス</a:t>
            </a:r>
          </a:p>
        </p:txBody>
      </p:sp>
      <p:sp>
        <p:nvSpPr>
          <p:cNvPr id="22" name="Rectangle 21"/>
          <p:cNvSpPr/>
          <p:nvPr/>
        </p:nvSpPr>
        <p:spPr>
          <a:xfrm>
            <a:off x="4974336" y="1828800"/>
            <a:ext cx="2121408"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84064" y="1920240"/>
            <a:ext cx="1901952" cy="164592"/>
          </a:xfrm>
          <a:prstGeom prst="rect">
            <a:avLst/>
          </a:prstGeom>
          <a:noFill/>
        </p:spPr>
        <p:txBody>
          <a:bodyPr wrap="square">
            <a:spAutoFit/>
          </a:bodyPr>
          <a:lstStyle/>
          <a:p>
            <a:pPr algn="l"/>
            <a:r>
              <a:rPr sz="750" b="1" i="0">
                <a:solidFill>
                  <a:srgbClr val="1D51A3"/>
                </a:solidFill>
              </a:rPr>
              <a:t>Phase 03</a:t>
            </a:r>
          </a:p>
        </p:txBody>
      </p:sp>
      <p:sp>
        <p:nvSpPr>
          <p:cNvPr id="24" name="TextBox 23"/>
          <p:cNvSpPr txBox="1"/>
          <p:nvPr/>
        </p:nvSpPr>
        <p:spPr>
          <a:xfrm>
            <a:off x="5084064" y="2103120"/>
            <a:ext cx="1901952" cy="320040"/>
          </a:xfrm>
          <a:prstGeom prst="rect">
            <a:avLst/>
          </a:prstGeom>
          <a:noFill/>
        </p:spPr>
        <p:txBody>
          <a:bodyPr wrap="square">
            <a:spAutoFit/>
          </a:bodyPr>
          <a:lstStyle/>
          <a:p>
            <a:pPr algn="l"/>
            <a:r>
              <a:rPr sz="1000" b="1" i="0">
                <a:solidFill>
                  <a:srgbClr val="0C3570"/>
                </a:solidFill>
              </a:rPr>
              <a:t>検証・テスト</a:t>
            </a:r>
          </a:p>
        </p:txBody>
      </p:sp>
      <p:sp>
        <p:nvSpPr>
          <p:cNvPr id="25" name="TextBox 24"/>
          <p:cNvSpPr txBox="1"/>
          <p:nvPr/>
        </p:nvSpPr>
        <p:spPr>
          <a:xfrm>
            <a:off x="5084064" y="2441448"/>
            <a:ext cx="1901952" cy="347472"/>
          </a:xfrm>
          <a:prstGeom prst="rect">
            <a:avLst/>
          </a:prstGeom>
          <a:noFill/>
        </p:spPr>
        <p:txBody>
          <a:bodyPr wrap="square">
            <a:spAutoFit/>
          </a:bodyPr>
          <a:lstStyle/>
          <a:p>
            <a:pPr algn="l"/>
            <a:r>
              <a:rPr sz="750" b="0" i="0">
                <a:solidFill>
                  <a:srgbClr val="444444"/>
                </a:solidFill>
              </a:rPr>
              <a:t>シナリオテストを重ね、徹底的な品質チェックを行う。</a:t>
            </a:r>
          </a:p>
        </p:txBody>
      </p:sp>
      <p:sp>
        <p:nvSpPr>
          <p:cNvPr id="26" name="TextBox 25"/>
          <p:cNvSpPr txBox="1"/>
          <p:nvPr/>
        </p:nvSpPr>
        <p:spPr>
          <a:xfrm>
            <a:off x="5111496" y="2834640"/>
            <a:ext cx="1847088" cy="502920"/>
          </a:xfrm>
          <a:prstGeom prst="rect">
            <a:avLst/>
          </a:prstGeom>
          <a:noFill/>
        </p:spPr>
        <p:txBody>
          <a:bodyPr wrap="square">
            <a:spAutoFit/>
          </a:bodyPr>
          <a:lstStyle/>
          <a:p>
            <a:pPr algn="l"/>
            <a:r>
              <a:rPr sz="700" b="0" i="0">
                <a:solidFill>
                  <a:srgbClr val="444444"/>
                </a:solidFill>
              </a:rPr>
              <a:t>▶ 成果物：テスト仕様書・バグ管理表・品質保証報告書</a:t>
            </a:r>
          </a:p>
        </p:txBody>
      </p:sp>
      <p:sp>
        <p:nvSpPr>
          <p:cNvPr id="27" name="TextBox 26"/>
          <p:cNvSpPr txBox="1"/>
          <p:nvPr/>
        </p:nvSpPr>
        <p:spPr>
          <a:xfrm>
            <a:off x="5111496" y="3364992"/>
            <a:ext cx="1847088" cy="502920"/>
          </a:xfrm>
          <a:prstGeom prst="rect">
            <a:avLst/>
          </a:prstGeom>
          <a:noFill/>
        </p:spPr>
        <p:txBody>
          <a:bodyPr wrap="square">
            <a:spAutoFit/>
          </a:bodyPr>
          <a:lstStyle/>
          <a:p>
            <a:pPr algn="l"/>
            <a:r>
              <a:rPr sz="700" b="0" i="0">
                <a:solidFill>
                  <a:srgbClr val="444444"/>
                </a:solidFill>
              </a:rPr>
              <a:t>▶ 完了条件：重大バグゼロ・受入テスト全件合格</a:t>
            </a:r>
          </a:p>
        </p:txBody>
      </p:sp>
      <p:sp>
        <p:nvSpPr>
          <p:cNvPr id="28" name="Rectangle 27"/>
          <p:cNvSpPr/>
          <p:nvPr/>
        </p:nvSpPr>
        <p:spPr>
          <a:xfrm>
            <a:off x="7187183" y="1828800"/>
            <a:ext cx="2121408"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296912" y="1920240"/>
            <a:ext cx="1901952" cy="164592"/>
          </a:xfrm>
          <a:prstGeom prst="rect">
            <a:avLst/>
          </a:prstGeom>
          <a:noFill/>
        </p:spPr>
        <p:txBody>
          <a:bodyPr wrap="square">
            <a:spAutoFit/>
          </a:bodyPr>
          <a:lstStyle/>
          <a:p>
            <a:pPr algn="l"/>
            <a:r>
              <a:rPr sz="750" b="1" i="0">
                <a:solidFill>
                  <a:srgbClr val="1D51A3"/>
                </a:solidFill>
              </a:rPr>
              <a:t>Phase 04</a:t>
            </a:r>
          </a:p>
        </p:txBody>
      </p:sp>
      <p:sp>
        <p:nvSpPr>
          <p:cNvPr id="30" name="TextBox 29"/>
          <p:cNvSpPr txBox="1"/>
          <p:nvPr/>
        </p:nvSpPr>
        <p:spPr>
          <a:xfrm>
            <a:off x="7296912" y="2103120"/>
            <a:ext cx="1901952" cy="320040"/>
          </a:xfrm>
          <a:prstGeom prst="rect">
            <a:avLst/>
          </a:prstGeom>
          <a:noFill/>
        </p:spPr>
        <p:txBody>
          <a:bodyPr wrap="square">
            <a:spAutoFit/>
          </a:bodyPr>
          <a:lstStyle/>
          <a:p>
            <a:pPr algn="l"/>
            <a:r>
              <a:rPr sz="1000" b="1" i="0">
                <a:solidFill>
                  <a:srgbClr val="0C3570"/>
                </a:solidFill>
              </a:rPr>
              <a:t>移行・展開</a:t>
            </a:r>
          </a:p>
        </p:txBody>
      </p:sp>
      <p:sp>
        <p:nvSpPr>
          <p:cNvPr id="31" name="TextBox 30"/>
          <p:cNvSpPr txBox="1"/>
          <p:nvPr/>
        </p:nvSpPr>
        <p:spPr>
          <a:xfrm>
            <a:off x="7296912" y="2441448"/>
            <a:ext cx="1901952" cy="347472"/>
          </a:xfrm>
          <a:prstGeom prst="rect">
            <a:avLst/>
          </a:prstGeom>
          <a:noFill/>
        </p:spPr>
        <p:txBody>
          <a:bodyPr wrap="square">
            <a:spAutoFit/>
          </a:bodyPr>
          <a:lstStyle/>
          <a:p>
            <a:pPr algn="l"/>
            <a:r>
              <a:rPr sz="750" b="0" i="0">
                <a:solidFill>
                  <a:srgbClr val="444444"/>
                </a:solidFill>
              </a:rPr>
              <a:t>本番環境への安全なデプロイ計画を策定し実行する。</a:t>
            </a:r>
          </a:p>
        </p:txBody>
      </p:sp>
      <p:sp>
        <p:nvSpPr>
          <p:cNvPr id="32" name="TextBox 31"/>
          <p:cNvSpPr txBox="1"/>
          <p:nvPr/>
        </p:nvSpPr>
        <p:spPr>
          <a:xfrm>
            <a:off x="7324344" y="2834640"/>
            <a:ext cx="1847088" cy="502920"/>
          </a:xfrm>
          <a:prstGeom prst="rect">
            <a:avLst/>
          </a:prstGeom>
          <a:noFill/>
        </p:spPr>
        <p:txBody>
          <a:bodyPr wrap="square">
            <a:spAutoFit/>
          </a:bodyPr>
          <a:lstStyle/>
          <a:p>
            <a:pPr algn="l"/>
            <a:r>
              <a:rPr sz="700" b="0" i="0">
                <a:solidFill>
                  <a:srgbClr val="444444"/>
                </a:solidFill>
              </a:rPr>
              <a:t>▶ 成果物：移行計画書・ロールバック手順書・展開完了報告</a:t>
            </a:r>
          </a:p>
        </p:txBody>
      </p:sp>
      <p:sp>
        <p:nvSpPr>
          <p:cNvPr id="33" name="TextBox 32"/>
          <p:cNvSpPr txBox="1"/>
          <p:nvPr/>
        </p:nvSpPr>
        <p:spPr>
          <a:xfrm>
            <a:off x="7324344" y="3364992"/>
            <a:ext cx="1847088" cy="502920"/>
          </a:xfrm>
          <a:prstGeom prst="rect">
            <a:avLst/>
          </a:prstGeom>
          <a:noFill/>
        </p:spPr>
        <p:txBody>
          <a:bodyPr wrap="square">
            <a:spAutoFit/>
          </a:bodyPr>
          <a:lstStyle/>
          <a:p>
            <a:pPr algn="l"/>
            <a:r>
              <a:rPr sz="700" b="0" i="0">
                <a:solidFill>
                  <a:srgbClr val="444444"/>
                </a:solidFill>
              </a:rPr>
              <a:t>▶ 完了条件：本番稼働確認と初期モニタリング完了</a:t>
            </a:r>
          </a:p>
        </p:txBody>
      </p:sp>
      <p:sp>
        <p:nvSpPr>
          <p:cNvPr id="34" name="Rectangle 33"/>
          <p:cNvSpPr/>
          <p:nvPr/>
        </p:nvSpPr>
        <p:spPr>
          <a:xfrm>
            <a:off x="9400032" y="1828800"/>
            <a:ext cx="2121408"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509759" y="1920240"/>
            <a:ext cx="1901952" cy="164592"/>
          </a:xfrm>
          <a:prstGeom prst="rect">
            <a:avLst/>
          </a:prstGeom>
          <a:noFill/>
        </p:spPr>
        <p:txBody>
          <a:bodyPr wrap="square">
            <a:spAutoFit/>
          </a:bodyPr>
          <a:lstStyle/>
          <a:p>
            <a:pPr algn="l"/>
            <a:r>
              <a:rPr sz="750" b="1" i="0">
                <a:solidFill>
                  <a:srgbClr val="93B5E6"/>
                </a:solidFill>
              </a:rPr>
              <a:t>Phase 05</a:t>
            </a:r>
          </a:p>
        </p:txBody>
      </p:sp>
      <p:sp>
        <p:nvSpPr>
          <p:cNvPr id="36" name="TextBox 35"/>
          <p:cNvSpPr txBox="1"/>
          <p:nvPr/>
        </p:nvSpPr>
        <p:spPr>
          <a:xfrm>
            <a:off x="9509759" y="2103120"/>
            <a:ext cx="1901952" cy="320040"/>
          </a:xfrm>
          <a:prstGeom prst="rect">
            <a:avLst/>
          </a:prstGeom>
          <a:noFill/>
        </p:spPr>
        <p:txBody>
          <a:bodyPr wrap="square">
            <a:spAutoFit/>
          </a:bodyPr>
          <a:lstStyle/>
          <a:p>
            <a:pPr algn="l"/>
            <a:r>
              <a:rPr sz="1000" b="1" i="0">
                <a:solidFill>
                  <a:srgbClr val="FFFFFF"/>
                </a:solidFill>
              </a:rPr>
              <a:t>運用・保守</a:t>
            </a:r>
          </a:p>
        </p:txBody>
      </p:sp>
      <p:sp>
        <p:nvSpPr>
          <p:cNvPr id="37" name="TextBox 36"/>
          <p:cNvSpPr txBox="1"/>
          <p:nvPr/>
        </p:nvSpPr>
        <p:spPr>
          <a:xfrm>
            <a:off x="9509759" y="2441448"/>
            <a:ext cx="1901952" cy="347472"/>
          </a:xfrm>
          <a:prstGeom prst="rect">
            <a:avLst/>
          </a:prstGeom>
          <a:noFill/>
        </p:spPr>
        <p:txBody>
          <a:bodyPr wrap="square">
            <a:spAutoFit/>
          </a:bodyPr>
          <a:lstStyle/>
          <a:p>
            <a:pPr algn="l"/>
            <a:r>
              <a:rPr sz="750" b="0" i="0">
                <a:solidFill>
                  <a:srgbClr val="FFFFFF"/>
                </a:solidFill>
              </a:rPr>
              <a:t>リリース後のトラブル対応とパフォーマンス維持を担保する。</a:t>
            </a:r>
          </a:p>
        </p:txBody>
      </p:sp>
      <p:sp>
        <p:nvSpPr>
          <p:cNvPr id="38" name="TextBox 37"/>
          <p:cNvSpPr txBox="1"/>
          <p:nvPr/>
        </p:nvSpPr>
        <p:spPr>
          <a:xfrm>
            <a:off x="9537192" y="2834640"/>
            <a:ext cx="1847088" cy="502920"/>
          </a:xfrm>
          <a:prstGeom prst="rect">
            <a:avLst/>
          </a:prstGeom>
          <a:noFill/>
        </p:spPr>
        <p:txBody>
          <a:bodyPr wrap="square">
            <a:spAutoFit/>
          </a:bodyPr>
          <a:lstStyle/>
          <a:p>
            <a:pPr algn="l"/>
            <a:r>
              <a:rPr sz="700" b="0" i="0">
                <a:solidFill>
                  <a:srgbClr val="FFFFFF"/>
                </a:solidFill>
              </a:rPr>
              <a:t>▶ 成果物：運用マニュアル・監視ダッシュボード・月次報告書</a:t>
            </a:r>
          </a:p>
        </p:txBody>
      </p:sp>
      <p:sp>
        <p:nvSpPr>
          <p:cNvPr id="39" name="TextBox 38"/>
          <p:cNvSpPr txBox="1"/>
          <p:nvPr/>
        </p:nvSpPr>
        <p:spPr>
          <a:xfrm>
            <a:off x="9537192" y="3364992"/>
            <a:ext cx="1847088" cy="502920"/>
          </a:xfrm>
          <a:prstGeom prst="rect">
            <a:avLst/>
          </a:prstGeom>
          <a:noFill/>
        </p:spPr>
        <p:txBody>
          <a:bodyPr wrap="square">
            <a:spAutoFit/>
          </a:bodyPr>
          <a:lstStyle/>
          <a:p>
            <a:pPr algn="l"/>
            <a:r>
              <a:rPr sz="700" b="0" i="0">
                <a:solidFill>
                  <a:srgbClr val="FFFFFF"/>
                </a:solidFill>
              </a:rPr>
              <a:t>▶ 完了条件：SLA達成率99.9%以上の継続維持</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新施策は短期成果と拡張性で優位：従来施策より新施策を主軸に置くべきである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comparison_2 ／ 用途: 2項目の同軸比較 ／ 件数: 2件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従来施策よりも、新施策の方が短期成果を出しやすく、中長期の展開余地も大きい。短期成果と将来拡張を両立するには、新施策を主軸に置くべきである。</a:t>
            </a:r>
          </a:p>
        </p:txBody>
      </p:sp>
      <p:sp>
        <p:nvSpPr>
          <p:cNvPr id="10" name="Rectangle 9"/>
          <p:cNvSpPr/>
          <p:nvPr/>
        </p:nvSpPr>
        <p:spPr>
          <a:xfrm>
            <a:off x="548640" y="1828800"/>
            <a:ext cx="530352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01952"/>
            <a:ext cx="5084064" cy="201168"/>
          </a:xfrm>
          <a:prstGeom prst="rect">
            <a:avLst/>
          </a:prstGeom>
          <a:noFill/>
        </p:spPr>
        <p:txBody>
          <a:bodyPr wrap="square">
            <a:spAutoFit/>
          </a:bodyPr>
          <a:lstStyle/>
          <a:p>
            <a:pPr algn="l"/>
            <a:r>
              <a:rPr sz="800" b="1" i="0">
                <a:solidFill>
                  <a:srgbClr val="99A2AD"/>
                </a:solidFill>
              </a:rPr>
              <a:t>従来施策</a:t>
            </a:r>
          </a:p>
        </p:txBody>
      </p:sp>
      <p:sp>
        <p:nvSpPr>
          <p:cNvPr id="12" name="TextBox 11"/>
          <p:cNvSpPr txBox="1"/>
          <p:nvPr/>
        </p:nvSpPr>
        <p:spPr>
          <a:xfrm>
            <a:off x="658368" y="2121408"/>
            <a:ext cx="5084064" cy="411480"/>
          </a:xfrm>
          <a:prstGeom prst="rect">
            <a:avLst/>
          </a:prstGeom>
          <a:noFill/>
        </p:spPr>
        <p:txBody>
          <a:bodyPr wrap="square">
            <a:spAutoFit/>
          </a:bodyPr>
          <a:lstStyle/>
          <a:p>
            <a:pPr algn="l"/>
            <a:r>
              <a:rPr sz="900" b="0" i="0">
                <a:solidFill>
                  <a:srgbClr val="444444"/>
                </a:solidFill>
              </a:rPr>
              <a:t>既存顧客への限定的な改善にとどまりやすく、新規市場への展開が困難な構造を持つ。</a:t>
            </a:r>
          </a:p>
        </p:txBody>
      </p:sp>
      <p:sp>
        <p:nvSpPr>
          <p:cNvPr id="13" name="TextBox 12"/>
          <p:cNvSpPr txBox="1"/>
          <p:nvPr/>
        </p:nvSpPr>
        <p:spPr>
          <a:xfrm>
            <a:off x="713232" y="2578608"/>
            <a:ext cx="4937760" cy="640080"/>
          </a:xfrm>
          <a:prstGeom prst="rect">
            <a:avLst/>
          </a:prstGeom>
          <a:noFill/>
        </p:spPr>
        <p:txBody>
          <a:bodyPr wrap="square">
            <a:spAutoFit/>
          </a:bodyPr>
          <a:lstStyle/>
          <a:p>
            <a:pPr algn="l"/>
            <a:r>
              <a:rPr sz="750" b="0" i="0">
                <a:solidFill>
                  <a:srgbClr val="444444"/>
                </a:solidFill>
              </a:rPr>
              <a:t>▶ 成果範囲：既存施策は運用改善には有効だが、新しい顧客層の獲得や市場拡大にはつながりにくく、成長の天井が低い。</a:t>
            </a:r>
          </a:p>
        </p:txBody>
      </p:sp>
      <p:sp>
        <p:nvSpPr>
          <p:cNvPr id="14" name="TextBox 13"/>
          <p:cNvSpPr txBox="1"/>
          <p:nvPr/>
        </p:nvSpPr>
        <p:spPr>
          <a:xfrm>
            <a:off x="713232" y="3264408"/>
            <a:ext cx="4937760" cy="640080"/>
          </a:xfrm>
          <a:prstGeom prst="rect">
            <a:avLst/>
          </a:prstGeom>
          <a:noFill/>
        </p:spPr>
        <p:txBody>
          <a:bodyPr wrap="square">
            <a:spAutoFit/>
          </a:bodyPr>
          <a:lstStyle/>
          <a:p>
            <a:pPr algn="l"/>
            <a:r>
              <a:rPr sz="750" b="0" i="0">
                <a:solidFill>
                  <a:srgbClr val="444444"/>
                </a:solidFill>
              </a:rPr>
              <a:t>▶ 拡張性：既存の業務プロセスに依存するため、対象範囲を広げる際に追加工数が大きくなりやすく、スケールが困難。</a:t>
            </a:r>
          </a:p>
        </p:txBody>
      </p:sp>
      <p:sp>
        <p:nvSpPr>
          <p:cNvPr id="15" name="TextBox 14"/>
          <p:cNvSpPr txBox="1"/>
          <p:nvPr/>
        </p:nvSpPr>
        <p:spPr>
          <a:xfrm>
            <a:off x="713232" y="3950208"/>
            <a:ext cx="4937760" cy="640080"/>
          </a:xfrm>
          <a:prstGeom prst="rect">
            <a:avLst/>
          </a:prstGeom>
          <a:noFill/>
        </p:spPr>
        <p:txBody>
          <a:bodyPr wrap="square">
            <a:spAutoFit/>
          </a:bodyPr>
          <a:lstStyle/>
          <a:p>
            <a:pPr algn="l"/>
            <a:r>
              <a:rPr sz="750" b="0" i="0">
                <a:solidFill>
                  <a:srgbClr val="444444"/>
                </a:solidFill>
              </a:rPr>
              <a:t>▶ 投資回収：改善効果が限定的なため、投資回収期間が長くなりやすく、経営層への説明が困難になるケースが多い。</a:t>
            </a:r>
          </a:p>
        </p:txBody>
      </p:sp>
      <p:sp>
        <p:nvSpPr>
          <p:cNvPr id="16" name="TextBox 15"/>
          <p:cNvSpPr txBox="1"/>
          <p:nvPr/>
        </p:nvSpPr>
        <p:spPr>
          <a:xfrm>
            <a:off x="5943600" y="4023360"/>
            <a:ext cx="365760" cy="365760"/>
          </a:xfrm>
          <a:prstGeom prst="rect">
            <a:avLst/>
          </a:prstGeom>
          <a:noFill/>
        </p:spPr>
        <p:txBody>
          <a:bodyPr wrap="square">
            <a:spAutoFit/>
          </a:bodyPr>
          <a:lstStyle/>
          <a:p>
            <a:pPr algn="ctr"/>
            <a:r>
              <a:rPr sz="1800" b="1" i="0">
                <a:solidFill>
                  <a:srgbClr val="688BC2"/>
                </a:solidFill>
              </a:rPr>
              <a:t>→</a:t>
            </a:r>
          </a:p>
        </p:txBody>
      </p:sp>
      <p:sp>
        <p:nvSpPr>
          <p:cNvPr id="17" name="Rectangle 16"/>
          <p:cNvSpPr/>
          <p:nvPr/>
        </p:nvSpPr>
        <p:spPr>
          <a:xfrm>
            <a:off x="6400800" y="1828800"/>
            <a:ext cx="5212080"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10528" y="1901952"/>
            <a:ext cx="4992624" cy="201168"/>
          </a:xfrm>
          <a:prstGeom prst="rect">
            <a:avLst/>
          </a:prstGeom>
          <a:noFill/>
        </p:spPr>
        <p:txBody>
          <a:bodyPr wrap="square">
            <a:spAutoFit/>
          </a:bodyPr>
          <a:lstStyle/>
          <a:p>
            <a:pPr algn="l"/>
            <a:r>
              <a:rPr sz="800" b="1" i="0">
                <a:solidFill>
                  <a:srgbClr val="93B5E6"/>
                </a:solidFill>
              </a:rPr>
              <a:t>新施策（推奨）</a:t>
            </a:r>
          </a:p>
        </p:txBody>
      </p:sp>
      <p:sp>
        <p:nvSpPr>
          <p:cNvPr id="19" name="TextBox 18"/>
          <p:cNvSpPr txBox="1"/>
          <p:nvPr/>
        </p:nvSpPr>
        <p:spPr>
          <a:xfrm>
            <a:off x="6510528" y="2121408"/>
            <a:ext cx="4992624" cy="411480"/>
          </a:xfrm>
          <a:prstGeom prst="rect">
            <a:avLst/>
          </a:prstGeom>
          <a:noFill/>
        </p:spPr>
        <p:txBody>
          <a:bodyPr wrap="square">
            <a:spAutoFit/>
          </a:bodyPr>
          <a:lstStyle/>
          <a:p>
            <a:pPr algn="l"/>
            <a:r>
              <a:rPr sz="900" b="0" i="0">
                <a:solidFill>
                  <a:srgbClr val="FFFFFF"/>
                </a:solidFill>
              </a:rPr>
              <a:t>短期成果と中長期拡張を両立できる設計で、投資対効果が高く意思決定を促しやすい。</a:t>
            </a:r>
          </a:p>
        </p:txBody>
      </p:sp>
      <p:sp>
        <p:nvSpPr>
          <p:cNvPr id="20" name="TextBox 19"/>
          <p:cNvSpPr txBox="1"/>
          <p:nvPr/>
        </p:nvSpPr>
        <p:spPr>
          <a:xfrm>
            <a:off x="6565392" y="2578608"/>
            <a:ext cx="4846320" cy="640080"/>
          </a:xfrm>
          <a:prstGeom prst="rect">
            <a:avLst/>
          </a:prstGeom>
          <a:noFill/>
        </p:spPr>
        <p:txBody>
          <a:bodyPr wrap="square">
            <a:spAutoFit/>
          </a:bodyPr>
          <a:lstStyle/>
          <a:p>
            <a:pPr algn="l"/>
            <a:r>
              <a:rPr sz="750" b="0" i="0">
                <a:solidFill>
                  <a:srgbClr val="FFFFFF"/>
                </a:solidFill>
              </a:rPr>
              <a:t>▶ 成果範囲：既存顧客の継続率改善と新規顧客獲得を同時に実現でき、売上成長の複数エンジンを持つ構造になる。</a:t>
            </a:r>
          </a:p>
        </p:txBody>
      </p:sp>
      <p:sp>
        <p:nvSpPr>
          <p:cNvPr id="21" name="TextBox 20"/>
          <p:cNvSpPr txBox="1"/>
          <p:nvPr/>
        </p:nvSpPr>
        <p:spPr>
          <a:xfrm>
            <a:off x="6565392" y="3264408"/>
            <a:ext cx="4846320" cy="640080"/>
          </a:xfrm>
          <a:prstGeom prst="rect">
            <a:avLst/>
          </a:prstGeom>
          <a:noFill/>
        </p:spPr>
        <p:txBody>
          <a:bodyPr wrap="square">
            <a:spAutoFit/>
          </a:bodyPr>
          <a:lstStyle/>
          <a:p>
            <a:pPr algn="l"/>
            <a:r>
              <a:rPr sz="750" b="0" i="0">
                <a:solidFill>
                  <a:srgbClr val="FFFFFF"/>
                </a:solidFill>
              </a:rPr>
              <a:t>▶ 拡張性：モジュール型の設計により、新機能追加や対象市場の拡大が低コストで実現でき、成長に合わせてスケールできる。</a:t>
            </a:r>
          </a:p>
        </p:txBody>
      </p:sp>
      <p:sp>
        <p:nvSpPr>
          <p:cNvPr id="22" name="TextBox 21"/>
          <p:cNvSpPr txBox="1"/>
          <p:nvPr/>
        </p:nvSpPr>
        <p:spPr>
          <a:xfrm>
            <a:off x="6565392" y="3950208"/>
            <a:ext cx="4846320" cy="640080"/>
          </a:xfrm>
          <a:prstGeom prst="rect">
            <a:avLst/>
          </a:prstGeom>
          <a:noFill/>
        </p:spPr>
        <p:txBody>
          <a:bodyPr wrap="square">
            <a:spAutoFit/>
          </a:bodyPr>
          <a:lstStyle/>
          <a:p>
            <a:pPr algn="l"/>
            <a:r>
              <a:rPr sz="750" b="0" i="0">
                <a:solidFill>
                  <a:srgbClr val="FFFFFF"/>
                </a:solidFill>
              </a:rPr>
              <a:t>▶ 投資回収：導入後8ヶ月での投資回収が試算されており、経営層への説明が容易で承認プロセスを短縮できる。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3社比較の結果、提案Cが最もコスト・品質・スピードのバランスに優れる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comparison_3 ／ 用途: 3項目の同軸比較 ／ 件数: 3件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3社を同一評価軸で比較した結果、提案Cがコスト・品質・スピードの総合評価で最も優位であり、採用を推奨する。</a:t>
            </a:r>
          </a:p>
        </p:txBody>
      </p:sp>
      <p:sp>
        <p:nvSpPr>
          <p:cNvPr id="10" name="Rectangle 9"/>
          <p:cNvSpPr/>
          <p:nvPr/>
        </p:nvSpPr>
        <p:spPr>
          <a:xfrm>
            <a:off x="548640" y="1828800"/>
            <a:ext cx="356616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01952"/>
            <a:ext cx="3346704" cy="256032"/>
          </a:xfrm>
          <a:prstGeom prst="rect">
            <a:avLst/>
          </a:prstGeom>
          <a:noFill/>
        </p:spPr>
        <p:txBody>
          <a:bodyPr wrap="square">
            <a:spAutoFit/>
          </a:bodyPr>
          <a:lstStyle/>
          <a:p>
            <a:pPr algn="l"/>
            <a:r>
              <a:rPr sz="1100" b="1" i="0">
                <a:solidFill>
                  <a:srgbClr val="0C3570"/>
                </a:solidFill>
              </a:rPr>
              <a:t>提案 A</a:t>
            </a:r>
          </a:p>
        </p:txBody>
      </p:sp>
      <p:sp>
        <p:nvSpPr>
          <p:cNvPr id="12" name="Rectangle 11"/>
          <p:cNvSpPr/>
          <p:nvPr/>
        </p:nvSpPr>
        <p:spPr>
          <a:xfrm>
            <a:off x="658368" y="2176272"/>
            <a:ext cx="3346704" cy="9144"/>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 y="2240280"/>
            <a:ext cx="3346704" cy="182880"/>
          </a:xfrm>
          <a:prstGeom prst="rect">
            <a:avLst/>
          </a:prstGeom>
          <a:noFill/>
        </p:spPr>
        <p:txBody>
          <a:bodyPr wrap="square">
            <a:spAutoFit/>
          </a:bodyPr>
          <a:lstStyle/>
          <a:p>
            <a:pPr algn="l"/>
            <a:r>
              <a:rPr sz="800" b="1" i="0">
                <a:solidFill>
                  <a:srgbClr val="688BC2"/>
                </a:solidFill>
              </a:rPr>
              <a:t>コスト</a:t>
            </a:r>
          </a:p>
        </p:txBody>
      </p:sp>
      <p:sp>
        <p:nvSpPr>
          <p:cNvPr id="14" name="TextBox 13"/>
          <p:cNvSpPr txBox="1"/>
          <p:nvPr/>
        </p:nvSpPr>
        <p:spPr>
          <a:xfrm>
            <a:off x="658368" y="2423160"/>
            <a:ext cx="3346704" cy="502920"/>
          </a:xfrm>
          <a:prstGeom prst="rect">
            <a:avLst/>
          </a:prstGeom>
          <a:noFill/>
        </p:spPr>
        <p:txBody>
          <a:bodyPr wrap="square">
            <a:spAutoFit/>
          </a:bodyPr>
          <a:lstStyle/>
          <a:p>
            <a:pPr algn="l"/>
            <a:r>
              <a:rPr sz="750" b="0" i="0">
                <a:solidFill>
                  <a:srgbClr val="444444"/>
                </a:solidFill>
              </a:rPr>
              <a:t>初期費用が最も低く、予算制約の強い案件では選択肢になりうるが、隠れたコストが発生しやすい構造を持つ。</a:t>
            </a:r>
          </a:p>
        </p:txBody>
      </p:sp>
      <p:sp>
        <p:nvSpPr>
          <p:cNvPr id="15" name="TextBox 14"/>
          <p:cNvSpPr txBox="1"/>
          <p:nvPr/>
        </p:nvSpPr>
        <p:spPr>
          <a:xfrm>
            <a:off x="658368" y="2990088"/>
            <a:ext cx="3346704" cy="182880"/>
          </a:xfrm>
          <a:prstGeom prst="rect">
            <a:avLst/>
          </a:prstGeom>
          <a:noFill/>
        </p:spPr>
        <p:txBody>
          <a:bodyPr wrap="square">
            <a:spAutoFit/>
          </a:bodyPr>
          <a:lstStyle/>
          <a:p>
            <a:pPr algn="l"/>
            <a:r>
              <a:rPr sz="800" b="1" i="0">
                <a:solidFill>
                  <a:srgbClr val="688BC2"/>
                </a:solidFill>
              </a:rPr>
              <a:t>品質</a:t>
            </a:r>
          </a:p>
        </p:txBody>
      </p:sp>
      <p:sp>
        <p:nvSpPr>
          <p:cNvPr id="16" name="TextBox 15"/>
          <p:cNvSpPr txBox="1"/>
          <p:nvPr/>
        </p:nvSpPr>
        <p:spPr>
          <a:xfrm>
            <a:off x="658368" y="3172968"/>
            <a:ext cx="3346704" cy="502920"/>
          </a:xfrm>
          <a:prstGeom prst="rect">
            <a:avLst/>
          </a:prstGeom>
          <a:noFill/>
        </p:spPr>
        <p:txBody>
          <a:bodyPr wrap="square">
            <a:spAutoFit/>
          </a:bodyPr>
          <a:lstStyle/>
          <a:p>
            <a:pPr algn="l"/>
            <a:r>
              <a:rPr sz="750" b="0" i="0">
                <a:solidFill>
                  <a:srgbClr val="444444"/>
                </a:solidFill>
              </a:rPr>
              <a:t>機能の網羅性が低く、カスタマイズ対応に追加費用が発生するため、要件が複雑な案件には不向きである。</a:t>
            </a:r>
          </a:p>
        </p:txBody>
      </p:sp>
      <p:sp>
        <p:nvSpPr>
          <p:cNvPr id="17" name="TextBox 16"/>
          <p:cNvSpPr txBox="1"/>
          <p:nvPr/>
        </p:nvSpPr>
        <p:spPr>
          <a:xfrm>
            <a:off x="658368" y="3739896"/>
            <a:ext cx="3346704" cy="182880"/>
          </a:xfrm>
          <a:prstGeom prst="rect">
            <a:avLst/>
          </a:prstGeom>
          <a:noFill/>
        </p:spPr>
        <p:txBody>
          <a:bodyPr wrap="square">
            <a:spAutoFit/>
          </a:bodyPr>
          <a:lstStyle/>
          <a:p>
            <a:pPr algn="l"/>
            <a:r>
              <a:rPr sz="800" b="1" i="0">
                <a:solidFill>
                  <a:srgbClr val="688BC2"/>
                </a:solidFill>
              </a:rPr>
              <a:t>スピード</a:t>
            </a:r>
          </a:p>
        </p:txBody>
      </p:sp>
      <p:sp>
        <p:nvSpPr>
          <p:cNvPr id="18" name="TextBox 17"/>
          <p:cNvSpPr txBox="1"/>
          <p:nvPr/>
        </p:nvSpPr>
        <p:spPr>
          <a:xfrm>
            <a:off x="658368" y="3922776"/>
            <a:ext cx="3346704" cy="502920"/>
          </a:xfrm>
          <a:prstGeom prst="rect">
            <a:avLst/>
          </a:prstGeom>
          <a:noFill/>
        </p:spPr>
        <p:txBody>
          <a:bodyPr wrap="square">
            <a:spAutoFit/>
          </a:bodyPr>
          <a:lstStyle/>
          <a:p>
            <a:pPr algn="l"/>
            <a:r>
              <a:rPr sz="750" b="0" i="0">
                <a:solidFill>
                  <a:srgbClr val="444444"/>
                </a:solidFill>
              </a:rPr>
              <a:t>導入期間が平均4ヶ月と長く、今期中の成果確認が困難なため、タイムラインの制約がある案件には不適。</a:t>
            </a:r>
          </a:p>
        </p:txBody>
      </p:sp>
      <p:sp>
        <p:nvSpPr>
          <p:cNvPr id="19" name="Rectangle 18"/>
          <p:cNvSpPr/>
          <p:nvPr/>
        </p:nvSpPr>
        <p:spPr>
          <a:xfrm>
            <a:off x="4251959" y="1828800"/>
            <a:ext cx="356616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61688" y="1901952"/>
            <a:ext cx="3346704" cy="256032"/>
          </a:xfrm>
          <a:prstGeom prst="rect">
            <a:avLst/>
          </a:prstGeom>
          <a:noFill/>
        </p:spPr>
        <p:txBody>
          <a:bodyPr wrap="square">
            <a:spAutoFit/>
          </a:bodyPr>
          <a:lstStyle/>
          <a:p>
            <a:pPr algn="l"/>
            <a:r>
              <a:rPr sz="1100" b="1" i="0">
                <a:solidFill>
                  <a:srgbClr val="0C3570"/>
                </a:solidFill>
              </a:rPr>
              <a:t>提案 B</a:t>
            </a:r>
          </a:p>
        </p:txBody>
      </p:sp>
      <p:sp>
        <p:nvSpPr>
          <p:cNvPr id="21" name="Rectangle 20"/>
          <p:cNvSpPr/>
          <p:nvPr/>
        </p:nvSpPr>
        <p:spPr>
          <a:xfrm>
            <a:off x="4361688" y="2176272"/>
            <a:ext cx="3346704" cy="9144"/>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61688" y="2240280"/>
            <a:ext cx="3346704" cy="182880"/>
          </a:xfrm>
          <a:prstGeom prst="rect">
            <a:avLst/>
          </a:prstGeom>
          <a:noFill/>
        </p:spPr>
        <p:txBody>
          <a:bodyPr wrap="square">
            <a:spAutoFit/>
          </a:bodyPr>
          <a:lstStyle/>
          <a:p>
            <a:pPr algn="l"/>
            <a:r>
              <a:rPr sz="800" b="1" i="0">
                <a:solidFill>
                  <a:srgbClr val="688BC2"/>
                </a:solidFill>
              </a:rPr>
              <a:t>コスト</a:t>
            </a:r>
          </a:p>
        </p:txBody>
      </p:sp>
      <p:sp>
        <p:nvSpPr>
          <p:cNvPr id="23" name="TextBox 22"/>
          <p:cNvSpPr txBox="1"/>
          <p:nvPr/>
        </p:nvSpPr>
        <p:spPr>
          <a:xfrm>
            <a:off x="4361688" y="2423160"/>
            <a:ext cx="3346704" cy="502920"/>
          </a:xfrm>
          <a:prstGeom prst="rect">
            <a:avLst/>
          </a:prstGeom>
          <a:noFill/>
        </p:spPr>
        <p:txBody>
          <a:bodyPr wrap="square">
            <a:spAutoFit/>
          </a:bodyPr>
          <a:lstStyle/>
          <a:p>
            <a:pPr algn="l"/>
            <a:r>
              <a:rPr sz="750" b="0" i="0">
                <a:solidFill>
                  <a:srgbClr val="444444"/>
                </a:solidFill>
              </a:rPr>
              <a:t>初期費用・運用費ともに高水準であり、中規模以下の案件では投資対効果の説明が困難になるケースが多い。</a:t>
            </a:r>
          </a:p>
        </p:txBody>
      </p:sp>
      <p:sp>
        <p:nvSpPr>
          <p:cNvPr id="24" name="TextBox 23"/>
          <p:cNvSpPr txBox="1"/>
          <p:nvPr/>
        </p:nvSpPr>
        <p:spPr>
          <a:xfrm>
            <a:off x="4361688" y="2990088"/>
            <a:ext cx="3346704" cy="182880"/>
          </a:xfrm>
          <a:prstGeom prst="rect">
            <a:avLst/>
          </a:prstGeom>
          <a:noFill/>
        </p:spPr>
        <p:txBody>
          <a:bodyPr wrap="square">
            <a:spAutoFit/>
          </a:bodyPr>
          <a:lstStyle/>
          <a:p>
            <a:pPr algn="l"/>
            <a:r>
              <a:rPr sz="800" b="1" i="0">
                <a:solidFill>
                  <a:srgbClr val="688BC2"/>
                </a:solidFill>
              </a:rPr>
              <a:t>品質</a:t>
            </a:r>
          </a:p>
        </p:txBody>
      </p:sp>
      <p:sp>
        <p:nvSpPr>
          <p:cNvPr id="25" name="TextBox 24"/>
          <p:cNvSpPr txBox="1"/>
          <p:nvPr/>
        </p:nvSpPr>
        <p:spPr>
          <a:xfrm>
            <a:off x="4361688" y="3172968"/>
            <a:ext cx="3346704" cy="502920"/>
          </a:xfrm>
          <a:prstGeom prst="rect">
            <a:avLst/>
          </a:prstGeom>
          <a:noFill/>
        </p:spPr>
        <p:txBody>
          <a:bodyPr wrap="square">
            <a:spAutoFit/>
          </a:bodyPr>
          <a:lstStyle/>
          <a:p>
            <a:pPr algn="l"/>
            <a:r>
              <a:rPr sz="750" b="0" i="0">
                <a:solidFill>
                  <a:srgbClr val="444444"/>
                </a:solidFill>
              </a:rPr>
              <a:t>機能の網羅性と信頼性は3社中最高水準であり、複雑な要件や高いセキュリティ基準が求められる案件に適している。</a:t>
            </a:r>
          </a:p>
        </p:txBody>
      </p:sp>
      <p:sp>
        <p:nvSpPr>
          <p:cNvPr id="26" name="TextBox 25"/>
          <p:cNvSpPr txBox="1"/>
          <p:nvPr/>
        </p:nvSpPr>
        <p:spPr>
          <a:xfrm>
            <a:off x="4361688" y="3739896"/>
            <a:ext cx="3346704" cy="182880"/>
          </a:xfrm>
          <a:prstGeom prst="rect">
            <a:avLst/>
          </a:prstGeom>
          <a:noFill/>
        </p:spPr>
        <p:txBody>
          <a:bodyPr wrap="square">
            <a:spAutoFit/>
          </a:bodyPr>
          <a:lstStyle/>
          <a:p>
            <a:pPr algn="l"/>
            <a:r>
              <a:rPr sz="800" b="1" i="0">
                <a:solidFill>
                  <a:srgbClr val="688BC2"/>
                </a:solidFill>
              </a:rPr>
              <a:t>スピード</a:t>
            </a:r>
          </a:p>
        </p:txBody>
      </p:sp>
      <p:sp>
        <p:nvSpPr>
          <p:cNvPr id="27" name="TextBox 26"/>
          <p:cNvSpPr txBox="1"/>
          <p:nvPr/>
        </p:nvSpPr>
        <p:spPr>
          <a:xfrm>
            <a:off x="4361688" y="3922776"/>
            <a:ext cx="3346704" cy="502920"/>
          </a:xfrm>
          <a:prstGeom prst="rect">
            <a:avLst/>
          </a:prstGeom>
          <a:noFill/>
        </p:spPr>
        <p:txBody>
          <a:bodyPr wrap="square">
            <a:spAutoFit/>
          </a:bodyPr>
          <a:lstStyle/>
          <a:p>
            <a:pPr algn="l"/>
            <a:r>
              <a:rPr sz="750" b="0" i="0">
                <a:solidFill>
                  <a:srgbClr val="444444"/>
                </a:solidFill>
              </a:rPr>
              <a:t>導入期間が平均5ヶ月と最も長く、今期中の成果確認が困難なため、緊急性の高い案件には不向きである。</a:t>
            </a:r>
          </a:p>
        </p:txBody>
      </p:sp>
      <p:sp>
        <p:nvSpPr>
          <p:cNvPr id="28" name="Rectangle 27"/>
          <p:cNvSpPr/>
          <p:nvPr/>
        </p:nvSpPr>
        <p:spPr>
          <a:xfrm>
            <a:off x="7955279" y="1828800"/>
            <a:ext cx="3566160"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065007" y="1901952"/>
            <a:ext cx="3346704" cy="256032"/>
          </a:xfrm>
          <a:prstGeom prst="rect">
            <a:avLst/>
          </a:prstGeom>
          <a:noFill/>
        </p:spPr>
        <p:txBody>
          <a:bodyPr wrap="square">
            <a:spAutoFit/>
          </a:bodyPr>
          <a:lstStyle/>
          <a:p>
            <a:pPr algn="l"/>
            <a:r>
              <a:rPr sz="1100" b="1" i="0">
                <a:solidFill>
                  <a:srgbClr val="FFFFFF"/>
                </a:solidFill>
              </a:rPr>
              <a:t>提案 C（推奨）</a:t>
            </a:r>
          </a:p>
        </p:txBody>
      </p:sp>
      <p:sp>
        <p:nvSpPr>
          <p:cNvPr id="30" name="Rectangle 29"/>
          <p:cNvSpPr/>
          <p:nvPr/>
        </p:nvSpPr>
        <p:spPr>
          <a:xfrm>
            <a:off x="8065007" y="2176272"/>
            <a:ext cx="3346704"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065007" y="2240280"/>
            <a:ext cx="3346704" cy="182880"/>
          </a:xfrm>
          <a:prstGeom prst="rect">
            <a:avLst/>
          </a:prstGeom>
          <a:noFill/>
        </p:spPr>
        <p:txBody>
          <a:bodyPr wrap="square">
            <a:spAutoFit/>
          </a:bodyPr>
          <a:lstStyle/>
          <a:p>
            <a:pPr algn="l"/>
            <a:r>
              <a:rPr sz="800" b="1" i="0">
                <a:solidFill>
                  <a:srgbClr val="93B5E6"/>
                </a:solidFill>
              </a:rPr>
              <a:t>コスト</a:t>
            </a:r>
          </a:p>
        </p:txBody>
      </p:sp>
      <p:sp>
        <p:nvSpPr>
          <p:cNvPr id="32" name="TextBox 31"/>
          <p:cNvSpPr txBox="1"/>
          <p:nvPr/>
        </p:nvSpPr>
        <p:spPr>
          <a:xfrm>
            <a:off x="8065007" y="2423160"/>
            <a:ext cx="3346704" cy="502920"/>
          </a:xfrm>
          <a:prstGeom prst="rect">
            <a:avLst/>
          </a:prstGeom>
          <a:noFill/>
        </p:spPr>
        <p:txBody>
          <a:bodyPr wrap="square">
            <a:spAutoFit/>
          </a:bodyPr>
          <a:lstStyle/>
          <a:p>
            <a:pPr algn="l"/>
            <a:r>
              <a:rPr sz="750" b="0" i="0">
                <a:solidFill>
                  <a:srgbClr val="FFFFFF"/>
                </a:solidFill>
              </a:rPr>
              <a:t>月額サブスクリプション型で初期費用を抑えつつ、運用コストも予測可能な構造であり、投資対効果の説明が容易。</a:t>
            </a:r>
          </a:p>
        </p:txBody>
      </p:sp>
      <p:sp>
        <p:nvSpPr>
          <p:cNvPr id="33" name="TextBox 32"/>
          <p:cNvSpPr txBox="1"/>
          <p:nvPr/>
        </p:nvSpPr>
        <p:spPr>
          <a:xfrm>
            <a:off x="8065007" y="2990088"/>
            <a:ext cx="3346704" cy="182880"/>
          </a:xfrm>
          <a:prstGeom prst="rect">
            <a:avLst/>
          </a:prstGeom>
          <a:noFill/>
        </p:spPr>
        <p:txBody>
          <a:bodyPr wrap="square">
            <a:spAutoFit/>
          </a:bodyPr>
          <a:lstStyle/>
          <a:p>
            <a:pPr algn="l"/>
            <a:r>
              <a:rPr sz="800" b="1" i="0">
                <a:solidFill>
                  <a:srgbClr val="93B5E6"/>
                </a:solidFill>
              </a:rPr>
              <a:t>品質</a:t>
            </a:r>
          </a:p>
        </p:txBody>
      </p:sp>
      <p:sp>
        <p:nvSpPr>
          <p:cNvPr id="34" name="TextBox 33"/>
          <p:cNvSpPr txBox="1"/>
          <p:nvPr/>
        </p:nvSpPr>
        <p:spPr>
          <a:xfrm>
            <a:off x="8065007" y="3172968"/>
            <a:ext cx="3346704" cy="502920"/>
          </a:xfrm>
          <a:prstGeom prst="rect">
            <a:avLst/>
          </a:prstGeom>
          <a:noFill/>
        </p:spPr>
        <p:txBody>
          <a:bodyPr wrap="square">
            <a:spAutoFit/>
          </a:bodyPr>
          <a:lstStyle/>
          <a:p>
            <a:pPr algn="l"/>
            <a:r>
              <a:rPr sz="750" b="0" i="0">
                <a:solidFill>
                  <a:srgbClr val="FFFFFF"/>
                </a:solidFill>
              </a:rPr>
              <a:t>今回の要件を100%カバーする機能を標準搭載しており、追加カスタマイズなしで即時稼働が可能な設計になっている。</a:t>
            </a:r>
          </a:p>
        </p:txBody>
      </p:sp>
      <p:sp>
        <p:nvSpPr>
          <p:cNvPr id="35" name="TextBox 34"/>
          <p:cNvSpPr txBox="1"/>
          <p:nvPr/>
        </p:nvSpPr>
        <p:spPr>
          <a:xfrm>
            <a:off x="8065007" y="3739896"/>
            <a:ext cx="3346704" cy="182880"/>
          </a:xfrm>
          <a:prstGeom prst="rect">
            <a:avLst/>
          </a:prstGeom>
          <a:noFill/>
        </p:spPr>
        <p:txBody>
          <a:bodyPr wrap="square">
            <a:spAutoFit/>
          </a:bodyPr>
          <a:lstStyle/>
          <a:p>
            <a:pPr algn="l"/>
            <a:r>
              <a:rPr sz="800" b="1" i="0">
                <a:solidFill>
                  <a:srgbClr val="93B5E6"/>
                </a:solidFill>
              </a:rPr>
              <a:t>スピード</a:t>
            </a:r>
          </a:p>
        </p:txBody>
      </p:sp>
      <p:sp>
        <p:nvSpPr>
          <p:cNvPr id="36" name="TextBox 35"/>
          <p:cNvSpPr txBox="1"/>
          <p:nvPr/>
        </p:nvSpPr>
        <p:spPr>
          <a:xfrm>
            <a:off x="8065007" y="3922776"/>
            <a:ext cx="3346704" cy="502920"/>
          </a:xfrm>
          <a:prstGeom prst="rect">
            <a:avLst/>
          </a:prstGeom>
          <a:noFill/>
        </p:spPr>
        <p:txBody>
          <a:bodyPr wrap="square">
            <a:spAutoFit/>
          </a:bodyPr>
          <a:lstStyle/>
          <a:p>
            <a:pPr algn="l"/>
            <a:r>
              <a:rPr sz="750" b="0" i="0">
                <a:solidFill>
                  <a:srgbClr val="FFFFFF"/>
                </a:solidFill>
              </a:rPr>
              <a:t>最短4週間での導入が可能であり、今期中の成果確認と来期の本格展開を両立できるタイムラインを実現できる。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施策導入により、対応時間が48時間から8時間に短縮され、顧客満足度が大幅に改善する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before_after ／ 用途: 変化前後の対比 ／ 件数: 2件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施策導入前後で、顧客対応の質・速度・コストが劇的に改善する。現状維持のコストは、施策投資コストを大幅に上回る。</a:t>
            </a:r>
          </a:p>
        </p:txBody>
      </p:sp>
      <p:sp>
        <p:nvSpPr>
          <p:cNvPr id="10" name="Rectangle 9"/>
          <p:cNvSpPr/>
          <p:nvPr/>
        </p:nvSpPr>
        <p:spPr>
          <a:xfrm>
            <a:off x="548640" y="1828800"/>
            <a:ext cx="530352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01952"/>
            <a:ext cx="5084064" cy="201168"/>
          </a:xfrm>
          <a:prstGeom prst="rect">
            <a:avLst/>
          </a:prstGeom>
          <a:noFill/>
        </p:spPr>
        <p:txBody>
          <a:bodyPr wrap="square">
            <a:spAutoFit/>
          </a:bodyPr>
          <a:lstStyle/>
          <a:p>
            <a:pPr algn="l"/>
            <a:r>
              <a:rPr sz="800" b="1" i="0">
                <a:solidFill>
                  <a:srgbClr val="99A2AD"/>
                </a:solidFill>
              </a:rPr>
              <a:t>BEFORE ／ 現状</a:t>
            </a:r>
          </a:p>
        </p:txBody>
      </p:sp>
      <p:sp>
        <p:nvSpPr>
          <p:cNvPr id="12" name="TextBox 11"/>
          <p:cNvSpPr txBox="1"/>
          <p:nvPr/>
        </p:nvSpPr>
        <p:spPr>
          <a:xfrm>
            <a:off x="658368" y="2121408"/>
            <a:ext cx="5084064" cy="411480"/>
          </a:xfrm>
          <a:prstGeom prst="rect">
            <a:avLst/>
          </a:prstGeom>
          <a:noFill/>
        </p:spPr>
        <p:txBody>
          <a:bodyPr wrap="square">
            <a:spAutoFit/>
          </a:bodyPr>
          <a:lstStyle/>
          <a:p>
            <a:pPr algn="l"/>
            <a:r>
              <a:rPr sz="900" b="0" i="0">
                <a:solidFill>
                  <a:srgbClr val="444444"/>
                </a:solidFill>
              </a:rPr>
              <a:t>手動対応と属人的なナレッジ管理により、問い合わせ対応に時間がかかり、顧客の不満が蓄積している。</a:t>
            </a:r>
          </a:p>
        </p:txBody>
      </p:sp>
      <p:sp>
        <p:nvSpPr>
          <p:cNvPr id="13" name="TextBox 12"/>
          <p:cNvSpPr txBox="1"/>
          <p:nvPr/>
        </p:nvSpPr>
        <p:spPr>
          <a:xfrm>
            <a:off x="713232" y="2578608"/>
            <a:ext cx="4937760" cy="640080"/>
          </a:xfrm>
          <a:prstGeom prst="rect">
            <a:avLst/>
          </a:prstGeom>
          <a:noFill/>
        </p:spPr>
        <p:txBody>
          <a:bodyPr wrap="square">
            <a:spAutoFit/>
          </a:bodyPr>
          <a:lstStyle/>
          <a:p>
            <a:pPr algn="l"/>
            <a:r>
              <a:rPr sz="750" b="0" i="0">
                <a:solidFill>
                  <a:srgbClr val="444444"/>
                </a:solidFill>
              </a:rPr>
              <a:t>▶ 課題1：問い合わせの振り分けが手動で行われており、担当者の経験差により対応品質にばらつきが生じている。顧客満足度スコアは72点と業界平均を下回る状況。</a:t>
            </a:r>
          </a:p>
        </p:txBody>
      </p:sp>
      <p:sp>
        <p:nvSpPr>
          <p:cNvPr id="14" name="TextBox 13"/>
          <p:cNvSpPr txBox="1"/>
          <p:nvPr/>
        </p:nvSpPr>
        <p:spPr>
          <a:xfrm>
            <a:off x="713232" y="3264408"/>
            <a:ext cx="4937760" cy="640080"/>
          </a:xfrm>
          <a:prstGeom prst="rect">
            <a:avLst/>
          </a:prstGeom>
          <a:noFill/>
        </p:spPr>
        <p:txBody>
          <a:bodyPr wrap="square">
            <a:spAutoFit/>
          </a:bodyPr>
          <a:lstStyle/>
          <a:p>
            <a:pPr algn="l"/>
            <a:r>
              <a:rPr sz="750" b="0" i="0">
                <a:solidFill>
                  <a:srgbClr val="444444"/>
                </a:solidFill>
              </a:rPr>
              <a:t>▶ 課題2：ナレッジが個人に蓄積されており、担当者交代時に引き継ぎコストが発生する。年間の引き継ぎ工数は延べ200時間に達している。</a:t>
            </a:r>
          </a:p>
        </p:txBody>
      </p:sp>
      <p:sp>
        <p:nvSpPr>
          <p:cNvPr id="15" name="TextBox 14"/>
          <p:cNvSpPr txBox="1"/>
          <p:nvPr/>
        </p:nvSpPr>
        <p:spPr>
          <a:xfrm>
            <a:off x="713232" y="3950208"/>
            <a:ext cx="4937760" cy="640080"/>
          </a:xfrm>
          <a:prstGeom prst="rect">
            <a:avLst/>
          </a:prstGeom>
          <a:noFill/>
        </p:spPr>
        <p:txBody>
          <a:bodyPr wrap="square">
            <a:spAutoFit/>
          </a:bodyPr>
          <a:lstStyle/>
          <a:p>
            <a:pPr algn="l"/>
            <a:r>
              <a:rPr sz="750" b="0" i="0">
                <a:solidFill>
                  <a:srgbClr val="444444"/>
                </a:solidFill>
              </a:rPr>
              <a:t>▶ 課題3：繁忙期に対応が集中し、SLA違反が月平均15件発生している。違反1件あたりの機会損失は約50万円と試算される。</a:t>
            </a:r>
          </a:p>
        </p:txBody>
      </p:sp>
      <p:sp>
        <p:nvSpPr>
          <p:cNvPr id="16" name="TextBox 15"/>
          <p:cNvSpPr txBox="1"/>
          <p:nvPr/>
        </p:nvSpPr>
        <p:spPr>
          <a:xfrm>
            <a:off x="5943600" y="4023360"/>
            <a:ext cx="365760" cy="365760"/>
          </a:xfrm>
          <a:prstGeom prst="rect">
            <a:avLst/>
          </a:prstGeom>
          <a:noFill/>
        </p:spPr>
        <p:txBody>
          <a:bodyPr wrap="square">
            <a:spAutoFit/>
          </a:bodyPr>
          <a:lstStyle/>
          <a:p>
            <a:pPr algn="ctr"/>
            <a:r>
              <a:rPr sz="1800" b="1" i="0">
                <a:solidFill>
                  <a:srgbClr val="688BC2"/>
                </a:solidFill>
              </a:rPr>
              <a:t>→</a:t>
            </a:r>
          </a:p>
        </p:txBody>
      </p:sp>
      <p:sp>
        <p:nvSpPr>
          <p:cNvPr id="17" name="Rectangle 16"/>
          <p:cNvSpPr/>
          <p:nvPr/>
        </p:nvSpPr>
        <p:spPr>
          <a:xfrm>
            <a:off x="6400800" y="1828800"/>
            <a:ext cx="5212080"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10528" y="1901952"/>
            <a:ext cx="4992624" cy="201168"/>
          </a:xfrm>
          <a:prstGeom prst="rect">
            <a:avLst/>
          </a:prstGeom>
          <a:noFill/>
        </p:spPr>
        <p:txBody>
          <a:bodyPr wrap="square">
            <a:spAutoFit/>
          </a:bodyPr>
          <a:lstStyle/>
          <a:p>
            <a:pPr algn="l"/>
            <a:r>
              <a:rPr sz="800" b="1" i="0">
                <a:solidFill>
                  <a:srgbClr val="93B5E6"/>
                </a:solidFill>
              </a:rPr>
              <a:t>AFTER ／ 施策導入後</a:t>
            </a:r>
          </a:p>
        </p:txBody>
      </p:sp>
      <p:sp>
        <p:nvSpPr>
          <p:cNvPr id="19" name="TextBox 18"/>
          <p:cNvSpPr txBox="1"/>
          <p:nvPr/>
        </p:nvSpPr>
        <p:spPr>
          <a:xfrm>
            <a:off x="6510528" y="2121408"/>
            <a:ext cx="4992624" cy="411480"/>
          </a:xfrm>
          <a:prstGeom prst="rect">
            <a:avLst/>
          </a:prstGeom>
          <a:noFill/>
        </p:spPr>
        <p:txBody>
          <a:bodyPr wrap="square">
            <a:spAutoFit/>
          </a:bodyPr>
          <a:lstStyle/>
          <a:p>
            <a:pPr algn="l"/>
            <a:r>
              <a:rPr sz="900" b="0" i="0">
                <a:solidFill>
                  <a:srgbClr val="FFFFFF"/>
                </a:solidFill>
              </a:rPr>
              <a:t>AI自動トリアージとナレッジベース整備により、対応速度と品質が劇的に改善し、顧客満足度が向上する。</a:t>
            </a:r>
          </a:p>
        </p:txBody>
      </p:sp>
      <p:sp>
        <p:nvSpPr>
          <p:cNvPr id="20" name="TextBox 19"/>
          <p:cNvSpPr txBox="1"/>
          <p:nvPr/>
        </p:nvSpPr>
        <p:spPr>
          <a:xfrm>
            <a:off x="6565392" y="2578608"/>
            <a:ext cx="4846320" cy="640080"/>
          </a:xfrm>
          <a:prstGeom prst="rect">
            <a:avLst/>
          </a:prstGeom>
          <a:noFill/>
        </p:spPr>
        <p:txBody>
          <a:bodyPr wrap="square">
            <a:spAutoFit/>
          </a:bodyPr>
          <a:lstStyle/>
          <a:p>
            <a:pPr algn="l"/>
            <a:r>
              <a:rPr sz="750" b="0" i="0">
                <a:solidFill>
                  <a:srgbClr val="FFFFFF"/>
                </a:solidFill>
              </a:rPr>
              <a:t>▶ 改善1：AIによる自動振り分けにより、問い合わせの60%が即時解決され、担当者は複雑な案件に集中できる。顧客満足度スコアは85点以上に改善する見込み。</a:t>
            </a:r>
          </a:p>
        </p:txBody>
      </p:sp>
      <p:sp>
        <p:nvSpPr>
          <p:cNvPr id="21" name="TextBox 20"/>
          <p:cNvSpPr txBox="1"/>
          <p:nvPr/>
        </p:nvSpPr>
        <p:spPr>
          <a:xfrm>
            <a:off x="6565392" y="3264408"/>
            <a:ext cx="4846320" cy="640080"/>
          </a:xfrm>
          <a:prstGeom prst="rect">
            <a:avLst/>
          </a:prstGeom>
          <a:noFill/>
        </p:spPr>
        <p:txBody>
          <a:bodyPr wrap="square">
            <a:spAutoFit/>
          </a:bodyPr>
          <a:lstStyle/>
          <a:p>
            <a:pPr algn="l"/>
            <a:r>
              <a:rPr sz="750" b="0" i="0">
                <a:solidFill>
                  <a:srgbClr val="FFFFFF"/>
                </a:solidFill>
              </a:rPr>
              <a:t>▶ 改善2：ナレッジベースの整備により、担当者交代時の引き継ぎコストが90%削減される。年間200時間の工数が20時間以下になる。</a:t>
            </a:r>
          </a:p>
        </p:txBody>
      </p:sp>
      <p:sp>
        <p:nvSpPr>
          <p:cNvPr id="22" name="TextBox 21"/>
          <p:cNvSpPr txBox="1"/>
          <p:nvPr/>
        </p:nvSpPr>
        <p:spPr>
          <a:xfrm>
            <a:off x="6565392" y="3950208"/>
            <a:ext cx="4846320" cy="640080"/>
          </a:xfrm>
          <a:prstGeom prst="rect">
            <a:avLst/>
          </a:prstGeom>
          <a:noFill/>
        </p:spPr>
        <p:txBody>
          <a:bodyPr wrap="square">
            <a:spAutoFit/>
          </a:bodyPr>
          <a:lstStyle/>
          <a:p>
            <a:pPr algn="l"/>
            <a:r>
              <a:rPr sz="750" b="0" i="0">
                <a:solidFill>
                  <a:srgbClr val="FFFFFF"/>
                </a:solidFill>
              </a:rPr>
              <a:t>▶ 改善3：自動スケーリングにより繁忙期の対応能力が2倍に拡張され、SLA違反がゼロになる。年間750万円の機会損失が解消される。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現状の分散管理から統合管理へ移行することで、意思決定速度を3倍に改善できる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as_is_to_be ／ 用途: 現状とあるべき姿の対比 ／ 件数: 2件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現状の分散管理体制では意思決定に平均3日かかっているが、統合管理体制への移行により1日以内での意思決定が可能になる。</a:t>
            </a:r>
          </a:p>
        </p:txBody>
      </p:sp>
      <p:sp>
        <p:nvSpPr>
          <p:cNvPr id="10" name="Rectangle 9"/>
          <p:cNvSpPr/>
          <p:nvPr/>
        </p:nvSpPr>
        <p:spPr>
          <a:xfrm>
            <a:off x="548640" y="1828800"/>
            <a:ext cx="530352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01952"/>
            <a:ext cx="5084064" cy="201168"/>
          </a:xfrm>
          <a:prstGeom prst="rect">
            <a:avLst/>
          </a:prstGeom>
          <a:noFill/>
        </p:spPr>
        <p:txBody>
          <a:bodyPr wrap="square">
            <a:spAutoFit/>
          </a:bodyPr>
          <a:lstStyle/>
          <a:p>
            <a:pPr algn="l"/>
            <a:r>
              <a:rPr sz="800" b="1" i="0">
                <a:solidFill>
                  <a:srgbClr val="99A2AD"/>
                </a:solidFill>
              </a:rPr>
              <a:t>AS IS ／ 現状</a:t>
            </a:r>
          </a:p>
        </p:txBody>
      </p:sp>
      <p:sp>
        <p:nvSpPr>
          <p:cNvPr id="12" name="TextBox 11"/>
          <p:cNvSpPr txBox="1"/>
          <p:nvPr/>
        </p:nvSpPr>
        <p:spPr>
          <a:xfrm>
            <a:off x="658368" y="2121408"/>
            <a:ext cx="5084064" cy="411480"/>
          </a:xfrm>
          <a:prstGeom prst="rect">
            <a:avLst/>
          </a:prstGeom>
          <a:noFill/>
        </p:spPr>
        <p:txBody>
          <a:bodyPr wrap="square">
            <a:spAutoFit/>
          </a:bodyPr>
          <a:lstStyle/>
          <a:p>
            <a:pPr algn="l"/>
            <a:r>
              <a:rPr sz="900" b="0" i="0">
                <a:solidFill>
                  <a:srgbClr val="444444"/>
                </a:solidFill>
              </a:rPr>
              <a:t>部門ごとにデータが分散しており、横断的な分析に時間がかかり、機会損失が発生している。</a:t>
            </a:r>
          </a:p>
        </p:txBody>
      </p:sp>
      <p:sp>
        <p:nvSpPr>
          <p:cNvPr id="13" name="TextBox 12"/>
          <p:cNvSpPr txBox="1"/>
          <p:nvPr/>
        </p:nvSpPr>
        <p:spPr>
          <a:xfrm>
            <a:off x="713232" y="2578608"/>
            <a:ext cx="4937760" cy="640080"/>
          </a:xfrm>
          <a:prstGeom prst="rect">
            <a:avLst/>
          </a:prstGeom>
          <a:noFill/>
        </p:spPr>
        <p:txBody>
          <a:bodyPr wrap="square">
            <a:spAutoFit/>
          </a:bodyPr>
          <a:lstStyle/>
          <a:p>
            <a:pPr algn="l"/>
            <a:r>
              <a:rPr sz="750" b="0" i="0">
                <a:solidFill>
                  <a:srgbClr val="444444"/>
                </a:solidFill>
              </a:rPr>
              <a:t>▶ 問題1：各部門が独自のシステムでデータを管理しており、全社横断の分析には手動でのデータ統合作業が必要で、平均8時間の工数が発生している。</a:t>
            </a:r>
          </a:p>
        </p:txBody>
      </p:sp>
      <p:sp>
        <p:nvSpPr>
          <p:cNvPr id="14" name="TextBox 13"/>
          <p:cNvSpPr txBox="1"/>
          <p:nvPr/>
        </p:nvSpPr>
        <p:spPr>
          <a:xfrm>
            <a:off x="713232" y="3264408"/>
            <a:ext cx="4937760" cy="640080"/>
          </a:xfrm>
          <a:prstGeom prst="rect">
            <a:avLst/>
          </a:prstGeom>
          <a:noFill/>
        </p:spPr>
        <p:txBody>
          <a:bodyPr wrap="square">
            <a:spAutoFit/>
          </a:bodyPr>
          <a:lstStyle/>
          <a:p>
            <a:pPr algn="l"/>
            <a:r>
              <a:rPr sz="750" b="0" i="0">
                <a:solidFill>
                  <a:srgbClr val="444444"/>
                </a:solidFill>
              </a:rPr>
              <a:t>▶ 問題2：データの定義や集計方法が部門ごとに異なるため、経営会議での数値の食い違いが頻発し、意思決定の信頼性が低下している。</a:t>
            </a:r>
          </a:p>
        </p:txBody>
      </p:sp>
      <p:sp>
        <p:nvSpPr>
          <p:cNvPr id="15" name="TextBox 14"/>
          <p:cNvSpPr txBox="1"/>
          <p:nvPr/>
        </p:nvSpPr>
        <p:spPr>
          <a:xfrm>
            <a:off x="713232" y="3950208"/>
            <a:ext cx="4937760" cy="640080"/>
          </a:xfrm>
          <a:prstGeom prst="rect">
            <a:avLst/>
          </a:prstGeom>
          <a:noFill/>
        </p:spPr>
        <p:txBody>
          <a:bodyPr wrap="square">
            <a:spAutoFit/>
          </a:bodyPr>
          <a:lstStyle/>
          <a:p>
            <a:pPr algn="l"/>
            <a:r>
              <a:rPr sz="750" b="0" i="0">
                <a:solidFill>
                  <a:srgbClr val="444444"/>
                </a:solidFill>
              </a:rPr>
              <a:t>▶ 問題3：リアルタイムのデータ参照ができないため、市場変化への対応が遅れ、競合他社比で意思決定速度が3倍遅い状況にある。</a:t>
            </a:r>
          </a:p>
        </p:txBody>
      </p:sp>
      <p:sp>
        <p:nvSpPr>
          <p:cNvPr id="16" name="TextBox 15"/>
          <p:cNvSpPr txBox="1"/>
          <p:nvPr/>
        </p:nvSpPr>
        <p:spPr>
          <a:xfrm>
            <a:off x="5943600" y="4023360"/>
            <a:ext cx="365760" cy="365760"/>
          </a:xfrm>
          <a:prstGeom prst="rect">
            <a:avLst/>
          </a:prstGeom>
          <a:noFill/>
        </p:spPr>
        <p:txBody>
          <a:bodyPr wrap="square">
            <a:spAutoFit/>
          </a:bodyPr>
          <a:lstStyle/>
          <a:p>
            <a:pPr algn="ctr"/>
            <a:r>
              <a:rPr sz="1800" b="1" i="0">
                <a:solidFill>
                  <a:srgbClr val="688BC2"/>
                </a:solidFill>
              </a:rPr>
              <a:t>→</a:t>
            </a:r>
          </a:p>
        </p:txBody>
      </p:sp>
      <p:sp>
        <p:nvSpPr>
          <p:cNvPr id="17" name="Rectangle 16"/>
          <p:cNvSpPr/>
          <p:nvPr/>
        </p:nvSpPr>
        <p:spPr>
          <a:xfrm>
            <a:off x="6400800" y="1828800"/>
            <a:ext cx="5212080"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10528" y="1901952"/>
            <a:ext cx="4992624" cy="201168"/>
          </a:xfrm>
          <a:prstGeom prst="rect">
            <a:avLst/>
          </a:prstGeom>
          <a:noFill/>
        </p:spPr>
        <p:txBody>
          <a:bodyPr wrap="square">
            <a:spAutoFit/>
          </a:bodyPr>
          <a:lstStyle/>
          <a:p>
            <a:pPr algn="l"/>
            <a:r>
              <a:rPr sz="800" b="1" i="0">
                <a:solidFill>
                  <a:srgbClr val="93B5E6"/>
                </a:solidFill>
              </a:rPr>
              <a:t>TO BE ／ あるべき姿</a:t>
            </a:r>
          </a:p>
        </p:txBody>
      </p:sp>
      <p:sp>
        <p:nvSpPr>
          <p:cNvPr id="19" name="TextBox 18"/>
          <p:cNvSpPr txBox="1"/>
          <p:nvPr/>
        </p:nvSpPr>
        <p:spPr>
          <a:xfrm>
            <a:off x="6510528" y="2121408"/>
            <a:ext cx="4992624" cy="411480"/>
          </a:xfrm>
          <a:prstGeom prst="rect">
            <a:avLst/>
          </a:prstGeom>
          <a:noFill/>
        </p:spPr>
        <p:txBody>
          <a:bodyPr wrap="square">
            <a:spAutoFit/>
          </a:bodyPr>
          <a:lstStyle/>
          <a:p>
            <a:pPr algn="l"/>
            <a:r>
              <a:rPr sz="900" b="0" i="0">
                <a:solidFill>
                  <a:srgbClr val="FFFFFF"/>
                </a:solidFill>
              </a:rPr>
              <a:t>統合データ基盤により、全社横断の分析がリアルタイムで可能になり、意思決定速度が3倍に改善する。</a:t>
            </a:r>
          </a:p>
        </p:txBody>
      </p:sp>
      <p:sp>
        <p:nvSpPr>
          <p:cNvPr id="20" name="TextBox 19"/>
          <p:cNvSpPr txBox="1"/>
          <p:nvPr/>
        </p:nvSpPr>
        <p:spPr>
          <a:xfrm>
            <a:off x="6565392" y="2578608"/>
            <a:ext cx="4846320" cy="640080"/>
          </a:xfrm>
          <a:prstGeom prst="rect">
            <a:avLst/>
          </a:prstGeom>
          <a:noFill/>
        </p:spPr>
        <p:txBody>
          <a:bodyPr wrap="square">
            <a:spAutoFit/>
          </a:bodyPr>
          <a:lstStyle/>
          <a:p>
            <a:pPr algn="l"/>
            <a:r>
              <a:rPr sz="750" b="0" i="0">
                <a:solidFill>
                  <a:srgbClr val="FFFFFF"/>
                </a:solidFill>
              </a:rPr>
              <a:t>▶ 改善1：統合データ基盤により、全部門のデータが自動的に集約・標準化され、横断分析の工数が8時間から30分以下に短縮される。</a:t>
            </a:r>
          </a:p>
        </p:txBody>
      </p:sp>
      <p:sp>
        <p:nvSpPr>
          <p:cNvPr id="21" name="TextBox 20"/>
          <p:cNvSpPr txBox="1"/>
          <p:nvPr/>
        </p:nvSpPr>
        <p:spPr>
          <a:xfrm>
            <a:off x="6565392" y="3264408"/>
            <a:ext cx="4846320" cy="640080"/>
          </a:xfrm>
          <a:prstGeom prst="rect">
            <a:avLst/>
          </a:prstGeom>
          <a:noFill/>
        </p:spPr>
        <p:txBody>
          <a:bodyPr wrap="square">
            <a:spAutoFit/>
          </a:bodyPr>
          <a:lstStyle/>
          <a:p>
            <a:pPr algn="l"/>
            <a:r>
              <a:rPr sz="750" b="0" i="0">
                <a:solidFill>
                  <a:srgbClr val="FFFFFF"/>
                </a:solidFill>
              </a:rPr>
              <a:t>▶ 改善2：データ定義の統一により、経営会議での数値の食い違いがなくなり、意思決定の信頼性と速度が大幅に向上する。</a:t>
            </a:r>
          </a:p>
        </p:txBody>
      </p:sp>
      <p:sp>
        <p:nvSpPr>
          <p:cNvPr id="22" name="TextBox 21"/>
          <p:cNvSpPr txBox="1"/>
          <p:nvPr/>
        </p:nvSpPr>
        <p:spPr>
          <a:xfrm>
            <a:off x="6565392" y="3950208"/>
            <a:ext cx="4846320" cy="640080"/>
          </a:xfrm>
          <a:prstGeom prst="rect">
            <a:avLst/>
          </a:prstGeom>
          <a:noFill/>
        </p:spPr>
        <p:txBody>
          <a:bodyPr wrap="square">
            <a:spAutoFit/>
          </a:bodyPr>
          <a:lstStyle/>
          <a:p>
            <a:pPr algn="l"/>
            <a:r>
              <a:rPr sz="750" b="0" i="0">
                <a:solidFill>
                  <a:srgbClr val="FFFFFF"/>
                </a:solidFill>
              </a:rPr>
              <a:t>▶ 改善3：リアルタイムダッシュボードにより、市場変化を即座に把握して対応できるようになり、競合他社との意思決定速度の差が解消される。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競合比較の結果、自社は機能・価格・サポートの3軸で業界最高水準の競争優位を持つ</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competitor_comparison ／ 用途: 競合との差別化比較 ／ 件数: 3〜5社</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主要競合3社との比較において、自社は機能網羅性・価格競争力・サポート体制の3軸すべてで優位性を持ち、顧客の選定基準を満たしている。</a:t>
            </a:r>
          </a:p>
        </p:txBody>
      </p:sp>
      <p:sp>
        <p:nvSpPr>
          <p:cNvPr id="10" name="Rectangle 9"/>
          <p:cNvSpPr/>
          <p:nvPr/>
        </p:nvSpPr>
        <p:spPr>
          <a:xfrm>
            <a:off x="548640" y="1874519"/>
            <a:ext cx="1828800" cy="502920"/>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3" y="1965960"/>
            <a:ext cx="1719072" cy="365760"/>
          </a:xfrm>
          <a:prstGeom prst="rect">
            <a:avLst/>
          </a:prstGeom>
          <a:noFill/>
        </p:spPr>
        <p:txBody>
          <a:bodyPr wrap="square">
            <a:spAutoFit/>
          </a:bodyPr>
          <a:lstStyle/>
          <a:p>
            <a:pPr algn="l"/>
            <a:r>
              <a:rPr sz="900" b="1" i="0">
                <a:solidFill>
                  <a:srgbClr val="FFFFFF"/>
                </a:solidFill>
              </a:rPr>
              <a:t>評価軸</a:t>
            </a:r>
          </a:p>
        </p:txBody>
      </p:sp>
      <p:sp>
        <p:nvSpPr>
          <p:cNvPr id="12" name="Rectangle 11"/>
          <p:cNvSpPr/>
          <p:nvPr/>
        </p:nvSpPr>
        <p:spPr>
          <a:xfrm>
            <a:off x="2395728" y="1874519"/>
            <a:ext cx="2377440" cy="502920"/>
          </a:xfrm>
          <a:prstGeom prst="rect">
            <a:avLst/>
          </a:prstGeom>
          <a:solidFill>
            <a:srgbClr val="08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450592" y="1965960"/>
            <a:ext cx="2267712" cy="365760"/>
          </a:xfrm>
          <a:prstGeom prst="rect">
            <a:avLst/>
          </a:prstGeom>
          <a:noFill/>
        </p:spPr>
        <p:txBody>
          <a:bodyPr wrap="square">
            <a:spAutoFit/>
          </a:bodyPr>
          <a:lstStyle/>
          <a:p>
            <a:pPr algn="l"/>
            <a:r>
              <a:rPr sz="900" b="1" i="0">
                <a:solidFill>
                  <a:srgbClr val="FFFFFF"/>
                </a:solidFill>
              </a:rPr>
              <a:t>自社（推奨）</a:t>
            </a:r>
          </a:p>
        </p:txBody>
      </p:sp>
      <p:sp>
        <p:nvSpPr>
          <p:cNvPr id="14" name="Rectangle 13"/>
          <p:cNvSpPr/>
          <p:nvPr/>
        </p:nvSpPr>
        <p:spPr>
          <a:xfrm>
            <a:off x="4791456" y="1874519"/>
            <a:ext cx="2286000" cy="5029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46320" y="1965960"/>
            <a:ext cx="2176272" cy="365760"/>
          </a:xfrm>
          <a:prstGeom prst="rect">
            <a:avLst/>
          </a:prstGeom>
          <a:noFill/>
        </p:spPr>
        <p:txBody>
          <a:bodyPr wrap="square">
            <a:spAutoFit/>
          </a:bodyPr>
          <a:lstStyle/>
          <a:p>
            <a:pPr algn="l"/>
            <a:r>
              <a:rPr sz="900" b="1" i="0">
                <a:solidFill>
                  <a:srgbClr val="FFFFFF"/>
                </a:solidFill>
              </a:rPr>
              <a:t>競合 A</a:t>
            </a:r>
          </a:p>
        </p:txBody>
      </p:sp>
      <p:sp>
        <p:nvSpPr>
          <p:cNvPr id="16" name="Rectangle 15"/>
          <p:cNvSpPr/>
          <p:nvPr/>
        </p:nvSpPr>
        <p:spPr>
          <a:xfrm>
            <a:off x="7095744" y="1874519"/>
            <a:ext cx="2286000" cy="5029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50607" y="1965960"/>
            <a:ext cx="2176272" cy="365760"/>
          </a:xfrm>
          <a:prstGeom prst="rect">
            <a:avLst/>
          </a:prstGeom>
          <a:noFill/>
        </p:spPr>
        <p:txBody>
          <a:bodyPr wrap="square">
            <a:spAutoFit/>
          </a:bodyPr>
          <a:lstStyle/>
          <a:p>
            <a:pPr algn="l"/>
            <a:r>
              <a:rPr sz="900" b="1" i="0">
                <a:solidFill>
                  <a:srgbClr val="FFFFFF"/>
                </a:solidFill>
              </a:rPr>
              <a:t>競合 B</a:t>
            </a:r>
          </a:p>
        </p:txBody>
      </p:sp>
      <p:sp>
        <p:nvSpPr>
          <p:cNvPr id="18" name="Rectangle 17"/>
          <p:cNvSpPr/>
          <p:nvPr/>
        </p:nvSpPr>
        <p:spPr>
          <a:xfrm>
            <a:off x="9400032" y="1874519"/>
            <a:ext cx="2286000" cy="5029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54896" y="1965960"/>
            <a:ext cx="2176272" cy="365760"/>
          </a:xfrm>
          <a:prstGeom prst="rect">
            <a:avLst/>
          </a:prstGeom>
          <a:noFill/>
        </p:spPr>
        <p:txBody>
          <a:bodyPr wrap="square">
            <a:spAutoFit/>
          </a:bodyPr>
          <a:lstStyle/>
          <a:p>
            <a:pPr algn="l"/>
            <a:r>
              <a:rPr sz="900" b="1" i="0">
                <a:solidFill>
                  <a:srgbClr val="FFFFFF"/>
                </a:solidFill>
              </a:rPr>
              <a:t>競合 C</a:t>
            </a:r>
          </a:p>
        </p:txBody>
      </p:sp>
      <p:sp>
        <p:nvSpPr>
          <p:cNvPr id="20" name="Rectangle 19"/>
          <p:cNvSpPr/>
          <p:nvPr/>
        </p:nvSpPr>
        <p:spPr>
          <a:xfrm>
            <a:off x="548640" y="2395727"/>
            <a:ext cx="1828800" cy="5029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3503" y="2441447"/>
            <a:ext cx="1719072" cy="411480"/>
          </a:xfrm>
          <a:prstGeom prst="rect">
            <a:avLst/>
          </a:prstGeom>
          <a:noFill/>
        </p:spPr>
        <p:txBody>
          <a:bodyPr wrap="square">
            <a:spAutoFit/>
          </a:bodyPr>
          <a:lstStyle/>
          <a:p>
            <a:pPr algn="l"/>
            <a:r>
              <a:rPr sz="750" b="1" i="0">
                <a:solidFill>
                  <a:srgbClr val="444444"/>
                </a:solidFill>
              </a:rPr>
              <a:t>導入コスト</a:t>
            </a:r>
          </a:p>
        </p:txBody>
      </p:sp>
      <p:sp>
        <p:nvSpPr>
          <p:cNvPr id="22" name="Rectangle 21"/>
          <p:cNvSpPr/>
          <p:nvPr/>
        </p:nvSpPr>
        <p:spPr>
          <a:xfrm>
            <a:off x="2395728" y="2395727"/>
            <a:ext cx="2377440" cy="502920"/>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450592" y="2441447"/>
            <a:ext cx="2267712" cy="411480"/>
          </a:xfrm>
          <a:prstGeom prst="rect">
            <a:avLst/>
          </a:prstGeom>
          <a:noFill/>
        </p:spPr>
        <p:txBody>
          <a:bodyPr wrap="square">
            <a:spAutoFit/>
          </a:bodyPr>
          <a:lstStyle/>
          <a:p>
            <a:pPr algn="l"/>
            <a:r>
              <a:rPr sz="750" b="0" i="0">
                <a:solidFill>
                  <a:srgbClr val="0C3570"/>
                </a:solidFill>
              </a:rPr>
              <a:t>月額制で初期費用ゼロ。即日開通が可能</a:t>
            </a:r>
          </a:p>
        </p:txBody>
      </p:sp>
      <p:sp>
        <p:nvSpPr>
          <p:cNvPr id="24" name="Rectangle 23"/>
          <p:cNvSpPr/>
          <p:nvPr/>
        </p:nvSpPr>
        <p:spPr>
          <a:xfrm>
            <a:off x="4791456" y="2395727"/>
            <a:ext cx="2286000" cy="5029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46320" y="2441447"/>
            <a:ext cx="2176272" cy="411480"/>
          </a:xfrm>
          <a:prstGeom prst="rect">
            <a:avLst/>
          </a:prstGeom>
          <a:noFill/>
        </p:spPr>
        <p:txBody>
          <a:bodyPr wrap="square">
            <a:spAutoFit/>
          </a:bodyPr>
          <a:lstStyle/>
          <a:p>
            <a:pPr algn="l"/>
            <a:r>
              <a:rPr sz="750" b="0" i="0">
                <a:solidFill>
                  <a:srgbClr val="444444"/>
                </a:solidFill>
              </a:rPr>
              <a:t>個別見積もり・構築費用が発生</a:t>
            </a:r>
          </a:p>
        </p:txBody>
      </p:sp>
      <p:sp>
        <p:nvSpPr>
          <p:cNvPr id="26" name="Rectangle 25"/>
          <p:cNvSpPr/>
          <p:nvPr/>
        </p:nvSpPr>
        <p:spPr>
          <a:xfrm>
            <a:off x="7095744" y="2395727"/>
            <a:ext cx="2286000" cy="5029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50607" y="2441447"/>
            <a:ext cx="2176272" cy="411480"/>
          </a:xfrm>
          <a:prstGeom prst="rect">
            <a:avLst/>
          </a:prstGeom>
          <a:noFill/>
        </p:spPr>
        <p:txBody>
          <a:bodyPr wrap="square">
            <a:spAutoFit/>
          </a:bodyPr>
          <a:lstStyle/>
          <a:p>
            <a:pPr algn="l"/>
            <a:r>
              <a:rPr sz="750" b="0" i="0">
                <a:solidFill>
                  <a:srgbClr val="444444"/>
                </a:solidFill>
              </a:rPr>
              <a:t>中程度の初期費用。標準構成なら安価</a:t>
            </a:r>
          </a:p>
        </p:txBody>
      </p:sp>
      <p:sp>
        <p:nvSpPr>
          <p:cNvPr id="28" name="Rectangle 27"/>
          <p:cNvSpPr/>
          <p:nvPr/>
        </p:nvSpPr>
        <p:spPr>
          <a:xfrm>
            <a:off x="9400032" y="2395727"/>
            <a:ext cx="2286000" cy="5029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54896" y="2441447"/>
            <a:ext cx="2176272" cy="411480"/>
          </a:xfrm>
          <a:prstGeom prst="rect">
            <a:avLst/>
          </a:prstGeom>
          <a:noFill/>
        </p:spPr>
        <p:txBody>
          <a:bodyPr wrap="square">
            <a:spAutoFit/>
          </a:bodyPr>
          <a:lstStyle/>
          <a:p>
            <a:pPr algn="l"/>
            <a:r>
              <a:rPr sz="750" b="0" i="0">
                <a:solidFill>
                  <a:srgbClr val="444444"/>
                </a:solidFill>
              </a:rPr>
              <a:t>初期費用は低いがオプションで高額化</a:t>
            </a:r>
          </a:p>
        </p:txBody>
      </p:sp>
      <p:sp>
        <p:nvSpPr>
          <p:cNvPr id="30" name="Rectangle 29"/>
          <p:cNvSpPr/>
          <p:nvPr/>
        </p:nvSpPr>
        <p:spPr>
          <a:xfrm>
            <a:off x="548640" y="2916936"/>
            <a:ext cx="18288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03503" y="2962656"/>
            <a:ext cx="1719072" cy="411480"/>
          </a:xfrm>
          <a:prstGeom prst="rect">
            <a:avLst/>
          </a:prstGeom>
          <a:noFill/>
        </p:spPr>
        <p:txBody>
          <a:bodyPr wrap="square">
            <a:spAutoFit/>
          </a:bodyPr>
          <a:lstStyle/>
          <a:p>
            <a:pPr algn="l"/>
            <a:r>
              <a:rPr sz="750" b="1" i="0">
                <a:solidFill>
                  <a:srgbClr val="444444"/>
                </a:solidFill>
              </a:rPr>
              <a:t>カスタマイズ性</a:t>
            </a:r>
          </a:p>
        </p:txBody>
      </p:sp>
      <p:sp>
        <p:nvSpPr>
          <p:cNvPr id="32" name="Rectangle 31"/>
          <p:cNvSpPr/>
          <p:nvPr/>
        </p:nvSpPr>
        <p:spPr>
          <a:xfrm>
            <a:off x="2395728" y="2916936"/>
            <a:ext cx="2377440" cy="502920"/>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450592" y="2962656"/>
            <a:ext cx="2267712" cy="411480"/>
          </a:xfrm>
          <a:prstGeom prst="rect">
            <a:avLst/>
          </a:prstGeom>
          <a:noFill/>
        </p:spPr>
        <p:txBody>
          <a:bodyPr wrap="square">
            <a:spAutoFit/>
          </a:bodyPr>
          <a:lstStyle/>
          <a:p>
            <a:pPr algn="l"/>
            <a:r>
              <a:rPr sz="750" b="0" i="0">
                <a:solidFill>
                  <a:srgbClr val="0C3570"/>
                </a:solidFill>
              </a:rPr>
              <a:t>無制限（要件定義に基づくフルカスタム）</a:t>
            </a:r>
          </a:p>
        </p:txBody>
      </p:sp>
      <p:sp>
        <p:nvSpPr>
          <p:cNvPr id="34" name="Rectangle 33"/>
          <p:cNvSpPr/>
          <p:nvPr/>
        </p:nvSpPr>
        <p:spPr>
          <a:xfrm>
            <a:off x="4791456" y="2916936"/>
            <a:ext cx="22860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846320" y="2962656"/>
            <a:ext cx="2176272" cy="411480"/>
          </a:xfrm>
          <a:prstGeom prst="rect">
            <a:avLst/>
          </a:prstGeom>
          <a:noFill/>
        </p:spPr>
        <p:txBody>
          <a:bodyPr wrap="square">
            <a:spAutoFit/>
          </a:bodyPr>
          <a:lstStyle/>
          <a:p>
            <a:pPr algn="l"/>
            <a:r>
              <a:rPr sz="750" b="0" i="0">
                <a:solidFill>
                  <a:srgbClr val="444444"/>
                </a:solidFill>
              </a:rPr>
              <a:t>限定的（標準テンプレートから選択）</a:t>
            </a:r>
          </a:p>
        </p:txBody>
      </p:sp>
      <p:sp>
        <p:nvSpPr>
          <p:cNvPr id="36" name="Rectangle 35"/>
          <p:cNvSpPr/>
          <p:nvPr/>
        </p:nvSpPr>
        <p:spPr>
          <a:xfrm>
            <a:off x="7095744" y="2916936"/>
            <a:ext cx="22860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150607" y="2962656"/>
            <a:ext cx="2176272" cy="411480"/>
          </a:xfrm>
          <a:prstGeom prst="rect">
            <a:avLst/>
          </a:prstGeom>
          <a:noFill/>
        </p:spPr>
        <p:txBody>
          <a:bodyPr wrap="square">
            <a:spAutoFit/>
          </a:bodyPr>
          <a:lstStyle/>
          <a:p>
            <a:pPr algn="l"/>
            <a:r>
              <a:rPr sz="750" b="0" i="0">
                <a:solidFill>
                  <a:srgbClr val="444444"/>
                </a:solidFill>
              </a:rPr>
              <a:t>中程度（APIで一部拡張可能）</a:t>
            </a:r>
          </a:p>
        </p:txBody>
      </p:sp>
      <p:sp>
        <p:nvSpPr>
          <p:cNvPr id="38" name="Rectangle 37"/>
          <p:cNvSpPr/>
          <p:nvPr/>
        </p:nvSpPr>
        <p:spPr>
          <a:xfrm>
            <a:off x="9400032" y="2916936"/>
            <a:ext cx="22860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454896" y="2962656"/>
            <a:ext cx="2176272" cy="411480"/>
          </a:xfrm>
          <a:prstGeom prst="rect">
            <a:avLst/>
          </a:prstGeom>
          <a:noFill/>
        </p:spPr>
        <p:txBody>
          <a:bodyPr wrap="square">
            <a:spAutoFit/>
          </a:bodyPr>
          <a:lstStyle/>
          <a:p>
            <a:pPr algn="l"/>
            <a:r>
              <a:rPr sz="750" b="0" i="0">
                <a:solidFill>
                  <a:srgbClr val="444444"/>
                </a:solidFill>
              </a:rPr>
              <a:t>限定的（標準機能のみ）</a:t>
            </a:r>
          </a:p>
        </p:txBody>
      </p:sp>
      <p:sp>
        <p:nvSpPr>
          <p:cNvPr id="40" name="Rectangle 39"/>
          <p:cNvSpPr/>
          <p:nvPr/>
        </p:nvSpPr>
        <p:spPr>
          <a:xfrm>
            <a:off x="548640" y="3438144"/>
            <a:ext cx="1828800" cy="5029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03503" y="3483863"/>
            <a:ext cx="1719072" cy="411480"/>
          </a:xfrm>
          <a:prstGeom prst="rect">
            <a:avLst/>
          </a:prstGeom>
          <a:noFill/>
        </p:spPr>
        <p:txBody>
          <a:bodyPr wrap="square">
            <a:spAutoFit/>
          </a:bodyPr>
          <a:lstStyle/>
          <a:p>
            <a:pPr algn="l"/>
            <a:r>
              <a:rPr sz="750" b="1" i="0">
                <a:solidFill>
                  <a:srgbClr val="444444"/>
                </a:solidFill>
              </a:rPr>
              <a:t>セキュリティ</a:t>
            </a:r>
          </a:p>
        </p:txBody>
      </p:sp>
      <p:sp>
        <p:nvSpPr>
          <p:cNvPr id="42" name="Rectangle 41"/>
          <p:cNvSpPr/>
          <p:nvPr/>
        </p:nvSpPr>
        <p:spPr>
          <a:xfrm>
            <a:off x="2395728" y="3438144"/>
            <a:ext cx="2377440" cy="502920"/>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450592" y="3483863"/>
            <a:ext cx="2267712" cy="411480"/>
          </a:xfrm>
          <a:prstGeom prst="rect">
            <a:avLst/>
          </a:prstGeom>
          <a:noFill/>
        </p:spPr>
        <p:txBody>
          <a:bodyPr wrap="square">
            <a:spAutoFit/>
          </a:bodyPr>
          <a:lstStyle/>
          <a:p>
            <a:pPr algn="l"/>
            <a:r>
              <a:rPr sz="750" b="0" i="0">
                <a:solidFill>
                  <a:srgbClr val="0C3570"/>
                </a:solidFill>
              </a:rPr>
              <a:t>専用線・個別ログ監査・IP制限等の高度防御</a:t>
            </a:r>
          </a:p>
        </p:txBody>
      </p:sp>
      <p:sp>
        <p:nvSpPr>
          <p:cNvPr id="44" name="Rectangle 43"/>
          <p:cNvSpPr/>
          <p:nvPr/>
        </p:nvSpPr>
        <p:spPr>
          <a:xfrm>
            <a:off x="4791456" y="3438144"/>
            <a:ext cx="2286000" cy="5029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846320" y="3483863"/>
            <a:ext cx="2176272" cy="411480"/>
          </a:xfrm>
          <a:prstGeom prst="rect">
            <a:avLst/>
          </a:prstGeom>
          <a:noFill/>
        </p:spPr>
        <p:txBody>
          <a:bodyPr wrap="square">
            <a:spAutoFit/>
          </a:bodyPr>
          <a:lstStyle/>
          <a:p>
            <a:pPr algn="l"/>
            <a:r>
              <a:rPr sz="750" b="0" i="0">
                <a:solidFill>
                  <a:srgbClr val="444444"/>
                </a:solidFill>
              </a:rPr>
              <a:t>一般的な暗号化・二要素認証をサポート</a:t>
            </a:r>
          </a:p>
        </p:txBody>
      </p:sp>
      <p:sp>
        <p:nvSpPr>
          <p:cNvPr id="46" name="Rectangle 45"/>
          <p:cNvSpPr/>
          <p:nvPr/>
        </p:nvSpPr>
        <p:spPr>
          <a:xfrm>
            <a:off x="7095744" y="3438144"/>
            <a:ext cx="2286000" cy="5029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150607" y="3483863"/>
            <a:ext cx="2176272" cy="411480"/>
          </a:xfrm>
          <a:prstGeom prst="rect">
            <a:avLst/>
          </a:prstGeom>
          <a:noFill/>
        </p:spPr>
        <p:txBody>
          <a:bodyPr wrap="square">
            <a:spAutoFit/>
          </a:bodyPr>
          <a:lstStyle/>
          <a:p>
            <a:pPr algn="l"/>
            <a:r>
              <a:rPr sz="750" b="0" i="0">
                <a:solidFill>
                  <a:srgbClr val="444444"/>
                </a:solidFill>
              </a:rPr>
              <a:t>SOC2 Type II認証取得済み</a:t>
            </a:r>
          </a:p>
        </p:txBody>
      </p:sp>
      <p:sp>
        <p:nvSpPr>
          <p:cNvPr id="48" name="Rectangle 47"/>
          <p:cNvSpPr/>
          <p:nvPr/>
        </p:nvSpPr>
        <p:spPr>
          <a:xfrm>
            <a:off x="9400032" y="3438144"/>
            <a:ext cx="2286000" cy="5029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454896" y="3483863"/>
            <a:ext cx="2176272" cy="411480"/>
          </a:xfrm>
          <a:prstGeom prst="rect">
            <a:avLst/>
          </a:prstGeom>
          <a:noFill/>
        </p:spPr>
        <p:txBody>
          <a:bodyPr wrap="square">
            <a:spAutoFit/>
          </a:bodyPr>
          <a:lstStyle/>
          <a:p>
            <a:pPr algn="l"/>
            <a:r>
              <a:rPr sz="750" b="0" i="0">
                <a:solidFill>
                  <a:srgbClr val="444444"/>
                </a:solidFill>
              </a:rPr>
              <a:t>基本的な暗号化のみ</a:t>
            </a:r>
          </a:p>
        </p:txBody>
      </p:sp>
      <p:sp>
        <p:nvSpPr>
          <p:cNvPr id="50" name="Rectangle 49"/>
          <p:cNvSpPr/>
          <p:nvPr/>
        </p:nvSpPr>
        <p:spPr>
          <a:xfrm>
            <a:off x="548640" y="3959351"/>
            <a:ext cx="18288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03503" y="4005071"/>
            <a:ext cx="1719072" cy="411480"/>
          </a:xfrm>
          <a:prstGeom prst="rect">
            <a:avLst/>
          </a:prstGeom>
          <a:noFill/>
        </p:spPr>
        <p:txBody>
          <a:bodyPr wrap="square">
            <a:spAutoFit/>
          </a:bodyPr>
          <a:lstStyle/>
          <a:p>
            <a:pPr algn="l"/>
            <a:r>
              <a:rPr sz="750" b="1" i="0">
                <a:solidFill>
                  <a:srgbClr val="444444"/>
                </a:solidFill>
              </a:rPr>
              <a:t>サポート体制</a:t>
            </a:r>
          </a:p>
        </p:txBody>
      </p:sp>
      <p:sp>
        <p:nvSpPr>
          <p:cNvPr id="52" name="Rectangle 51"/>
          <p:cNvSpPr/>
          <p:nvPr/>
        </p:nvSpPr>
        <p:spPr>
          <a:xfrm>
            <a:off x="2395728" y="3959351"/>
            <a:ext cx="2377440" cy="502920"/>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450592" y="4005071"/>
            <a:ext cx="2267712" cy="411480"/>
          </a:xfrm>
          <a:prstGeom prst="rect">
            <a:avLst/>
          </a:prstGeom>
          <a:noFill/>
        </p:spPr>
        <p:txBody>
          <a:bodyPr wrap="square">
            <a:spAutoFit/>
          </a:bodyPr>
          <a:lstStyle/>
          <a:p>
            <a:pPr algn="l"/>
            <a:r>
              <a:rPr sz="750" b="0" i="0">
                <a:solidFill>
                  <a:srgbClr val="0C3570"/>
                </a:solidFill>
              </a:rPr>
              <a:t>24時間365日の電話サポートおよび専任対応</a:t>
            </a:r>
          </a:p>
        </p:txBody>
      </p:sp>
      <p:sp>
        <p:nvSpPr>
          <p:cNvPr id="54" name="Rectangle 53"/>
          <p:cNvSpPr/>
          <p:nvPr/>
        </p:nvSpPr>
        <p:spPr>
          <a:xfrm>
            <a:off x="4791456" y="3959351"/>
            <a:ext cx="22860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846320" y="4005071"/>
            <a:ext cx="2176272" cy="411480"/>
          </a:xfrm>
          <a:prstGeom prst="rect">
            <a:avLst/>
          </a:prstGeom>
          <a:noFill/>
        </p:spPr>
        <p:txBody>
          <a:bodyPr wrap="square">
            <a:spAutoFit/>
          </a:bodyPr>
          <a:lstStyle/>
          <a:p>
            <a:pPr algn="l"/>
            <a:r>
              <a:rPr sz="750" b="0" i="0">
                <a:solidFill>
                  <a:srgbClr val="444444"/>
                </a:solidFill>
              </a:rPr>
              <a:t>平日日中のメール・チャット対応のみ</a:t>
            </a:r>
          </a:p>
        </p:txBody>
      </p:sp>
      <p:sp>
        <p:nvSpPr>
          <p:cNvPr id="56" name="Rectangle 55"/>
          <p:cNvSpPr/>
          <p:nvPr/>
        </p:nvSpPr>
        <p:spPr>
          <a:xfrm>
            <a:off x="7095744" y="3959351"/>
            <a:ext cx="22860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150607" y="4005071"/>
            <a:ext cx="2176272" cy="411480"/>
          </a:xfrm>
          <a:prstGeom prst="rect">
            <a:avLst/>
          </a:prstGeom>
          <a:noFill/>
        </p:spPr>
        <p:txBody>
          <a:bodyPr wrap="square">
            <a:spAutoFit/>
          </a:bodyPr>
          <a:lstStyle/>
          <a:p>
            <a:pPr algn="l"/>
            <a:r>
              <a:rPr sz="750" b="0" i="0">
                <a:solidFill>
                  <a:srgbClr val="444444"/>
                </a:solidFill>
              </a:rPr>
              <a:t>平日9〜18時の電話対応</a:t>
            </a:r>
          </a:p>
        </p:txBody>
      </p:sp>
      <p:sp>
        <p:nvSpPr>
          <p:cNvPr id="58" name="Rectangle 57"/>
          <p:cNvSpPr/>
          <p:nvPr/>
        </p:nvSpPr>
        <p:spPr>
          <a:xfrm>
            <a:off x="9400032" y="3959351"/>
            <a:ext cx="22860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454896" y="4005071"/>
            <a:ext cx="2176272" cy="411480"/>
          </a:xfrm>
          <a:prstGeom prst="rect">
            <a:avLst/>
          </a:prstGeom>
          <a:noFill/>
        </p:spPr>
        <p:txBody>
          <a:bodyPr wrap="square">
            <a:spAutoFit/>
          </a:bodyPr>
          <a:lstStyle/>
          <a:p>
            <a:pPr algn="l"/>
            <a:r>
              <a:rPr sz="750" b="0" i="0">
                <a:solidFill>
                  <a:srgbClr val="444444"/>
                </a:solidFill>
              </a:rPr>
              <a:t>メール対応のみ（返答48時間以内）</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3つの選択肢を比較した結果、オプションBが最もリスクと効果のバランスに優れる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option_comparison ／ 用途: 選択肢の評価比較 ／ 件数: 3件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3つの選択肢を効果・コスト・リスク・スピードの4軸で評価した結果、オプションBが最もバランスに優れており、採用を推奨する。</a:t>
            </a:r>
          </a:p>
        </p:txBody>
      </p:sp>
      <p:sp>
        <p:nvSpPr>
          <p:cNvPr id="10" name="Rectangle 9"/>
          <p:cNvSpPr/>
          <p:nvPr/>
        </p:nvSpPr>
        <p:spPr>
          <a:xfrm>
            <a:off x="548640" y="1828800"/>
            <a:ext cx="356616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01952"/>
            <a:ext cx="3346704" cy="256032"/>
          </a:xfrm>
          <a:prstGeom prst="rect">
            <a:avLst/>
          </a:prstGeom>
          <a:noFill/>
        </p:spPr>
        <p:txBody>
          <a:bodyPr wrap="square">
            <a:spAutoFit/>
          </a:bodyPr>
          <a:lstStyle/>
          <a:p>
            <a:pPr algn="l"/>
            <a:r>
              <a:rPr sz="1000" b="1" i="0">
                <a:solidFill>
                  <a:srgbClr val="0C3570"/>
                </a:solidFill>
              </a:rPr>
              <a:t>オプション A：現状維持</a:t>
            </a:r>
          </a:p>
        </p:txBody>
      </p:sp>
      <p:sp>
        <p:nvSpPr>
          <p:cNvPr id="12" name="Rectangle 11"/>
          <p:cNvSpPr/>
          <p:nvPr/>
        </p:nvSpPr>
        <p:spPr>
          <a:xfrm>
            <a:off x="658368" y="2176272"/>
            <a:ext cx="3346704" cy="9144"/>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 y="2240280"/>
            <a:ext cx="3346704" cy="182880"/>
          </a:xfrm>
          <a:prstGeom prst="rect">
            <a:avLst/>
          </a:prstGeom>
          <a:noFill/>
        </p:spPr>
        <p:txBody>
          <a:bodyPr wrap="square">
            <a:spAutoFit/>
          </a:bodyPr>
          <a:lstStyle/>
          <a:p>
            <a:pPr algn="l"/>
            <a:r>
              <a:rPr sz="800" b="1" i="0">
                <a:solidFill>
                  <a:srgbClr val="688BC2"/>
                </a:solidFill>
              </a:rPr>
              <a:t>効果</a:t>
            </a:r>
          </a:p>
        </p:txBody>
      </p:sp>
      <p:sp>
        <p:nvSpPr>
          <p:cNvPr id="14" name="TextBox 13"/>
          <p:cNvSpPr txBox="1"/>
          <p:nvPr/>
        </p:nvSpPr>
        <p:spPr>
          <a:xfrm>
            <a:off x="658368" y="2423160"/>
            <a:ext cx="3346704" cy="548640"/>
          </a:xfrm>
          <a:prstGeom prst="rect">
            <a:avLst/>
          </a:prstGeom>
          <a:noFill/>
        </p:spPr>
        <p:txBody>
          <a:bodyPr wrap="square">
            <a:spAutoFit/>
          </a:bodyPr>
          <a:lstStyle/>
          <a:p>
            <a:pPr algn="l"/>
            <a:r>
              <a:rPr sz="750" b="0" i="0">
                <a:solidFill>
                  <a:srgbClr val="444444"/>
                </a:solidFill>
              </a:rPr>
              <a:t>改善効果なし。競合との差が拡大し、市場シェアが年率3%ずつ低下するリスクがある。</a:t>
            </a:r>
          </a:p>
        </p:txBody>
      </p:sp>
      <p:sp>
        <p:nvSpPr>
          <p:cNvPr id="15" name="TextBox 14"/>
          <p:cNvSpPr txBox="1"/>
          <p:nvPr/>
        </p:nvSpPr>
        <p:spPr>
          <a:xfrm>
            <a:off x="658368" y="3044952"/>
            <a:ext cx="3346704" cy="182880"/>
          </a:xfrm>
          <a:prstGeom prst="rect">
            <a:avLst/>
          </a:prstGeom>
          <a:noFill/>
        </p:spPr>
        <p:txBody>
          <a:bodyPr wrap="square">
            <a:spAutoFit/>
          </a:bodyPr>
          <a:lstStyle/>
          <a:p>
            <a:pPr algn="l"/>
            <a:r>
              <a:rPr sz="800" b="1" i="0">
                <a:solidFill>
                  <a:srgbClr val="688BC2"/>
                </a:solidFill>
              </a:rPr>
              <a:t>コスト・リスク</a:t>
            </a:r>
          </a:p>
        </p:txBody>
      </p:sp>
      <p:sp>
        <p:nvSpPr>
          <p:cNvPr id="16" name="TextBox 15"/>
          <p:cNvSpPr txBox="1"/>
          <p:nvPr/>
        </p:nvSpPr>
        <p:spPr>
          <a:xfrm>
            <a:off x="658368" y="3227832"/>
            <a:ext cx="3346704" cy="548640"/>
          </a:xfrm>
          <a:prstGeom prst="rect">
            <a:avLst/>
          </a:prstGeom>
          <a:noFill/>
        </p:spPr>
        <p:txBody>
          <a:bodyPr wrap="square">
            <a:spAutoFit/>
          </a:bodyPr>
          <a:lstStyle/>
          <a:p>
            <a:pPr algn="l"/>
            <a:r>
              <a:rPr sz="750" b="0" i="0">
                <a:solidFill>
                  <a:srgbClr val="444444"/>
                </a:solidFill>
              </a:rPr>
              <a:t>初期コストはゼロだが、機会損失が年間1.2億円発生し続ける。3年後には競合に追いつけない可能性が高い。</a:t>
            </a:r>
          </a:p>
        </p:txBody>
      </p:sp>
      <p:sp>
        <p:nvSpPr>
          <p:cNvPr id="17" name="TextBox 16"/>
          <p:cNvSpPr txBox="1"/>
          <p:nvPr/>
        </p:nvSpPr>
        <p:spPr>
          <a:xfrm>
            <a:off x="658368" y="3849624"/>
            <a:ext cx="3346704" cy="182880"/>
          </a:xfrm>
          <a:prstGeom prst="rect">
            <a:avLst/>
          </a:prstGeom>
          <a:noFill/>
        </p:spPr>
        <p:txBody>
          <a:bodyPr wrap="square">
            <a:spAutoFit/>
          </a:bodyPr>
          <a:lstStyle/>
          <a:p>
            <a:pPr algn="l"/>
            <a:r>
              <a:rPr sz="800" b="1" i="0">
                <a:solidFill>
                  <a:srgbClr val="688BC2"/>
                </a:solidFill>
              </a:rPr>
              <a:t>推奨度</a:t>
            </a:r>
          </a:p>
        </p:txBody>
      </p:sp>
      <p:sp>
        <p:nvSpPr>
          <p:cNvPr id="18" name="TextBox 17"/>
          <p:cNvSpPr txBox="1"/>
          <p:nvPr/>
        </p:nvSpPr>
        <p:spPr>
          <a:xfrm>
            <a:off x="658368" y="4032504"/>
            <a:ext cx="3346704" cy="548640"/>
          </a:xfrm>
          <a:prstGeom prst="rect">
            <a:avLst/>
          </a:prstGeom>
          <a:noFill/>
        </p:spPr>
        <p:txBody>
          <a:bodyPr wrap="square">
            <a:spAutoFit/>
          </a:bodyPr>
          <a:lstStyle/>
          <a:p>
            <a:pPr algn="l"/>
            <a:r>
              <a:rPr sz="750" b="0" i="0">
                <a:solidFill>
                  <a:srgbClr val="444444"/>
                </a:solidFill>
              </a:rPr>
              <a:t>非推奨 ／ 中長期リスク大</a:t>
            </a:r>
          </a:p>
        </p:txBody>
      </p:sp>
      <p:sp>
        <p:nvSpPr>
          <p:cNvPr id="19" name="Rectangle 18"/>
          <p:cNvSpPr/>
          <p:nvPr/>
        </p:nvSpPr>
        <p:spPr>
          <a:xfrm>
            <a:off x="4251959" y="1828800"/>
            <a:ext cx="3566160"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61688" y="1901952"/>
            <a:ext cx="3346704" cy="256032"/>
          </a:xfrm>
          <a:prstGeom prst="rect">
            <a:avLst/>
          </a:prstGeom>
          <a:noFill/>
        </p:spPr>
        <p:txBody>
          <a:bodyPr wrap="square">
            <a:spAutoFit/>
          </a:bodyPr>
          <a:lstStyle/>
          <a:p>
            <a:pPr algn="l"/>
            <a:r>
              <a:rPr sz="1000" b="1" i="0">
                <a:solidFill>
                  <a:srgbClr val="FFFFFF"/>
                </a:solidFill>
              </a:rPr>
              <a:t>オプション B：段階的導入（推奨）</a:t>
            </a:r>
          </a:p>
        </p:txBody>
      </p:sp>
      <p:sp>
        <p:nvSpPr>
          <p:cNvPr id="21" name="Rectangle 20"/>
          <p:cNvSpPr/>
          <p:nvPr/>
        </p:nvSpPr>
        <p:spPr>
          <a:xfrm>
            <a:off x="4361688" y="2176272"/>
            <a:ext cx="3346704"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61688" y="2240280"/>
            <a:ext cx="3346704" cy="182880"/>
          </a:xfrm>
          <a:prstGeom prst="rect">
            <a:avLst/>
          </a:prstGeom>
          <a:noFill/>
        </p:spPr>
        <p:txBody>
          <a:bodyPr wrap="square">
            <a:spAutoFit/>
          </a:bodyPr>
          <a:lstStyle/>
          <a:p>
            <a:pPr algn="l"/>
            <a:r>
              <a:rPr sz="800" b="1" i="0">
                <a:solidFill>
                  <a:srgbClr val="93B5E6"/>
                </a:solidFill>
              </a:rPr>
              <a:t>効果</a:t>
            </a:r>
          </a:p>
        </p:txBody>
      </p:sp>
      <p:sp>
        <p:nvSpPr>
          <p:cNvPr id="23" name="TextBox 22"/>
          <p:cNvSpPr txBox="1"/>
          <p:nvPr/>
        </p:nvSpPr>
        <p:spPr>
          <a:xfrm>
            <a:off x="4361688" y="2423160"/>
            <a:ext cx="3346704" cy="548640"/>
          </a:xfrm>
          <a:prstGeom prst="rect">
            <a:avLst/>
          </a:prstGeom>
          <a:noFill/>
        </p:spPr>
        <p:txBody>
          <a:bodyPr wrap="square">
            <a:spAutoFit/>
          </a:bodyPr>
          <a:lstStyle/>
          <a:p>
            <a:pPr algn="l"/>
            <a:r>
              <a:rPr sz="750" b="0" i="0">
                <a:solidFill>
                  <a:srgbClr val="FFFFFF"/>
                </a:solidFill>
              </a:rPr>
              <a:t>パイロット期間（3ヶ月）で成果を確認してから本格展開するため、投資リスクを最小化しながら効果を最大化できる。</a:t>
            </a:r>
          </a:p>
        </p:txBody>
      </p:sp>
      <p:sp>
        <p:nvSpPr>
          <p:cNvPr id="24" name="TextBox 23"/>
          <p:cNvSpPr txBox="1"/>
          <p:nvPr/>
        </p:nvSpPr>
        <p:spPr>
          <a:xfrm>
            <a:off x="4361688" y="3044952"/>
            <a:ext cx="3346704" cy="182880"/>
          </a:xfrm>
          <a:prstGeom prst="rect">
            <a:avLst/>
          </a:prstGeom>
          <a:noFill/>
        </p:spPr>
        <p:txBody>
          <a:bodyPr wrap="square">
            <a:spAutoFit/>
          </a:bodyPr>
          <a:lstStyle/>
          <a:p>
            <a:pPr algn="l"/>
            <a:r>
              <a:rPr sz="800" b="1" i="0">
                <a:solidFill>
                  <a:srgbClr val="93B5E6"/>
                </a:solidFill>
              </a:rPr>
              <a:t>コスト・リスク</a:t>
            </a:r>
          </a:p>
        </p:txBody>
      </p:sp>
      <p:sp>
        <p:nvSpPr>
          <p:cNvPr id="25" name="TextBox 24"/>
          <p:cNvSpPr txBox="1"/>
          <p:nvPr/>
        </p:nvSpPr>
        <p:spPr>
          <a:xfrm>
            <a:off x="4361688" y="3227832"/>
            <a:ext cx="3346704" cy="548640"/>
          </a:xfrm>
          <a:prstGeom prst="rect">
            <a:avLst/>
          </a:prstGeom>
          <a:noFill/>
        </p:spPr>
        <p:txBody>
          <a:bodyPr wrap="square">
            <a:spAutoFit/>
          </a:bodyPr>
          <a:lstStyle/>
          <a:p>
            <a:pPr algn="l"/>
            <a:r>
              <a:rPr sz="750" b="0" i="0">
                <a:solidFill>
                  <a:srgbClr val="FFFFFF"/>
                </a:solidFill>
              </a:rPr>
              <a:t>初期投資を抑えながら段階的に拡大できるため、予算制約がある場合でも実行可能。失敗リスクを最小化できる。</a:t>
            </a:r>
          </a:p>
        </p:txBody>
      </p:sp>
      <p:sp>
        <p:nvSpPr>
          <p:cNvPr id="26" name="TextBox 25"/>
          <p:cNvSpPr txBox="1"/>
          <p:nvPr/>
        </p:nvSpPr>
        <p:spPr>
          <a:xfrm>
            <a:off x="4361688" y="3849624"/>
            <a:ext cx="3346704" cy="182880"/>
          </a:xfrm>
          <a:prstGeom prst="rect">
            <a:avLst/>
          </a:prstGeom>
          <a:noFill/>
        </p:spPr>
        <p:txBody>
          <a:bodyPr wrap="square">
            <a:spAutoFit/>
          </a:bodyPr>
          <a:lstStyle/>
          <a:p>
            <a:pPr algn="l"/>
            <a:r>
              <a:rPr sz="800" b="1" i="0">
                <a:solidFill>
                  <a:srgbClr val="93B5E6"/>
                </a:solidFill>
              </a:rPr>
              <a:t>推奨度</a:t>
            </a:r>
          </a:p>
        </p:txBody>
      </p:sp>
      <p:sp>
        <p:nvSpPr>
          <p:cNvPr id="27" name="TextBox 26"/>
          <p:cNvSpPr txBox="1"/>
          <p:nvPr/>
        </p:nvSpPr>
        <p:spPr>
          <a:xfrm>
            <a:off x="4361688" y="4032504"/>
            <a:ext cx="3346704" cy="548640"/>
          </a:xfrm>
          <a:prstGeom prst="rect">
            <a:avLst/>
          </a:prstGeom>
          <a:noFill/>
        </p:spPr>
        <p:txBody>
          <a:bodyPr wrap="square">
            <a:spAutoFit/>
          </a:bodyPr>
          <a:lstStyle/>
          <a:p>
            <a:pPr algn="l"/>
            <a:r>
              <a:rPr sz="750" b="0" i="0">
                <a:solidFill>
                  <a:srgbClr val="FFFFFF"/>
                </a:solidFill>
              </a:rPr>
              <a:t>推奨 ／ リスク・効果バランス最良</a:t>
            </a:r>
          </a:p>
        </p:txBody>
      </p:sp>
      <p:sp>
        <p:nvSpPr>
          <p:cNvPr id="28" name="Rectangle 27"/>
          <p:cNvSpPr/>
          <p:nvPr/>
        </p:nvSpPr>
        <p:spPr>
          <a:xfrm>
            <a:off x="7955279" y="1828800"/>
            <a:ext cx="356616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065007" y="1901952"/>
            <a:ext cx="3346704" cy="256032"/>
          </a:xfrm>
          <a:prstGeom prst="rect">
            <a:avLst/>
          </a:prstGeom>
          <a:noFill/>
        </p:spPr>
        <p:txBody>
          <a:bodyPr wrap="square">
            <a:spAutoFit/>
          </a:bodyPr>
          <a:lstStyle/>
          <a:p>
            <a:pPr algn="l"/>
            <a:r>
              <a:rPr sz="1000" b="1" i="0">
                <a:solidFill>
                  <a:srgbClr val="0C3570"/>
                </a:solidFill>
              </a:rPr>
              <a:t>オプション C：全面刷新</a:t>
            </a:r>
          </a:p>
        </p:txBody>
      </p:sp>
      <p:sp>
        <p:nvSpPr>
          <p:cNvPr id="30" name="Rectangle 29"/>
          <p:cNvSpPr/>
          <p:nvPr/>
        </p:nvSpPr>
        <p:spPr>
          <a:xfrm>
            <a:off x="8065007" y="2176272"/>
            <a:ext cx="3346704" cy="9144"/>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065007" y="2240280"/>
            <a:ext cx="3346704" cy="182880"/>
          </a:xfrm>
          <a:prstGeom prst="rect">
            <a:avLst/>
          </a:prstGeom>
          <a:noFill/>
        </p:spPr>
        <p:txBody>
          <a:bodyPr wrap="square">
            <a:spAutoFit/>
          </a:bodyPr>
          <a:lstStyle/>
          <a:p>
            <a:pPr algn="l"/>
            <a:r>
              <a:rPr sz="800" b="1" i="0">
                <a:solidFill>
                  <a:srgbClr val="688BC2"/>
                </a:solidFill>
              </a:rPr>
              <a:t>効果</a:t>
            </a:r>
          </a:p>
        </p:txBody>
      </p:sp>
      <p:sp>
        <p:nvSpPr>
          <p:cNvPr id="32" name="TextBox 31"/>
          <p:cNvSpPr txBox="1"/>
          <p:nvPr/>
        </p:nvSpPr>
        <p:spPr>
          <a:xfrm>
            <a:off x="8065007" y="2423160"/>
            <a:ext cx="3346704" cy="548640"/>
          </a:xfrm>
          <a:prstGeom prst="rect">
            <a:avLst/>
          </a:prstGeom>
          <a:noFill/>
        </p:spPr>
        <p:txBody>
          <a:bodyPr wrap="square">
            <a:spAutoFit/>
          </a:bodyPr>
          <a:lstStyle/>
          <a:p>
            <a:pPr algn="l"/>
            <a:r>
              <a:rPr sz="750" b="0" i="0">
                <a:solidFill>
                  <a:srgbClr val="444444"/>
                </a:solidFill>
              </a:rPr>
              <a:t>長期的には最大の効果が期待できるが、移行期間中の業務停止リスクと、要件変化への対応困難が懸念される。</a:t>
            </a:r>
          </a:p>
        </p:txBody>
      </p:sp>
      <p:sp>
        <p:nvSpPr>
          <p:cNvPr id="33" name="TextBox 32"/>
          <p:cNvSpPr txBox="1"/>
          <p:nvPr/>
        </p:nvSpPr>
        <p:spPr>
          <a:xfrm>
            <a:off x="8065007" y="3044952"/>
            <a:ext cx="3346704" cy="182880"/>
          </a:xfrm>
          <a:prstGeom prst="rect">
            <a:avLst/>
          </a:prstGeom>
          <a:noFill/>
        </p:spPr>
        <p:txBody>
          <a:bodyPr wrap="square">
            <a:spAutoFit/>
          </a:bodyPr>
          <a:lstStyle/>
          <a:p>
            <a:pPr algn="l"/>
            <a:r>
              <a:rPr sz="800" b="1" i="0">
                <a:solidFill>
                  <a:srgbClr val="688BC2"/>
                </a:solidFill>
              </a:rPr>
              <a:t>コスト・リスク</a:t>
            </a:r>
          </a:p>
        </p:txBody>
      </p:sp>
      <p:sp>
        <p:nvSpPr>
          <p:cNvPr id="34" name="TextBox 33"/>
          <p:cNvSpPr txBox="1"/>
          <p:nvPr/>
        </p:nvSpPr>
        <p:spPr>
          <a:xfrm>
            <a:off x="8065007" y="3227832"/>
            <a:ext cx="3346704" cy="548640"/>
          </a:xfrm>
          <a:prstGeom prst="rect">
            <a:avLst/>
          </a:prstGeom>
          <a:noFill/>
        </p:spPr>
        <p:txBody>
          <a:bodyPr wrap="square">
            <a:spAutoFit/>
          </a:bodyPr>
          <a:lstStyle/>
          <a:p>
            <a:pPr algn="l"/>
            <a:r>
              <a:rPr sz="750" b="0" i="0">
                <a:solidFill>
                  <a:srgbClr val="444444"/>
                </a:solidFill>
              </a:rPr>
              <a:t>初期投資が最大（推定3億円）で、ROI実現まで2年以上かかる見込み。プロジェクト失敗リスクも高い。</a:t>
            </a:r>
          </a:p>
        </p:txBody>
      </p:sp>
      <p:sp>
        <p:nvSpPr>
          <p:cNvPr id="35" name="TextBox 34"/>
          <p:cNvSpPr txBox="1"/>
          <p:nvPr/>
        </p:nvSpPr>
        <p:spPr>
          <a:xfrm>
            <a:off x="8065007" y="3849624"/>
            <a:ext cx="3346704" cy="182880"/>
          </a:xfrm>
          <a:prstGeom prst="rect">
            <a:avLst/>
          </a:prstGeom>
          <a:noFill/>
        </p:spPr>
        <p:txBody>
          <a:bodyPr wrap="square">
            <a:spAutoFit/>
          </a:bodyPr>
          <a:lstStyle/>
          <a:p>
            <a:pPr algn="l"/>
            <a:r>
              <a:rPr sz="800" b="1" i="0">
                <a:solidFill>
                  <a:srgbClr val="688BC2"/>
                </a:solidFill>
              </a:rPr>
              <a:t>推奨度</a:t>
            </a:r>
          </a:p>
        </p:txBody>
      </p:sp>
      <p:sp>
        <p:nvSpPr>
          <p:cNvPr id="36" name="TextBox 35"/>
          <p:cNvSpPr txBox="1"/>
          <p:nvPr/>
        </p:nvSpPr>
        <p:spPr>
          <a:xfrm>
            <a:off x="8065007" y="4032504"/>
            <a:ext cx="3346704" cy="548640"/>
          </a:xfrm>
          <a:prstGeom prst="rect">
            <a:avLst/>
          </a:prstGeom>
          <a:noFill/>
        </p:spPr>
        <p:txBody>
          <a:bodyPr wrap="square">
            <a:spAutoFit/>
          </a:bodyPr>
          <a:lstStyle/>
          <a:p>
            <a:pPr algn="l"/>
            <a:r>
              <a:rPr sz="750" b="0" i="0">
                <a:solidFill>
                  <a:srgbClr val="444444"/>
                </a:solidFill>
              </a:rPr>
              <a:t>条件付き ／ 長期計画として検討</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課題の根本原因は3層構造で整理できる：表層症状の背後に構造的原因が存在する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pyramid ／ 用途: 階層的な結論・理由・原因の構造化 ／ 件数: 3〜5階層</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課題の根本原因を階層的に整理することで、対処すべき優先課題と根本解決策を明確にする。</a:t>
            </a:r>
          </a:p>
        </p:txBody>
      </p:sp>
      <p:sp>
        <p:nvSpPr>
          <p:cNvPr id="10" name="Rectangle 9"/>
          <p:cNvSpPr/>
          <p:nvPr/>
        </p:nvSpPr>
        <p:spPr>
          <a:xfrm>
            <a:off x="548640" y="1828800"/>
            <a:ext cx="2011680"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20240"/>
            <a:ext cx="1792224" cy="201168"/>
          </a:xfrm>
          <a:prstGeom prst="rect">
            <a:avLst/>
          </a:prstGeom>
          <a:noFill/>
        </p:spPr>
        <p:txBody>
          <a:bodyPr wrap="square">
            <a:spAutoFit/>
          </a:bodyPr>
          <a:lstStyle/>
          <a:p>
            <a:pPr algn="l"/>
            <a:r>
              <a:rPr sz="750" b="1" i="0">
                <a:solidFill>
                  <a:srgbClr val="93B5E6"/>
                </a:solidFill>
              </a:rPr>
              <a:t>中心結論</a:t>
            </a:r>
          </a:p>
        </p:txBody>
      </p:sp>
      <p:sp>
        <p:nvSpPr>
          <p:cNvPr id="12" name="TextBox 11"/>
          <p:cNvSpPr txBox="1"/>
          <p:nvPr/>
        </p:nvSpPr>
        <p:spPr>
          <a:xfrm>
            <a:off x="658368" y="2176272"/>
            <a:ext cx="1792224" cy="4297680"/>
          </a:xfrm>
          <a:prstGeom prst="rect">
            <a:avLst/>
          </a:prstGeom>
          <a:noFill/>
        </p:spPr>
        <p:txBody>
          <a:bodyPr wrap="square">
            <a:spAutoFit/>
          </a:bodyPr>
          <a:lstStyle/>
          <a:p>
            <a:pPr algn="l"/>
            <a:r>
              <a:rPr sz="900" b="1" i="0">
                <a:solidFill>
                  <a:srgbClr val="FFFFFF"/>
                </a:solidFill>
              </a:rPr>
              <a:t>顧客離脱率の上昇は、表層的な価格問題ではなく、価値提供の構造的欠如が根本原因である</a:t>
            </a:r>
          </a:p>
        </p:txBody>
      </p:sp>
      <p:sp>
        <p:nvSpPr>
          <p:cNvPr id="13" name="Rectangle 12"/>
          <p:cNvSpPr/>
          <p:nvPr/>
        </p:nvSpPr>
        <p:spPr>
          <a:xfrm>
            <a:off x="2743200" y="1828800"/>
            <a:ext cx="4297680" cy="23317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852928" y="1901952"/>
            <a:ext cx="4078224" cy="182880"/>
          </a:xfrm>
          <a:prstGeom prst="rect">
            <a:avLst/>
          </a:prstGeom>
          <a:noFill/>
        </p:spPr>
        <p:txBody>
          <a:bodyPr wrap="square">
            <a:spAutoFit/>
          </a:bodyPr>
          <a:lstStyle/>
          <a:p>
            <a:pPr algn="l"/>
            <a:r>
              <a:rPr sz="750" b="1" i="0">
                <a:solidFill>
                  <a:srgbClr val="1D51A3"/>
                </a:solidFill>
              </a:rPr>
              <a:t>第1層：表層症状</a:t>
            </a:r>
          </a:p>
        </p:txBody>
      </p:sp>
      <p:sp>
        <p:nvSpPr>
          <p:cNvPr id="15" name="TextBox 14"/>
          <p:cNvSpPr txBox="1"/>
          <p:nvPr/>
        </p:nvSpPr>
        <p:spPr>
          <a:xfrm>
            <a:off x="2852928" y="2103120"/>
            <a:ext cx="4078224" cy="274320"/>
          </a:xfrm>
          <a:prstGeom prst="rect">
            <a:avLst/>
          </a:prstGeom>
          <a:noFill/>
        </p:spPr>
        <p:txBody>
          <a:bodyPr wrap="square">
            <a:spAutoFit/>
          </a:bodyPr>
          <a:lstStyle/>
          <a:p>
            <a:pPr algn="l"/>
            <a:r>
              <a:rPr sz="1000" b="1" i="0">
                <a:solidFill>
                  <a:srgbClr val="0C3570"/>
                </a:solidFill>
              </a:rPr>
              <a:t>価格への不満が表面化</a:t>
            </a:r>
          </a:p>
        </p:txBody>
      </p:sp>
      <p:sp>
        <p:nvSpPr>
          <p:cNvPr id="16" name="TextBox 15"/>
          <p:cNvSpPr txBox="1"/>
          <p:nvPr/>
        </p:nvSpPr>
        <p:spPr>
          <a:xfrm>
            <a:off x="2852928" y="2395728"/>
            <a:ext cx="4078224" cy="320040"/>
          </a:xfrm>
          <a:prstGeom prst="rect">
            <a:avLst/>
          </a:prstGeom>
          <a:noFill/>
        </p:spPr>
        <p:txBody>
          <a:bodyPr wrap="square">
            <a:spAutoFit/>
          </a:bodyPr>
          <a:lstStyle/>
          <a:p>
            <a:pPr algn="l"/>
            <a:r>
              <a:rPr sz="750" b="0" i="0">
                <a:solidFill>
                  <a:srgbClr val="444444"/>
                </a:solidFill>
              </a:rPr>
              <a:t>顧客が最初に言及する不満は価格だが、これは根本原因ではなく症状に過ぎない。</a:t>
            </a:r>
          </a:p>
        </p:txBody>
      </p:sp>
      <p:sp>
        <p:nvSpPr>
          <p:cNvPr id="17" name="TextBox 16"/>
          <p:cNvSpPr txBox="1"/>
          <p:nvPr/>
        </p:nvSpPr>
        <p:spPr>
          <a:xfrm>
            <a:off x="2880360" y="2761488"/>
            <a:ext cx="4023360" cy="502920"/>
          </a:xfrm>
          <a:prstGeom prst="rect">
            <a:avLst/>
          </a:prstGeom>
          <a:noFill/>
        </p:spPr>
        <p:txBody>
          <a:bodyPr wrap="square">
            <a:spAutoFit/>
          </a:bodyPr>
          <a:lstStyle/>
          <a:p>
            <a:pPr algn="l"/>
            <a:r>
              <a:rPr sz="700" b="0" i="0">
                <a:solidFill>
                  <a:srgbClr val="444444"/>
                </a:solidFill>
              </a:rPr>
              <a:t>▶ 観察事実：解約理由アンケートの42%が「コストが高い」と回答しているが、同価格帯の競合への移行は全体の15%に留まる。</a:t>
            </a:r>
          </a:p>
        </p:txBody>
      </p:sp>
      <p:sp>
        <p:nvSpPr>
          <p:cNvPr id="18" name="TextBox 17"/>
          <p:cNvSpPr txBox="1"/>
          <p:nvPr/>
        </p:nvSpPr>
        <p:spPr>
          <a:xfrm>
            <a:off x="2880360" y="3291840"/>
            <a:ext cx="4023360" cy="502920"/>
          </a:xfrm>
          <a:prstGeom prst="rect">
            <a:avLst/>
          </a:prstGeom>
          <a:noFill/>
        </p:spPr>
        <p:txBody>
          <a:bodyPr wrap="square">
            <a:spAutoFit/>
          </a:bodyPr>
          <a:lstStyle/>
          <a:p>
            <a:pPr algn="l"/>
            <a:r>
              <a:rPr sz="700" b="0" i="0">
                <a:solidFill>
                  <a:srgbClr val="444444"/>
                </a:solidFill>
              </a:rPr>
              <a:t>▶ 示唆：価格不満は価値不足の代替表現であり、値下げではなく価値向上が本質的な解決策となる。</a:t>
            </a:r>
          </a:p>
        </p:txBody>
      </p:sp>
      <p:sp>
        <p:nvSpPr>
          <p:cNvPr id="19" name="Rectangle 18"/>
          <p:cNvSpPr/>
          <p:nvPr/>
        </p:nvSpPr>
        <p:spPr>
          <a:xfrm>
            <a:off x="7150608" y="1828800"/>
            <a:ext cx="4297680" cy="23317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60336" y="1901952"/>
            <a:ext cx="4078224" cy="182880"/>
          </a:xfrm>
          <a:prstGeom prst="rect">
            <a:avLst/>
          </a:prstGeom>
          <a:noFill/>
        </p:spPr>
        <p:txBody>
          <a:bodyPr wrap="square">
            <a:spAutoFit/>
          </a:bodyPr>
          <a:lstStyle/>
          <a:p>
            <a:pPr algn="l"/>
            <a:r>
              <a:rPr sz="750" b="1" i="0">
                <a:solidFill>
                  <a:srgbClr val="1D51A3"/>
                </a:solidFill>
              </a:rPr>
              <a:t>第2層：構造的原因</a:t>
            </a:r>
          </a:p>
        </p:txBody>
      </p:sp>
      <p:sp>
        <p:nvSpPr>
          <p:cNvPr id="21" name="TextBox 20"/>
          <p:cNvSpPr txBox="1"/>
          <p:nvPr/>
        </p:nvSpPr>
        <p:spPr>
          <a:xfrm>
            <a:off x="7260336" y="2103120"/>
            <a:ext cx="4078224" cy="274320"/>
          </a:xfrm>
          <a:prstGeom prst="rect">
            <a:avLst/>
          </a:prstGeom>
          <a:noFill/>
        </p:spPr>
        <p:txBody>
          <a:bodyPr wrap="square">
            <a:spAutoFit/>
          </a:bodyPr>
          <a:lstStyle/>
          <a:p>
            <a:pPr algn="l"/>
            <a:r>
              <a:rPr sz="1000" b="1" i="0">
                <a:solidFill>
                  <a:srgbClr val="0C3570"/>
                </a:solidFill>
              </a:rPr>
              <a:t>価値提供プロセスの欠如</a:t>
            </a:r>
          </a:p>
        </p:txBody>
      </p:sp>
      <p:sp>
        <p:nvSpPr>
          <p:cNvPr id="22" name="TextBox 21"/>
          <p:cNvSpPr txBox="1"/>
          <p:nvPr/>
        </p:nvSpPr>
        <p:spPr>
          <a:xfrm>
            <a:off x="7260336" y="2395728"/>
            <a:ext cx="4078224" cy="320040"/>
          </a:xfrm>
          <a:prstGeom prst="rect">
            <a:avLst/>
          </a:prstGeom>
          <a:noFill/>
        </p:spPr>
        <p:txBody>
          <a:bodyPr wrap="square">
            <a:spAutoFit/>
          </a:bodyPr>
          <a:lstStyle/>
          <a:p>
            <a:pPr algn="l"/>
            <a:r>
              <a:rPr sz="750" b="0" i="0">
                <a:solidFill>
                  <a:srgbClr val="444444"/>
                </a:solidFill>
              </a:rPr>
              <a:t>導入後のオンボーディングと継続的な価値提供の仕組みが不足している。</a:t>
            </a:r>
          </a:p>
        </p:txBody>
      </p:sp>
      <p:sp>
        <p:nvSpPr>
          <p:cNvPr id="23" name="TextBox 22"/>
          <p:cNvSpPr txBox="1"/>
          <p:nvPr/>
        </p:nvSpPr>
        <p:spPr>
          <a:xfrm>
            <a:off x="7287768" y="2761488"/>
            <a:ext cx="4023360" cy="502920"/>
          </a:xfrm>
          <a:prstGeom prst="rect">
            <a:avLst/>
          </a:prstGeom>
          <a:noFill/>
        </p:spPr>
        <p:txBody>
          <a:bodyPr wrap="square">
            <a:spAutoFit/>
          </a:bodyPr>
          <a:lstStyle/>
          <a:p>
            <a:pPr algn="l"/>
            <a:r>
              <a:rPr sz="700" b="0" i="0">
                <a:solidFill>
                  <a:srgbClr val="444444"/>
                </a:solidFill>
              </a:rPr>
              <a:t>▶ 原因分析：導入後90日以内の活用率が目標の60%に留まっており、価値を実感する前に解約判断が行われている。</a:t>
            </a:r>
          </a:p>
        </p:txBody>
      </p:sp>
      <p:sp>
        <p:nvSpPr>
          <p:cNvPr id="24" name="TextBox 23"/>
          <p:cNvSpPr txBox="1"/>
          <p:nvPr/>
        </p:nvSpPr>
        <p:spPr>
          <a:xfrm>
            <a:off x="7287768" y="3291840"/>
            <a:ext cx="4023360" cy="502920"/>
          </a:xfrm>
          <a:prstGeom prst="rect">
            <a:avLst/>
          </a:prstGeom>
          <a:noFill/>
        </p:spPr>
        <p:txBody>
          <a:bodyPr wrap="square">
            <a:spAutoFit/>
          </a:bodyPr>
          <a:lstStyle/>
          <a:p>
            <a:pPr algn="l"/>
            <a:r>
              <a:rPr sz="700" b="0" i="0">
                <a:solidFill>
                  <a:srgbClr val="444444"/>
                </a:solidFill>
              </a:rPr>
              <a:t>▶ 改善方向：構造化されたオンボーディングプログラムと定期的な成果確認の仕組みを整備することで解決できる。</a:t>
            </a:r>
          </a:p>
        </p:txBody>
      </p:sp>
      <p:sp>
        <p:nvSpPr>
          <p:cNvPr id="25" name="Rectangle 24"/>
          <p:cNvSpPr/>
          <p:nvPr/>
        </p:nvSpPr>
        <p:spPr>
          <a:xfrm>
            <a:off x="2743200" y="4270248"/>
            <a:ext cx="4297680" cy="23317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852928" y="4343400"/>
            <a:ext cx="4078224" cy="182880"/>
          </a:xfrm>
          <a:prstGeom prst="rect">
            <a:avLst/>
          </a:prstGeom>
          <a:noFill/>
        </p:spPr>
        <p:txBody>
          <a:bodyPr wrap="square">
            <a:spAutoFit/>
          </a:bodyPr>
          <a:lstStyle/>
          <a:p>
            <a:pPr algn="l"/>
            <a:r>
              <a:rPr sz="750" b="1" i="0">
                <a:solidFill>
                  <a:srgbClr val="1D51A3"/>
                </a:solidFill>
              </a:rPr>
              <a:t>第3層：根本原因</a:t>
            </a:r>
          </a:p>
        </p:txBody>
      </p:sp>
      <p:sp>
        <p:nvSpPr>
          <p:cNvPr id="27" name="TextBox 26"/>
          <p:cNvSpPr txBox="1"/>
          <p:nvPr/>
        </p:nvSpPr>
        <p:spPr>
          <a:xfrm>
            <a:off x="2852928" y="4544568"/>
            <a:ext cx="4078224" cy="274320"/>
          </a:xfrm>
          <a:prstGeom prst="rect">
            <a:avLst/>
          </a:prstGeom>
          <a:noFill/>
        </p:spPr>
        <p:txBody>
          <a:bodyPr wrap="square">
            <a:spAutoFit/>
          </a:bodyPr>
          <a:lstStyle/>
          <a:p>
            <a:pPr algn="l"/>
            <a:r>
              <a:rPr sz="1000" b="1" i="0">
                <a:solidFill>
                  <a:srgbClr val="0C3570"/>
                </a:solidFill>
              </a:rPr>
              <a:t>顧客成功への投資不足</a:t>
            </a:r>
          </a:p>
        </p:txBody>
      </p:sp>
      <p:sp>
        <p:nvSpPr>
          <p:cNvPr id="28" name="TextBox 27"/>
          <p:cNvSpPr txBox="1"/>
          <p:nvPr/>
        </p:nvSpPr>
        <p:spPr>
          <a:xfrm>
            <a:off x="2852928" y="4837176"/>
            <a:ext cx="4078224" cy="320040"/>
          </a:xfrm>
          <a:prstGeom prst="rect">
            <a:avLst/>
          </a:prstGeom>
          <a:noFill/>
        </p:spPr>
        <p:txBody>
          <a:bodyPr wrap="square">
            <a:spAutoFit/>
          </a:bodyPr>
          <a:lstStyle/>
          <a:p>
            <a:pPr algn="l"/>
            <a:r>
              <a:rPr sz="750" b="0" i="0">
                <a:solidFill>
                  <a:srgbClr val="444444"/>
                </a:solidFill>
              </a:rPr>
              <a:t>カスタマーサクセス機能への人的・予算的投資が競合他社比で大幅に不足している。</a:t>
            </a:r>
          </a:p>
        </p:txBody>
      </p:sp>
      <p:sp>
        <p:nvSpPr>
          <p:cNvPr id="29" name="TextBox 28"/>
          <p:cNvSpPr txBox="1"/>
          <p:nvPr/>
        </p:nvSpPr>
        <p:spPr>
          <a:xfrm>
            <a:off x="2880360" y="5202936"/>
            <a:ext cx="4023360" cy="502920"/>
          </a:xfrm>
          <a:prstGeom prst="rect">
            <a:avLst/>
          </a:prstGeom>
          <a:noFill/>
        </p:spPr>
        <p:txBody>
          <a:bodyPr wrap="square">
            <a:spAutoFit/>
          </a:bodyPr>
          <a:lstStyle/>
          <a:p>
            <a:pPr algn="l"/>
            <a:r>
              <a:rPr sz="700" b="0" i="0">
                <a:solidFill>
                  <a:srgbClr val="444444"/>
                </a:solidFill>
              </a:rPr>
              <a:t>▶ 定量的根拠：競合他社のCS担当者1人あたりの顧客数が平均50社であるのに対し、自社は120社と2.4倍の負荷がかかっている。</a:t>
            </a:r>
          </a:p>
        </p:txBody>
      </p:sp>
      <p:sp>
        <p:nvSpPr>
          <p:cNvPr id="30" name="TextBox 29"/>
          <p:cNvSpPr txBox="1"/>
          <p:nvPr/>
        </p:nvSpPr>
        <p:spPr>
          <a:xfrm>
            <a:off x="2880360" y="5733288"/>
            <a:ext cx="4023360" cy="502920"/>
          </a:xfrm>
          <a:prstGeom prst="rect">
            <a:avLst/>
          </a:prstGeom>
          <a:noFill/>
        </p:spPr>
        <p:txBody>
          <a:bodyPr wrap="square">
            <a:spAutoFit/>
          </a:bodyPr>
          <a:lstStyle/>
          <a:p>
            <a:pPr algn="l"/>
            <a:r>
              <a:rPr sz="700" b="0" i="0">
                <a:solidFill>
                  <a:srgbClr val="444444"/>
                </a:solidFill>
              </a:rPr>
              <a:t>▶ 解決策：CS担当者を現状の5名から12名に増員し、プロアクティブな顧客支援体制を構築することで根本解決できる。</a:t>
            </a:r>
          </a:p>
        </p:txBody>
      </p:sp>
      <p:sp>
        <p:nvSpPr>
          <p:cNvPr id="31" name="Rectangle 30"/>
          <p:cNvSpPr/>
          <p:nvPr/>
        </p:nvSpPr>
        <p:spPr>
          <a:xfrm>
            <a:off x="7150608" y="4270248"/>
            <a:ext cx="4297680" cy="23317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60336" y="4343400"/>
            <a:ext cx="4078224" cy="182880"/>
          </a:xfrm>
          <a:prstGeom prst="rect">
            <a:avLst/>
          </a:prstGeom>
          <a:noFill/>
        </p:spPr>
        <p:txBody>
          <a:bodyPr wrap="square">
            <a:spAutoFit/>
          </a:bodyPr>
          <a:lstStyle/>
          <a:p>
            <a:pPr algn="l"/>
            <a:r>
              <a:rPr sz="750" b="1" i="0">
                <a:solidFill>
                  <a:srgbClr val="1D51A3"/>
                </a:solidFill>
              </a:rPr>
              <a:t>解決策</a:t>
            </a:r>
          </a:p>
        </p:txBody>
      </p:sp>
      <p:sp>
        <p:nvSpPr>
          <p:cNvPr id="33" name="TextBox 32"/>
          <p:cNvSpPr txBox="1"/>
          <p:nvPr/>
        </p:nvSpPr>
        <p:spPr>
          <a:xfrm>
            <a:off x="7260336" y="4544568"/>
            <a:ext cx="4078224" cy="274320"/>
          </a:xfrm>
          <a:prstGeom prst="rect">
            <a:avLst/>
          </a:prstGeom>
          <a:noFill/>
        </p:spPr>
        <p:txBody>
          <a:bodyPr wrap="square">
            <a:spAutoFit/>
          </a:bodyPr>
          <a:lstStyle/>
          <a:p>
            <a:pPr algn="l"/>
            <a:r>
              <a:rPr sz="1000" b="1" i="0">
                <a:solidFill>
                  <a:srgbClr val="0C3570"/>
                </a:solidFill>
              </a:rPr>
              <a:t>CS投資強化で悪循環を断ち切る</a:t>
            </a:r>
          </a:p>
        </p:txBody>
      </p:sp>
      <p:sp>
        <p:nvSpPr>
          <p:cNvPr id="34" name="TextBox 33"/>
          <p:cNvSpPr txBox="1"/>
          <p:nvPr/>
        </p:nvSpPr>
        <p:spPr>
          <a:xfrm>
            <a:off x="7260336" y="4837176"/>
            <a:ext cx="4078224" cy="320040"/>
          </a:xfrm>
          <a:prstGeom prst="rect">
            <a:avLst/>
          </a:prstGeom>
          <a:noFill/>
        </p:spPr>
        <p:txBody>
          <a:bodyPr wrap="square">
            <a:spAutoFit/>
          </a:bodyPr>
          <a:lstStyle/>
          <a:p>
            <a:pPr algn="l"/>
            <a:r>
              <a:rPr sz="750" b="0" i="0">
                <a:solidFill>
                  <a:srgbClr val="444444"/>
                </a:solidFill>
              </a:rPr>
              <a:t>CS体制の強化により、価値実感→継続→推奨という好循環を生み出すことができる。</a:t>
            </a:r>
          </a:p>
        </p:txBody>
      </p:sp>
      <p:sp>
        <p:nvSpPr>
          <p:cNvPr id="35" name="TextBox 34"/>
          <p:cNvSpPr txBox="1"/>
          <p:nvPr/>
        </p:nvSpPr>
        <p:spPr>
          <a:xfrm>
            <a:off x="7287768" y="5202936"/>
            <a:ext cx="4023360" cy="502920"/>
          </a:xfrm>
          <a:prstGeom prst="rect">
            <a:avLst/>
          </a:prstGeom>
          <a:noFill/>
        </p:spPr>
        <p:txBody>
          <a:bodyPr wrap="square">
            <a:spAutoFit/>
          </a:bodyPr>
          <a:lstStyle/>
          <a:p>
            <a:pPr algn="l"/>
            <a:r>
              <a:rPr sz="700" b="0" i="0">
                <a:solidFill>
                  <a:srgbClr val="444444"/>
                </a:solidFill>
              </a:rPr>
              <a:t>▶ 投資計画：CS担当者を5名から12名に増員し、年間8,000万円の投資で2.4億円の機会損失を解消する。</a:t>
            </a:r>
          </a:p>
        </p:txBody>
      </p:sp>
      <p:sp>
        <p:nvSpPr>
          <p:cNvPr id="36" name="TextBox 35"/>
          <p:cNvSpPr txBox="1"/>
          <p:nvPr/>
        </p:nvSpPr>
        <p:spPr>
          <a:xfrm>
            <a:off x="7287768" y="5733288"/>
            <a:ext cx="4023360" cy="502920"/>
          </a:xfrm>
          <a:prstGeom prst="rect">
            <a:avLst/>
          </a:prstGeom>
          <a:noFill/>
        </p:spPr>
        <p:txBody>
          <a:bodyPr wrap="square">
            <a:spAutoFit/>
          </a:bodyPr>
          <a:lstStyle/>
          <a:p>
            <a:pPr algn="l"/>
            <a:r>
              <a:rPr sz="700" b="0" i="0">
                <a:solidFill>
                  <a:srgbClr val="444444"/>
                </a:solidFill>
              </a:rPr>
              <a:t>▶ 期待効果：投資後12ヶ月で解約率を業界平均水準（9%）まで改善し、NPS向上による新規獲得コスト削減も実現する。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売上改善の論理ツリー：継続率向上と新規獲得の2軸で年間2.4億円の増収が実現できる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logic_tree ／ 用途: 結論から理由への論理的分解 ／ 件数: 2〜4分岐</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売上改善の論理を分解すると、継続率向上と新規獲得の2軸に集約され、それぞれに具体的な施策が存在する。</a:t>
            </a:r>
          </a:p>
        </p:txBody>
      </p:sp>
      <p:sp>
        <p:nvSpPr>
          <p:cNvPr id="10" name="Rectangle 9"/>
          <p:cNvSpPr/>
          <p:nvPr/>
        </p:nvSpPr>
        <p:spPr>
          <a:xfrm>
            <a:off x="548640" y="1828800"/>
            <a:ext cx="2011680"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20240"/>
            <a:ext cx="1792224" cy="201168"/>
          </a:xfrm>
          <a:prstGeom prst="rect">
            <a:avLst/>
          </a:prstGeom>
          <a:noFill/>
        </p:spPr>
        <p:txBody>
          <a:bodyPr wrap="square">
            <a:spAutoFit/>
          </a:bodyPr>
          <a:lstStyle/>
          <a:p>
            <a:pPr algn="l"/>
            <a:r>
              <a:rPr sz="750" b="1" i="0">
                <a:solidFill>
                  <a:srgbClr val="93B5E6"/>
                </a:solidFill>
              </a:rPr>
              <a:t>結論</a:t>
            </a:r>
          </a:p>
        </p:txBody>
      </p:sp>
      <p:sp>
        <p:nvSpPr>
          <p:cNvPr id="12" name="TextBox 11"/>
          <p:cNvSpPr txBox="1"/>
          <p:nvPr/>
        </p:nvSpPr>
        <p:spPr>
          <a:xfrm>
            <a:off x="658368" y="2176272"/>
            <a:ext cx="1792224" cy="4297680"/>
          </a:xfrm>
          <a:prstGeom prst="rect">
            <a:avLst/>
          </a:prstGeom>
          <a:noFill/>
        </p:spPr>
        <p:txBody>
          <a:bodyPr wrap="square">
            <a:spAutoFit/>
          </a:bodyPr>
          <a:lstStyle/>
          <a:p>
            <a:pPr algn="l"/>
            <a:r>
              <a:rPr sz="900" b="1" i="0">
                <a:solidFill>
                  <a:srgbClr val="FFFFFF"/>
                </a:solidFill>
              </a:rPr>
              <a:t>年間売上を2.4億円改善するために、継続率向上と新規獲得の2軸で施策を実行する</a:t>
            </a:r>
          </a:p>
        </p:txBody>
      </p:sp>
      <p:sp>
        <p:nvSpPr>
          <p:cNvPr id="13" name="Rectangle 12"/>
          <p:cNvSpPr/>
          <p:nvPr/>
        </p:nvSpPr>
        <p:spPr>
          <a:xfrm>
            <a:off x="2743200" y="1828800"/>
            <a:ext cx="4297680" cy="23317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852928" y="1901952"/>
            <a:ext cx="4078224" cy="182880"/>
          </a:xfrm>
          <a:prstGeom prst="rect">
            <a:avLst/>
          </a:prstGeom>
          <a:noFill/>
        </p:spPr>
        <p:txBody>
          <a:bodyPr wrap="square">
            <a:spAutoFit/>
          </a:bodyPr>
          <a:lstStyle/>
          <a:p>
            <a:pPr algn="l"/>
            <a:r>
              <a:rPr sz="750" b="1" i="0">
                <a:solidFill>
                  <a:srgbClr val="1D51A3"/>
                </a:solidFill>
              </a:rPr>
              <a:t>論拠 A</a:t>
            </a:r>
          </a:p>
        </p:txBody>
      </p:sp>
      <p:sp>
        <p:nvSpPr>
          <p:cNvPr id="15" name="TextBox 14"/>
          <p:cNvSpPr txBox="1"/>
          <p:nvPr/>
        </p:nvSpPr>
        <p:spPr>
          <a:xfrm>
            <a:off x="2852928" y="2103120"/>
            <a:ext cx="4078224" cy="274320"/>
          </a:xfrm>
          <a:prstGeom prst="rect">
            <a:avLst/>
          </a:prstGeom>
          <a:noFill/>
        </p:spPr>
        <p:txBody>
          <a:bodyPr wrap="square">
            <a:spAutoFit/>
          </a:bodyPr>
          <a:lstStyle/>
          <a:p>
            <a:pPr algn="l"/>
            <a:r>
              <a:rPr sz="1000" b="1" i="0">
                <a:solidFill>
                  <a:srgbClr val="0C3570"/>
                </a:solidFill>
              </a:rPr>
              <a:t>継続率向上で1.6億円改善</a:t>
            </a:r>
          </a:p>
        </p:txBody>
      </p:sp>
      <p:sp>
        <p:nvSpPr>
          <p:cNvPr id="16" name="TextBox 15"/>
          <p:cNvSpPr txBox="1"/>
          <p:nvPr/>
        </p:nvSpPr>
        <p:spPr>
          <a:xfrm>
            <a:off x="2852928" y="2395728"/>
            <a:ext cx="4078224" cy="320040"/>
          </a:xfrm>
          <a:prstGeom prst="rect">
            <a:avLst/>
          </a:prstGeom>
          <a:noFill/>
        </p:spPr>
        <p:txBody>
          <a:bodyPr wrap="square">
            <a:spAutoFit/>
          </a:bodyPr>
          <a:lstStyle/>
          <a:p>
            <a:pPr algn="l"/>
            <a:r>
              <a:rPr sz="750" b="0" i="0">
                <a:solidFill>
                  <a:srgbClr val="444444"/>
                </a:solidFill>
              </a:rPr>
              <a:t>既存顧客の継続率を15%改善することで、解約による機会損失を年間1.6億円削減できる。</a:t>
            </a:r>
          </a:p>
        </p:txBody>
      </p:sp>
      <p:sp>
        <p:nvSpPr>
          <p:cNvPr id="17" name="TextBox 16"/>
          <p:cNvSpPr txBox="1"/>
          <p:nvPr/>
        </p:nvSpPr>
        <p:spPr>
          <a:xfrm>
            <a:off x="2880360" y="2761488"/>
            <a:ext cx="4023360" cy="502920"/>
          </a:xfrm>
          <a:prstGeom prst="rect">
            <a:avLst/>
          </a:prstGeom>
          <a:noFill/>
        </p:spPr>
        <p:txBody>
          <a:bodyPr wrap="square">
            <a:spAutoFit/>
          </a:bodyPr>
          <a:lstStyle/>
          <a:p>
            <a:pPr algn="l"/>
            <a:r>
              <a:rPr sz="700" b="0" i="0">
                <a:solidFill>
                  <a:srgbClr val="444444"/>
                </a:solidFill>
              </a:rPr>
              <a:t>▶ 根拠：継続率1%の改善が年間約1,067万円の収益改善に相当するため、15%改善で1.6億円の効果が得られる。</a:t>
            </a:r>
          </a:p>
        </p:txBody>
      </p:sp>
      <p:sp>
        <p:nvSpPr>
          <p:cNvPr id="18" name="TextBox 17"/>
          <p:cNvSpPr txBox="1"/>
          <p:nvPr/>
        </p:nvSpPr>
        <p:spPr>
          <a:xfrm>
            <a:off x="2880360" y="3291840"/>
            <a:ext cx="4023360" cy="502920"/>
          </a:xfrm>
          <a:prstGeom prst="rect">
            <a:avLst/>
          </a:prstGeom>
          <a:noFill/>
        </p:spPr>
        <p:txBody>
          <a:bodyPr wrap="square">
            <a:spAutoFit/>
          </a:bodyPr>
          <a:lstStyle/>
          <a:p>
            <a:pPr algn="l"/>
            <a:r>
              <a:rPr sz="700" b="0" i="0">
                <a:solidFill>
                  <a:srgbClr val="444444"/>
                </a:solidFill>
              </a:rPr>
              <a:t>▶ 施策：カスタマーサクセス強化・オンボーディング改善・定期的な成果確認の3施策を並行実施する。</a:t>
            </a:r>
          </a:p>
        </p:txBody>
      </p:sp>
      <p:sp>
        <p:nvSpPr>
          <p:cNvPr id="19" name="Rectangle 18"/>
          <p:cNvSpPr/>
          <p:nvPr/>
        </p:nvSpPr>
        <p:spPr>
          <a:xfrm>
            <a:off x="7150608" y="1828800"/>
            <a:ext cx="4297680" cy="23317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60336" y="1901952"/>
            <a:ext cx="4078224" cy="182880"/>
          </a:xfrm>
          <a:prstGeom prst="rect">
            <a:avLst/>
          </a:prstGeom>
          <a:noFill/>
        </p:spPr>
        <p:txBody>
          <a:bodyPr wrap="square">
            <a:spAutoFit/>
          </a:bodyPr>
          <a:lstStyle/>
          <a:p>
            <a:pPr algn="l"/>
            <a:r>
              <a:rPr sz="750" b="1" i="0">
                <a:solidFill>
                  <a:srgbClr val="1D51A3"/>
                </a:solidFill>
              </a:rPr>
              <a:t>論拠 B</a:t>
            </a:r>
          </a:p>
        </p:txBody>
      </p:sp>
      <p:sp>
        <p:nvSpPr>
          <p:cNvPr id="21" name="TextBox 20"/>
          <p:cNvSpPr txBox="1"/>
          <p:nvPr/>
        </p:nvSpPr>
        <p:spPr>
          <a:xfrm>
            <a:off x="7260336" y="2103120"/>
            <a:ext cx="4078224" cy="274320"/>
          </a:xfrm>
          <a:prstGeom prst="rect">
            <a:avLst/>
          </a:prstGeom>
          <a:noFill/>
        </p:spPr>
        <p:txBody>
          <a:bodyPr wrap="square">
            <a:spAutoFit/>
          </a:bodyPr>
          <a:lstStyle/>
          <a:p>
            <a:pPr algn="l"/>
            <a:r>
              <a:rPr sz="1000" b="1" i="0">
                <a:solidFill>
                  <a:srgbClr val="0C3570"/>
                </a:solidFill>
              </a:rPr>
              <a:t>新規獲得で0.8億円増収</a:t>
            </a:r>
          </a:p>
        </p:txBody>
      </p:sp>
      <p:sp>
        <p:nvSpPr>
          <p:cNvPr id="22" name="TextBox 21"/>
          <p:cNvSpPr txBox="1"/>
          <p:nvPr/>
        </p:nvSpPr>
        <p:spPr>
          <a:xfrm>
            <a:off x="7260336" y="2395728"/>
            <a:ext cx="4078224" cy="320040"/>
          </a:xfrm>
          <a:prstGeom prst="rect">
            <a:avLst/>
          </a:prstGeom>
          <a:noFill/>
        </p:spPr>
        <p:txBody>
          <a:bodyPr wrap="square">
            <a:spAutoFit/>
          </a:bodyPr>
          <a:lstStyle/>
          <a:p>
            <a:pPr algn="l"/>
            <a:r>
              <a:rPr sz="750" b="0" i="0">
                <a:solidFill>
                  <a:srgbClr val="444444"/>
                </a:solidFill>
              </a:rPr>
              <a:t>顧客紹介率の向上と獲得コスト削減により、新規売上を年間0.8億円増加させる。</a:t>
            </a:r>
          </a:p>
        </p:txBody>
      </p:sp>
      <p:sp>
        <p:nvSpPr>
          <p:cNvPr id="23" name="TextBox 22"/>
          <p:cNvSpPr txBox="1"/>
          <p:nvPr/>
        </p:nvSpPr>
        <p:spPr>
          <a:xfrm>
            <a:off x="7287768" y="2761488"/>
            <a:ext cx="4023360" cy="502920"/>
          </a:xfrm>
          <a:prstGeom prst="rect">
            <a:avLst/>
          </a:prstGeom>
          <a:noFill/>
        </p:spPr>
        <p:txBody>
          <a:bodyPr wrap="square">
            <a:spAutoFit/>
          </a:bodyPr>
          <a:lstStyle/>
          <a:p>
            <a:pPr algn="l"/>
            <a:r>
              <a:rPr sz="700" b="0" i="0">
                <a:solidFill>
                  <a:srgbClr val="444444"/>
                </a:solidFill>
              </a:rPr>
              <a:t>▶ 根拠：NPS向上により紹介経由の新規問い合わせが月20件増加し、現状の成約率30%を維持すれば年間0.8億円の増収になる。</a:t>
            </a:r>
          </a:p>
        </p:txBody>
      </p:sp>
      <p:sp>
        <p:nvSpPr>
          <p:cNvPr id="24" name="TextBox 23"/>
          <p:cNvSpPr txBox="1"/>
          <p:nvPr/>
        </p:nvSpPr>
        <p:spPr>
          <a:xfrm>
            <a:off x="7287768" y="3291840"/>
            <a:ext cx="4023360" cy="502920"/>
          </a:xfrm>
          <a:prstGeom prst="rect">
            <a:avLst/>
          </a:prstGeom>
          <a:noFill/>
        </p:spPr>
        <p:txBody>
          <a:bodyPr wrap="square">
            <a:spAutoFit/>
          </a:bodyPr>
          <a:lstStyle/>
          <a:p>
            <a:pPr algn="l"/>
            <a:r>
              <a:rPr sz="700" b="0" i="0">
                <a:solidFill>
                  <a:srgbClr val="444444"/>
                </a:solidFill>
              </a:rPr>
              <a:t>▶ 施策：リファラルプログラムの整備と、紹介顧客向けの特別オンボーディングを提供することで実現する。</a:t>
            </a:r>
          </a:p>
        </p:txBody>
      </p:sp>
      <p:sp>
        <p:nvSpPr>
          <p:cNvPr id="25" name="Rectangle 24"/>
          <p:cNvSpPr/>
          <p:nvPr/>
        </p:nvSpPr>
        <p:spPr>
          <a:xfrm>
            <a:off x="2743200" y="4270248"/>
            <a:ext cx="4297680" cy="23317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852928" y="4343400"/>
            <a:ext cx="4078224" cy="182880"/>
          </a:xfrm>
          <a:prstGeom prst="rect">
            <a:avLst/>
          </a:prstGeom>
          <a:noFill/>
        </p:spPr>
        <p:txBody>
          <a:bodyPr wrap="square">
            <a:spAutoFit/>
          </a:bodyPr>
          <a:lstStyle/>
          <a:p>
            <a:pPr algn="l"/>
            <a:r>
              <a:rPr sz="750" b="1" i="0">
                <a:solidFill>
                  <a:srgbClr val="1D51A3"/>
                </a:solidFill>
              </a:rPr>
              <a:t>前提条件</a:t>
            </a:r>
          </a:p>
        </p:txBody>
      </p:sp>
      <p:sp>
        <p:nvSpPr>
          <p:cNvPr id="27" name="TextBox 26"/>
          <p:cNvSpPr txBox="1"/>
          <p:nvPr/>
        </p:nvSpPr>
        <p:spPr>
          <a:xfrm>
            <a:off x="2852928" y="4544568"/>
            <a:ext cx="4078224" cy="274320"/>
          </a:xfrm>
          <a:prstGeom prst="rect">
            <a:avLst/>
          </a:prstGeom>
          <a:noFill/>
        </p:spPr>
        <p:txBody>
          <a:bodyPr wrap="square">
            <a:spAutoFit/>
          </a:bodyPr>
          <a:lstStyle/>
          <a:p>
            <a:pPr algn="l"/>
            <a:r>
              <a:rPr sz="1000" b="1" i="0">
                <a:solidFill>
                  <a:srgbClr val="0C3570"/>
                </a:solidFill>
              </a:rPr>
              <a:t>施策実行の前提条件</a:t>
            </a:r>
          </a:p>
        </p:txBody>
      </p:sp>
      <p:sp>
        <p:nvSpPr>
          <p:cNvPr id="28" name="TextBox 27"/>
          <p:cNvSpPr txBox="1"/>
          <p:nvPr/>
        </p:nvSpPr>
        <p:spPr>
          <a:xfrm>
            <a:off x="2852928" y="4837176"/>
            <a:ext cx="4078224" cy="320040"/>
          </a:xfrm>
          <a:prstGeom prst="rect">
            <a:avLst/>
          </a:prstGeom>
          <a:noFill/>
        </p:spPr>
        <p:txBody>
          <a:bodyPr wrap="square">
            <a:spAutoFit/>
          </a:bodyPr>
          <a:lstStyle/>
          <a:p>
            <a:pPr algn="l"/>
            <a:r>
              <a:rPr sz="750" b="0" i="0">
                <a:solidFill>
                  <a:srgbClr val="444444"/>
                </a:solidFill>
              </a:rPr>
              <a:t>上記の効果を実現するためには、CS体制の整備と予算確保が前提条件となる。</a:t>
            </a:r>
          </a:p>
        </p:txBody>
      </p:sp>
      <p:sp>
        <p:nvSpPr>
          <p:cNvPr id="29" name="TextBox 28"/>
          <p:cNvSpPr txBox="1"/>
          <p:nvPr/>
        </p:nvSpPr>
        <p:spPr>
          <a:xfrm>
            <a:off x="2880360" y="5202936"/>
            <a:ext cx="4023360" cy="502920"/>
          </a:xfrm>
          <a:prstGeom prst="rect">
            <a:avLst/>
          </a:prstGeom>
          <a:noFill/>
        </p:spPr>
        <p:txBody>
          <a:bodyPr wrap="square">
            <a:spAutoFit/>
          </a:bodyPr>
          <a:lstStyle/>
          <a:p>
            <a:pPr algn="l"/>
            <a:r>
              <a:rPr sz="700" b="0" i="0">
                <a:solidFill>
                  <a:srgbClr val="444444"/>
                </a:solidFill>
              </a:rPr>
              <a:t>▶ 体制整備：CS担当者を5名から12名に増員し、担当顧客数を120社から50社以下に削減することが必要条件である。</a:t>
            </a:r>
          </a:p>
        </p:txBody>
      </p:sp>
      <p:sp>
        <p:nvSpPr>
          <p:cNvPr id="30" name="TextBox 29"/>
          <p:cNvSpPr txBox="1"/>
          <p:nvPr/>
        </p:nvSpPr>
        <p:spPr>
          <a:xfrm>
            <a:off x="2880360" y="5733288"/>
            <a:ext cx="4023360" cy="502920"/>
          </a:xfrm>
          <a:prstGeom prst="rect">
            <a:avLst/>
          </a:prstGeom>
          <a:noFill/>
        </p:spPr>
        <p:txBody>
          <a:bodyPr wrap="square">
            <a:spAutoFit/>
          </a:bodyPr>
          <a:lstStyle/>
          <a:p>
            <a:pPr algn="l"/>
            <a:r>
              <a:rPr sz="700" b="0" i="0">
                <a:solidFill>
                  <a:srgbClr val="444444"/>
                </a:solidFill>
              </a:rPr>
              <a:t>▶ 予算確保：年間投資額は8,000万円であり、1年目から投資回収が始まり、2年目以降は純増収となる試算である。</a:t>
            </a:r>
          </a:p>
        </p:txBody>
      </p:sp>
      <p:sp>
        <p:nvSpPr>
          <p:cNvPr id="31" name="Rectangle 30"/>
          <p:cNvSpPr/>
          <p:nvPr/>
        </p:nvSpPr>
        <p:spPr>
          <a:xfrm>
            <a:off x="7150608" y="4270248"/>
            <a:ext cx="4297680" cy="23317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60336" y="4343400"/>
            <a:ext cx="4078224" cy="182880"/>
          </a:xfrm>
          <a:prstGeom prst="rect">
            <a:avLst/>
          </a:prstGeom>
          <a:noFill/>
        </p:spPr>
        <p:txBody>
          <a:bodyPr wrap="square">
            <a:spAutoFit/>
          </a:bodyPr>
          <a:lstStyle/>
          <a:p>
            <a:pPr algn="l"/>
            <a:r>
              <a:rPr sz="750" b="1" i="0">
                <a:solidFill>
                  <a:srgbClr val="1D51A3"/>
                </a:solidFill>
              </a:rPr>
              <a:t>リスク要因</a:t>
            </a:r>
          </a:p>
        </p:txBody>
      </p:sp>
      <p:sp>
        <p:nvSpPr>
          <p:cNvPr id="33" name="TextBox 32"/>
          <p:cNvSpPr txBox="1"/>
          <p:nvPr/>
        </p:nvSpPr>
        <p:spPr>
          <a:xfrm>
            <a:off x="7260336" y="4544568"/>
            <a:ext cx="4078224" cy="274320"/>
          </a:xfrm>
          <a:prstGeom prst="rect">
            <a:avLst/>
          </a:prstGeom>
          <a:noFill/>
        </p:spPr>
        <p:txBody>
          <a:bodyPr wrap="square">
            <a:spAutoFit/>
          </a:bodyPr>
          <a:lstStyle/>
          <a:p>
            <a:pPr algn="l"/>
            <a:r>
              <a:rPr sz="1000" b="1" i="0">
                <a:solidFill>
                  <a:srgbClr val="0C3570"/>
                </a:solidFill>
              </a:rPr>
              <a:t>実現を阻む主要リスク</a:t>
            </a:r>
          </a:p>
        </p:txBody>
      </p:sp>
      <p:sp>
        <p:nvSpPr>
          <p:cNvPr id="34" name="TextBox 33"/>
          <p:cNvSpPr txBox="1"/>
          <p:nvPr/>
        </p:nvSpPr>
        <p:spPr>
          <a:xfrm>
            <a:off x="7260336" y="4837176"/>
            <a:ext cx="4078224" cy="320040"/>
          </a:xfrm>
          <a:prstGeom prst="rect">
            <a:avLst/>
          </a:prstGeom>
          <a:noFill/>
        </p:spPr>
        <p:txBody>
          <a:bodyPr wrap="square">
            <a:spAutoFit/>
          </a:bodyPr>
          <a:lstStyle/>
          <a:p>
            <a:pPr algn="l"/>
            <a:r>
              <a:rPr sz="750" b="0" i="0">
                <a:solidFill>
                  <a:srgbClr val="444444"/>
                </a:solidFill>
              </a:rPr>
              <a:t>施策実行において想定されるリスクと、その対応策を事前に整理しておく必要がある。</a:t>
            </a:r>
          </a:p>
        </p:txBody>
      </p:sp>
      <p:sp>
        <p:nvSpPr>
          <p:cNvPr id="35" name="TextBox 34"/>
          <p:cNvSpPr txBox="1"/>
          <p:nvPr/>
        </p:nvSpPr>
        <p:spPr>
          <a:xfrm>
            <a:off x="7287768" y="5202936"/>
            <a:ext cx="4023360" cy="502920"/>
          </a:xfrm>
          <a:prstGeom prst="rect">
            <a:avLst/>
          </a:prstGeom>
          <a:noFill/>
        </p:spPr>
        <p:txBody>
          <a:bodyPr wrap="square">
            <a:spAutoFit/>
          </a:bodyPr>
          <a:lstStyle/>
          <a:p>
            <a:pPr algn="l"/>
            <a:r>
              <a:rPr sz="700" b="0" i="0">
                <a:solidFill>
                  <a:srgbClr val="444444"/>
                </a:solidFill>
              </a:rPr>
              <a:t>▶ 採用リスク：CS担当者の採用が計画通りに進まない場合、外部委託と並行して進めることでリスクを軽減できる。</a:t>
            </a:r>
          </a:p>
        </p:txBody>
      </p:sp>
      <p:sp>
        <p:nvSpPr>
          <p:cNvPr id="36" name="TextBox 35"/>
          <p:cNvSpPr txBox="1"/>
          <p:nvPr/>
        </p:nvSpPr>
        <p:spPr>
          <a:xfrm>
            <a:off x="7287768" y="5733288"/>
            <a:ext cx="4023360" cy="502920"/>
          </a:xfrm>
          <a:prstGeom prst="rect">
            <a:avLst/>
          </a:prstGeom>
          <a:noFill/>
        </p:spPr>
        <p:txBody>
          <a:bodyPr wrap="square">
            <a:spAutoFit/>
          </a:bodyPr>
          <a:lstStyle/>
          <a:p>
            <a:pPr algn="l"/>
            <a:r>
              <a:rPr sz="700" b="0" i="0">
                <a:solidFill>
                  <a:srgbClr val="444444"/>
                </a:solidFill>
              </a:rPr>
              <a:t>▶ 効果遅延：施策効果が出るまでに3〜6ヶ月かかるため、短期的な数値悪化を許容する経営層の理解が必要である。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顧客離脱の課題ツリー：3つの根本課題が特定され、それぞれに対応策が存在する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issue_tree ／ 用途: 課題の構造的分解 ／ 件数: 2〜4分岐</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顧客離脱という課題を構造的に分解すると、価値実感・関係構築・競合優位の3つの根本課題に集約される。</a:t>
            </a:r>
          </a:p>
        </p:txBody>
      </p:sp>
      <p:sp>
        <p:nvSpPr>
          <p:cNvPr id="10" name="Rectangle 9"/>
          <p:cNvSpPr/>
          <p:nvPr/>
        </p:nvSpPr>
        <p:spPr>
          <a:xfrm>
            <a:off x="548640" y="1828800"/>
            <a:ext cx="2011680"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20240"/>
            <a:ext cx="1792224" cy="201168"/>
          </a:xfrm>
          <a:prstGeom prst="rect">
            <a:avLst/>
          </a:prstGeom>
          <a:noFill/>
        </p:spPr>
        <p:txBody>
          <a:bodyPr wrap="square">
            <a:spAutoFit/>
          </a:bodyPr>
          <a:lstStyle/>
          <a:p>
            <a:pPr algn="l"/>
            <a:r>
              <a:rPr sz="750" b="1" i="0">
                <a:solidFill>
                  <a:srgbClr val="93B5E6"/>
                </a:solidFill>
              </a:rPr>
              <a:t>中心課題</a:t>
            </a:r>
          </a:p>
        </p:txBody>
      </p:sp>
      <p:sp>
        <p:nvSpPr>
          <p:cNvPr id="12" name="TextBox 11"/>
          <p:cNvSpPr txBox="1"/>
          <p:nvPr/>
        </p:nvSpPr>
        <p:spPr>
          <a:xfrm>
            <a:off x="658368" y="2176272"/>
            <a:ext cx="1792224" cy="4297680"/>
          </a:xfrm>
          <a:prstGeom prst="rect">
            <a:avLst/>
          </a:prstGeom>
          <a:noFill/>
        </p:spPr>
        <p:txBody>
          <a:bodyPr wrap="square">
            <a:spAutoFit/>
          </a:bodyPr>
          <a:lstStyle/>
          <a:p>
            <a:pPr algn="l"/>
            <a:r>
              <a:rPr sz="900" b="1" i="0">
                <a:solidFill>
                  <a:srgbClr val="FFFFFF"/>
                </a:solidFill>
              </a:rPr>
              <a:t>顧客離脱率が業界平均の2倍に達しており、早急な構造的対応が必要である</a:t>
            </a:r>
          </a:p>
        </p:txBody>
      </p:sp>
      <p:sp>
        <p:nvSpPr>
          <p:cNvPr id="13" name="Rectangle 12"/>
          <p:cNvSpPr/>
          <p:nvPr/>
        </p:nvSpPr>
        <p:spPr>
          <a:xfrm>
            <a:off x="2743200" y="1828800"/>
            <a:ext cx="4297680" cy="23317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852928" y="1901952"/>
            <a:ext cx="4078224" cy="182880"/>
          </a:xfrm>
          <a:prstGeom prst="rect">
            <a:avLst/>
          </a:prstGeom>
          <a:noFill/>
        </p:spPr>
        <p:txBody>
          <a:bodyPr wrap="square">
            <a:spAutoFit/>
          </a:bodyPr>
          <a:lstStyle/>
          <a:p>
            <a:pPr algn="l"/>
            <a:r>
              <a:rPr sz="750" b="1" i="0">
                <a:solidFill>
                  <a:srgbClr val="1D51A3"/>
                </a:solidFill>
              </a:rPr>
              <a:t>課題 A</a:t>
            </a:r>
          </a:p>
        </p:txBody>
      </p:sp>
      <p:sp>
        <p:nvSpPr>
          <p:cNvPr id="15" name="TextBox 14"/>
          <p:cNvSpPr txBox="1"/>
          <p:nvPr/>
        </p:nvSpPr>
        <p:spPr>
          <a:xfrm>
            <a:off x="2852928" y="2103120"/>
            <a:ext cx="4078224" cy="274320"/>
          </a:xfrm>
          <a:prstGeom prst="rect">
            <a:avLst/>
          </a:prstGeom>
          <a:noFill/>
        </p:spPr>
        <p:txBody>
          <a:bodyPr wrap="square">
            <a:spAutoFit/>
          </a:bodyPr>
          <a:lstStyle/>
          <a:p>
            <a:pPr algn="l"/>
            <a:r>
              <a:rPr sz="1000" b="1" i="0">
                <a:solidFill>
                  <a:srgbClr val="0C3570"/>
                </a:solidFill>
              </a:rPr>
              <a:t>価値実感の機会が不足</a:t>
            </a:r>
          </a:p>
        </p:txBody>
      </p:sp>
      <p:sp>
        <p:nvSpPr>
          <p:cNvPr id="16" name="TextBox 15"/>
          <p:cNvSpPr txBox="1"/>
          <p:nvPr/>
        </p:nvSpPr>
        <p:spPr>
          <a:xfrm>
            <a:off x="2852928" y="2395728"/>
            <a:ext cx="4078224" cy="320040"/>
          </a:xfrm>
          <a:prstGeom prst="rect">
            <a:avLst/>
          </a:prstGeom>
          <a:noFill/>
        </p:spPr>
        <p:txBody>
          <a:bodyPr wrap="square">
            <a:spAutoFit/>
          </a:bodyPr>
          <a:lstStyle/>
          <a:p>
            <a:pPr algn="l"/>
            <a:r>
              <a:rPr sz="750" b="0" i="0">
                <a:solidFill>
                  <a:srgbClr val="444444"/>
                </a:solidFill>
              </a:rPr>
              <a:t>顧客が製品の価値を実感する前に解約判断が行われており、オンボーディングの改善が急務である。</a:t>
            </a:r>
          </a:p>
        </p:txBody>
      </p:sp>
      <p:sp>
        <p:nvSpPr>
          <p:cNvPr id="17" name="TextBox 16"/>
          <p:cNvSpPr txBox="1"/>
          <p:nvPr/>
        </p:nvSpPr>
        <p:spPr>
          <a:xfrm>
            <a:off x="2880360" y="2761488"/>
            <a:ext cx="4023360" cy="502920"/>
          </a:xfrm>
          <a:prstGeom prst="rect">
            <a:avLst/>
          </a:prstGeom>
          <a:noFill/>
        </p:spPr>
        <p:txBody>
          <a:bodyPr wrap="square">
            <a:spAutoFit/>
          </a:bodyPr>
          <a:lstStyle/>
          <a:p>
            <a:pPr algn="l"/>
            <a:r>
              <a:rPr sz="700" b="0" i="0">
                <a:solidFill>
                  <a:srgbClr val="444444"/>
                </a:solidFill>
              </a:rPr>
              <a:t>▶ 現状：導入後90日以内の活用率が目標の60%に留まっており、価値を実感する前に解約判断が行われている。</a:t>
            </a:r>
          </a:p>
        </p:txBody>
      </p:sp>
      <p:sp>
        <p:nvSpPr>
          <p:cNvPr id="18" name="TextBox 17"/>
          <p:cNvSpPr txBox="1"/>
          <p:nvPr/>
        </p:nvSpPr>
        <p:spPr>
          <a:xfrm>
            <a:off x="2880360" y="3291840"/>
            <a:ext cx="4023360" cy="502920"/>
          </a:xfrm>
          <a:prstGeom prst="rect">
            <a:avLst/>
          </a:prstGeom>
          <a:noFill/>
        </p:spPr>
        <p:txBody>
          <a:bodyPr wrap="square">
            <a:spAutoFit/>
          </a:bodyPr>
          <a:lstStyle/>
          <a:p>
            <a:pPr algn="l"/>
            <a:r>
              <a:rPr sz="700" b="0" i="0">
                <a:solidFill>
                  <a:srgbClr val="444444"/>
                </a:solidFill>
              </a:rPr>
              <a:t>▶ 対応策：構造化されたオンボーディングプログラムと、30日・60日・90日の定期チェックインを導入することで解決できる。</a:t>
            </a:r>
          </a:p>
        </p:txBody>
      </p:sp>
      <p:sp>
        <p:nvSpPr>
          <p:cNvPr id="19" name="Rectangle 18"/>
          <p:cNvSpPr/>
          <p:nvPr/>
        </p:nvSpPr>
        <p:spPr>
          <a:xfrm>
            <a:off x="7150608" y="1828800"/>
            <a:ext cx="4297680" cy="23317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60336" y="1901952"/>
            <a:ext cx="4078224" cy="182880"/>
          </a:xfrm>
          <a:prstGeom prst="rect">
            <a:avLst/>
          </a:prstGeom>
          <a:noFill/>
        </p:spPr>
        <p:txBody>
          <a:bodyPr wrap="square">
            <a:spAutoFit/>
          </a:bodyPr>
          <a:lstStyle/>
          <a:p>
            <a:pPr algn="l"/>
            <a:r>
              <a:rPr sz="750" b="1" i="0">
                <a:solidFill>
                  <a:srgbClr val="1D51A3"/>
                </a:solidFill>
              </a:rPr>
              <a:t>課題 B</a:t>
            </a:r>
          </a:p>
        </p:txBody>
      </p:sp>
      <p:sp>
        <p:nvSpPr>
          <p:cNvPr id="21" name="TextBox 20"/>
          <p:cNvSpPr txBox="1"/>
          <p:nvPr/>
        </p:nvSpPr>
        <p:spPr>
          <a:xfrm>
            <a:off x="7260336" y="2103120"/>
            <a:ext cx="4078224" cy="274320"/>
          </a:xfrm>
          <a:prstGeom prst="rect">
            <a:avLst/>
          </a:prstGeom>
          <a:noFill/>
        </p:spPr>
        <p:txBody>
          <a:bodyPr wrap="square">
            <a:spAutoFit/>
          </a:bodyPr>
          <a:lstStyle/>
          <a:p>
            <a:pPr algn="l"/>
            <a:r>
              <a:rPr sz="1000" b="1" i="0">
                <a:solidFill>
                  <a:srgbClr val="0C3570"/>
                </a:solidFill>
              </a:rPr>
              <a:t>顧客との関係構築が薄い</a:t>
            </a:r>
          </a:p>
        </p:txBody>
      </p:sp>
      <p:sp>
        <p:nvSpPr>
          <p:cNvPr id="22" name="TextBox 21"/>
          <p:cNvSpPr txBox="1"/>
          <p:nvPr/>
        </p:nvSpPr>
        <p:spPr>
          <a:xfrm>
            <a:off x="7260336" y="2395728"/>
            <a:ext cx="4078224" cy="320040"/>
          </a:xfrm>
          <a:prstGeom prst="rect">
            <a:avLst/>
          </a:prstGeom>
          <a:noFill/>
        </p:spPr>
        <p:txBody>
          <a:bodyPr wrap="square">
            <a:spAutoFit/>
          </a:bodyPr>
          <a:lstStyle/>
          <a:p>
            <a:pPr algn="l"/>
            <a:r>
              <a:rPr sz="750" b="0" i="0">
                <a:solidFill>
                  <a:srgbClr val="444444"/>
                </a:solidFill>
              </a:rPr>
              <a:t>担当者との関係が浅く、課題が顕在化する前にプロアクティブな支援ができていない。</a:t>
            </a:r>
          </a:p>
        </p:txBody>
      </p:sp>
      <p:sp>
        <p:nvSpPr>
          <p:cNvPr id="23" name="TextBox 22"/>
          <p:cNvSpPr txBox="1"/>
          <p:nvPr/>
        </p:nvSpPr>
        <p:spPr>
          <a:xfrm>
            <a:off x="7287768" y="2761488"/>
            <a:ext cx="4023360" cy="502920"/>
          </a:xfrm>
          <a:prstGeom prst="rect">
            <a:avLst/>
          </a:prstGeom>
          <a:noFill/>
        </p:spPr>
        <p:txBody>
          <a:bodyPr wrap="square">
            <a:spAutoFit/>
          </a:bodyPr>
          <a:lstStyle/>
          <a:p>
            <a:pPr algn="l"/>
            <a:r>
              <a:rPr sz="700" b="0" i="0">
                <a:solidFill>
                  <a:srgbClr val="444444"/>
                </a:solidFill>
              </a:rPr>
              <a:t>▶ 現状：CS担当者1人あたりの顧客数が120社と過多であり、月1回以上の接触ができている顧客は全体の30%に留まる。</a:t>
            </a:r>
          </a:p>
        </p:txBody>
      </p:sp>
      <p:sp>
        <p:nvSpPr>
          <p:cNvPr id="24" name="TextBox 23"/>
          <p:cNvSpPr txBox="1"/>
          <p:nvPr/>
        </p:nvSpPr>
        <p:spPr>
          <a:xfrm>
            <a:off x="7287768" y="3291840"/>
            <a:ext cx="4023360" cy="502920"/>
          </a:xfrm>
          <a:prstGeom prst="rect">
            <a:avLst/>
          </a:prstGeom>
          <a:noFill/>
        </p:spPr>
        <p:txBody>
          <a:bodyPr wrap="square">
            <a:spAutoFit/>
          </a:bodyPr>
          <a:lstStyle/>
          <a:p>
            <a:pPr algn="l"/>
            <a:r>
              <a:rPr sz="700" b="0" i="0">
                <a:solidFill>
                  <a:srgbClr val="444444"/>
                </a:solidFill>
              </a:rPr>
              <a:t>▶ 対応策：CS担当者を増員し、担当顧客数を50社以下に削減することで、プロアクティブな関係構築が可能になる。</a:t>
            </a:r>
          </a:p>
        </p:txBody>
      </p:sp>
      <p:sp>
        <p:nvSpPr>
          <p:cNvPr id="25" name="Rectangle 24"/>
          <p:cNvSpPr/>
          <p:nvPr/>
        </p:nvSpPr>
        <p:spPr>
          <a:xfrm>
            <a:off x="2743200" y="4270248"/>
            <a:ext cx="4297680" cy="23317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852928" y="4343400"/>
            <a:ext cx="4078224" cy="182880"/>
          </a:xfrm>
          <a:prstGeom prst="rect">
            <a:avLst/>
          </a:prstGeom>
          <a:noFill/>
        </p:spPr>
        <p:txBody>
          <a:bodyPr wrap="square">
            <a:spAutoFit/>
          </a:bodyPr>
          <a:lstStyle/>
          <a:p>
            <a:pPr algn="l"/>
            <a:r>
              <a:rPr sz="750" b="1" i="0">
                <a:solidFill>
                  <a:srgbClr val="1D51A3"/>
                </a:solidFill>
              </a:rPr>
              <a:t>課題 C</a:t>
            </a:r>
          </a:p>
        </p:txBody>
      </p:sp>
      <p:sp>
        <p:nvSpPr>
          <p:cNvPr id="27" name="TextBox 26"/>
          <p:cNvSpPr txBox="1"/>
          <p:nvPr/>
        </p:nvSpPr>
        <p:spPr>
          <a:xfrm>
            <a:off x="2852928" y="4544568"/>
            <a:ext cx="4078224" cy="274320"/>
          </a:xfrm>
          <a:prstGeom prst="rect">
            <a:avLst/>
          </a:prstGeom>
          <a:noFill/>
        </p:spPr>
        <p:txBody>
          <a:bodyPr wrap="square">
            <a:spAutoFit/>
          </a:bodyPr>
          <a:lstStyle/>
          <a:p>
            <a:pPr algn="l"/>
            <a:r>
              <a:rPr sz="1000" b="1" i="0">
                <a:solidFill>
                  <a:srgbClr val="0C3570"/>
                </a:solidFill>
              </a:rPr>
              <a:t>競合との差別化が不明確</a:t>
            </a:r>
          </a:p>
        </p:txBody>
      </p:sp>
      <p:sp>
        <p:nvSpPr>
          <p:cNvPr id="28" name="TextBox 27"/>
          <p:cNvSpPr txBox="1"/>
          <p:nvPr/>
        </p:nvSpPr>
        <p:spPr>
          <a:xfrm>
            <a:off x="2852928" y="4837176"/>
            <a:ext cx="4078224" cy="320040"/>
          </a:xfrm>
          <a:prstGeom prst="rect">
            <a:avLst/>
          </a:prstGeom>
          <a:noFill/>
        </p:spPr>
        <p:txBody>
          <a:bodyPr wrap="square">
            <a:spAutoFit/>
          </a:bodyPr>
          <a:lstStyle/>
          <a:p>
            <a:pPr algn="l"/>
            <a:r>
              <a:rPr sz="750" b="0" i="0">
                <a:solidFill>
                  <a:srgbClr val="444444"/>
                </a:solidFill>
              </a:rPr>
              <a:t>顧客が競合製品との違いを明確に認識できておらず、価格比較のみで判断されやすい状況にある。</a:t>
            </a:r>
          </a:p>
        </p:txBody>
      </p:sp>
      <p:sp>
        <p:nvSpPr>
          <p:cNvPr id="29" name="TextBox 28"/>
          <p:cNvSpPr txBox="1"/>
          <p:nvPr/>
        </p:nvSpPr>
        <p:spPr>
          <a:xfrm>
            <a:off x="2880360" y="5202936"/>
            <a:ext cx="4023360" cy="502920"/>
          </a:xfrm>
          <a:prstGeom prst="rect">
            <a:avLst/>
          </a:prstGeom>
          <a:noFill/>
        </p:spPr>
        <p:txBody>
          <a:bodyPr wrap="square">
            <a:spAutoFit/>
          </a:bodyPr>
          <a:lstStyle/>
          <a:p>
            <a:pPr algn="l"/>
            <a:r>
              <a:rPr sz="700" b="0" i="0">
                <a:solidFill>
                  <a:srgbClr val="444444"/>
                </a:solidFill>
              </a:rPr>
              <a:t>▶ 現状：解約顧客の調査では、競合製品との機能差を「わからない」と回答した割合が58%に達している。</a:t>
            </a:r>
          </a:p>
        </p:txBody>
      </p:sp>
      <p:sp>
        <p:nvSpPr>
          <p:cNvPr id="30" name="TextBox 29"/>
          <p:cNvSpPr txBox="1"/>
          <p:nvPr/>
        </p:nvSpPr>
        <p:spPr>
          <a:xfrm>
            <a:off x="2880360" y="5733288"/>
            <a:ext cx="4023360" cy="502920"/>
          </a:xfrm>
          <a:prstGeom prst="rect">
            <a:avLst/>
          </a:prstGeom>
          <a:noFill/>
        </p:spPr>
        <p:txBody>
          <a:bodyPr wrap="square">
            <a:spAutoFit/>
          </a:bodyPr>
          <a:lstStyle/>
          <a:p>
            <a:pPr algn="l"/>
            <a:r>
              <a:rPr sz="700" b="0" i="0">
                <a:solidFill>
                  <a:srgbClr val="444444"/>
                </a:solidFill>
              </a:rPr>
              <a:t>▶ 対応策：定期的な価値確認ミーティングと、競合比較資料の提供により、差別化認識を高めることができる。</a:t>
            </a:r>
          </a:p>
        </p:txBody>
      </p:sp>
      <p:sp>
        <p:nvSpPr>
          <p:cNvPr id="31" name="Rectangle 30"/>
          <p:cNvSpPr/>
          <p:nvPr/>
        </p:nvSpPr>
        <p:spPr>
          <a:xfrm>
            <a:off x="7150608" y="4270248"/>
            <a:ext cx="4297680" cy="23317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60336" y="4343400"/>
            <a:ext cx="4078224" cy="182880"/>
          </a:xfrm>
          <a:prstGeom prst="rect">
            <a:avLst/>
          </a:prstGeom>
          <a:noFill/>
        </p:spPr>
        <p:txBody>
          <a:bodyPr wrap="square">
            <a:spAutoFit/>
          </a:bodyPr>
          <a:lstStyle/>
          <a:p>
            <a:pPr algn="l"/>
            <a:r>
              <a:rPr sz="750" b="1" i="0">
                <a:solidFill>
                  <a:srgbClr val="1D51A3"/>
                </a:solidFill>
              </a:rPr>
              <a:t>課題 D</a:t>
            </a:r>
          </a:p>
        </p:txBody>
      </p:sp>
      <p:sp>
        <p:nvSpPr>
          <p:cNvPr id="33" name="TextBox 32"/>
          <p:cNvSpPr txBox="1"/>
          <p:nvPr/>
        </p:nvSpPr>
        <p:spPr>
          <a:xfrm>
            <a:off x="7260336" y="4544568"/>
            <a:ext cx="4078224" cy="274320"/>
          </a:xfrm>
          <a:prstGeom prst="rect">
            <a:avLst/>
          </a:prstGeom>
          <a:noFill/>
        </p:spPr>
        <p:txBody>
          <a:bodyPr wrap="square">
            <a:spAutoFit/>
          </a:bodyPr>
          <a:lstStyle/>
          <a:p>
            <a:pPr algn="l"/>
            <a:r>
              <a:rPr sz="1000" b="1" i="0">
                <a:solidFill>
                  <a:srgbClr val="0C3570"/>
                </a:solidFill>
              </a:rPr>
              <a:t>解約シグナルの検知が遅い</a:t>
            </a:r>
          </a:p>
        </p:txBody>
      </p:sp>
      <p:sp>
        <p:nvSpPr>
          <p:cNvPr id="34" name="TextBox 33"/>
          <p:cNvSpPr txBox="1"/>
          <p:nvPr/>
        </p:nvSpPr>
        <p:spPr>
          <a:xfrm>
            <a:off x="7260336" y="4837176"/>
            <a:ext cx="4078224" cy="320040"/>
          </a:xfrm>
          <a:prstGeom prst="rect">
            <a:avLst/>
          </a:prstGeom>
          <a:noFill/>
        </p:spPr>
        <p:txBody>
          <a:bodyPr wrap="square">
            <a:spAutoFit/>
          </a:bodyPr>
          <a:lstStyle/>
          <a:p>
            <a:pPr algn="l"/>
            <a:r>
              <a:rPr sz="750" b="0" i="0">
                <a:solidFill>
                  <a:srgbClr val="444444"/>
                </a:solidFill>
              </a:rPr>
              <a:t>顧客の解約意向が顕在化してから対応しており、手遅れになるケースが多い。</a:t>
            </a:r>
          </a:p>
        </p:txBody>
      </p:sp>
      <p:sp>
        <p:nvSpPr>
          <p:cNvPr id="35" name="TextBox 34"/>
          <p:cNvSpPr txBox="1"/>
          <p:nvPr/>
        </p:nvSpPr>
        <p:spPr>
          <a:xfrm>
            <a:off x="7287768" y="5202936"/>
            <a:ext cx="4023360" cy="502920"/>
          </a:xfrm>
          <a:prstGeom prst="rect">
            <a:avLst/>
          </a:prstGeom>
          <a:noFill/>
        </p:spPr>
        <p:txBody>
          <a:bodyPr wrap="square">
            <a:spAutoFit/>
          </a:bodyPr>
          <a:lstStyle/>
          <a:p>
            <a:pPr algn="l"/>
            <a:r>
              <a:rPr sz="700" b="0" i="0">
                <a:solidFill>
                  <a:srgbClr val="444444"/>
                </a:solidFill>
              </a:rPr>
              <a:t>▶ 現状：解約申請の平均2週間前には活用率の低下や問い合わせ減少などのシグナルが出ているが、検知できていない。</a:t>
            </a:r>
          </a:p>
        </p:txBody>
      </p:sp>
      <p:sp>
        <p:nvSpPr>
          <p:cNvPr id="36" name="TextBox 35"/>
          <p:cNvSpPr txBox="1"/>
          <p:nvPr/>
        </p:nvSpPr>
        <p:spPr>
          <a:xfrm>
            <a:off x="7287768" y="5733288"/>
            <a:ext cx="4023360" cy="502920"/>
          </a:xfrm>
          <a:prstGeom prst="rect">
            <a:avLst/>
          </a:prstGeom>
          <a:noFill/>
        </p:spPr>
        <p:txBody>
          <a:bodyPr wrap="square">
            <a:spAutoFit/>
          </a:bodyPr>
          <a:lstStyle/>
          <a:p>
            <a:pPr algn="l"/>
            <a:r>
              <a:rPr sz="700" b="0" i="0">
                <a:solidFill>
                  <a:srgbClr val="444444"/>
                </a:solidFill>
              </a:rPr>
              <a:t>▶ 対応策：ヘルススコアの導入により、解約リスクの高い顧客を早期に特定し、プロアクティブな介入を行う。</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原因と結果の連鎖：CS投資不足が顧客離脱を引き起こし、売上低下と評判悪化の悪循環を生む</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cause_effect_flow ／ 用途: 原因から結果への因果連鎖の可視化 ／ 件数: 3〜5段階</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CS投資不足という根本原因が、顧客離脱→売上低下→評判悪化という悪循環を生んでいる。この連鎖を断ち切ることが急務である。</a:t>
            </a:r>
          </a:p>
        </p:txBody>
      </p:sp>
      <p:sp>
        <p:nvSpPr>
          <p:cNvPr id="10" name="Rectangle 9"/>
          <p:cNvSpPr/>
          <p:nvPr/>
        </p:nvSpPr>
        <p:spPr>
          <a:xfrm>
            <a:off x="548640" y="1828800"/>
            <a:ext cx="2011680"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20240"/>
            <a:ext cx="1792224" cy="201168"/>
          </a:xfrm>
          <a:prstGeom prst="rect">
            <a:avLst/>
          </a:prstGeom>
          <a:noFill/>
        </p:spPr>
        <p:txBody>
          <a:bodyPr wrap="square">
            <a:spAutoFit/>
          </a:bodyPr>
          <a:lstStyle/>
          <a:p>
            <a:pPr algn="l"/>
            <a:r>
              <a:rPr sz="750" b="1" i="0">
                <a:solidFill>
                  <a:srgbClr val="93B5E6"/>
                </a:solidFill>
              </a:rPr>
              <a:t>根本原因</a:t>
            </a:r>
          </a:p>
        </p:txBody>
      </p:sp>
      <p:sp>
        <p:nvSpPr>
          <p:cNvPr id="12" name="TextBox 11"/>
          <p:cNvSpPr txBox="1"/>
          <p:nvPr/>
        </p:nvSpPr>
        <p:spPr>
          <a:xfrm>
            <a:off x="658368" y="2176272"/>
            <a:ext cx="1792224" cy="4297680"/>
          </a:xfrm>
          <a:prstGeom prst="rect">
            <a:avLst/>
          </a:prstGeom>
          <a:noFill/>
        </p:spPr>
        <p:txBody>
          <a:bodyPr wrap="square">
            <a:spAutoFit/>
          </a:bodyPr>
          <a:lstStyle/>
          <a:p>
            <a:pPr algn="l"/>
            <a:r>
              <a:rPr sz="900" b="1" i="0">
                <a:solidFill>
                  <a:srgbClr val="FFFFFF"/>
                </a:solidFill>
              </a:rPr>
              <a:t>カスタマーサクセスへの投資が競合比で大幅に不足している</a:t>
            </a:r>
          </a:p>
        </p:txBody>
      </p:sp>
      <p:sp>
        <p:nvSpPr>
          <p:cNvPr id="13" name="Rectangle 12"/>
          <p:cNvSpPr/>
          <p:nvPr/>
        </p:nvSpPr>
        <p:spPr>
          <a:xfrm>
            <a:off x="2743200" y="1828800"/>
            <a:ext cx="4297680" cy="23317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852928" y="1901952"/>
            <a:ext cx="4078224" cy="182880"/>
          </a:xfrm>
          <a:prstGeom prst="rect">
            <a:avLst/>
          </a:prstGeom>
          <a:noFill/>
        </p:spPr>
        <p:txBody>
          <a:bodyPr wrap="square">
            <a:spAutoFit/>
          </a:bodyPr>
          <a:lstStyle/>
          <a:p>
            <a:pPr algn="l"/>
            <a:r>
              <a:rPr sz="750" b="1" i="0">
                <a:solidFill>
                  <a:srgbClr val="1D51A3"/>
                </a:solidFill>
              </a:rPr>
              <a:t>第1段階：直接影響</a:t>
            </a:r>
          </a:p>
        </p:txBody>
      </p:sp>
      <p:sp>
        <p:nvSpPr>
          <p:cNvPr id="15" name="TextBox 14"/>
          <p:cNvSpPr txBox="1"/>
          <p:nvPr/>
        </p:nvSpPr>
        <p:spPr>
          <a:xfrm>
            <a:off x="2852928" y="2103120"/>
            <a:ext cx="4078224" cy="274320"/>
          </a:xfrm>
          <a:prstGeom prst="rect">
            <a:avLst/>
          </a:prstGeom>
          <a:noFill/>
        </p:spPr>
        <p:txBody>
          <a:bodyPr wrap="square">
            <a:spAutoFit/>
          </a:bodyPr>
          <a:lstStyle/>
          <a:p>
            <a:pPr algn="l"/>
            <a:r>
              <a:rPr sz="1000" b="1" i="0">
                <a:solidFill>
                  <a:srgbClr val="0C3570"/>
                </a:solidFill>
              </a:rPr>
              <a:t>価値実感の機会が失われる</a:t>
            </a:r>
          </a:p>
        </p:txBody>
      </p:sp>
      <p:sp>
        <p:nvSpPr>
          <p:cNvPr id="16" name="TextBox 15"/>
          <p:cNvSpPr txBox="1"/>
          <p:nvPr/>
        </p:nvSpPr>
        <p:spPr>
          <a:xfrm>
            <a:off x="2852928" y="2395728"/>
            <a:ext cx="4078224" cy="320040"/>
          </a:xfrm>
          <a:prstGeom prst="rect">
            <a:avLst/>
          </a:prstGeom>
          <a:noFill/>
        </p:spPr>
        <p:txBody>
          <a:bodyPr wrap="square">
            <a:spAutoFit/>
          </a:bodyPr>
          <a:lstStyle/>
          <a:p>
            <a:pPr algn="l"/>
            <a:r>
              <a:rPr sz="750" b="0" i="0">
                <a:solidFill>
                  <a:srgbClr val="444444"/>
                </a:solidFill>
              </a:rPr>
              <a:t>CS投資不足により、顧客が製品価値を実感する前に放置される状況が生まれる。</a:t>
            </a:r>
          </a:p>
        </p:txBody>
      </p:sp>
      <p:sp>
        <p:nvSpPr>
          <p:cNvPr id="17" name="TextBox 16"/>
          <p:cNvSpPr txBox="1"/>
          <p:nvPr/>
        </p:nvSpPr>
        <p:spPr>
          <a:xfrm>
            <a:off x="2880360" y="2761488"/>
            <a:ext cx="4023360" cy="502920"/>
          </a:xfrm>
          <a:prstGeom prst="rect">
            <a:avLst/>
          </a:prstGeom>
          <a:noFill/>
        </p:spPr>
        <p:txBody>
          <a:bodyPr wrap="square">
            <a:spAutoFit/>
          </a:bodyPr>
          <a:lstStyle/>
          <a:p>
            <a:pPr algn="l"/>
            <a:r>
              <a:rPr sz="700" b="0" i="0">
                <a:solidFill>
                  <a:srgbClr val="444444"/>
                </a:solidFill>
              </a:rPr>
              <a:t>▶ メカニズム：CS担当者の過負荷により、導入後のフォローアップが形式的になり、顧客の活用率が低下する。</a:t>
            </a:r>
          </a:p>
        </p:txBody>
      </p:sp>
      <p:sp>
        <p:nvSpPr>
          <p:cNvPr id="18" name="TextBox 17"/>
          <p:cNvSpPr txBox="1"/>
          <p:nvPr/>
        </p:nvSpPr>
        <p:spPr>
          <a:xfrm>
            <a:off x="2880360" y="3291840"/>
            <a:ext cx="4023360" cy="502920"/>
          </a:xfrm>
          <a:prstGeom prst="rect">
            <a:avLst/>
          </a:prstGeom>
          <a:noFill/>
        </p:spPr>
        <p:txBody>
          <a:bodyPr wrap="square">
            <a:spAutoFit/>
          </a:bodyPr>
          <a:lstStyle/>
          <a:p>
            <a:pPr algn="l"/>
            <a:r>
              <a:rPr sz="700" b="0" i="0">
                <a:solidFill>
                  <a:srgbClr val="444444"/>
                </a:solidFill>
              </a:rPr>
              <a:t>▶ 定量的影響：活用率が目標の60%以下の顧客の解約率は、目標達成顧客の3.2倍に達している。</a:t>
            </a:r>
          </a:p>
        </p:txBody>
      </p:sp>
      <p:sp>
        <p:nvSpPr>
          <p:cNvPr id="19" name="Rectangle 18"/>
          <p:cNvSpPr/>
          <p:nvPr/>
        </p:nvSpPr>
        <p:spPr>
          <a:xfrm>
            <a:off x="7150608" y="1828800"/>
            <a:ext cx="4297680" cy="23317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60336" y="1901952"/>
            <a:ext cx="4078224" cy="182880"/>
          </a:xfrm>
          <a:prstGeom prst="rect">
            <a:avLst/>
          </a:prstGeom>
          <a:noFill/>
        </p:spPr>
        <p:txBody>
          <a:bodyPr wrap="square">
            <a:spAutoFit/>
          </a:bodyPr>
          <a:lstStyle/>
          <a:p>
            <a:pPr algn="l"/>
            <a:r>
              <a:rPr sz="750" b="1" i="0">
                <a:solidFill>
                  <a:srgbClr val="1D51A3"/>
                </a:solidFill>
              </a:rPr>
              <a:t>第2段階：顧客行動</a:t>
            </a:r>
          </a:p>
        </p:txBody>
      </p:sp>
      <p:sp>
        <p:nvSpPr>
          <p:cNvPr id="21" name="TextBox 20"/>
          <p:cNvSpPr txBox="1"/>
          <p:nvPr/>
        </p:nvSpPr>
        <p:spPr>
          <a:xfrm>
            <a:off x="7260336" y="2103120"/>
            <a:ext cx="4078224" cy="274320"/>
          </a:xfrm>
          <a:prstGeom prst="rect">
            <a:avLst/>
          </a:prstGeom>
          <a:noFill/>
        </p:spPr>
        <p:txBody>
          <a:bodyPr wrap="square">
            <a:spAutoFit/>
          </a:bodyPr>
          <a:lstStyle/>
          <a:p>
            <a:pPr algn="l"/>
            <a:r>
              <a:rPr sz="1000" b="1" i="0">
                <a:solidFill>
                  <a:srgbClr val="0C3570"/>
                </a:solidFill>
              </a:rPr>
              <a:t>解約率が業界平均の2倍に上昇</a:t>
            </a:r>
          </a:p>
        </p:txBody>
      </p:sp>
      <p:sp>
        <p:nvSpPr>
          <p:cNvPr id="22" name="TextBox 21"/>
          <p:cNvSpPr txBox="1"/>
          <p:nvPr/>
        </p:nvSpPr>
        <p:spPr>
          <a:xfrm>
            <a:off x="7260336" y="2395728"/>
            <a:ext cx="4078224" cy="320040"/>
          </a:xfrm>
          <a:prstGeom prst="rect">
            <a:avLst/>
          </a:prstGeom>
          <a:noFill/>
        </p:spPr>
        <p:txBody>
          <a:bodyPr wrap="square">
            <a:spAutoFit/>
          </a:bodyPr>
          <a:lstStyle/>
          <a:p>
            <a:pPr algn="l"/>
            <a:r>
              <a:rPr sz="750" b="0" i="0">
                <a:solidFill>
                  <a:srgbClr val="444444"/>
                </a:solidFill>
              </a:rPr>
              <a:t>価値実感の機会を失った顧客が解約を選択し、離脱率が業界平均を大幅に上回る状況になる。</a:t>
            </a:r>
          </a:p>
        </p:txBody>
      </p:sp>
      <p:sp>
        <p:nvSpPr>
          <p:cNvPr id="23" name="TextBox 22"/>
          <p:cNvSpPr txBox="1"/>
          <p:nvPr/>
        </p:nvSpPr>
        <p:spPr>
          <a:xfrm>
            <a:off x="7287768" y="2761488"/>
            <a:ext cx="4023360" cy="502920"/>
          </a:xfrm>
          <a:prstGeom prst="rect">
            <a:avLst/>
          </a:prstGeom>
          <a:noFill/>
        </p:spPr>
        <p:txBody>
          <a:bodyPr wrap="square">
            <a:spAutoFit/>
          </a:bodyPr>
          <a:lstStyle/>
          <a:p>
            <a:pPr algn="l"/>
            <a:r>
              <a:rPr sz="700" b="0" i="0">
                <a:solidFill>
                  <a:srgbClr val="444444"/>
                </a:solidFill>
              </a:rPr>
              <a:t>▶ 現状データ：年間解約率が18%と業界平均の9%の2倍に達しており、毎年顧客基盤の約2割が失われている。</a:t>
            </a:r>
          </a:p>
        </p:txBody>
      </p:sp>
      <p:sp>
        <p:nvSpPr>
          <p:cNvPr id="24" name="TextBox 23"/>
          <p:cNvSpPr txBox="1"/>
          <p:nvPr/>
        </p:nvSpPr>
        <p:spPr>
          <a:xfrm>
            <a:off x="7287768" y="3291840"/>
            <a:ext cx="4023360" cy="502920"/>
          </a:xfrm>
          <a:prstGeom prst="rect">
            <a:avLst/>
          </a:prstGeom>
          <a:noFill/>
        </p:spPr>
        <p:txBody>
          <a:bodyPr wrap="square">
            <a:spAutoFit/>
          </a:bodyPr>
          <a:lstStyle/>
          <a:p>
            <a:pPr algn="l"/>
            <a:r>
              <a:rPr sz="700" b="0" i="0">
                <a:solidFill>
                  <a:srgbClr val="444444"/>
                </a:solidFill>
              </a:rPr>
              <a:t>▶ 財務影響：解約による機会損失は年間2.4億円に達しており、新規獲得コストの増加と合わせると実質的な損失はさらに大きい。</a:t>
            </a:r>
          </a:p>
        </p:txBody>
      </p:sp>
      <p:sp>
        <p:nvSpPr>
          <p:cNvPr id="25" name="Rectangle 24"/>
          <p:cNvSpPr/>
          <p:nvPr/>
        </p:nvSpPr>
        <p:spPr>
          <a:xfrm>
            <a:off x="2743200" y="4270248"/>
            <a:ext cx="4297680" cy="23317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852928" y="4343400"/>
            <a:ext cx="4078224" cy="182880"/>
          </a:xfrm>
          <a:prstGeom prst="rect">
            <a:avLst/>
          </a:prstGeom>
          <a:noFill/>
        </p:spPr>
        <p:txBody>
          <a:bodyPr wrap="square">
            <a:spAutoFit/>
          </a:bodyPr>
          <a:lstStyle/>
          <a:p>
            <a:pPr algn="l"/>
            <a:r>
              <a:rPr sz="750" b="1" i="0">
                <a:solidFill>
                  <a:srgbClr val="1D51A3"/>
                </a:solidFill>
              </a:rPr>
              <a:t>第3段階：市場影響</a:t>
            </a:r>
          </a:p>
        </p:txBody>
      </p:sp>
      <p:sp>
        <p:nvSpPr>
          <p:cNvPr id="27" name="TextBox 26"/>
          <p:cNvSpPr txBox="1"/>
          <p:nvPr/>
        </p:nvSpPr>
        <p:spPr>
          <a:xfrm>
            <a:off x="2852928" y="4544568"/>
            <a:ext cx="4078224" cy="274320"/>
          </a:xfrm>
          <a:prstGeom prst="rect">
            <a:avLst/>
          </a:prstGeom>
          <a:noFill/>
        </p:spPr>
        <p:txBody>
          <a:bodyPr wrap="square">
            <a:spAutoFit/>
          </a:bodyPr>
          <a:lstStyle/>
          <a:p>
            <a:pPr algn="l"/>
            <a:r>
              <a:rPr sz="1000" b="1" i="0">
                <a:solidFill>
                  <a:srgbClr val="0C3570"/>
                </a:solidFill>
              </a:rPr>
              <a:t>評判悪化と新規獲得コスト増加</a:t>
            </a:r>
          </a:p>
        </p:txBody>
      </p:sp>
      <p:sp>
        <p:nvSpPr>
          <p:cNvPr id="28" name="TextBox 27"/>
          <p:cNvSpPr txBox="1"/>
          <p:nvPr/>
        </p:nvSpPr>
        <p:spPr>
          <a:xfrm>
            <a:off x="2852928" y="4837176"/>
            <a:ext cx="4078224" cy="320040"/>
          </a:xfrm>
          <a:prstGeom prst="rect">
            <a:avLst/>
          </a:prstGeom>
          <a:noFill/>
        </p:spPr>
        <p:txBody>
          <a:bodyPr wrap="square">
            <a:spAutoFit/>
          </a:bodyPr>
          <a:lstStyle/>
          <a:p>
            <a:pPr algn="l"/>
            <a:r>
              <a:rPr sz="750" b="0" i="0">
                <a:solidFill>
                  <a:srgbClr val="444444"/>
                </a:solidFill>
              </a:rPr>
              <a:t>解約顧客のネガティブな口コミが広がり、新規顧客獲得のコストが上昇する悪循環が生まれる。</a:t>
            </a:r>
          </a:p>
        </p:txBody>
      </p:sp>
      <p:sp>
        <p:nvSpPr>
          <p:cNvPr id="29" name="TextBox 28"/>
          <p:cNvSpPr txBox="1"/>
          <p:nvPr/>
        </p:nvSpPr>
        <p:spPr>
          <a:xfrm>
            <a:off x="2880360" y="5202936"/>
            <a:ext cx="4023360" cy="502920"/>
          </a:xfrm>
          <a:prstGeom prst="rect">
            <a:avLst/>
          </a:prstGeom>
          <a:noFill/>
        </p:spPr>
        <p:txBody>
          <a:bodyPr wrap="square">
            <a:spAutoFit/>
          </a:bodyPr>
          <a:lstStyle/>
          <a:p>
            <a:pPr algn="l"/>
            <a:r>
              <a:rPr sz="700" b="0" i="0">
                <a:solidFill>
                  <a:srgbClr val="444444"/>
                </a:solidFill>
              </a:rPr>
              <a:t>▶ 評判影響：解約顧客の35%がレビューサイトに否定的な評価を投稿しており、新規問い合わせの転換率が低下している。</a:t>
            </a:r>
          </a:p>
        </p:txBody>
      </p:sp>
      <p:sp>
        <p:nvSpPr>
          <p:cNvPr id="30" name="TextBox 29"/>
          <p:cNvSpPr txBox="1"/>
          <p:nvPr/>
        </p:nvSpPr>
        <p:spPr>
          <a:xfrm>
            <a:off x="2880360" y="5733288"/>
            <a:ext cx="4023360" cy="502920"/>
          </a:xfrm>
          <a:prstGeom prst="rect">
            <a:avLst/>
          </a:prstGeom>
          <a:noFill/>
        </p:spPr>
        <p:txBody>
          <a:bodyPr wrap="square">
            <a:spAutoFit/>
          </a:bodyPr>
          <a:lstStyle/>
          <a:p>
            <a:pPr algn="l"/>
            <a:r>
              <a:rPr sz="700" b="0" i="0">
                <a:solidFill>
                  <a:srgbClr val="444444"/>
                </a:solidFill>
              </a:rPr>
              <a:t>▶ コスト影響：新規獲得コストが過去2年で40%上昇しており、このトレンドが続くと3年後には採算が取れなくなる試算である。</a:t>
            </a:r>
          </a:p>
        </p:txBody>
      </p:sp>
      <p:sp>
        <p:nvSpPr>
          <p:cNvPr id="31" name="Rectangle 30"/>
          <p:cNvSpPr/>
          <p:nvPr/>
        </p:nvSpPr>
        <p:spPr>
          <a:xfrm>
            <a:off x="7150608" y="4270248"/>
            <a:ext cx="4297680" cy="23317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60336" y="4343400"/>
            <a:ext cx="4078224" cy="182880"/>
          </a:xfrm>
          <a:prstGeom prst="rect">
            <a:avLst/>
          </a:prstGeom>
          <a:noFill/>
        </p:spPr>
        <p:txBody>
          <a:bodyPr wrap="square">
            <a:spAutoFit/>
          </a:bodyPr>
          <a:lstStyle/>
          <a:p>
            <a:pPr algn="l"/>
            <a:r>
              <a:rPr sz="750" b="1" i="0">
                <a:solidFill>
                  <a:srgbClr val="1D51A3"/>
                </a:solidFill>
              </a:rPr>
              <a:t>解決策</a:t>
            </a:r>
          </a:p>
        </p:txBody>
      </p:sp>
      <p:sp>
        <p:nvSpPr>
          <p:cNvPr id="33" name="TextBox 32"/>
          <p:cNvSpPr txBox="1"/>
          <p:nvPr/>
        </p:nvSpPr>
        <p:spPr>
          <a:xfrm>
            <a:off x="7260336" y="4544568"/>
            <a:ext cx="4078224" cy="274320"/>
          </a:xfrm>
          <a:prstGeom prst="rect">
            <a:avLst/>
          </a:prstGeom>
          <a:noFill/>
        </p:spPr>
        <p:txBody>
          <a:bodyPr wrap="square">
            <a:spAutoFit/>
          </a:bodyPr>
          <a:lstStyle/>
          <a:p>
            <a:pPr algn="l"/>
            <a:r>
              <a:rPr sz="1000" b="1" i="0">
                <a:solidFill>
                  <a:srgbClr val="0C3570"/>
                </a:solidFill>
              </a:rPr>
              <a:t>CS投資強化で悪循環を断ち切る</a:t>
            </a:r>
          </a:p>
        </p:txBody>
      </p:sp>
      <p:sp>
        <p:nvSpPr>
          <p:cNvPr id="34" name="TextBox 33"/>
          <p:cNvSpPr txBox="1"/>
          <p:nvPr/>
        </p:nvSpPr>
        <p:spPr>
          <a:xfrm>
            <a:off x="7260336" y="4837176"/>
            <a:ext cx="4078224" cy="320040"/>
          </a:xfrm>
          <a:prstGeom prst="rect">
            <a:avLst/>
          </a:prstGeom>
          <a:noFill/>
        </p:spPr>
        <p:txBody>
          <a:bodyPr wrap="square">
            <a:spAutoFit/>
          </a:bodyPr>
          <a:lstStyle/>
          <a:p>
            <a:pPr algn="l"/>
            <a:r>
              <a:rPr sz="750" b="0" i="0">
                <a:solidFill>
                  <a:srgbClr val="444444"/>
                </a:solidFill>
              </a:rPr>
              <a:t>CS体制の強化により、価値実感→継続→推奨という好循環を生み出すことができる。</a:t>
            </a:r>
          </a:p>
        </p:txBody>
      </p:sp>
      <p:sp>
        <p:nvSpPr>
          <p:cNvPr id="35" name="TextBox 34"/>
          <p:cNvSpPr txBox="1"/>
          <p:nvPr/>
        </p:nvSpPr>
        <p:spPr>
          <a:xfrm>
            <a:off x="7287768" y="5202936"/>
            <a:ext cx="4023360" cy="502920"/>
          </a:xfrm>
          <a:prstGeom prst="rect">
            <a:avLst/>
          </a:prstGeom>
          <a:noFill/>
        </p:spPr>
        <p:txBody>
          <a:bodyPr wrap="square">
            <a:spAutoFit/>
          </a:bodyPr>
          <a:lstStyle/>
          <a:p>
            <a:pPr algn="l"/>
            <a:r>
              <a:rPr sz="700" b="0" i="0">
                <a:solidFill>
                  <a:srgbClr val="444444"/>
                </a:solidFill>
              </a:rPr>
              <a:t>▶ 投資計画：CS担当者を5名から12名に増員し、年間8,000万円の投資で2.4億円の機会損失を解消する。</a:t>
            </a:r>
          </a:p>
        </p:txBody>
      </p:sp>
      <p:sp>
        <p:nvSpPr>
          <p:cNvPr id="36" name="TextBox 35"/>
          <p:cNvSpPr txBox="1"/>
          <p:nvPr/>
        </p:nvSpPr>
        <p:spPr>
          <a:xfrm>
            <a:off x="7287768" y="5733288"/>
            <a:ext cx="4023360" cy="502920"/>
          </a:xfrm>
          <a:prstGeom prst="rect">
            <a:avLst/>
          </a:prstGeom>
          <a:noFill/>
        </p:spPr>
        <p:txBody>
          <a:bodyPr wrap="square">
            <a:spAutoFit/>
          </a:bodyPr>
          <a:lstStyle/>
          <a:p>
            <a:pPr algn="l"/>
            <a:r>
              <a:rPr sz="700" b="0" i="0">
                <a:solidFill>
                  <a:srgbClr val="444444"/>
                </a:solidFill>
              </a:rPr>
              <a:t>▶ 期待効果：投資後12ヶ月で解約率を業界平均水準（9%）まで改善し、NPS向上による新規獲得コスト削減も実現する。</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組織構造の階層整理：意思決定権限と責任範囲を明確にすることで実行速度を高める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hierarchy ／ 用途: 組織・概念の階層構造の可視化 ／ 件数: 2〜4階層</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組織の意思決定権限と責任範囲を階層的に整理することで、実行速度の向上と責任の明確化を実現する。</a:t>
            </a:r>
          </a:p>
        </p:txBody>
      </p:sp>
      <p:sp>
        <p:nvSpPr>
          <p:cNvPr id="10" name="Rectangle 9"/>
          <p:cNvSpPr/>
          <p:nvPr/>
        </p:nvSpPr>
        <p:spPr>
          <a:xfrm>
            <a:off x="548640" y="1828800"/>
            <a:ext cx="2011680"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20240"/>
            <a:ext cx="1792224" cy="201168"/>
          </a:xfrm>
          <a:prstGeom prst="rect">
            <a:avLst/>
          </a:prstGeom>
          <a:noFill/>
        </p:spPr>
        <p:txBody>
          <a:bodyPr wrap="square">
            <a:spAutoFit/>
          </a:bodyPr>
          <a:lstStyle/>
          <a:p>
            <a:pPr algn="l"/>
            <a:r>
              <a:rPr sz="750" b="1" i="0">
                <a:solidFill>
                  <a:srgbClr val="93B5E6"/>
                </a:solidFill>
              </a:rPr>
              <a:t>最上位概念</a:t>
            </a:r>
          </a:p>
        </p:txBody>
      </p:sp>
      <p:sp>
        <p:nvSpPr>
          <p:cNvPr id="12" name="TextBox 11"/>
          <p:cNvSpPr txBox="1"/>
          <p:nvPr/>
        </p:nvSpPr>
        <p:spPr>
          <a:xfrm>
            <a:off x="658368" y="2176272"/>
            <a:ext cx="1792224" cy="4297680"/>
          </a:xfrm>
          <a:prstGeom prst="rect">
            <a:avLst/>
          </a:prstGeom>
          <a:noFill/>
        </p:spPr>
        <p:txBody>
          <a:bodyPr wrap="square">
            <a:spAutoFit/>
          </a:bodyPr>
          <a:lstStyle/>
          <a:p>
            <a:pPr algn="l"/>
            <a:r>
              <a:rPr sz="900" b="1" i="0">
                <a:solidFill>
                  <a:srgbClr val="FFFFFF"/>
                </a:solidFill>
              </a:rPr>
              <a:t>全社戦略：顧客成功を中心に置いた事業成長モデルへの転換</a:t>
            </a:r>
          </a:p>
        </p:txBody>
      </p:sp>
      <p:sp>
        <p:nvSpPr>
          <p:cNvPr id="13" name="Rectangle 12"/>
          <p:cNvSpPr/>
          <p:nvPr/>
        </p:nvSpPr>
        <p:spPr>
          <a:xfrm>
            <a:off x="2743200" y="1828800"/>
            <a:ext cx="4297680" cy="23317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852928" y="1901952"/>
            <a:ext cx="4078224" cy="182880"/>
          </a:xfrm>
          <a:prstGeom prst="rect">
            <a:avLst/>
          </a:prstGeom>
          <a:noFill/>
        </p:spPr>
        <p:txBody>
          <a:bodyPr wrap="square">
            <a:spAutoFit/>
          </a:bodyPr>
          <a:lstStyle/>
          <a:p>
            <a:pPr algn="l"/>
            <a:r>
              <a:rPr sz="750" b="1" i="0">
                <a:solidFill>
                  <a:srgbClr val="1D51A3"/>
                </a:solidFill>
              </a:rPr>
              <a:t>第1階層：戦略</a:t>
            </a:r>
          </a:p>
        </p:txBody>
      </p:sp>
      <p:sp>
        <p:nvSpPr>
          <p:cNvPr id="15" name="TextBox 14"/>
          <p:cNvSpPr txBox="1"/>
          <p:nvPr/>
        </p:nvSpPr>
        <p:spPr>
          <a:xfrm>
            <a:off x="2852928" y="2103120"/>
            <a:ext cx="4078224" cy="274320"/>
          </a:xfrm>
          <a:prstGeom prst="rect">
            <a:avLst/>
          </a:prstGeom>
          <a:noFill/>
        </p:spPr>
        <p:txBody>
          <a:bodyPr wrap="square">
            <a:spAutoFit/>
          </a:bodyPr>
          <a:lstStyle/>
          <a:p>
            <a:pPr algn="l"/>
            <a:r>
              <a:rPr sz="1000" b="1" i="0">
                <a:solidFill>
                  <a:srgbClr val="0C3570"/>
                </a:solidFill>
              </a:rPr>
              <a:t>顧客成功戦略の策定</a:t>
            </a:r>
          </a:p>
        </p:txBody>
      </p:sp>
      <p:sp>
        <p:nvSpPr>
          <p:cNvPr id="16" name="TextBox 15"/>
          <p:cNvSpPr txBox="1"/>
          <p:nvPr/>
        </p:nvSpPr>
        <p:spPr>
          <a:xfrm>
            <a:off x="2852928" y="2395728"/>
            <a:ext cx="4078224" cy="320040"/>
          </a:xfrm>
          <a:prstGeom prst="rect">
            <a:avLst/>
          </a:prstGeom>
          <a:noFill/>
        </p:spPr>
        <p:txBody>
          <a:bodyPr wrap="square">
            <a:spAutoFit/>
          </a:bodyPr>
          <a:lstStyle/>
          <a:p>
            <a:pPr algn="l"/>
            <a:r>
              <a:rPr sz="750" b="0" i="0">
                <a:solidFill>
                  <a:srgbClr val="444444"/>
                </a:solidFill>
              </a:rPr>
              <a:t>全社的な顧客成功戦略を策定し、KPIと責任体制を明確にする。</a:t>
            </a:r>
          </a:p>
        </p:txBody>
      </p:sp>
      <p:sp>
        <p:nvSpPr>
          <p:cNvPr id="17" name="TextBox 16"/>
          <p:cNvSpPr txBox="1"/>
          <p:nvPr/>
        </p:nvSpPr>
        <p:spPr>
          <a:xfrm>
            <a:off x="2880360" y="2761488"/>
            <a:ext cx="4023360" cy="502920"/>
          </a:xfrm>
          <a:prstGeom prst="rect">
            <a:avLst/>
          </a:prstGeom>
          <a:noFill/>
        </p:spPr>
        <p:txBody>
          <a:bodyPr wrap="square">
            <a:spAutoFit/>
          </a:bodyPr>
          <a:lstStyle/>
          <a:p>
            <a:pPr algn="l"/>
            <a:r>
              <a:rPr sz="700" b="0" i="0">
                <a:solidFill>
                  <a:srgbClr val="444444"/>
                </a:solidFill>
              </a:rPr>
              <a:t>▶ 責任者：CXO（最高顧客体験責任者）が全社戦略を統括し、四半期ごとに取締役会に報告する。</a:t>
            </a:r>
          </a:p>
        </p:txBody>
      </p:sp>
      <p:sp>
        <p:nvSpPr>
          <p:cNvPr id="18" name="TextBox 17"/>
          <p:cNvSpPr txBox="1"/>
          <p:nvPr/>
        </p:nvSpPr>
        <p:spPr>
          <a:xfrm>
            <a:off x="2880360" y="3291840"/>
            <a:ext cx="4023360" cy="502920"/>
          </a:xfrm>
          <a:prstGeom prst="rect">
            <a:avLst/>
          </a:prstGeom>
          <a:noFill/>
        </p:spPr>
        <p:txBody>
          <a:bodyPr wrap="square">
            <a:spAutoFit/>
          </a:bodyPr>
          <a:lstStyle/>
          <a:p>
            <a:pPr algn="l"/>
            <a:r>
              <a:rPr sz="700" b="0" i="0">
                <a:solidFill>
                  <a:srgbClr val="444444"/>
                </a:solidFill>
              </a:rPr>
              <a:t>▶ KPI：顧客継続率・NPS・顧客生涯価値（LTV）の3指標を全社KPIとして設定し、全部門が連携して達成を目指す。</a:t>
            </a:r>
          </a:p>
        </p:txBody>
      </p:sp>
      <p:sp>
        <p:nvSpPr>
          <p:cNvPr id="19" name="Rectangle 18"/>
          <p:cNvSpPr/>
          <p:nvPr/>
        </p:nvSpPr>
        <p:spPr>
          <a:xfrm>
            <a:off x="7150608" y="1828800"/>
            <a:ext cx="4297680" cy="23317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60336" y="1901952"/>
            <a:ext cx="4078224" cy="182880"/>
          </a:xfrm>
          <a:prstGeom prst="rect">
            <a:avLst/>
          </a:prstGeom>
          <a:noFill/>
        </p:spPr>
        <p:txBody>
          <a:bodyPr wrap="square">
            <a:spAutoFit/>
          </a:bodyPr>
          <a:lstStyle/>
          <a:p>
            <a:pPr algn="l"/>
            <a:r>
              <a:rPr sz="750" b="1" i="0">
                <a:solidFill>
                  <a:srgbClr val="1D51A3"/>
                </a:solidFill>
              </a:rPr>
              <a:t>第2階層：機能</a:t>
            </a:r>
          </a:p>
        </p:txBody>
      </p:sp>
      <p:sp>
        <p:nvSpPr>
          <p:cNvPr id="21" name="TextBox 20"/>
          <p:cNvSpPr txBox="1"/>
          <p:nvPr/>
        </p:nvSpPr>
        <p:spPr>
          <a:xfrm>
            <a:off x="7260336" y="2103120"/>
            <a:ext cx="4078224" cy="274320"/>
          </a:xfrm>
          <a:prstGeom prst="rect">
            <a:avLst/>
          </a:prstGeom>
          <a:noFill/>
        </p:spPr>
        <p:txBody>
          <a:bodyPr wrap="square">
            <a:spAutoFit/>
          </a:bodyPr>
          <a:lstStyle/>
          <a:p>
            <a:pPr algn="l"/>
            <a:r>
              <a:rPr sz="1000" b="1" i="0">
                <a:solidFill>
                  <a:srgbClr val="0C3570"/>
                </a:solidFill>
              </a:rPr>
              <a:t>CS・営業・製品の連携体制</a:t>
            </a:r>
          </a:p>
        </p:txBody>
      </p:sp>
      <p:sp>
        <p:nvSpPr>
          <p:cNvPr id="22" name="TextBox 21"/>
          <p:cNvSpPr txBox="1"/>
          <p:nvPr/>
        </p:nvSpPr>
        <p:spPr>
          <a:xfrm>
            <a:off x="7260336" y="2395728"/>
            <a:ext cx="4078224" cy="320040"/>
          </a:xfrm>
          <a:prstGeom prst="rect">
            <a:avLst/>
          </a:prstGeom>
          <a:noFill/>
        </p:spPr>
        <p:txBody>
          <a:bodyPr wrap="square">
            <a:spAutoFit/>
          </a:bodyPr>
          <a:lstStyle/>
          <a:p>
            <a:pPr algn="l"/>
            <a:r>
              <a:rPr sz="750" b="0" i="0">
                <a:solidFill>
                  <a:srgbClr val="444444"/>
                </a:solidFill>
              </a:rPr>
              <a:t>CS・営業・製品開発の3部門が連携し、顧客成功を中心に据えた業務プロセスを構築する。</a:t>
            </a:r>
          </a:p>
        </p:txBody>
      </p:sp>
      <p:sp>
        <p:nvSpPr>
          <p:cNvPr id="23" name="TextBox 22"/>
          <p:cNvSpPr txBox="1"/>
          <p:nvPr/>
        </p:nvSpPr>
        <p:spPr>
          <a:xfrm>
            <a:off x="7287768" y="2761488"/>
            <a:ext cx="4023360" cy="502920"/>
          </a:xfrm>
          <a:prstGeom prst="rect">
            <a:avLst/>
          </a:prstGeom>
          <a:noFill/>
        </p:spPr>
        <p:txBody>
          <a:bodyPr wrap="square">
            <a:spAutoFit/>
          </a:bodyPr>
          <a:lstStyle/>
          <a:p>
            <a:pPr algn="l"/>
            <a:r>
              <a:rPr sz="700" b="0" i="0">
                <a:solidFill>
                  <a:srgbClr val="444444"/>
                </a:solidFill>
              </a:rPr>
              <a:t>▶ 連携方法：週次の顧客状況共有会議と、月次の改善施策レビューにより、3部門の情報共有と意思決定を迅速化する。</a:t>
            </a:r>
          </a:p>
        </p:txBody>
      </p:sp>
      <p:sp>
        <p:nvSpPr>
          <p:cNvPr id="24" name="TextBox 23"/>
          <p:cNvSpPr txBox="1"/>
          <p:nvPr/>
        </p:nvSpPr>
        <p:spPr>
          <a:xfrm>
            <a:off x="7287768" y="3291840"/>
            <a:ext cx="4023360" cy="502920"/>
          </a:xfrm>
          <a:prstGeom prst="rect">
            <a:avLst/>
          </a:prstGeom>
          <a:noFill/>
        </p:spPr>
        <p:txBody>
          <a:bodyPr wrap="square">
            <a:spAutoFit/>
          </a:bodyPr>
          <a:lstStyle/>
          <a:p>
            <a:pPr algn="l"/>
            <a:r>
              <a:rPr sz="700" b="0" i="0">
                <a:solidFill>
                  <a:srgbClr val="444444"/>
                </a:solidFill>
              </a:rPr>
              <a:t>▶ 責任分担：CS部門が顧客の声を収集し、製品部門が改善を実施し、営業部門が成功事例を横展開する役割分担を明確にする。</a:t>
            </a:r>
          </a:p>
        </p:txBody>
      </p:sp>
      <p:sp>
        <p:nvSpPr>
          <p:cNvPr id="25" name="Rectangle 24"/>
          <p:cNvSpPr/>
          <p:nvPr/>
        </p:nvSpPr>
        <p:spPr>
          <a:xfrm>
            <a:off x="2743200" y="4270248"/>
            <a:ext cx="4297680" cy="23317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852928" y="4343400"/>
            <a:ext cx="4078224" cy="182880"/>
          </a:xfrm>
          <a:prstGeom prst="rect">
            <a:avLst/>
          </a:prstGeom>
          <a:noFill/>
        </p:spPr>
        <p:txBody>
          <a:bodyPr wrap="square">
            <a:spAutoFit/>
          </a:bodyPr>
          <a:lstStyle/>
          <a:p>
            <a:pPr algn="l"/>
            <a:r>
              <a:rPr sz="750" b="1" i="0">
                <a:solidFill>
                  <a:srgbClr val="1D51A3"/>
                </a:solidFill>
              </a:rPr>
              <a:t>第3階層：実行</a:t>
            </a:r>
          </a:p>
        </p:txBody>
      </p:sp>
      <p:sp>
        <p:nvSpPr>
          <p:cNvPr id="27" name="TextBox 26"/>
          <p:cNvSpPr txBox="1"/>
          <p:nvPr/>
        </p:nvSpPr>
        <p:spPr>
          <a:xfrm>
            <a:off x="2852928" y="4544568"/>
            <a:ext cx="4078224" cy="274320"/>
          </a:xfrm>
          <a:prstGeom prst="rect">
            <a:avLst/>
          </a:prstGeom>
          <a:noFill/>
        </p:spPr>
        <p:txBody>
          <a:bodyPr wrap="square">
            <a:spAutoFit/>
          </a:bodyPr>
          <a:lstStyle/>
          <a:p>
            <a:pPr algn="l"/>
            <a:r>
              <a:rPr sz="1000" b="1" i="0">
                <a:solidFill>
                  <a:srgbClr val="0C3570"/>
                </a:solidFill>
              </a:rPr>
              <a:t>個別顧客対応の標準化</a:t>
            </a:r>
          </a:p>
        </p:txBody>
      </p:sp>
      <p:sp>
        <p:nvSpPr>
          <p:cNvPr id="28" name="TextBox 27"/>
          <p:cNvSpPr txBox="1"/>
          <p:nvPr/>
        </p:nvSpPr>
        <p:spPr>
          <a:xfrm>
            <a:off x="2852928" y="4837176"/>
            <a:ext cx="4078224" cy="320040"/>
          </a:xfrm>
          <a:prstGeom prst="rect">
            <a:avLst/>
          </a:prstGeom>
          <a:noFill/>
        </p:spPr>
        <p:txBody>
          <a:bodyPr wrap="square">
            <a:spAutoFit/>
          </a:bodyPr>
          <a:lstStyle/>
          <a:p>
            <a:pPr algn="l"/>
            <a:r>
              <a:rPr sz="750" b="0" i="0">
                <a:solidFill>
                  <a:srgbClr val="444444"/>
                </a:solidFill>
              </a:rPr>
              <a:t>顧客対応の品質を均一化するため、標準的なプロセスとツールを整備する。</a:t>
            </a:r>
          </a:p>
        </p:txBody>
      </p:sp>
      <p:sp>
        <p:nvSpPr>
          <p:cNvPr id="29" name="TextBox 28"/>
          <p:cNvSpPr txBox="1"/>
          <p:nvPr/>
        </p:nvSpPr>
        <p:spPr>
          <a:xfrm>
            <a:off x="2880360" y="5202936"/>
            <a:ext cx="4023360" cy="502920"/>
          </a:xfrm>
          <a:prstGeom prst="rect">
            <a:avLst/>
          </a:prstGeom>
          <a:noFill/>
        </p:spPr>
        <p:txBody>
          <a:bodyPr wrap="square">
            <a:spAutoFit/>
          </a:bodyPr>
          <a:lstStyle/>
          <a:p>
            <a:pPr algn="l"/>
            <a:r>
              <a:rPr sz="700" b="0" i="0">
                <a:solidFill>
                  <a:srgbClr val="444444"/>
                </a:solidFill>
              </a:rPr>
              <a:t>▶ 標準化内容：オンボーディング・定期チェックイン・解約防止介入の3プロセスを標準化し、担当者によるばらつきをなくす。</a:t>
            </a:r>
          </a:p>
        </p:txBody>
      </p:sp>
      <p:sp>
        <p:nvSpPr>
          <p:cNvPr id="30" name="TextBox 29"/>
          <p:cNvSpPr txBox="1"/>
          <p:nvPr/>
        </p:nvSpPr>
        <p:spPr>
          <a:xfrm>
            <a:off x="2880360" y="5733288"/>
            <a:ext cx="4023360" cy="502920"/>
          </a:xfrm>
          <a:prstGeom prst="rect">
            <a:avLst/>
          </a:prstGeom>
          <a:noFill/>
        </p:spPr>
        <p:txBody>
          <a:bodyPr wrap="square">
            <a:spAutoFit/>
          </a:bodyPr>
          <a:lstStyle/>
          <a:p>
            <a:pPr algn="l"/>
            <a:r>
              <a:rPr sz="700" b="0" i="0">
                <a:solidFill>
                  <a:srgbClr val="444444"/>
                </a:solidFill>
              </a:rPr>
              <a:t>▶ ツール整備：CRMとヘルススコアシステムを導入し、顧客状況の可視化と優先度付けを自動化することで実行効率を高める。</a:t>
            </a:r>
          </a:p>
        </p:txBody>
      </p:sp>
      <p:sp>
        <p:nvSpPr>
          <p:cNvPr id="31" name="Rectangle 30"/>
          <p:cNvSpPr/>
          <p:nvPr/>
        </p:nvSpPr>
        <p:spPr>
          <a:xfrm>
            <a:off x="7150608" y="4270248"/>
            <a:ext cx="4297680" cy="23317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60336" y="4343400"/>
            <a:ext cx="4078224" cy="182880"/>
          </a:xfrm>
          <a:prstGeom prst="rect">
            <a:avLst/>
          </a:prstGeom>
          <a:noFill/>
        </p:spPr>
        <p:txBody>
          <a:bodyPr wrap="square">
            <a:spAutoFit/>
          </a:bodyPr>
          <a:lstStyle/>
          <a:p>
            <a:pPr algn="l"/>
            <a:r>
              <a:rPr sz="750" b="1" i="0">
                <a:solidFill>
                  <a:srgbClr val="1D51A3"/>
                </a:solidFill>
              </a:rPr>
              <a:t>支援機能</a:t>
            </a:r>
          </a:p>
        </p:txBody>
      </p:sp>
      <p:sp>
        <p:nvSpPr>
          <p:cNvPr id="33" name="TextBox 32"/>
          <p:cNvSpPr txBox="1"/>
          <p:nvPr/>
        </p:nvSpPr>
        <p:spPr>
          <a:xfrm>
            <a:off x="7260336" y="4544568"/>
            <a:ext cx="4078224" cy="274320"/>
          </a:xfrm>
          <a:prstGeom prst="rect">
            <a:avLst/>
          </a:prstGeom>
          <a:noFill/>
        </p:spPr>
        <p:txBody>
          <a:bodyPr wrap="square">
            <a:spAutoFit/>
          </a:bodyPr>
          <a:lstStyle/>
          <a:p>
            <a:pPr algn="l"/>
            <a:r>
              <a:rPr sz="1000" b="1" i="0">
                <a:solidFill>
                  <a:srgbClr val="0C3570"/>
                </a:solidFill>
              </a:rPr>
              <a:t>データ分析・研修・ツール整備</a:t>
            </a:r>
          </a:p>
        </p:txBody>
      </p:sp>
      <p:sp>
        <p:nvSpPr>
          <p:cNvPr id="34" name="TextBox 33"/>
          <p:cNvSpPr txBox="1"/>
          <p:nvPr/>
        </p:nvSpPr>
        <p:spPr>
          <a:xfrm>
            <a:off x="7260336" y="4837176"/>
            <a:ext cx="4078224" cy="320040"/>
          </a:xfrm>
          <a:prstGeom prst="rect">
            <a:avLst/>
          </a:prstGeom>
          <a:noFill/>
        </p:spPr>
        <p:txBody>
          <a:bodyPr wrap="square">
            <a:spAutoFit/>
          </a:bodyPr>
          <a:lstStyle/>
          <a:p>
            <a:pPr algn="l"/>
            <a:r>
              <a:rPr sz="750" b="0" i="0">
                <a:solidFill>
                  <a:srgbClr val="444444"/>
                </a:solidFill>
              </a:rPr>
              <a:t>実行を支援するデータ分析・人材育成・ツール整備の機能を横断的に提供する。</a:t>
            </a:r>
          </a:p>
        </p:txBody>
      </p:sp>
      <p:sp>
        <p:nvSpPr>
          <p:cNvPr id="35" name="TextBox 34"/>
          <p:cNvSpPr txBox="1"/>
          <p:nvPr/>
        </p:nvSpPr>
        <p:spPr>
          <a:xfrm>
            <a:off x="7287768" y="5202936"/>
            <a:ext cx="4023360" cy="502920"/>
          </a:xfrm>
          <a:prstGeom prst="rect">
            <a:avLst/>
          </a:prstGeom>
          <a:noFill/>
        </p:spPr>
        <p:txBody>
          <a:bodyPr wrap="square">
            <a:spAutoFit/>
          </a:bodyPr>
          <a:lstStyle/>
          <a:p>
            <a:pPr algn="l"/>
            <a:r>
              <a:rPr sz="700" b="0" i="0">
                <a:solidFill>
                  <a:srgbClr val="444444"/>
                </a:solidFill>
              </a:rPr>
              <a:t>▶ データ分析：顧客行動データの分析により、解約リスクの早期検知と成功パターンの特定を行い、実行部門に提供する。</a:t>
            </a:r>
          </a:p>
        </p:txBody>
      </p:sp>
      <p:sp>
        <p:nvSpPr>
          <p:cNvPr id="36" name="TextBox 35"/>
          <p:cNvSpPr txBox="1"/>
          <p:nvPr/>
        </p:nvSpPr>
        <p:spPr>
          <a:xfrm>
            <a:off x="7287768" y="5733288"/>
            <a:ext cx="4023360" cy="502920"/>
          </a:xfrm>
          <a:prstGeom prst="rect">
            <a:avLst/>
          </a:prstGeom>
          <a:noFill/>
        </p:spPr>
        <p:txBody>
          <a:bodyPr wrap="square">
            <a:spAutoFit/>
          </a:bodyPr>
          <a:lstStyle/>
          <a:p>
            <a:pPr algn="l"/>
            <a:r>
              <a:rPr sz="700" b="0" i="0">
                <a:solidFill>
                  <a:srgbClr val="444444"/>
                </a:solidFill>
              </a:rPr>
              <a:t>▶ 人材育成：CS担当者向けの研修プログラムを整備し、スキルの標準化と継続的な能力向上を支援する。</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導入プロセスは3ステップで完結する：要件定義→構築→稼働の流れで確実に成果を出す</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process_flow_3 ／ 用途: 3ステップのプロセス表示 ／ 件数: 3件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導入プロセスを3ステップに整理することで、各フェーズの目的と成果物を明確にし、確実な実行を担保する。</a:t>
            </a:r>
          </a:p>
        </p:txBody>
      </p:sp>
      <p:sp>
        <p:nvSpPr>
          <p:cNvPr id="10" name="Rectangle 9"/>
          <p:cNvSpPr/>
          <p:nvPr/>
        </p:nvSpPr>
        <p:spPr>
          <a:xfrm>
            <a:off x="548640" y="1828800"/>
            <a:ext cx="3639312"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1901952"/>
            <a:ext cx="3456432" cy="182880"/>
          </a:xfrm>
          <a:prstGeom prst="rect">
            <a:avLst/>
          </a:prstGeom>
          <a:noFill/>
        </p:spPr>
        <p:txBody>
          <a:bodyPr wrap="square">
            <a:spAutoFit/>
          </a:bodyPr>
          <a:lstStyle/>
          <a:p>
            <a:pPr algn="l"/>
            <a:r>
              <a:rPr sz="750" b="1" i="0">
                <a:solidFill>
                  <a:srgbClr val="1D51A3"/>
                </a:solidFill>
              </a:rPr>
              <a:t>Step 01</a:t>
            </a:r>
          </a:p>
        </p:txBody>
      </p:sp>
      <p:sp>
        <p:nvSpPr>
          <p:cNvPr id="12" name="TextBox 11"/>
          <p:cNvSpPr txBox="1"/>
          <p:nvPr/>
        </p:nvSpPr>
        <p:spPr>
          <a:xfrm>
            <a:off x="640080" y="2103120"/>
            <a:ext cx="3456432" cy="292608"/>
          </a:xfrm>
          <a:prstGeom prst="rect">
            <a:avLst/>
          </a:prstGeom>
          <a:noFill/>
        </p:spPr>
        <p:txBody>
          <a:bodyPr wrap="square">
            <a:spAutoFit/>
          </a:bodyPr>
          <a:lstStyle/>
          <a:p>
            <a:pPr algn="l"/>
            <a:r>
              <a:rPr sz="1000" b="1" i="0">
                <a:solidFill>
                  <a:srgbClr val="0C3570"/>
                </a:solidFill>
              </a:rPr>
              <a:t>要件定義・設計</a:t>
            </a:r>
          </a:p>
        </p:txBody>
      </p:sp>
      <p:sp>
        <p:nvSpPr>
          <p:cNvPr id="13" name="TextBox 12"/>
          <p:cNvSpPr txBox="1"/>
          <p:nvPr/>
        </p:nvSpPr>
        <p:spPr>
          <a:xfrm>
            <a:off x="640080" y="2423160"/>
            <a:ext cx="3456432" cy="347472"/>
          </a:xfrm>
          <a:prstGeom prst="rect">
            <a:avLst/>
          </a:prstGeom>
          <a:noFill/>
        </p:spPr>
        <p:txBody>
          <a:bodyPr wrap="square">
            <a:spAutoFit/>
          </a:bodyPr>
          <a:lstStyle/>
          <a:p>
            <a:pPr algn="l"/>
            <a:r>
              <a:rPr sz="750" b="0" i="0">
                <a:solidFill>
                  <a:srgbClr val="444444"/>
                </a:solidFill>
              </a:rPr>
              <a:t>業務要件を漏れなく明確化し、実装仕様を確定する。</a:t>
            </a:r>
          </a:p>
        </p:txBody>
      </p:sp>
      <p:sp>
        <p:nvSpPr>
          <p:cNvPr id="14" name="TextBox 13"/>
          <p:cNvSpPr txBox="1"/>
          <p:nvPr/>
        </p:nvSpPr>
        <p:spPr>
          <a:xfrm>
            <a:off x="658368" y="2834640"/>
            <a:ext cx="3419856" cy="594360"/>
          </a:xfrm>
          <a:prstGeom prst="rect">
            <a:avLst/>
          </a:prstGeom>
          <a:noFill/>
        </p:spPr>
        <p:txBody>
          <a:bodyPr wrap="square">
            <a:spAutoFit/>
          </a:bodyPr>
          <a:lstStyle/>
          <a:p>
            <a:pPr algn="l"/>
            <a:r>
              <a:rPr sz="700" b="0" i="0">
                <a:solidFill>
                  <a:srgbClr val="444444"/>
                </a:solidFill>
              </a:rPr>
              <a:t>▶ 目的：業務フローの現状分析と課題整理を行い、解決すべき要件を優先順位付きで文書化する。</a:t>
            </a:r>
          </a:p>
        </p:txBody>
      </p:sp>
      <p:sp>
        <p:nvSpPr>
          <p:cNvPr id="15" name="TextBox 14"/>
          <p:cNvSpPr txBox="1"/>
          <p:nvPr/>
        </p:nvSpPr>
        <p:spPr>
          <a:xfrm>
            <a:off x="658368" y="3456432"/>
            <a:ext cx="3419856" cy="594360"/>
          </a:xfrm>
          <a:prstGeom prst="rect">
            <a:avLst/>
          </a:prstGeom>
          <a:noFill/>
        </p:spPr>
        <p:txBody>
          <a:bodyPr wrap="square">
            <a:spAutoFit/>
          </a:bodyPr>
          <a:lstStyle/>
          <a:p>
            <a:pPr algn="l"/>
            <a:r>
              <a:rPr sz="700" b="0" i="0">
                <a:solidFill>
                  <a:srgbClr val="444444"/>
                </a:solidFill>
              </a:rPr>
              <a:t>▶ 成果物：要件定義書・システム設計書・プロジェクト計画書の3点を作成し、全ステークホルダーの合意を得る。</a:t>
            </a:r>
          </a:p>
        </p:txBody>
      </p:sp>
      <p:sp>
        <p:nvSpPr>
          <p:cNvPr id="16" name="TextBox 15"/>
          <p:cNvSpPr txBox="1"/>
          <p:nvPr/>
        </p:nvSpPr>
        <p:spPr>
          <a:xfrm>
            <a:off x="658368" y="4078224"/>
            <a:ext cx="3419856" cy="594360"/>
          </a:xfrm>
          <a:prstGeom prst="rect">
            <a:avLst/>
          </a:prstGeom>
          <a:noFill/>
        </p:spPr>
        <p:txBody>
          <a:bodyPr wrap="square">
            <a:spAutoFit/>
          </a:bodyPr>
          <a:lstStyle/>
          <a:p>
            <a:pPr algn="l"/>
            <a:r>
              <a:rPr sz="700" b="0" i="0">
                <a:solidFill>
                  <a:srgbClr val="444444"/>
                </a:solidFill>
              </a:rPr>
              <a:t>▶ 次へ進む理由：要件が確定し、全関係者の合意が取れた段階で初めて構築フェーズに移行することで、手戻りを防止できる。</a:t>
            </a:r>
          </a:p>
        </p:txBody>
      </p:sp>
      <p:sp>
        <p:nvSpPr>
          <p:cNvPr id="17" name="Rectangle 16"/>
          <p:cNvSpPr/>
          <p:nvPr/>
        </p:nvSpPr>
        <p:spPr>
          <a:xfrm>
            <a:off x="4261103" y="1828800"/>
            <a:ext cx="3639312"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52543" y="1901952"/>
            <a:ext cx="3456432" cy="182880"/>
          </a:xfrm>
          <a:prstGeom prst="rect">
            <a:avLst/>
          </a:prstGeom>
          <a:noFill/>
        </p:spPr>
        <p:txBody>
          <a:bodyPr wrap="square">
            <a:spAutoFit/>
          </a:bodyPr>
          <a:lstStyle/>
          <a:p>
            <a:pPr algn="l"/>
            <a:r>
              <a:rPr sz="750" b="1" i="0">
                <a:solidFill>
                  <a:srgbClr val="1D51A3"/>
                </a:solidFill>
              </a:rPr>
              <a:t>Step 02</a:t>
            </a:r>
          </a:p>
        </p:txBody>
      </p:sp>
      <p:sp>
        <p:nvSpPr>
          <p:cNvPr id="19" name="TextBox 18"/>
          <p:cNvSpPr txBox="1"/>
          <p:nvPr/>
        </p:nvSpPr>
        <p:spPr>
          <a:xfrm>
            <a:off x="4352543" y="2103120"/>
            <a:ext cx="3456432" cy="292608"/>
          </a:xfrm>
          <a:prstGeom prst="rect">
            <a:avLst/>
          </a:prstGeom>
          <a:noFill/>
        </p:spPr>
        <p:txBody>
          <a:bodyPr wrap="square">
            <a:spAutoFit/>
          </a:bodyPr>
          <a:lstStyle/>
          <a:p>
            <a:pPr algn="l"/>
            <a:r>
              <a:rPr sz="1000" b="1" i="0">
                <a:solidFill>
                  <a:srgbClr val="0C3570"/>
                </a:solidFill>
              </a:rPr>
              <a:t>構築・テスト</a:t>
            </a:r>
          </a:p>
        </p:txBody>
      </p:sp>
      <p:sp>
        <p:nvSpPr>
          <p:cNvPr id="20" name="TextBox 19"/>
          <p:cNvSpPr txBox="1"/>
          <p:nvPr/>
        </p:nvSpPr>
        <p:spPr>
          <a:xfrm>
            <a:off x="4352543" y="2423160"/>
            <a:ext cx="3456432" cy="347472"/>
          </a:xfrm>
          <a:prstGeom prst="rect">
            <a:avLst/>
          </a:prstGeom>
          <a:noFill/>
        </p:spPr>
        <p:txBody>
          <a:bodyPr wrap="square">
            <a:spAutoFit/>
          </a:bodyPr>
          <a:lstStyle/>
          <a:p>
            <a:pPr algn="l"/>
            <a:r>
              <a:rPr sz="750" b="0" i="0">
                <a:solidFill>
                  <a:srgbClr val="444444"/>
                </a:solidFill>
              </a:rPr>
              <a:t>確定した仕様に基づき実装を進め、品質を検証する。</a:t>
            </a:r>
          </a:p>
        </p:txBody>
      </p:sp>
      <p:sp>
        <p:nvSpPr>
          <p:cNvPr id="21" name="TextBox 20"/>
          <p:cNvSpPr txBox="1"/>
          <p:nvPr/>
        </p:nvSpPr>
        <p:spPr>
          <a:xfrm>
            <a:off x="4370831" y="2834640"/>
            <a:ext cx="3419856" cy="594360"/>
          </a:xfrm>
          <a:prstGeom prst="rect">
            <a:avLst/>
          </a:prstGeom>
          <a:noFill/>
        </p:spPr>
        <p:txBody>
          <a:bodyPr wrap="square">
            <a:spAutoFit/>
          </a:bodyPr>
          <a:lstStyle/>
          <a:p>
            <a:pPr algn="l"/>
            <a:r>
              <a:rPr sz="700" b="0" i="0">
                <a:solidFill>
                  <a:srgbClr val="444444"/>
                </a:solidFill>
              </a:rPr>
              <a:t>▶ 目的：設計書に基づいて実装を進め、単体テスト・結合テスト・受入テストの3段階で品質を確認する。</a:t>
            </a:r>
          </a:p>
        </p:txBody>
      </p:sp>
      <p:sp>
        <p:nvSpPr>
          <p:cNvPr id="22" name="TextBox 21"/>
          <p:cNvSpPr txBox="1"/>
          <p:nvPr/>
        </p:nvSpPr>
        <p:spPr>
          <a:xfrm>
            <a:off x="4370831" y="3456432"/>
            <a:ext cx="3419856" cy="594360"/>
          </a:xfrm>
          <a:prstGeom prst="rect">
            <a:avLst/>
          </a:prstGeom>
          <a:noFill/>
        </p:spPr>
        <p:txBody>
          <a:bodyPr wrap="square">
            <a:spAutoFit/>
          </a:bodyPr>
          <a:lstStyle/>
          <a:p>
            <a:pPr algn="l"/>
            <a:r>
              <a:rPr sz="700" b="0" i="0">
                <a:solidFill>
                  <a:srgbClr val="444444"/>
                </a:solidFill>
              </a:rPr>
              <a:t>▶ 成果物：動作確認済みのシステム・テスト結果報告書・ユーザーマニュアルの3点を作成する。</a:t>
            </a:r>
          </a:p>
        </p:txBody>
      </p:sp>
      <p:sp>
        <p:nvSpPr>
          <p:cNvPr id="23" name="TextBox 22"/>
          <p:cNvSpPr txBox="1"/>
          <p:nvPr/>
        </p:nvSpPr>
        <p:spPr>
          <a:xfrm>
            <a:off x="4370831" y="4078224"/>
            <a:ext cx="3419856" cy="594360"/>
          </a:xfrm>
          <a:prstGeom prst="rect">
            <a:avLst/>
          </a:prstGeom>
          <a:noFill/>
        </p:spPr>
        <p:txBody>
          <a:bodyPr wrap="square">
            <a:spAutoFit/>
          </a:bodyPr>
          <a:lstStyle/>
          <a:p>
            <a:pPr algn="l"/>
            <a:r>
              <a:rPr sz="700" b="0" i="0">
                <a:solidFill>
                  <a:srgbClr val="444444"/>
                </a:solidFill>
              </a:rPr>
              <a:t>▶ 次へ進む理由：全テストが合格し、本番環境への移行準備が完了した段階で稼働フェーズに移行する。</a:t>
            </a:r>
          </a:p>
        </p:txBody>
      </p:sp>
      <p:sp>
        <p:nvSpPr>
          <p:cNvPr id="24" name="Rectangle 23"/>
          <p:cNvSpPr/>
          <p:nvPr/>
        </p:nvSpPr>
        <p:spPr>
          <a:xfrm>
            <a:off x="7973567" y="1828800"/>
            <a:ext cx="3639312"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65007" y="1901952"/>
            <a:ext cx="3456432" cy="182880"/>
          </a:xfrm>
          <a:prstGeom prst="rect">
            <a:avLst/>
          </a:prstGeom>
          <a:noFill/>
        </p:spPr>
        <p:txBody>
          <a:bodyPr wrap="square">
            <a:spAutoFit/>
          </a:bodyPr>
          <a:lstStyle/>
          <a:p>
            <a:pPr algn="l"/>
            <a:r>
              <a:rPr sz="750" b="1" i="0">
                <a:solidFill>
                  <a:srgbClr val="93B5E6"/>
                </a:solidFill>
              </a:rPr>
              <a:t>Step 03</a:t>
            </a:r>
          </a:p>
        </p:txBody>
      </p:sp>
      <p:sp>
        <p:nvSpPr>
          <p:cNvPr id="26" name="TextBox 25"/>
          <p:cNvSpPr txBox="1"/>
          <p:nvPr/>
        </p:nvSpPr>
        <p:spPr>
          <a:xfrm>
            <a:off x="8065007" y="2103120"/>
            <a:ext cx="3456432" cy="292608"/>
          </a:xfrm>
          <a:prstGeom prst="rect">
            <a:avLst/>
          </a:prstGeom>
          <a:noFill/>
        </p:spPr>
        <p:txBody>
          <a:bodyPr wrap="square">
            <a:spAutoFit/>
          </a:bodyPr>
          <a:lstStyle/>
          <a:p>
            <a:pPr algn="l"/>
            <a:r>
              <a:rPr sz="1000" b="1" i="0">
                <a:solidFill>
                  <a:srgbClr val="FFFFFF"/>
                </a:solidFill>
              </a:rPr>
              <a:t>稼働・運用開始</a:t>
            </a:r>
          </a:p>
        </p:txBody>
      </p:sp>
      <p:sp>
        <p:nvSpPr>
          <p:cNvPr id="27" name="TextBox 26"/>
          <p:cNvSpPr txBox="1"/>
          <p:nvPr/>
        </p:nvSpPr>
        <p:spPr>
          <a:xfrm>
            <a:off x="8065007" y="2423160"/>
            <a:ext cx="3456432" cy="347472"/>
          </a:xfrm>
          <a:prstGeom prst="rect">
            <a:avLst/>
          </a:prstGeom>
          <a:noFill/>
        </p:spPr>
        <p:txBody>
          <a:bodyPr wrap="square">
            <a:spAutoFit/>
          </a:bodyPr>
          <a:lstStyle/>
          <a:p>
            <a:pPr algn="l"/>
            <a:r>
              <a:rPr sz="750" b="0" i="0">
                <a:solidFill>
                  <a:srgbClr val="FFFFFF"/>
                </a:solidFill>
              </a:rPr>
              <a:t>本番環境への移行と運用体制の確立を行う。</a:t>
            </a:r>
          </a:p>
        </p:txBody>
      </p:sp>
      <p:sp>
        <p:nvSpPr>
          <p:cNvPr id="28" name="TextBox 27"/>
          <p:cNvSpPr txBox="1"/>
          <p:nvPr/>
        </p:nvSpPr>
        <p:spPr>
          <a:xfrm>
            <a:off x="8083295" y="2834640"/>
            <a:ext cx="3419856" cy="594360"/>
          </a:xfrm>
          <a:prstGeom prst="rect">
            <a:avLst/>
          </a:prstGeom>
          <a:noFill/>
        </p:spPr>
        <p:txBody>
          <a:bodyPr wrap="square">
            <a:spAutoFit/>
          </a:bodyPr>
          <a:lstStyle/>
          <a:p>
            <a:pPr algn="l"/>
            <a:r>
              <a:rPr sz="700" b="0" i="0">
                <a:solidFill>
                  <a:srgbClr val="FFFFFF"/>
                </a:solidFill>
              </a:rPr>
              <a:t>▶ 目的：計画に基づいて本番環境へのデプロイを実施し、初期モニタリングと運用体制の確立を行う。</a:t>
            </a:r>
          </a:p>
        </p:txBody>
      </p:sp>
      <p:sp>
        <p:nvSpPr>
          <p:cNvPr id="29" name="TextBox 28"/>
          <p:cNvSpPr txBox="1"/>
          <p:nvPr/>
        </p:nvSpPr>
        <p:spPr>
          <a:xfrm>
            <a:off x="8083295" y="3456432"/>
            <a:ext cx="3419856" cy="594360"/>
          </a:xfrm>
          <a:prstGeom prst="rect">
            <a:avLst/>
          </a:prstGeom>
          <a:noFill/>
        </p:spPr>
        <p:txBody>
          <a:bodyPr wrap="square">
            <a:spAutoFit/>
          </a:bodyPr>
          <a:lstStyle/>
          <a:p>
            <a:pPr algn="l"/>
            <a:r>
              <a:rPr sz="700" b="0" i="0">
                <a:solidFill>
                  <a:srgbClr val="FFFFFF"/>
                </a:solidFill>
              </a:rPr>
              <a:t>▶ 成果物：本番稼働確認報告書・運用マニュアル・監視ダッシュボードの3点を整備し、安定運用を開始する。</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5ステップの導入プロセスで確実な成果を実現する：各ステップに明確な完了条件を設定する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process_flow_5 ／ 用途: 5ステップのプロセス表示 ／ 件数: 5件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導入プロセスを5ステップに分解し、各ステップの目的・成果物・完了条件を明確にすることで、確実な実行を担保する。</a:t>
            </a:r>
          </a:p>
        </p:txBody>
      </p:sp>
      <p:sp>
        <p:nvSpPr>
          <p:cNvPr id="10" name="Rectangle 9"/>
          <p:cNvSpPr/>
          <p:nvPr/>
        </p:nvSpPr>
        <p:spPr>
          <a:xfrm>
            <a:off x="548640" y="1828800"/>
            <a:ext cx="2154326"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1901952"/>
            <a:ext cx="1971446" cy="182880"/>
          </a:xfrm>
          <a:prstGeom prst="rect">
            <a:avLst/>
          </a:prstGeom>
          <a:noFill/>
        </p:spPr>
        <p:txBody>
          <a:bodyPr wrap="square">
            <a:spAutoFit/>
          </a:bodyPr>
          <a:lstStyle/>
          <a:p>
            <a:pPr algn="l"/>
            <a:r>
              <a:rPr sz="750" b="1" i="0">
                <a:solidFill>
                  <a:srgbClr val="1D51A3"/>
                </a:solidFill>
              </a:rPr>
              <a:t>Step 01</a:t>
            </a:r>
          </a:p>
        </p:txBody>
      </p:sp>
      <p:sp>
        <p:nvSpPr>
          <p:cNvPr id="12" name="TextBox 11"/>
          <p:cNvSpPr txBox="1"/>
          <p:nvPr/>
        </p:nvSpPr>
        <p:spPr>
          <a:xfrm>
            <a:off x="640080" y="2103120"/>
            <a:ext cx="1971446" cy="292608"/>
          </a:xfrm>
          <a:prstGeom prst="rect">
            <a:avLst/>
          </a:prstGeom>
          <a:noFill/>
        </p:spPr>
        <p:txBody>
          <a:bodyPr wrap="square">
            <a:spAutoFit/>
          </a:bodyPr>
          <a:lstStyle/>
          <a:p>
            <a:pPr algn="l"/>
            <a:r>
              <a:rPr sz="1000" b="1" i="0">
                <a:solidFill>
                  <a:srgbClr val="0C3570"/>
                </a:solidFill>
              </a:rPr>
              <a:t>現状分析</a:t>
            </a:r>
          </a:p>
        </p:txBody>
      </p:sp>
      <p:sp>
        <p:nvSpPr>
          <p:cNvPr id="13" name="TextBox 12"/>
          <p:cNvSpPr txBox="1"/>
          <p:nvPr/>
        </p:nvSpPr>
        <p:spPr>
          <a:xfrm>
            <a:off x="640080" y="2423160"/>
            <a:ext cx="1971446" cy="347472"/>
          </a:xfrm>
          <a:prstGeom prst="rect">
            <a:avLst/>
          </a:prstGeom>
          <a:noFill/>
        </p:spPr>
        <p:txBody>
          <a:bodyPr wrap="square">
            <a:spAutoFit/>
          </a:bodyPr>
          <a:lstStyle/>
          <a:p>
            <a:pPr algn="l"/>
            <a:r>
              <a:rPr sz="750" b="0" i="0">
                <a:solidFill>
                  <a:srgbClr val="444444"/>
                </a:solidFill>
              </a:rPr>
              <a:t>業務フローと課題を把握する。</a:t>
            </a:r>
          </a:p>
        </p:txBody>
      </p:sp>
      <p:sp>
        <p:nvSpPr>
          <p:cNvPr id="14" name="TextBox 13"/>
          <p:cNvSpPr txBox="1"/>
          <p:nvPr/>
        </p:nvSpPr>
        <p:spPr>
          <a:xfrm>
            <a:off x="658368" y="2834640"/>
            <a:ext cx="1934870" cy="594360"/>
          </a:xfrm>
          <a:prstGeom prst="rect">
            <a:avLst/>
          </a:prstGeom>
          <a:noFill/>
        </p:spPr>
        <p:txBody>
          <a:bodyPr wrap="square">
            <a:spAutoFit/>
          </a:bodyPr>
          <a:lstStyle/>
          <a:p>
            <a:pPr algn="l"/>
            <a:r>
              <a:rPr sz="700" b="0" i="0">
                <a:solidFill>
                  <a:srgbClr val="444444"/>
                </a:solidFill>
              </a:rPr>
              <a:t>▶ 目的：現状の業務プロセスと課題を定量的に把握し、改善余地を特定する。</a:t>
            </a:r>
          </a:p>
        </p:txBody>
      </p:sp>
      <p:sp>
        <p:nvSpPr>
          <p:cNvPr id="15" name="TextBox 14"/>
          <p:cNvSpPr txBox="1"/>
          <p:nvPr/>
        </p:nvSpPr>
        <p:spPr>
          <a:xfrm>
            <a:off x="658368" y="3456432"/>
            <a:ext cx="1934870" cy="594360"/>
          </a:xfrm>
          <a:prstGeom prst="rect">
            <a:avLst/>
          </a:prstGeom>
          <a:noFill/>
        </p:spPr>
        <p:txBody>
          <a:bodyPr wrap="square">
            <a:spAutoFit/>
          </a:bodyPr>
          <a:lstStyle/>
          <a:p>
            <a:pPr algn="l"/>
            <a:r>
              <a:rPr sz="700" b="0" i="0">
                <a:solidFill>
                  <a:srgbClr val="444444"/>
                </a:solidFill>
              </a:rPr>
              <a:t>▶ 完了条件：課題一覧と優先順位マトリクスの作成完了</a:t>
            </a:r>
          </a:p>
        </p:txBody>
      </p:sp>
      <p:sp>
        <p:nvSpPr>
          <p:cNvPr id="16" name="Rectangle 15"/>
          <p:cNvSpPr/>
          <p:nvPr/>
        </p:nvSpPr>
        <p:spPr>
          <a:xfrm>
            <a:off x="2776118" y="1828800"/>
            <a:ext cx="2154326"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867558" y="1901952"/>
            <a:ext cx="1971446" cy="182880"/>
          </a:xfrm>
          <a:prstGeom prst="rect">
            <a:avLst/>
          </a:prstGeom>
          <a:noFill/>
        </p:spPr>
        <p:txBody>
          <a:bodyPr wrap="square">
            <a:spAutoFit/>
          </a:bodyPr>
          <a:lstStyle/>
          <a:p>
            <a:pPr algn="l"/>
            <a:r>
              <a:rPr sz="750" b="1" i="0">
                <a:solidFill>
                  <a:srgbClr val="1D51A3"/>
                </a:solidFill>
              </a:rPr>
              <a:t>Step 02</a:t>
            </a:r>
          </a:p>
        </p:txBody>
      </p:sp>
      <p:sp>
        <p:nvSpPr>
          <p:cNvPr id="18" name="TextBox 17"/>
          <p:cNvSpPr txBox="1"/>
          <p:nvPr/>
        </p:nvSpPr>
        <p:spPr>
          <a:xfrm>
            <a:off x="2867558" y="2103120"/>
            <a:ext cx="1971446" cy="292608"/>
          </a:xfrm>
          <a:prstGeom prst="rect">
            <a:avLst/>
          </a:prstGeom>
          <a:noFill/>
        </p:spPr>
        <p:txBody>
          <a:bodyPr wrap="square">
            <a:spAutoFit/>
          </a:bodyPr>
          <a:lstStyle/>
          <a:p>
            <a:pPr algn="l"/>
            <a:r>
              <a:rPr sz="1000" b="1" i="0">
                <a:solidFill>
                  <a:srgbClr val="0C3570"/>
                </a:solidFill>
              </a:rPr>
              <a:t>要件定義</a:t>
            </a:r>
          </a:p>
        </p:txBody>
      </p:sp>
      <p:sp>
        <p:nvSpPr>
          <p:cNvPr id="19" name="TextBox 18"/>
          <p:cNvSpPr txBox="1"/>
          <p:nvPr/>
        </p:nvSpPr>
        <p:spPr>
          <a:xfrm>
            <a:off x="2867558" y="2423160"/>
            <a:ext cx="1971446" cy="347472"/>
          </a:xfrm>
          <a:prstGeom prst="rect">
            <a:avLst/>
          </a:prstGeom>
          <a:noFill/>
        </p:spPr>
        <p:txBody>
          <a:bodyPr wrap="square">
            <a:spAutoFit/>
          </a:bodyPr>
          <a:lstStyle/>
          <a:p>
            <a:pPr algn="l"/>
            <a:r>
              <a:rPr sz="750" b="0" i="0">
                <a:solidFill>
                  <a:srgbClr val="444444"/>
                </a:solidFill>
              </a:rPr>
              <a:t>解決すべき要件を確定する。</a:t>
            </a:r>
          </a:p>
        </p:txBody>
      </p:sp>
      <p:sp>
        <p:nvSpPr>
          <p:cNvPr id="20" name="TextBox 19"/>
          <p:cNvSpPr txBox="1"/>
          <p:nvPr/>
        </p:nvSpPr>
        <p:spPr>
          <a:xfrm>
            <a:off x="2885846" y="2834640"/>
            <a:ext cx="1934870" cy="594360"/>
          </a:xfrm>
          <a:prstGeom prst="rect">
            <a:avLst/>
          </a:prstGeom>
          <a:noFill/>
        </p:spPr>
        <p:txBody>
          <a:bodyPr wrap="square">
            <a:spAutoFit/>
          </a:bodyPr>
          <a:lstStyle/>
          <a:p>
            <a:pPr algn="l"/>
            <a:r>
              <a:rPr sz="700" b="0" i="0">
                <a:solidFill>
                  <a:srgbClr val="444444"/>
                </a:solidFill>
              </a:rPr>
              <a:t>▶ 目的：業務要件を漏れなく明確化し、実装仕様を確定する。</a:t>
            </a:r>
          </a:p>
        </p:txBody>
      </p:sp>
      <p:sp>
        <p:nvSpPr>
          <p:cNvPr id="21" name="TextBox 20"/>
          <p:cNvSpPr txBox="1"/>
          <p:nvPr/>
        </p:nvSpPr>
        <p:spPr>
          <a:xfrm>
            <a:off x="2885846" y="3456432"/>
            <a:ext cx="1934870" cy="594360"/>
          </a:xfrm>
          <a:prstGeom prst="rect">
            <a:avLst/>
          </a:prstGeom>
          <a:noFill/>
        </p:spPr>
        <p:txBody>
          <a:bodyPr wrap="square">
            <a:spAutoFit/>
          </a:bodyPr>
          <a:lstStyle/>
          <a:p>
            <a:pPr algn="l"/>
            <a:r>
              <a:rPr sz="700" b="0" i="0">
                <a:solidFill>
                  <a:srgbClr val="444444"/>
                </a:solidFill>
              </a:rPr>
              <a:t>▶ 完了条件：要件定義書への全ステークホルダーの合意取得</a:t>
            </a:r>
          </a:p>
        </p:txBody>
      </p:sp>
      <p:sp>
        <p:nvSpPr>
          <p:cNvPr id="22" name="Rectangle 21"/>
          <p:cNvSpPr/>
          <p:nvPr/>
        </p:nvSpPr>
        <p:spPr>
          <a:xfrm>
            <a:off x="5003596" y="1828800"/>
            <a:ext cx="2154326"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95036" y="1901952"/>
            <a:ext cx="1971446" cy="182880"/>
          </a:xfrm>
          <a:prstGeom prst="rect">
            <a:avLst/>
          </a:prstGeom>
          <a:noFill/>
        </p:spPr>
        <p:txBody>
          <a:bodyPr wrap="square">
            <a:spAutoFit/>
          </a:bodyPr>
          <a:lstStyle/>
          <a:p>
            <a:pPr algn="l"/>
            <a:r>
              <a:rPr sz="750" b="1" i="0">
                <a:solidFill>
                  <a:srgbClr val="1D51A3"/>
                </a:solidFill>
              </a:rPr>
              <a:t>Step 03</a:t>
            </a:r>
          </a:p>
        </p:txBody>
      </p:sp>
      <p:sp>
        <p:nvSpPr>
          <p:cNvPr id="24" name="TextBox 23"/>
          <p:cNvSpPr txBox="1"/>
          <p:nvPr/>
        </p:nvSpPr>
        <p:spPr>
          <a:xfrm>
            <a:off x="5095036" y="2103120"/>
            <a:ext cx="1971446" cy="292608"/>
          </a:xfrm>
          <a:prstGeom prst="rect">
            <a:avLst/>
          </a:prstGeom>
          <a:noFill/>
        </p:spPr>
        <p:txBody>
          <a:bodyPr wrap="square">
            <a:spAutoFit/>
          </a:bodyPr>
          <a:lstStyle/>
          <a:p>
            <a:pPr algn="l"/>
            <a:r>
              <a:rPr sz="1000" b="1" i="0">
                <a:solidFill>
                  <a:srgbClr val="0C3570"/>
                </a:solidFill>
              </a:rPr>
              <a:t>設計・構築</a:t>
            </a:r>
          </a:p>
        </p:txBody>
      </p:sp>
      <p:sp>
        <p:nvSpPr>
          <p:cNvPr id="25" name="TextBox 24"/>
          <p:cNvSpPr txBox="1"/>
          <p:nvPr/>
        </p:nvSpPr>
        <p:spPr>
          <a:xfrm>
            <a:off x="5095036" y="2423160"/>
            <a:ext cx="1971446" cy="347472"/>
          </a:xfrm>
          <a:prstGeom prst="rect">
            <a:avLst/>
          </a:prstGeom>
          <a:noFill/>
        </p:spPr>
        <p:txBody>
          <a:bodyPr wrap="square">
            <a:spAutoFit/>
          </a:bodyPr>
          <a:lstStyle/>
          <a:p>
            <a:pPr algn="l"/>
            <a:r>
              <a:rPr sz="750" b="0" i="0">
                <a:solidFill>
                  <a:srgbClr val="444444"/>
                </a:solidFill>
              </a:rPr>
              <a:t>仕様に基づき実装を進める。</a:t>
            </a:r>
          </a:p>
        </p:txBody>
      </p:sp>
      <p:sp>
        <p:nvSpPr>
          <p:cNvPr id="26" name="TextBox 25"/>
          <p:cNvSpPr txBox="1"/>
          <p:nvPr/>
        </p:nvSpPr>
        <p:spPr>
          <a:xfrm>
            <a:off x="5113324" y="2834640"/>
            <a:ext cx="1934870" cy="594360"/>
          </a:xfrm>
          <a:prstGeom prst="rect">
            <a:avLst/>
          </a:prstGeom>
          <a:noFill/>
        </p:spPr>
        <p:txBody>
          <a:bodyPr wrap="square">
            <a:spAutoFit/>
          </a:bodyPr>
          <a:lstStyle/>
          <a:p>
            <a:pPr algn="l"/>
            <a:r>
              <a:rPr sz="700" b="0" i="0">
                <a:solidFill>
                  <a:srgbClr val="444444"/>
                </a:solidFill>
              </a:rPr>
              <a:t>▶ 目的：設計書に基づいて実装を進め、品質を確保する。</a:t>
            </a:r>
          </a:p>
        </p:txBody>
      </p:sp>
      <p:sp>
        <p:nvSpPr>
          <p:cNvPr id="27" name="TextBox 26"/>
          <p:cNvSpPr txBox="1"/>
          <p:nvPr/>
        </p:nvSpPr>
        <p:spPr>
          <a:xfrm>
            <a:off x="5113324" y="3456432"/>
            <a:ext cx="1934870" cy="594360"/>
          </a:xfrm>
          <a:prstGeom prst="rect">
            <a:avLst/>
          </a:prstGeom>
          <a:noFill/>
        </p:spPr>
        <p:txBody>
          <a:bodyPr wrap="square">
            <a:spAutoFit/>
          </a:bodyPr>
          <a:lstStyle/>
          <a:p>
            <a:pPr algn="l"/>
            <a:r>
              <a:rPr sz="700" b="0" i="0">
                <a:solidFill>
                  <a:srgbClr val="444444"/>
                </a:solidFill>
              </a:rPr>
              <a:t>▶ 完了条件：単体テスト全件パスと設計レビュー通過</a:t>
            </a:r>
          </a:p>
        </p:txBody>
      </p:sp>
      <p:sp>
        <p:nvSpPr>
          <p:cNvPr id="28" name="Rectangle 27"/>
          <p:cNvSpPr/>
          <p:nvPr/>
        </p:nvSpPr>
        <p:spPr>
          <a:xfrm>
            <a:off x="7231075" y="1828800"/>
            <a:ext cx="2154326"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22515" y="1901952"/>
            <a:ext cx="1971446" cy="182880"/>
          </a:xfrm>
          <a:prstGeom prst="rect">
            <a:avLst/>
          </a:prstGeom>
          <a:noFill/>
        </p:spPr>
        <p:txBody>
          <a:bodyPr wrap="square">
            <a:spAutoFit/>
          </a:bodyPr>
          <a:lstStyle/>
          <a:p>
            <a:pPr algn="l"/>
            <a:r>
              <a:rPr sz="750" b="1" i="0">
                <a:solidFill>
                  <a:srgbClr val="1D51A3"/>
                </a:solidFill>
              </a:rPr>
              <a:t>Step 04</a:t>
            </a:r>
          </a:p>
        </p:txBody>
      </p:sp>
      <p:sp>
        <p:nvSpPr>
          <p:cNvPr id="30" name="TextBox 29"/>
          <p:cNvSpPr txBox="1"/>
          <p:nvPr/>
        </p:nvSpPr>
        <p:spPr>
          <a:xfrm>
            <a:off x="7322515" y="2103120"/>
            <a:ext cx="1971446" cy="292608"/>
          </a:xfrm>
          <a:prstGeom prst="rect">
            <a:avLst/>
          </a:prstGeom>
          <a:noFill/>
        </p:spPr>
        <p:txBody>
          <a:bodyPr wrap="square">
            <a:spAutoFit/>
          </a:bodyPr>
          <a:lstStyle/>
          <a:p>
            <a:pPr algn="l"/>
            <a:r>
              <a:rPr sz="1000" b="1" i="0">
                <a:solidFill>
                  <a:srgbClr val="0C3570"/>
                </a:solidFill>
              </a:rPr>
              <a:t>検証・移行</a:t>
            </a:r>
          </a:p>
        </p:txBody>
      </p:sp>
      <p:sp>
        <p:nvSpPr>
          <p:cNvPr id="31" name="TextBox 30"/>
          <p:cNvSpPr txBox="1"/>
          <p:nvPr/>
        </p:nvSpPr>
        <p:spPr>
          <a:xfrm>
            <a:off x="7322515" y="2423160"/>
            <a:ext cx="1971446" cy="347472"/>
          </a:xfrm>
          <a:prstGeom prst="rect">
            <a:avLst/>
          </a:prstGeom>
          <a:noFill/>
        </p:spPr>
        <p:txBody>
          <a:bodyPr wrap="square">
            <a:spAutoFit/>
          </a:bodyPr>
          <a:lstStyle/>
          <a:p>
            <a:pPr algn="l"/>
            <a:r>
              <a:rPr sz="750" b="0" i="0">
                <a:solidFill>
                  <a:srgbClr val="444444"/>
                </a:solidFill>
              </a:rPr>
              <a:t>品質確認と本番移行を行う。</a:t>
            </a:r>
          </a:p>
        </p:txBody>
      </p:sp>
      <p:sp>
        <p:nvSpPr>
          <p:cNvPr id="32" name="TextBox 31"/>
          <p:cNvSpPr txBox="1"/>
          <p:nvPr/>
        </p:nvSpPr>
        <p:spPr>
          <a:xfrm>
            <a:off x="7340803" y="2834640"/>
            <a:ext cx="1934870" cy="594360"/>
          </a:xfrm>
          <a:prstGeom prst="rect">
            <a:avLst/>
          </a:prstGeom>
          <a:noFill/>
        </p:spPr>
        <p:txBody>
          <a:bodyPr wrap="square">
            <a:spAutoFit/>
          </a:bodyPr>
          <a:lstStyle/>
          <a:p>
            <a:pPr algn="l"/>
            <a:r>
              <a:rPr sz="700" b="0" i="0">
                <a:solidFill>
                  <a:srgbClr val="444444"/>
                </a:solidFill>
              </a:rPr>
              <a:t>▶ 目的：受入テストを完了し、本番環境への安全な移行を実施する。</a:t>
            </a:r>
          </a:p>
        </p:txBody>
      </p:sp>
      <p:sp>
        <p:nvSpPr>
          <p:cNvPr id="33" name="TextBox 32"/>
          <p:cNvSpPr txBox="1"/>
          <p:nvPr/>
        </p:nvSpPr>
        <p:spPr>
          <a:xfrm>
            <a:off x="7340803" y="3456432"/>
            <a:ext cx="1934870" cy="594360"/>
          </a:xfrm>
          <a:prstGeom prst="rect">
            <a:avLst/>
          </a:prstGeom>
          <a:noFill/>
        </p:spPr>
        <p:txBody>
          <a:bodyPr wrap="square">
            <a:spAutoFit/>
          </a:bodyPr>
          <a:lstStyle/>
          <a:p>
            <a:pPr algn="l"/>
            <a:r>
              <a:rPr sz="700" b="0" i="0">
                <a:solidFill>
                  <a:srgbClr val="444444"/>
                </a:solidFill>
              </a:rPr>
              <a:t>▶ 完了条件：受入テスト全件合格と本番稼働確認</a:t>
            </a:r>
          </a:p>
        </p:txBody>
      </p:sp>
      <p:sp>
        <p:nvSpPr>
          <p:cNvPr id="34" name="Rectangle 33"/>
          <p:cNvSpPr/>
          <p:nvPr/>
        </p:nvSpPr>
        <p:spPr>
          <a:xfrm>
            <a:off x="9458553" y="1828800"/>
            <a:ext cx="2154326"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549993" y="1901952"/>
            <a:ext cx="1971446" cy="182880"/>
          </a:xfrm>
          <a:prstGeom prst="rect">
            <a:avLst/>
          </a:prstGeom>
          <a:noFill/>
        </p:spPr>
        <p:txBody>
          <a:bodyPr wrap="square">
            <a:spAutoFit/>
          </a:bodyPr>
          <a:lstStyle/>
          <a:p>
            <a:pPr algn="l"/>
            <a:r>
              <a:rPr sz="750" b="1" i="0">
                <a:solidFill>
                  <a:srgbClr val="93B5E6"/>
                </a:solidFill>
              </a:rPr>
              <a:t>Step 05</a:t>
            </a:r>
          </a:p>
        </p:txBody>
      </p:sp>
      <p:sp>
        <p:nvSpPr>
          <p:cNvPr id="36" name="TextBox 35"/>
          <p:cNvSpPr txBox="1"/>
          <p:nvPr/>
        </p:nvSpPr>
        <p:spPr>
          <a:xfrm>
            <a:off x="9549993" y="2103120"/>
            <a:ext cx="1971446" cy="292608"/>
          </a:xfrm>
          <a:prstGeom prst="rect">
            <a:avLst/>
          </a:prstGeom>
          <a:noFill/>
        </p:spPr>
        <p:txBody>
          <a:bodyPr wrap="square">
            <a:spAutoFit/>
          </a:bodyPr>
          <a:lstStyle/>
          <a:p>
            <a:pPr algn="l"/>
            <a:r>
              <a:rPr sz="1000" b="1" i="0">
                <a:solidFill>
                  <a:srgbClr val="FFFFFF"/>
                </a:solidFill>
              </a:rPr>
              <a:t>運用・改善</a:t>
            </a:r>
          </a:p>
        </p:txBody>
      </p:sp>
      <p:sp>
        <p:nvSpPr>
          <p:cNvPr id="37" name="TextBox 36"/>
          <p:cNvSpPr txBox="1"/>
          <p:nvPr/>
        </p:nvSpPr>
        <p:spPr>
          <a:xfrm>
            <a:off x="9549993" y="2423160"/>
            <a:ext cx="1971446" cy="347472"/>
          </a:xfrm>
          <a:prstGeom prst="rect">
            <a:avLst/>
          </a:prstGeom>
          <a:noFill/>
        </p:spPr>
        <p:txBody>
          <a:bodyPr wrap="square">
            <a:spAutoFit/>
          </a:bodyPr>
          <a:lstStyle/>
          <a:p>
            <a:pPr algn="l"/>
            <a:r>
              <a:rPr sz="750" b="0" i="0">
                <a:solidFill>
                  <a:srgbClr val="FFFFFF"/>
                </a:solidFill>
              </a:rPr>
              <a:t>安定運用と継続的改善を行う。</a:t>
            </a:r>
          </a:p>
        </p:txBody>
      </p:sp>
      <p:sp>
        <p:nvSpPr>
          <p:cNvPr id="38" name="TextBox 37"/>
          <p:cNvSpPr txBox="1"/>
          <p:nvPr/>
        </p:nvSpPr>
        <p:spPr>
          <a:xfrm>
            <a:off x="9568281" y="2834640"/>
            <a:ext cx="1934870" cy="594360"/>
          </a:xfrm>
          <a:prstGeom prst="rect">
            <a:avLst/>
          </a:prstGeom>
          <a:noFill/>
        </p:spPr>
        <p:txBody>
          <a:bodyPr wrap="square">
            <a:spAutoFit/>
          </a:bodyPr>
          <a:lstStyle/>
          <a:p>
            <a:pPr algn="l"/>
            <a:r>
              <a:rPr sz="700" b="0" i="0">
                <a:solidFill>
                  <a:srgbClr val="FFFFFF"/>
                </a:solidFill>
              </a:rPr>
              <a:t>▶ 目的：SLAを維持しながら継続的な改善を実施する。</a:t>
            </a:r>
          </a:p>
        </p:txBody>
      </p:sp>
      <p:sp>
        <p:nvSpPr>
          <p:cNvPr id="39" name="TextBox 38"/>
          <p:cNvSpPr txBox="1"/>
          <p:nvPr/>
        </p:nvSpPr>
        <p:spPr>
          <a:xfrm>
            <a:off x="9568281" y="3456432"/>
            <a:ext cx="1934870" cy="594360"/>
          </a:xfrm>
          <a:prstGeom prst="rect">
            <a:avLst/>
          </a:prstGeom>
          <a:noFill/>
        </p:spPr>
        <p:txBody>
          <a:bodyPr wrap="square">
            <a:spAutoFit/>
          </a:bodyPr>
          <a:lstStyle/>
          <a:p>
            <a:pPr algn="l"/>
            <a:r>
              <a:rPr sz="700" b="0" i="0">
                <a:solidFill>
                  <a:srgbClr val="FFFFFF"/>
                </a:solidFill>
              </a:rPr>
              <a:t>▶ 完了条件：SLA達成率99.9%以上の継続維持</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7ステップの開発プロセスで品質と速度を両立する：各フェーズに担当者と期限を設定する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process_flow_7 ／ 用途: 7ステップのプロセス表示 ／ 件数: 7件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開発プロセスを7ステップに分解し、各ステップの担当者・期限・成果物を明確にすることで、品質と速度を両立した実行を担保する。</a:t>
            </a:r>
          </a:p>
        </p:txBody>
      </p:sp>
      <p:sp>
        <p:nvSpPr>
          <p:cNvPr id="10" name="Rectangle 9"/>
          <p:cNvSpPr/>
          <p:nvPr/>
        </p:nvSpPr>
        <p:spPr>
          <a:xfrm>
            <a:off x="548640" y="1828800"/>
            <a:ext cx="1517904"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1901952"/>
            <a:ext cx="1335024" cy="182880"/>
          </a:xfrm>
          <a:prstGeom prst="rect">
            <a:avLst/>
          </a:prstGeom>
          <a:noFill/>
        </p:spPr>
        <p:txBody>
          <a:bodyPr wrap="square">
            <a:spAutoFit/>
          </a:bodyPr>
          <a:lstStyle/>
          <a:p>
            <a:pPr algn="l"/>
            <a:r>
              <a:rPr sz="750" b="1" i="0">
                <a:solidFill>
                  <a:srgbClr val="1D51A3"/>
                </a:solidFill>
              </a:rPr>
              <a:t>S1</a:t>
            </a:r>
          </a:p>
        </p:txBody>
      </p:sp>
      <p:sp>
        <p:nvSpPr>
          <p:cNvPr id="12" name="TextBox 11"/>
          <p:cNvSpPr txBox="1"/>
          <p:nvPr/>
        </p:nvSpPr>
        <p:spPr>
          <a:xfrm>
            <a:off x="640080" y="2103120"/>
            <a:ext cx="1335024" cy="292608"/>
          </a:xfrm>
          <a:prstGeom prst="rect">
            <a:avLst/>
          </a:prstGeom>
          <a:noFill/>
        </p:spPr>
        <p:txBody>
          <a:bodyPr wrap="square">
            <a:spAutoFit/>
          </a:bodyPr>
          <a:lstStyle/>
          <a:p>
            <a:pPr algn="l"/>
            <a:r>
              <a:rPr sz="1000" b="1" i="0">
                <a:solidFill>
                  <a:srgbClr val="0C3570"/>
                </a:solidFill>
              </a:rPr>
              <a:t>調査設計</a:t>
            </a:r>
          </a:p>
        </p:txBody>
      </p:sp>
      <p:sp>
        <p:nvSpPr>
          <p:cNvPr id="13" name="TextBox 12"/>
          <p:cNvSpPr txBox="1"/>
          <p:nvPr/>
        </p:nvSpPr>
        <p:spPr>
          <a:xfrm>
            <a:off x="640080" y="2423160"/>
            <a:ext cx="1335024" cy="347472"/>
          </a:xfrm>
          <a:prstGeom prst="rect">
            <a:avLst/>
          </a:prstGeom>
          <a:noFill/>
        </p:spPr>
        <p:txBody>
          <a:bodyPr wrap="square">
            <a:spAutoFit/>
          </a:bodyPr>
          <a:lstStyle/>
          <a:p>
            <a:pPr algn="l"/>
            <a:r>
              <a:rPr sz="750" b="0" i="0">
                <a:solidFill>
                  <a:srgbClr val="444444"/>
                </a:solidFill>
              </a:rPr>
              <a:t>初期要件定義と前提確認</a:t>
            </a:r>
          </a:p>
        </p:txBody>
      </p:sp>
      <p:sp>
        <p:nvSpPr>
          <p:cNvPr id="14" name="TextBox 13"/>
          <p:cNvSpPr txBox="1"/>
          <p:nvPr/>
        </p:nvSpPr>
        <p:spPr>
          <a:xfrm>
            <a:off x="658368" y="2834640"/>
            <a:ext cx="1298448" cy="594360"/>
          </a:xfrm>
          <a:prstGeom prst="rect">
            <a:avLst/>
          </a:prstGeom>
          <a:noFill/>
        </p:spPr>
        <p:txBody>
          <a:bodyPr wrap="square">
            <a:spAutoFit/>
          </a:bodyPr>
          <a:lstStyle/>
          <a:p>
            <a:pPr algn="l"/>
            <a:r>
              <a:rPr sz="700" b="0" i="0">
                <a:solidFill>
                  <a:srgbClr val="444444"/>
                </a:solidFill>
              </a:rPr>
              <a:t>▶ 目的：業務要件の初期定義と前提条件の確認を行い、プロジェクトの方向性を確定する。</a:t>
            </a:r>
          </a:p>
        </p:txBody>
      </p:sp>
      <p:sp>
        <p:nvSpPr>
          <p:cNvPr id="15" name="Rectangle 14"/>
          <p:cNvSpPr/>
          <p:nvPr/>
        </p:nvSpPr>
        <p:spPr>
          <a:xfrm>
            <a:off x="2139696" y="1828800"/>
            <a:ext cx="1517904"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31136" y="1901952"/>
            <a:ext cx="1335024" cy="182880"/>
          </a:xfrm>
          <a:prstGeom prst="rect">
            <a:avLst/>
          </a:prstGeom>
          <a:noFill/>
        </p:spPr>
        <p:txBody>
          <a:bodyPr wrap="square">
            <a:spAutoFit/>
          </a:bodyPr>
          <a:lstStyle/>
          <a:p>
            <a:pPr algn="l"/>
            <a:r>
              <a:rPr sz="750" b="1" i="0">
                <a:solidFill>
                  <a:srgbClr val="1D51A3"/>
                </a:solidFill>
              </a:rPr>
              <a:t>S2</a:t>
            </a:r>
          </a:p>
        </p:txBody>
      </p:sp>
      <p:sp>
        <p:nvSpPr>
          <p:cNvPr id="17" name="TextBox 16"/>
          <p:cNvSpPr txBox="1"/>
          <p:nvPr/>
        </p:nvSpPr>
        <p:spPr>
          <a:xfrm>
            <a:off x="2231136" y="2103120"/>
            <a:ext cx="1335024" cy="292608"/>
          </a:xfrm>
          <a:prstGeom prst="rect">
            <a:avLst/>
          </a:prstGeom>
          <a:noFill/>
        </p:spPr>
        <p:txBody>
          <a:bodyPr wrap="square">
            <a:spAutoFit/>
          </a:bodyPr>
          <a:lstStyle/>
          <a:p>
            <a:pPr algn="l"/>
            <a:r>
              <a:rPr sz="1000" b="1" i="0">
                <a:solidFill>
                  <a:srgbClr val="0C3570"/>
                </a:solidFill>
              </a:rPr>
              <a:t>要件分析</a:t>
            </a:r>
          </a:p>
        </p:txBody>
      </p:sp>
      <p:sp>
        <p:nvSpPr>
          <p:cNvPr id="18" name="TextBox 17"/>
          <p:cNvSpPr txBox="1"/>
          <p:nvPr/>
        </p:nvSpPr>
        <p:spPr>
          <a:xfrm>
            <a:off x="2231136" y="2423160"/>
            <a:ext cx="1335024" cy="347472"/>
          </a:xfrm>
          <a:prstGeom prst="rect">
            <a:avLst/>
          </a:prstGeom>
          <a:noFill/>
        </p:spPr>
        <p:txBody>
          <a:bodyPr wrap="square">
            <a:spAutoFit/>
          </a:bodyPr>
          <a:lstStyle/>
          <a:p>
            <a:pPr algn="l"/>
            <a:r>
              <a:rPr sz="750" b="0" i="0">
                <a:solidFill>
                  <a:srgbClr val="444444"/>
                </a:solidFill>
              </a:rPr>
              <a:t>業務フロー把握</a:t>
            </a:r>
          </a:p>
        </p:txBody>
      </p:sp>
      <p:sp>
        <p:nvSpPr>
          <p:cNvPr id="19" name="TextBox 18"/>
          <p:cNvSpPr txBox="1"/>
          <p:nvPr/>
        </p:nvSpPr>
        <p:spPr>
          <a:xfrm>
            <a:off x="2249424" y="2834640"/>
            <a:ext cx="1298448" cy="594360"/>
          </a:xfrm>
          <a:prstGeom prst="rect">
            <a:avLst/>
          </a:prstGeom>
          <a:noFill/>
        </p:spPr>
        <p:txBody>
          <a:bodyPr wrap="square">
            <a:spAutoFit/>
          </a:bodyPr>
          <a:lstStyle/>
          <a:p>
            <a:pPr algn="l"/>
            <a:r>
              <a:rPr sz="700" b="0" i="0">
                <a:solidFill>
                  <a:srgbClr val="444444"/>
                </a:solidFill>
              </a:rPr>
              <a:t>▶ 目的：業務フローを詳細に分析し、システム化すべき範囲と優先順位を明確にする。</a:t>
            </a:r>
          </a:p>
        </p:txBody>
      </p:sp>
      <p:sp>
        <p:nvSpPr>
          <p:cNvPr id="20" name="Rectangle 19"/>
          <p:cNvSpPr/>
          <p:nvPr/>
        </p:nvSpPr>
        <p:spPr>
          <a:xfrm>
            <a:off x="3730752" y="1828800"/>
            <a:ext cx="1517904"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822191" y="1901952"/>
            <a:ext cx="1335024" cy="182880"/>
          </a:xfrm>
          <a:prstGeom prst="rect">
            <a:avLst/>
          </a:prstGeom>
          <a:noFill/>
        </p:spPr>
        <p:txBody>
          <a:bodyPr wrap="square">
            <a:spAutoFit/>
          </a:bodyPr>
          <a:lstStyle/>
          <a:p>
            <a:pPr algn="l"/>
            <a:r>
              <a:rPr sz="750" b="1" i="0">
                <a:solidFill>
                  <a:srgbClr val="1D51A3"/>
                </a:solidFill>
              </a:rPr>
              <a:t>S3</a:t>
            </a:r>
          </a:p>
        </p:txBody>
      </p:sp>
      <p:sp>
        <p:nvSpPr>
          <p:cNvPr id="22" name="TextBox 21"/>
          <p:cNvSpPr txBox="1"/>
          <p:nvPr/>
        </p:nvSpPr>
        <p:spPr>
          <a:xfrm>
            <a:off x="3822191" y="2103120"/>
            <a:ext cx="1335024" cy="292608"/>
          </a:xfrm>
          <a:prstGeom prst="rect">
            <a:avLst/>
          </a:prstGeom>
          <a:noFill/>
        </p:spPr>
        <p:txBody>
          <a:bodyPr wrap="square">
            <a:spAutoFit/>
          </a:bodyPr>
          <a:lstStyle/>
          <a:p>
            <a:pPr algn="l"/>
            <a:r>
              <a:rPr sz="1000" b="1" i="0">
                <a:solidFill>
                  <a:srgbClr val="0C3570"/>
                </a:solidFill>
              </a:rPr>
              <a:t>詳細設計</a:t>
            </a:r>
          </a:p>
        </p:txBody>
      </p:sp>
      <p:sp>
        <p:nvSpPr>
          <p:cNvPr id="23" name="TextBox 22"/>
          <p:cNvSpPr txBox="1"/>
          <p:nvPr/>
        </p:nvSpPr>
        <p:spPr>
          <a:xfrm>
            <a:off x="3822191" y="2423160"/>
            <a:ext cx="1335024" cy="347472"/>
          </a:xfrm>
          <a:prstGeom prst="rect">
            <a:avLst/>
          </a:prstGeom>
          <a:noFill/>
        </p:spPr>
        <p:txBody>
          <a:bodyPr wrap="square">
            <a:spAutoFit/>
          </a:bodyPr>
          <a:lstStyle/>
          <a:p>
            <a:pPr algn="l"/>
            <a:r>
              <a:rPr sz="750" b="0" i="0">
                <a:solidFill>
                  <a:srgbClr val="444444"/>
                </a:solidFill>
              </a:rPr>
              <a:t>プロトタイプ確認</a:t>
            </a:r>
          </a:p>
        </p:txBody>
      </p:sp>
      <p:sp>
        <p:nvSpPr>
          <p:cNvPr id="24" name="TextBox 23"/>
          <p:cNvSpPr txBox="1"/>
          <p:nvPr/>
        </p:nvSpPr>
        <p:spPr>
          <a:xfrm>
            <a:off x="3840480" y="2834640"/>
            <a:ext cx="1298448" cy="594360"/>
          </a:xfrm>
          <a:prstGeom prst="rect">
            <a:avLst/>
          </a:prstGeom>
          <a:noFill/>
        </p:spPr>
        <p:txBody>
          <a:bodyPr wrap="square">
            <a:spAutoFit/>
          </a:bodyPr>
          <a:lstStyle/>
          <a:p>
            <a:pPr algn="l"/>
            <a:r>
              <a:rPr sz="700" b="0" i="0">
                <a:solidFill>
                  <a:srgbClr val="444444"/>
                </a:solidFill>
              </a:rPr>
              <a:t>▶ 目的：詳細設計書を作成し、プロトタイプで顧客確認を行うことで、手戻りを防止する。</a:t>
            </a:r>
          </a:p>
        </p:txBody>
      </p:sp>
      <p:sp>
        <p:nvSpPr>
          <p:cNvPr id="25" name="Rectangle 24"/>
          <p:cNvSpPr/>
          <p:nvPr/>
        </p:nvSpPr>
        <p:spPr>
          <a:xfrm>
            <a:off x="5321807" y="1828800"/>
            <a:ext cx="1517904"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13247" y="1901952"/>
            <a:ext cx="1335024" cy="182880"/>
          </a:xfrm>
          <a:prstGeom prst="rect">
            <a:avLst/>
          </a:prstGeom>
          <a:noFill/>
        </p:spPr>
        <p:txBody>
          <a:bodyPr wrap="square">
            <a:spAutoFit/>
          </a:bodyPr>
          <a:lstStyle/>
          <a:p>
            <a:pPr algn="l"/>
            <a:r>
              <a:rPr sz="750" b="1" i="0">
                <a:solidFill>
                  <a:srgbClr val="1D51A3"/>
                </a:solidFill>
              </a:rPr>
              <a:t>S4</a:t>
            </a:r>
          </a:p>
        </p:txBody>
      </p:sp>
      <p:sp>
        <p:nvSpPr>
          <p:cNvPr id="27" name="TextBox 26"/>
          <p:cNvSpPr txBox="1"/>
          <p:nvPr/>
        </p:nvSpPr>
        <p:spPr>
          <a:xfrm>
            <a:off x="5413247" y="2103120"/>
            <a:ext cx="1335024" cy="292608"/>
          </a:xfrm>
          <a:prstGeom prst="rect">
            <a:avLst/>
          </a:prstGeom>
          <a:noFill/>
        </p:spPr>
        <p:txBody>
          <a:bodyPr wrap="square">
            <a:spAutoFit/>
          </a:bodyPr>
          <a:lstStyle/>
          <a:p>
            <a:pPr algn="l"/>
            <a:r>
              <a:rPr sz="1000" b="1" i="0">
                <a:solidFill>
                  <a:srgbClr val="0C3570"/>
                </a:solidFill>
              </a:rPr>
              <a:t>開発ビルド</a:t>
            </a:r>
          </a:p>
        </p:txBody>
      </p:sp>
      <p:sp>
        <p:nvSpPr>
          <p:cNvPr id="28" name="TextBox 27"/>
          <p:cNvSpPr txBox="1"/>
          <p:nvPr/>
        </p:nvSpPr>
        <p:spPr>
          <a:xfrm>
            <a:off x="5413247" y="2423160"/>
            <a:ext cx="1335024" cy="347472"/>
          </a:xfrm>
          <a:prstGeom prst="rect">
            <a:avLst/>
          </a:prstGeom>
          <a:noFill/>
        </p:spPr>
        <p:txBody>
          <a:bodyPr wrap="square">
            <a:spAutoFit/>
          </a:bodyPr>
          <a:lstStyle/>
          <a:p>
            <a:pPr algn="l"/>
            <a:r>
              <a:rPr sz="750" b="0" i="0">
                <a:solidFill>
                  <a:srgbClr val="444444"/>
                </a:solidFill>
              </a:rPr>
              <a:t>内部実装完了</a:t>
            </a:r>
          </a:p>
        </p:txBody>
      </p:sp>
      <p:sp>
        <p:nvSpPr>
          <p:cNvPr id="29" name="TextBox 28"/>
          <p:cNvSpPr txBox="1"/>
          <p:nvPr/>
        </p:nvSpPr>
        <p:spPr>
          <a:xfrm>
            <a:off x="5431536" y="2834640"/>
            <a:ext cx="1298448" cy="594360"/>
          </a:xfrm>
          <a:prstGeom prst="rect">
            <a:avLst/>
          </a:prstGeom>
          <a:noFill/>
        </p:spPr>
        <p:txBody>
          <a:bodyPr wrap="square">
            <a:spAutoFit/>
          </a:bodyPr>
          <a:lstStyle/>
          <a:p>
            <a:pPr algn="l"/>
            <a:r>
              <a:rPr sz="700" b="0" i="0">
                <a:solidFill>
                  <a:srgbClr val="444444"/>
                </a:solidFill>
              </a:rPr>
              <a:t>▶ 目的：確定した設計に基づいて実装を進め、コードレビューと単体テストを完了する。</a:t>
            </a:r>
          </a:p>
        </p:txBody>
      </p:sp>
      <p:sp>
        <p:nvSpPr>
          <p:cNvPr id="30" name="Rectangle 29"/>
          <p:cNvSpPr/>
          <p:nvPr/>
        </p:nvSpPr>
        <p:spPr>
          <a:xfrm>
            <a:off x="6912864" y="1828800"/>
            <a:ext cx="1517904"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004303" y="1901952"/>
            <a:ext cx="1335024" cy="182880"/>
          </a:xfrm>
          <a:prstGeom prst="rect">
            <a:avLst/>
          </a:prstGeom>
          <a:noFill/>
        </p:spPr>
        <p:txBody>
          <a:bodyPr wrap="square">
            <a:spAutoFit/>
          </a:bodyPr>
          <a:lstStyle/>
          <a:p>
            <a:pPr algn="l"/>
            <a:r>
              <a:rPr sz="750" b="1" i="0">
                <a:solidFill>
                  <a:srgbClr val="1D51A3"/>
                </a:solidFill>
              </a:rPr>
              <a:t>S5</a:t>
            </a:r>
          </a:p>
        </p:txBody>
      </p:sp>
      <p:sp>
        <p:nvSpPr>
          <p:cNvPr id="32" name="TextBox 31"/>
          <p:cNvSpPr txBox="1"/>
          <p:nvPr/>
        </p:nvSpPr>
        <p:spPr>
          <a:xfrm>
            <a:off x="7004303" y="2103120"/>
            <a:ext cx="1335024" cy="292608"/>
          </a:xfrm>
          <a:prstGeom prst="rect">
            <a:avLst/>
          </a:prstGeom>
          <a:noFill/>
        </p:spPr>
        <p:txBody>
          <a:bodyPr wrap="square">
            <a:spAutoFit/>
          </a:bodyPr>
          <a:lstStyle/>
          <a:p>
            <a:pPr algn="l"/>
            <a:r>
              <a:rPr sz="1000" b="1" i="0">
                <a:solidFill>
                  <a:srgbClr val="0C3570"/>
                </a:solidFill>
              </a:rPr>
              <a:t>単体試験</a:t>
            </a:r>
          </a:p>
        </p:txBody>
      </p:sp>
      <p:sp>
        <p:nvSpPr>
          <p:cNvPr id="33" name="TextBox 32"/>
          <p:cNvSpPr txBox="1"/>
          <p:nvPr/>
        </p:nvSpPr>
        <p:spPr>
          <a:xfrm>
            <a:off x="7004303" y="2423160"/>
            <a:ext cx="1335024" cy="347472"/>
          </a:xfrm>
          <a:prstGeom prst="rect">
            <a:avLst/>
          </a:prstGeom>
          <a:noFill/>
        </p:spPr>
        <p:txBody>
          <a:bodyPr wrap="square">
            <a:spAutoFit/>
          </a:bodyPr>
          <a:lstStyle/>
          <a:p>
            <a:pPr algn="l"/>
            <a:r>
              <a:rPr sz="750" b="0" i="0">
                <a:solidFill>
                  <a:srgbClr val="444444"/>
                </a:solidFill>
              </a:rPr>
              <a:t>基本機能の確認</a:t>
            </a:r>
          </a:p>
        </p:txBody>
      </p:sp>
      <p:sp>
        <p:nvSpPr>
          <p:cNvPr id="34" name="TextBox 33"/>
          <p:cNvSpPr txBox="1"/>
          <p:nvPr/>
        </p:nvSpPr>
        <p:spPr>
          <a:xfrm>
            <a:off x="7022592" y="2834640"/>
            <a:ext cx="1298448" cy="594360"/>
          </a:xfrm>
          <a:prstGeom prst="rect">
            <a:avLst/>
          </a:prstGeom>
          <a:noFill/>
        </p:spPr>
        <p:txBody>
          <a:bodyPr wrap="square">
            <a:spAutoFit/>
          </a:bodyPr>
          <a:lstStyle/>
          <a:p>
            <a:pPr algn="l"/>
            <a:r>
              <a:rPr sz="700" b="0" i="0">
                <a:solidFill>
                  <a:srgbClr val="444444"/>
                </a:solidFill>
              </a:rPr>
              <a:t>▶ 目的：各機能の単体テストを実施し、基本動作の品質を確認する。</a:t>
            </a:r>
          </a:p>
        </p:txBody>
      </p:sp>
      <p:sp>
        <p:nvSpPr>
          <p:cNvPr id="35" name="Rectangle 34"/>
          <p:cNvSpPr/>
          <p:nvPr/>
        </p:nvSpPr>
        <p:spPr>
          <a:xfrm>
            <a:off x="8503919" y="1828800"/>
            <a:ext cx="1517904"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595359" y="1901952"/>
            <a:ext cx="1335024" cy="182880"/>
          </a:xfrm>
          <a:prstGeom prst="rect">
            <a:avLst/>
          </a:prstGeom>
          <a:noFill/>
        </p:spPr>
        <p:txBody>
          <a:bodyPr wrap="square">
            <a:spAutoFit/>
          </a:bodyPr>
          <a:lstStyle/>
          <a:p>
            <a:pPr algn="l"/>
            <a:r>
              <a:rPr sz="750" b="1" i="0">
                <a:solidFill>
                  <a:srgbClr val="1D51A3"/>
                </a:solidFill>
              </a:rPr>
              <a:t>S6</a:t>
            </a:r>
          </a:p>
        </p:txBody>
      </p:sp>
      <p:sp>
        <p:nvSpPr>
          <p:cNvPr id="37" name="TextBox 36"/>
          <p:cNvSpPr txBox="1"/>
          <p:nvPr/>
        </p:nvSpPr>
        <p:spPr>
          <a:xfrm>
            <a:off x="8595359" y="2103120"/>
            <a:ext cx="1335024" cy="292608"/>
          </a:xfrm>
          <a:prstGeom prst="rect">
            <a:avLst/>
          </a:prstGeom>
          <a:noFill/>
        </p:spPr>
        <p:txBody>
          <a:bodyPr wrap="square">
            <a:spAutoFit/>
          </a:bodyPr>
          <a:lstStyle/>
          <a:p>
            <a:pPr algn="l"/>
            <a:r>
              <a:rPr sz="1000" b="1" i="0">
                <a:solidFill>
                  <a:srgbClr val="0C3570"/>
                </a:solidFill>
              </a:rPr>
              <a:t>結合検証</a:t>
            </a:r>
          </a:p>
        </p:txBody>
      </p:sp>
      <p:sp>
        <p:nvSpPr>
          <p:cNvPr id="38" name="TextBox 37"/>
          <p:cNvSpPr txBox="1"/>
          <p:nvPr/>
        </p:nvSpPr>
        <p:spPr>
          <a:xfrm>
            <a:off x="8595359" y="2423160"/>
            <a:ext cx="1335024" cy="347472"/>
          </a:xfrm>
          <a:prstGeom prst="rect">
            <a:avLst/>
          </a:prstGeom>
          <a:noFill/>
        </p:spPr>
        <p:txBody>
          <a:bodyPr wrap="square">
            <a:spAutoFit/>
          </a:bodyPr>
          <a:lstStyle/>
          <a:p>
            <a:pPr algn="l"/>
            <a:r>
              <a:rPr sz="750" b="0" i="0">
                <a:solidFill>
                  <a:srgbClr val="444444"/>
                </a:solidFill>
              </a:rPr>
              <a:t>統合環境への移行</a:t>
            </a:r>
          </a:p>
        </p:txBody>
      </p:sp>
      <p:sp>
        <p:nvSpPr>
          <p:cNvPr id="39" name="TextBox 38"/>
          <p:cNvSpPr txBox="1"/>
          <p:nvPr/>
        </p:nvSpPr>
        <p:spPr>
          <a:xfrm>
            <a:off x="8613647" y="2834640"/>
            <a:ext cx="1298448" cy="594360"/>
          </a:xfrm>
          <a:prstGeom prst="rect">
            <a:avLst/>
          </a:prstGeom>
          <a:noFill/>
        </p:spPr>
        <p:txBody>
          <a:bodyPr wrap="square">
            <a:spAutoFit/>
          </a:bodyPr>
          <a:lstStyle/>
          <a:p>
            <a:pPr algn="l"/>
            <a:r>
              <a:rPr sz="700" b="0" i="0">
                <a:solidFill>
                  <a:srgbClr val="444444"/>
                </a:solidFill>
              </a:rPr>
              <a:t>▶ 目的：全機能を統合した環境でのテストを実施し、システム全体の品質を確認する。</a:t>
            </a:r>
          </a:p>
        </p:txBody>
      </p:sp>
      <p:sp>
        <p:nvSpPr>
          <p:cNvPr id="40" name="Rectangle 39"/>
          <p:cNvSpPr/>
          <p:nvPr/>
        </p:nvSpPr>
        <p:spPr>
          <a:xfrm>
            <a:off x="10094976" y="1828800"/>
            <a:ext cx="1517904"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186415" y="1901952"/>
            <a:ext cx="1335024" cy="182880"/>
          </a:xfrm>
          <a:prstGeom prst="rect">
            <a:avLst/>
          </a:prstGeom>
          <a:noFill/>
        </p:spPr>
        <p:txBody>
          <a:bodyPr wrap="square">
            <a:spAutoFit/>
          </a:bodyPr>
          <a:lstStyle/>
          <a:p>
            <a:pPr algn="l"/>
            <a:r>
              <a:rPr sz="750" b="1" i="0">
                <a:solidFill>
                  <a:srgbClr val="93B5E6"/>
                </a:solidFill>
              </a:rPr>
              <a:t>S7</a:t>
            </a:r>
          </a:p>
        </p:txBody>
      </p:sp>
      <p:sp>
        <p:nvSpPr>
          <p:cNvPr id="42" name="TextBox 41"/>
          <p:cNvSpPr txBox="1"/>
          <p:nvPr/>
        </p:nvSpPr>
        <p:spPr>
          <a:xfrm>
            <a:off x="10186415" y="2103120"/>
            <a:ext cx="1335024" cy="292608"/>
          </a:xfrm>
          <a:prstGeom prst="rect">
            <a:avLst/>
          </a:prstGeom>
          <a:noFill/>
        </p:spPr>
        <p:txBody>
          <a:bodyPr wrap="square">
            <a:spAutoFit/>
          </a:bodyPr>
          <a:lstStyle/>
          <a:p>
            <a:pPr algn="l"/>
            <a:r>
              <a:rPr sz="1000" b="1" i="0">
                <a:solidFill>
                  <a:srgbClr val="FFFFFF"/>
                </a:solidFill>
              </a:rPr>
              <a:t>保守運用</a:t>
            </a:r>
          </a:p>
        </p:txBody>
      </p:sp>
      <p:sp>
        <p:nvSpPr>
          <p:cNvPr id="43" name="TextBox 42"/>
          <p:cNvSpPr txBox="1"/>
          <p:nvPr/>
        </p:nvSpPr>
        <p:spPr>
          <a:xfrm>
            <a:off x="10186415" y="2423160"/>
            <a:ext cx="1335024" cy="347472"/>
          </a:xfrm>
          <a:prstGeom prst="rect">
            <a:avLst/>
          </a:prstGeom>
          <a:noFill/>
        </p:spPr>
        <p:txBody>
          <a:bodyPr wrap="square">
            <a:spAutoFit/>
          </a:bodyPr>
          <a:lstStyle/>
          <a:p>
            <a:pPr algn="l"/>
            <a:r>
              <a:rPr sz="750" b="0" i="0">
                <a:solidFill>
                  <a:srgbClr val="FFFFFF"/>
                </a:solidFill>
              </a:rPr>
              <a:t>運用支援の確立</a:t>
            </a:r>
          </a:p>
        </p:txBody>
      </p:sp>
      <p:sp>
        <p:nvSpPr>
          <p:cNvPr id="44" name="TextBox 43"/>
          <p:cNvSpPr txBox="1"/>
          <p:nvPr/>
        </p:nvSpPr>
        <p:spPr>
          <a:xfrm>
            <a:off x="10204703" y="2834640"/>
            <a:ext cx="1298448" cy="594360"/>
          </a:xfrm>
          <a:prstGeom prst="rect">
            <a:avLst/>
          </a:prstGeom>
          <a:noFill/>
        </p:spPr>
        <p:txBody>
          <a:bodyPr wrap="square">
            <a:spAutoFit/>
          </a:bodyPr>
          <a:lstStyle/>
          <a:p>
            <a:pPr algn="l"/>
            <a:r>
              <a:rPr sz="700" b="0" i="0">
                <a:solidFill>
                  <a:srgbClr val="FFFFFF"/>
                </a:solidFill>
              </a:rPr>
              <a:t>▶ 目的：本番稼働後の安定運用を確立し、継続的な改善サイクルを開始する。</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顧客ジャーニー：認知から推奨まで5段階で顧客体験を設計し、各接点で価値を提供する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user_journey ／ 用途: 顧客行動・感情・接点の可視化 ／ 件数: 4〜6段階</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顧客が認知から推奨に至るまでの5段階のジャーニーを設計し、各接点での体験品質を高めることで継続率とNPSを向上させる。</a:t>
            </a:r>
          </a:p>
        </p:txBody>
      </p:sp>
      <p:sp>
        <p:nvSpPr>
          <p:cNvPr id="10" name="Rectangle 9"/>
          <p:cNvSpPr/>
          <p:nvPr/>
        </p:nvSpPr>
        <p:spPr>
          <a:xfrm>
            <a:off x="548640" y="1828800"/>
            <a:ext cx="2154326"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1901952"/>
            <a:ext cx="1971446" cy="182880"/>
          </a:xfrm>
          <a:prstGeom prst="rect">
            <a:avLst/>
          </a:prstGeom>
          <a:noFill/>
        </p:spPr>
        <p:txBody>
          <a:bodyPr wrap="square">
            <a:spAutoFit/>
          </a:bodyPr>
          <a:lstStyle/>
          <a:p>
            <a:pPr algn="l"/>
            <a:r>
              <a:rPr sz="750" b="1" i="0">
                <a:solidFill>
                  <a:srgbClr val="1D51A3"/>
                </a:solidFill>
              </a:rPr>
              <a:t>認知 / Awareness</a:t>
            </a:r>
          </a:p>
        </p:txBody>
      </p:sp>
      <p:sp>
        <p:nvSpPr>
          <p:cNvPr id="12" name="TextBox 11"/>
          <p:cNvSpPr txBox="1"/>
          <p:nvPr/>
        </p:nvSpPr>
        <p:spPr>
          <a:xfrm>
            <a:off x="640080" y="2103120"/>
            <a:ext cx="1971446" cy="292608"/>
          </a:xfrm>
          <a:prstGeom prst="rect">
            <a:avLst/>
          </a:prstGeom>
          <a:noFill/>
        </p:spPr>
        <p:txBody>
          <a:bodyPr wrap="square">
            <a:spAutoFit/>
          </a:bodyPr>
          <a:lstStyle/>
          <a:p>
            <a:pPr algn="l"/>
            <a:r>
              <a:rPr sz="950" b="1" i="0">
                <a:solidFill>
                  <a:srgbClr val="0C3570"/>
                </a:solidFill>
              </a:rPr>
              <a:t>広告・口コミで製品を知る</a:t>
            </a:r>
          </a:p>
        </p:txBody>
      </p:sp>
      <p:sp>
        <p:nvSpPr>
          <p:cNvPr id="13" name="TextBox 12"/>
          <p:cNvSpPr txBox="1"/>
          <p:nvPr/>
        </p:nvSpPr>
        <p:spPr>
          <a:xfrm>
            <a:off x="640080" y="2423160"/>
            <a:ext cx="1971446" cy="347472"/>
          </a:xfrm>
          <a:prstGeom prst="rect">
            <a:avLst/>
          </a:prstGeom>
          <a:noFill/>
        </p:spPr>
        <p:txBody>
          <a:bodyPr wrap="square">
            <a:spAutoFit/>
          </a:bodyPr>
          <a:lstStyle/>
          <a:p>
            <a:pPr algn="l"/>
            <a:r>
              <a:rPr sz="750" b="0" i="0">
                <a:solidFill>
                  <a:srgbClr val="444444"/>
                </a:solidFill>
              </a:rPr>
              <a:t>顧客が初めて製品の存在を知る段階。第一印象が購買意欲に大きく影響する。</a:t>
            </a:r>
          </a:p>
        </p:txBody>
      </p:sp>
      <p:sp>
        <p:nvSpPr>
          <p:cNvPr id="14" name="TextBox 13"/>
          <p:cNvSpPr txBox="1"/>
          <p:nvPr/>
        </p:nvSpPr>
        <p:spPr>
          <a:xfrm>
            <a:off x="658368" y="2834640"/>
            <a:ext cx="1934870" cy="566928"/>
          </a:xfrm>
          <a:prstGeom prst="rect">
            <a:avLst/>
          </a:prstGeom>
          <a:noFill/>
        </p:spPr>
        <p:txBody>
          <a:bodyPr wrap="square">
            <a:spAutoFit/>
          </a:bodyPr>
          <a:lstStyle/>
          <a:p>
            <a:pPr algn="l"/>
            <a:r>
              <a:rPr sz="700" b="0" i="0">
                <a:solidFill>
                  <a:srgbClr val="444444"/>
                </a:solidFill>
              </a:rPr>
              <a:t>▶ 接点：デジタル広告・SNS・業界メディア・紹介</a:t>
            </a:r>
          </a:p>
        </p:txBody>
      </p:sp>
      <p:sp>
        <p:nvSpPr>
          <p:cNvPr id="15" name="TextBox 14"/>
          <p:cNvSpPr txBox="1"/>
          <p:nvPr/>
        </p:nvSpPr>
        <p:spPr>
          <a:xfrm>
            <a:off x="658368" y="3429000"/>
            <a:ext cx="1934870" cy="566928"/>
          </a:xfrm>
          <a:prstGeom prst="rect">
            <a:avLst/>
          </a:prstGeom>
          <a:noFill/>
        </p:spPr>
        <p:txBody>
          <a:bodyPr wrap="square">
            <a:spAutoFit/>
          </a:bodyPr>
          <a:lstStyle/>
          <a:p>
            <a:pPr algn="l"/>
            <a:r>
              <a:rPr sz="700" b="0" i="0">
                <a:solidFill>
                  <a:srgbClr val="444444"/>
                </a:solidFill>
              </a:rPr>
              <a:t>▶ 感情：興味・期待・不安が混在する段階</a:t>
            </a:r>
          </a:p>
        </p:txBody>
      </p:sp>
      <p:sp>
        <p:nvSpPr>
          <p:cNvPr id="16" name="TextBox 15"/>
          <p:cNvSpPr txBox="1"/>
          <p:nvPr/>
        </p:nvSpPr>
        <p:spPr>
          <a:xfrm>
            <a:off x="658368" y="4023360"/>
            <a:ext cx="1934870" cy="566928"/>
          </a:xfrm>
          <a:prstGeom prst="rect">
            <a:avLst/>
          </a:prstGeom>
          <a:noFill/>
        </p:spPr>
        <p:txBody>
          <a:bodyPr wrap="square">
            <a:spAutoFit/>
          </a:bodyPr>
          <a:lstStyle/>
          <a:p>
            <a:pPr algn="l"/>
            <a:r>
              <a:rPr sz="700" b="0" i="0">
                <a:solidFill>
                  <a:srgbClr val="444444"/>
                </a:solidFill>
              </a:rPr>
              <a:t>▶ 施策：明確な価値提案と信頼性の訴求を優先する</a:t>
            </a:r>
          </a:p>
        </p:txBody>
      </p:sp>
      <p:sp>
        <p:nvSpPr>
          <p:cNvPr id="17" name="Rectangle 16"/>
          <p:cNvSpPr/>
          <p:nvPr/>
        </p:nvSpPr>
        <p:spPr>
          <a:xfrm>
            <a:off x="2776118" y="1828800"/>
            <a:ext cx="2154326"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867558" y="1901952"/>
            <a:ext cx="1971446" cy="182880"/>
          </a:xfrm>
          <a:prstGeom prst="rect">
            <a:avLst/>
          </a:prstGeom>
          <a:noFill/>
        </p:spPr>
        <p:txBody>
          <a:bodyPr wrap="square">
            <a:spAutoFit/>
          </a:bodyPr>
          <a:lstStyle/>
          <a:p>
            <a:pPr algn="l"/>
            <a:r>
              <a:rPr sz="750" b="1" i="0">
                <a:solidFill>
                  <a:srgbClr val="1D51A3"/>
                </a:solidFill>
              </a:rPr>
              <a:t>検討 / Consideration</a:t>
            </a:r>
          </a:p>
        </p:txBody>
      </p:sp>
      <p:sp>
        <p:nvSpPr>
          <p:cNvPr id="19" name="TextBox 18"/>
          <p:cNvSpPr txBox="1"/>
          <p:nvPr/>
        </p:nvSpPr>
        <p:spPr>
          <a:xfrm>
            <a:off x="2867558" y="2103120"/>
            <a:ext cx="1971446" cy="292608"/>
          </a:xfrm>
          <a:prstGeom prst="rect">
            <a:avLst/>
          </a:prstGeom>
          <a:noFill/>
        </p:spPr>
        <p:txBody>
          <a:bodyPr wrap="square">
            <a:spAutoFit/>
          </a:bodyPr>
          <a:lstStyle/>
          <a:p>
            <a:pPr algn="l"/>
            <a:r>
              <a:rPr sz="950" b="1" i="0">
                <a:solidFill>
                  <a:srgbClr val="0C3570"/>
                </a:solidFill>
              </a:rPr>
              <a:t>比較検討・デモ参加</a:t>
            </a:r>
          </a:p>
        </p:txBody>
      </p:sp>
      <p:sp>
        <p:nvSpPr>
          <p:cNvPr id="20" name="TextBox 19"/>
          <p:cNvSpPr txBox="1"/>
          <p:nvPr/>
        </p:nvSpPr>
        <p:spPr>
          <a:xfrm>
            <a:off x="2867558" y="2423160"/>
            <a:ext cx="1971446" cy="347472"/>
          </a:xfrm>
          <a:prstGeom prst="rect">
            <a:avLst/>
          </a:prstGeom>
          <a:noFill/>
        </p:spPr>
        <p:txBody>
          <a:bodyPr wrap="square">
            <a:spAutoFit/>
          </a:bodyPr>
          <a:lstStyle/>
          <a:p>
            <a:pPr algn="l"/>
            <a:r>
              <a:rPr sz="750" b="0" i="0">
                <a:solidFill>
                  <a:srgbClr val="444444"/>
                </a:solidFill>
              </a:rPr>
              <a:t>競合製品との比較検討を行い、導入可否を判断する段階。</a:t>
            </a:r>
          </a:p>
        </p:txBody>
      </p:sp>
      <p:sp>
        <p:nvSpPr>
          <p:cNvPr id="21" name="TextBox 20"/>
          <p:cNvSpPr txBox="1"/>
          <p:nvPr/>
        </p:nvSpPr>
        <p:spPr>
          <a:xfrm>
            <a:off x="2885846" y="2834640"/>
            <a:ext cx="1934870" cy="566928"/>
          </a:xfrm>
          <a:prstGeom prst="rect">
            <a:avLst/>
          </a:prstGeom>
          <a:noFill/>
        </p:spPr>
        <p:txBody>
          <a:bodyPr wrap="square">
            <a:spAutoFit/>
          </a:bodyPr>
          <a:lstStyle/>
          <a:p>
            <a:pPr algn="l"/>
            <a:r>
              <a:rPr sz="700" b="0" i="0">
                <a:solidFill>
                  <a:srgbClr val="444444"/>
                </a:solidFill>
              </a:rPr>
              <a:t>▶ 接点：デモ・資料・事例・トライアル</a:t>
            </a:r>
          </a:p>
        </p:txBody>
      </p:sp>
      <p:sp>
        <p:nvSpPr>
          <p:cNvPr id="22" name="TextBox 21"/>
          <p:cNvSpPr txBox="1"/>
          <p:nvPr/>
        </p:nvSpPr>
        <p:spPr>
          <a:xfrm>
            <a:off x="2885846" y="3429000"/>
            <a:ext cx="1934870" cy="566928"/>
          </a:xfrm>
          <a:prstGeom prst="rect">
            <a:avLst/>
          </a:prstGeom>
          <a:noFill/>
        </p:spPr>
        <p:txBody>
          <a:bodyPr wrap="square">
            <a:spAutoFit/>
          </a:bodyPr>
          <a:lstStyle/>
          <a:p>
            <a:pPr algn="l"/>
            <a:r>
              <a:rPr sz="700" b="0" i="0">
                <a:solidFill>
                  <a:srgbClr val="444444"/>
                </a:solidFill>
              </a:rPr>
              <a:t>▶ 感情：期待と不安が高まる段階</a:t>
            </a:r>
          </a:p>
        </p:txBody>
      </p:sp>
      <p:sp>
        <p:nvSpPr>
          <p:cNvPr id="23" name="TextBox 22"/>
          <p:cNvSpPr txBox="1"/>
          <p:nvPr/>
        </p:nvSpPr>
        <p:spPr>
          <a:xfrm>
            <a:off x="2885846" y="4023360"/>
            <a:ext cx="1934870" cy="566928"/>
          </a:xfrm>
          <a:prstGeom prst="rect">
            <a:avLst/>
          </a:prstGeom>
          <a:noFill/>
        </p:spPr>
        <p:txBody>
          <a:bodyPr wrap="square">
            <a:spAutoFit/>
          </a:bodyPr>
          <a:lstStyle/>
          <a:p>
            <a:pPr algn="l"/>
            <a:r>
              <a:rPr sz="700" b="0" i="0">
                <a:solidFill>
                  <a:srgbClr val="444444"/>
                </a:solidFill>
              </a:rPr>
              <a:t>▶ 施策：ROI試算と成功事例の提示で不安を解消する</a:t>
            </a:r>
          </a:p>
        </p:txBody>
      </p:sp>
      <p:sp>
        <p:nvSpPr>
          <p:cNvPr id="24" name="Rectangle 23"/>
          <p:cNvSpPr/>
          <p:nvPr/>
        </p:nvSpPr>
        <p:spPr>
          <a:xfrm>
            <a:off x="5003596" y="1828800"/>
            <a:ext cx="2154326"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95036" y="1901952"/>
            <a:ext cx="1971446" cy="182880"/>
          </a:xfrm>
          <a:prstGeom prst="rect">
            <a:avLst/>
          </a:prstGeom>
          <a:noFill/>
        </p:spPr>
        <p:txBody>
          <a:bodyPr wrap="square">
            <a:spAutoFit/>
          </a:bodyPr>
          <a:lstStyle/>
          <a:p>
            <a:pPr algn="l"/>
            <a:r>
              <a:rPr sz="750" b="1" i="0">
                <a:solidFill>
                  <a:srgbClr val="1D51A3"/>
                </a:solidFill>
              </a:rPr>
              <a:t>導入 / Onboarding</a:t>
            </a:r>
          </a:p>
        </p:txBody>
      </p:sp>
      <p:sp>
        <p:nvSpPr>
          <p:cNvPr id="26" name="TextBox 25"/>
          <p:cNvSpPr txBox="1"/>
          <p:nvPr/>
        </p:nvSpPr>
        <p:spPr>
          <a:xfrm>
            <a:off x="5095036" y="2103120"/>
            <a:ext cx="1971446" cy="292608"/>
          </a:xfrm>
          <a:prstGeom prst="rect">
            <a:avLst/>
          </a:prstGeom>
          <a:noFill/>
        </p:spPr>
        <p:txBody>
          <a:bodyPr wrap="square">
            <a:spAutoFit/>
          </a:bodyPr>
          <a:lstStyle/>
          <a:p>
            <a:pPr algn="l"/>
            <a:r>
              <a:rPr sz="950" b="1" i="0">
                <a:solidFill>
                  <a:srgbClr val="0C3570"/>
                </a:solidFill>
              </a:rPr>
              <a:t>契約・初期設定・研修</a:t>
            </a:r>
          </a:p>
        </p:txBody>
      </p:sp>
      <p:sp>
        <p:nvSpPr>
          <p:cNvPr id="27" name="TextBox 26"/>
          <p:cNvSpPr txBox="1"/>
          <p:nvPr/>
        </p:nvSpPr>
        <p:spPr>
          <a:xfrm>
            <a:off x="5095036" y="2423160"/>
            <a:ext cx="1971446" cy="347472"/>
          </a:xfrm>
          <a:prstGeom prst="rect">
            <a:avLst/>
          </a:prstGeom>
          <a:noFill/>
        </p:spPr>
        <p:txBody>
          <a:bodyPr wrap="square">
            <a:spAutoFit/>
          </a:bodyPr>
          <a:lstStyle/>
          <a:p>
            <a:pPr algn="l"/>
            <a:r>
              <a:rPr sz="750" b="0" i="0">
                <a:solidFill>
                  <a:srgbClr val="444444"/>
                </a:solidFill>
              </a:rPr>
              <a:t>契約後の初期設定と研修を通じて、製品の基本的な使い方を習得する段階。</a:t>
            </a:r>
          </a:p>
        </p:txBody>
      </p:sp>
      <p:sp>
        <p:nvSpPr>
          <p:cNvPr id="28" name="TextBox 27"/>
          <p:cNvSpPr txBox="1"/>
          <p:nvPr/>
        </p:nvSpPr>
        <p:spPr>
          <a:xfrm>
            <a:off x="5113324" y="2834640"/>
            <a:ext cx="1934870" cy="566928"/>
          </a:xfrm>
          <a:prstGeom prst="rect">
            <a:avLst/>
          </a:prstGeom>
          <a:noFill/>
        </p:spPr>
        <p:txBody>
          <a:bodyPr wrap="square">
            <a:spAutoFit/>
          </a:bodyPr>
          <a:lstStyle/>
          <a:p>
            <a:pPr algn="l"/>
            <a:r>
              <a:rPr sz="700" b="0" i="0">
                <a:solidFill>
                  <a:srgbClr val="444444"/>
                </a:solidFill>
              </a:rPr>
              <a:t>▶ 接点：オンボーディングセッション・マニュアル</a:t>
            </a:r>
          </a:p>
        </p:txBody>
      </p:sp>
      <p:sp>
        <p:nvSpPr>
          <p:cNvPr id="29" name="TextBox 28"/>
          <p:cNvSpPr txBox="1"/>
          <p:nvPr/>
        </p:nvSpPr>
        <p:spPr>
          <a:xfrm>
            <a:off x="5113324" y="3429000"/>
            <a:ext cx="1934870" cy="566928"/>
          </a:xfrm>
          <a:prstGeom prst="rect">
            <a:avLst/>
          </a:prstGeom>
          <a:noFill/>
        </p:spPr>
        <p:txBody>
          <a:bodyPr wrap="square">
            <a:spAutoFit/>
          </a:bodyPr>
          <a:lstStyle/>
          <a:p>
            <a:pPr algn="l"/>
            <a:r>
              <a:rPr sz="700" b="0" i="0">
                <a:solidFill>
                  <a:srgbClr val="444444"/>
                </a:solidFill>
              </a:rPr>
              <a:t>▶ 感情：期待と不安が混在する段階</a:t>
            </a:r>
          </a:p>
        </p:txBody>
      </p:sp>
      <p:sp>
        <p:nvSpPr>
          <p:cNvPr id="30" name="TextBox 29"/>
          <p:cNvSpPr txBox="1"/>
          <p:nvPr/>
        </p:nvSpPr>
        <p:spPr>
          <a:xfrm>
            <a:off x="5113324" y="4023360"/>
            <a:ext cx="1934870" cy="566928"/>
          </a:xfrm>
          <a:prstGeom prst="rect">
            <a:avLst/>
          </a:prstGeom>
          <a:noFill/>
        </p:spPr>
        <p:txBody>
          <a:bodyPr wrap="square">
            <a:spAutoFit/>
          </a:bodyPr>
          <a:lstStyle/>
          <a:p>
            <a:pPr algn="l"/>
            <a:r>
              <a:rPr sz="700" b="0" i="0">
                <a:solidFill>
                  <a:srgbClr val="444444"/>
                </a:solidFill>
              </a:rPr>
              <a:t>▶ 施策：30日以内の初期成果創出を支援する</a:t>
            </a:r>
          </a:p>
        </p:txBody>
      </p:sp>
      <p:sp>
        <p:nvSpPr>
          <p:cNvPr id="31" name="Rectangle 30"/>
          <p:cNvSpPr/>
          <p:nvPr/>
        </p:nvSpPr>
        <p:spPr>
          <a:xfrm>
            <a:off x="7231075" y="1828800"/>
            <a:ext cx="2154326"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22515" y="1901952"/>
            <a:ext cx="1971446" cy="182880"/>
          </a:xfrm>
          <a:prstGeom prst="rect">
            <a:avLst/>
          </a:prstGeom>
          <a:noFill/>
        </p:spPr>
        <p:txBody>
          <a:bodyPr wrap="square">
            <a:spAutoFit/>
          </a:bodyPr>
          <a:lstStyle/>
          <a:p>
            <a:pPr algn="l"/>
            <a:r>
              <a:rPr sz="750" b="1" i="0">
                <a:solidFill>
                  <a:srgbClr val="1D51A3"/>
                </a:solidFill>
              </a:rPr>
              <a:t>活用 / Adoption</a:t>
            </a:r>
          </a:p>
        </p:txBody>
      </p:sp>
      <p:sp>
        <p:nvSpPr>
          <p:cNvPr id="33" name="TextBox 32"/>
          <p:cNvSpPr txBox="1"/>
          <p:nvPr/>
        </p:nvSpPr>
        <p:spPr>
          <a:xfrm>
            <a:off x="7322515" y="2103120"/>
            <a:ext cx="1971446" cy="292608"/>
          </a:xfrm>
          <a:prstGeom prst="rect">
            <a:avLst/>
          </a:prstGeom>
          <a:noFill/>
        </p:spPr>
        <p:txBody>
          <a:bodyPr wrap="square">
            <a:spAutoFit/>
          </a:bodyPr>
          <a:lstStyle/>
          <a:p>
            <a:pPr algn="l"/>
            <a:r>
              <a:rPr sz="950" b="1" i="0">
                <a:solidFill>
                  <a:srgbClr val="0C3570"/>
                </a:solidFill>
              </a:rPr>
              <a:t>日常業務での活用</a:t>
            </a:r>
          </a:p>
        </p:txBody>
      </p:sp>
      <p:sp>
        <p:nvSpPr>
          <p:cNvPr id="34" name="TextBox 33"/>
          <p:cNvSpPr txBox="1"/>
          <p:nvPr/>
        </p:nvSpPr>
        <p:spPr>
          <a:xfrm>
            <a:off x="7322515" y="2423160"/>
            <a:ext cx="1971446" cy="347472"/>
          </a:xfrm>
          <a:prstGeom prst="rect">
            <a:avLst/>
          </a:prstGeom>
          <a:noFill/>
        </p:spPr>
        <p:txBody>
          <a:bodyPr wrap="square">
            <a:spAutoFit/>
          </a:bodyPr>
          <a:lstStyle/>
          <a:p>
            <a:pPr algn="l"/>
            <a:r>
              <a:rPr sz="750" b="0" i="0">
                <a:solidFill>
                  <a:srgbClr val="444444"/>
                </a:solidFill>
              </a:rPr>
              <a:t>製品を日常業務に組み込み、価値を実感し始める段階。継続率に最も影響する。</a:t>
            </a:r>
          </a:p>
        </p:txBody>
      </p:sp>
      <p:sp>
        <p:nvSpPr>
          <p:cNvPr id="35" name="TextBox 34"/>
          <p:cNvSpPr txBox="1"/>
          <p:nvPr/>
        </p:nvSpPr>
        <p:spPr>
          <a:xfrm>
            <a:off x="7340803" y="2834640"/>
            <a:ext cx="1934870" cy="566928"/>
          </a:xfrm>
          <a:prstGeom prst="rect">
            <a:avLst/>
          </a:prstGeom>
          <a:noFill/>
        </p:spPr>
        <p:txBody>
          <a:bodyPr wrap="square">
            <a:spAutoFit/>
          </a:bodyPr>
          <a:lstStyle/>
          <a:p>
            <a:pPr algn="l"/>
            <a:r>
              <a:rPr sz="700" b="0" i="0">
                <a:solidFill>
                  <a:srgbClr val="444444"/>
                </a:solidFill>
              </a:rPr>
              <a:t>▶ 接点：定期チェックイン・ヘルプデスク</a:t>
            </a:r>
          </a:p>
        </p:txBody>
      </p:sp>
      <p:sp>
        <p:nvSpPr>
          <p:cNvPr id="36" name="TextBox 35"/>
          <p:cNvSpPr txBox="1"/>
          <p:nvPr/>
        </p:nvSpPr>
        <p:spPr>
          <a:xfrm>
            <a:off x="7340803" y="3429000"/>
            <a:ext cx="1934870" cy="566928"/>
          </a:xfrm>
          <a:prstGeom prst="rect">
            <a:avLst/>
          </a:prstGeom>
          <a:noFill/>
        </p:spPr>
        <p:txBody>
          <a:bodyPr wrap="square">
            <a:spAutoFit/>
          </a:bodyPr>
          <a:lstStyle/>
          <a:p>
            <a:pPr algn="l"/>
            <a:r>
              <a:rPr sz="700" b="0" i="0">
                <a:solidFill>
                  <a:srgbClr val="444444"/>
                </a:solidFill>
              </a:rPr>
              <a:t>▶ 感情：満足度が高まる段階</a:t>
            </a:r>
          </a:p>
        </p:txBody>
      </p:sp>
      <p:sp>
        <p:nvSpPr>
          <p:cNvPr id="37" name="TextBox 36"/>
          <p:cNvSpPr txBox="1"/>
          <p:nvPr/>
        </p:nvSpPr>
        <p:spPr>
          <a:xfrm>
            <a:off x="7340803" y="4023360"/>
            <a:ext cx="1934870" cy="566928"/>
          </a:xfrm>
          <a:prstGeom prst="rect">
            <a:avLst/>
          </a:prstGeom>
          <a:noFill/>
        </p:spPr>
        <p:txBody>
          <a:bodyPr wrap="square">
            <a:spAutoFit/>
          </a:bodyPr>
          <a:lstStyle/>
          <a:p>
            <a:pPr algn="l"/>
            <a:r>
              <a:rPr sz="700" b="0" i="0">
                <a:solidFill>
                  <a:srgbClr val="444444"/>
                </a:solidFill>
              </a:rPr>
              <a:t>▶ 施策：月次成果確認で価値実感を強化する</a:t>
            </a:r>
          </a:p>
        </p:txBody>
      </p:sp>
      <p:sp>
        <p:nvSpPr>
          <p:cNvPr id="38" name="Rectangle 37"/>
          <p:cNvSpPr/>
          <p:nvPr/>
        </p:nvSpPr>
        <p:spPr>
          <a:xfrm>
            <a:off x="9458553" y="1828800"/>
            <a:ext cx="2154326"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549993" y="1901952"/>
            <a:ext cx="1971446" cy="182880"/>
          </a:xfrm>
          <a:prstGeom prst="rect">
            <a:avLst/>
          </a:prstGeom>
          <a:noFill/>
        </p:spPr>
        <p:txBody>
          <a:bodyPr wrap="square">
            <a:spAutoFit/>
          </a:bodyPr>
          <a:lstStyle/>
          <a:p>
            <a:pPr algn="l"/>
            <a:r>
              <a:rPr sz="750" b="1" i="0">
                <a:solidFill>
                  <a:srgbClr val="93B5E6"/>
                </a:solidFill>
              </a:rPr>
              <a:t>推奨 / Advocacy</a:t>
            </a:r>
          </a:p>
        </p:txBody>
      </p:sp>
      <p:sp>
        <p:nvSpPr>
          <p:cNvPr id="40" name="TextBox 39"/>
          <p:cNvSpPr txBox="1"/>
          <p:nvPr/>
        </p:nvSpPr>
        <p:spPr>
          <a:xfrm>
            <a:off x="9549993" y="2103120"/>
            <a:ext cx="1971446" cy="292608"/>
          </a:xfrm>
          <a:prstGeom prst="rect">
            <a:avLst/>
          </a:prstGeom>
          <a:noFill/>
        </p:spPr>
        <p:txBody>
          <a:bodyPr wrap="square">
            <a:spAutoFit/>
          </a:bodyPr>
          <a:lstStyle/>
          <a:p>
            <a:pPr algn="l"/>
            <a:r>
              <a:rPr sz="950" b="1" i="0">
                <a:solidFill>
                  <a:srgbClr val="FFFFFF"/>
                </a:solidFill>
              </a:rPr>
              <a:t>他社への推奨・事例提供</a:t>
            </a:r>
          </a:p>
        </p:txBody>
      </p:sp>
      <p:sp>
        <p:nvSpPr>
          <p:cNvPr id="41" name="TextBox 40"/>
          <p:cNvSpPr txBox="1"/>
          <p:nvPr/>
        </p:nvSpPr>
        <p:spPr>
          <a:xfrm>
            <a:off x="9549993" y="2423160"/>
            <a:ext cx="1971446" cy="347472"/>
          </a:xfrm>
          <a:prstGeom prst="rect">
            <a:avLst/>
          </a:prstGeom>
          <a:noFill/>
        </p:spPr>
        <p:txBody>
          <a:bodyPr wrap="square">
            <a:spAutoFit/>
          </a:bodyPr>
          <a:lstStyle/>
          <a:p>
            <a:pPr algn="l"/>
            <a:r>
              <a:rPr sz="750" b="0" i="0">
                <a:solidFill>
                  <a:srgbClr val="FFFFFF"/>
                </a:solidFill>
              </a:rPr>
              <a:t>製品の価値を実感した顧客が、他社への推奨や事例提供を行う段階。</a:t>
            </a:r>
          </a:p>
        </p:txBody>
      </p:sp>
      <p:sp>
        <p:nvSpPr>
          <p:cNvPr id="42" name="TextBox 41"/>
          <p:cNvSpPr txBox="1"/>
          <p:nvPr/>
        </p:nvSpPr>
        <p:spPr>
          <a:xfrm>
            <a:off x="9568281" y="2834640"/>
            <a:ext cx="1934870" cy="566928"/>
          </a:xfrm>
          <a:prstGeom prst="rect">
            <a:avLst/>
          </a:prstGeom>
          <a:noFill/>
        </p:spPr>
        <p:txBody>
          <a:bodyPr wrap="square">
            <a:spAutoFit/>
          </a:bodyPr>
          <a:lstStyle/>
          <a:p>
            <a:pPr algn="l"/>
            <a:r>
              <a:rPr sz="700" b="0" i="0">
                <a:solidFill>
                  <a:srgbClr val="FFFFFF"/>
                </a:solidFill>
              </a:rPr>
              <a:t>▶ 接点：リファラルプログラム・事例インタビュー</a:t>
            </a:r>
          </a:p>
        </p:txBody>
      </p:sp>
      <p:sp>
        <p:nvSpPr>
          <p:cNvPr id="43" name="TextBox 42"/>
          <p:cNvSpPr txBox="1"/>
          <p:nvPr/>
        </p:nvSpPr>
        <p:spPr>
          <a:xfrm>
            <a:off x="9568281" y="3429000"/>
            <a:ext cx="1934870" cy="566928"/>
          </a:xfrm>
          <a:prstGeom prst="rect">
            <a:avLst/>
          </a:prstGeom>
          <a:noFill/>
        </p:spPr>
        <p:txBody>
          <a:bodyPr wrap="square">
            <a:spAutoFit/>
          </a:bodyPr>
          <a:lstStyle/>
          <a:p>
            <a:pPr algn="l"/>
            <a:r>
              <a:rPr sz="700" b="0" i="0">
                <a:solidFill>
                  <a:srgbClr val="FFFFFF"/>
                </a:solidFill>
              </a:rPr>
              <a:t>▶ 感情：ロイヤルティが最高潮の段階</a:t>
            </a:r>
          </a:p>
        </p:txBody>
      </p:sp>
      <p:sp>
        <p:nvSpPr>
          <p:cNvPr id="44" name="TextBox 43"/>
          <p:cNvSpPr txBox="1"/>
          <p:nvPr/>
        </p:nvSpPr>
        <p:spPr>
          <a:xfrm>
            <a:off x="9568281" y="4023360"/>
            <a:ext cx="1934870" cy="566928"/>
          </a:xfrm>
          <a:prstGeom prst="rect">
            <a:avLst/>
          </a:prstGeom>
          <a:noFill/>
        </p:spPr>
        <p:txBody>
          <a:bodyPr wrap="square">
            <a:spAutoFit/>
          </a:bodyPr>
          <a:lstStyle/>
          <a:p>
            <a:pPr algn="l"/>
            <a:r>
              <a:rPr sz="700" b="0" i="0">
                <a:solidFill>
                  <a:srgbClr val="FFFFFF"/>
                </a:solidFill>
              </a:rPr>
              <a:t>▶ 施策：リファラルプログラムで推奨を促進する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サービスブループリント：顧客行動・フロントステージ・バックステージの3層で設計する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service_blueprint ／ 用途: サービス設計の3層構造可視化 ／ 件数: 3〜5段階</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サービスを顧客行動・フロントステージ・バックステージの3層に分解し、各接点での品質と効率を最適化する設計を行う。</a:t>
            </a:r>
          </a:p>
        </p:txBody>
      </p:sp>
      <p:sp>
        <p:nvSpPr>
          <p:cNvPr id="10" name="Rectangle 9"/>
          <p:cNvSpPr/>
          <p:nvPr/>
        </p:nvSpPr>
        <p:spPr>
          <a:xfrm>
            <a:off x="548640" y="1828800"/>
            <a:ext cx="1371600" cy="150876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 y="1920240"/>
            <a:ext cx="1225296" cy="1325880"/>
          </a:xfrm>
          <a:prstGeom prst="rect">
            <a:avLst/>
          </a:prstGeom>
          <a:noFill/>
        </p:spPr>
        <p:txBody>
          <a:bodyPr wrap="square">
            <a:spAutoFit/>
          </a:bodyPr>
          <a:lstStyle/>
          <a:p>
            <a:pPr algn="l"/>
            <a:r>
              <a:rPr sz="800" b="1" i="0">
                <a:solidFill>
                  <a:srgbClr val="FFFFFF"/>
                </a:solidFill>
              </a:rPr>
              <a:t>顧客行動</a:t>
            </a:r>
          </a:p>
        </p:txBody>
      </p:sp>
      <p:sp>
        <p:nvSpPr>
          <p:cNvPr id="12" name="Rectangle 11"/>
          <p:cNvSpPr/>
          <p:nvPr/>
        </p:nvSpPr>
        <p:spPr>
          <a:xfrm>
            <a:off x="2029968" y="1828800"/>
            <a:ext cx="2345436" cy="150876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121408" y="1901952"/>
            <a:ext cx="2162556" cy="201168"/>
          </a:xfrm>
          <a:prstGeom prst="rect">
            <a:avLst/>
          </a:prstGeom>
          <a:noFill/>
        </p:spPr>
        <p:txBody>
          <a:bodyPr wrap="square">
            <a:spAutoFit/>
          </a:bodyPr>
          <a:lstStyle/>
          <a:p>
            <a:pPr algn="l"/>
            <a:r>
              <a:rPr sz="800" b="1" i="0">
                <a:solidFill>
                  <a:srgbClr val="0C3570"/>
                </a:solidFill>
              </a:rPr>
              <a:t>問い合わせ</a:t>
            </a:r>
          </a:p>
        </p:txBody>
      </p:sp>
      <p:sp>
        <p:nvSpPr>
          <p:cNvPr id="14" name="TextBox 13"/>
          <p:cNvSpPr txBox="1"/>
          <p:nvPr/>
        </p:nvSpPr>
        <p:spPr>
          <a:xfrm>
            <a:off x="2121408" y="2121408"/>
            <a:ext cx="2162556" cy="1124712"/>
          </a:xfrm>
          <a:prstGeom prst="rect">
            <a:avLst/>
          </a:prstGeom>
          <a:noFill/>
        </p:spPr>
        <p:txBody>
          <a:bodyPr wrap="square">
            <a:spAutoFit/>
          </a:bodyPr>
          <a:lstStyle/>
          <a:p>
            <a:pPr algn="l"/>
            <a:r>
              <a:rPr sz="750" b="0" i="0">
                <a:solidFill>
                  <a:srgbClr val="444444"/>
                </a:solidFill>
              </a:rPr>
              <a:t>Webフォームまたは電話で問い合わせを行い、対応を待つ。</a:t>
            </a:r>
          </a:p>
        </p:txBody>
      </p:sp>
      <p:sp>
        <p:nvSpPr>
          <p:cNvPr id="15" name="Rectangle 14"/>
          <p:cNvSpPr/>
          <p:nvPr/>
        </p:nvSpPr>
        <p:spPr>
          <a:xfrm>
            <a:off x="4430268" y="1828800"/>
            <a:ext cx="2345436" cy="150876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21708" y="1901952"/>
            <a:ext cx="2162556" cy="201168"/>
          </a:xfrm>
          <a:prstGeom prst="rect">
            <a:avLst/>
          </a:prstGeom>
          <a:noFill/>
        </p:spPr>
        <p:txBody>
          <a:bodyPr wrap="square">
            <a:spAutoFit/>
          </a:bodyPr>
          <a:lstStyle/>
          <a:p>
            <a:pPr algn="l"/>
            <a:r>
              <a:rPr sz="800" b="1" i="0">
                <a:solidFill>
                  <a:srgbClr val="0C3570"/>
                </a:solidFill>
              </a:rPr>
              <a:t>デモ参加</a:t>
            </a:r>
          </a:p>
        </p:txBody>
      </p:sp>
      <p:sp>
        <p:nvSpPr>
          <p:cNvPr id="17" name="TextBox 16"/>
          <p:cNvSpPr txBox="1"/>
          <p:nvPr/>
        </p:nvSpPr>
        <p:spPr>
          <a:xfrm>
            <a:off x="4521708" y="2121408"/>
            <a:ext cx="2162556" cy="1124712"/>
          </a:xfrm>
          <a:prstGeom prst="rect">
            <a:avLst/>
          </a:prstGeom>
          <a:noFill/>
        </p:spPr>
        <p:txBody>
          <a:bodyPr wrap="square">
            <a:spAutoFit/>
          </a:bodyPr>
          <a:lstStyle/>
          <a:p>
            <a:pPr algn="l"/>
            <a:r>
              <a:rPr sz="750" b="0" i="0">
                <a:solidFill>
                  <a:srgbClr val="444444"/>
                </a:solidFill>
              </a:rPr>
              <a:t>担当者によるデモを受け、製品の価値を確認する。</a:t>
            </a:r>
          </a:p>
        </p:txBody>
      </p:sp>
      <p:sp>
        <p:nvSpPr>
          <p:cNvPr id="18" name="Rectangle 17"/>
          <p:cNvSpPr/>
          <p:nvPr/>
        </p:nvSpPr>
        <p:spPr>
          <a:xfrm>
            <a:off x="6830568" y="1828800"/>
            <a:ext cx="2345436" cy="150876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22008" y="1901952"/>
            <a:ext cx="2162556" cy="201168"/>
          </a:xfrm>
          <a:prstGeom prst="rect">
            <a:avLst/>
          </a:prstGeom>
          <a:noFill/>
        </p:spPr>
        <p:txBody>
          <a:bodyPr wrap="square">
            <a:spAutoFit/>
          </a:bodyPr>
          <a:lstStyle/>
          <a:p>
            <a:pPr algn="l"/>
            <a:r>
              <a:rPr sz="800" b="1" i="0">
                <a:solidFill>
                  <a:srgbClr val="0C3570"/>
                </a:solidFill>
              </a:rPr>
              <a:t>契約・導入</a:t>
            </a:r>
          </a:p>
        </p:txBody>
      </p:sp>
      <p:sp>
        <p:nvSpPr>
          <p:cNvPr id="20" name="TextBox 19"/>
          <p:cNvSpPr txBox="1"/>
          <p:nvPr/>
        </p:nvSpPr>
        <p:spPr>
          <a:xfrm>
            <a:off x="6922008" y="2121408"/>
            <a:ext cx="2162556" cy="1124712"/>
          </a:xfrm>
          <a:prstGeom prst="rect">
            <a:avLst/>
          </a:prstGeom>
          <a:noFill/>
        </p:spPr>
        <p:txBody>
          <a:bodyPr wrap="square">
            <a:spAutoFit/>
          </a:bodyPr>
          <a:lstStyle/>
          <a:p>
            <a:pPr algn="l"/>
            <a:r>
              <a:rPr sz="750" b="0" i="0">
                <a:solidFill>
                  <a:srgbClr val="444444"/>
                </a:solidFill>
              </a:rPr>
              <a:t>契約手続きを完了し、初期設定と研修を受ける。</a:t>
            </a:r>
          </a:p>
        </p:txBody>
      </p:sp>
      <p:sp>
        <p:nvSpPr>
          <p:cNvPr id="21" name="Rectangle 20"/>
          <p:cNvSpPr/>
          <p:nvPr/>
        </p:nvSpPr>
        <p:spPr>
          <a:xfrm>
            <a:off x="9230868" y="1828800"/>
            <a:ext cx="2345436" cy="150876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322308" y="1901952"/>
            <a:ext cx="2162556" cy="201168"/>
          </a:xfrm>
          <a:prstGeom prst="rect">
            <a:avLst/>
          </a:prstGeom>
          <a:noFill/>
        </p:spPr>
        <p:txBody>
          <a:bodyPr wrap="square">
            <a:spAutoFit/>
          </a:bodyPr>
          <a:lstStyle/>
          <a:p>
            <a:pPr algn="l"/>
            <a:r>
              <a:rPr sz="800" b="1" i="0">
                <a:solidFill>
                  <a:srgbClr val="0C3570"/>
                </a:solidFill>
              </a:rPr>
              <a:t>日常利用</a:t>
            </a:r>
          </a:p>
        </p:txBody>
      </p:sp>
      <p:sp>
        <p:nvSpPr>
          <p:cNvPr id="23" name="TextBox 22"/>
          <p:cNvSpPr txBox="1"/>
          <p:nvPr/>
        </p:nvSpPr>
        <p:spPr>
          <a:xfrm>
            <a:off x="9322308" y="2121408"/>
            <a:ext cx="2162556" cy="1124712"/>
          </a:xfrm>
          <a:prstGeom prst="rect">
            <a:avLst/>
          </a:prstGeom>
          <a:noFill/>
        </p:spPr>
        <p:txBody>
          <a:bodyPr wrap="square">
            <a:spAutoFit/>
          </a:bodyPr>
          <a:lstStyle/>
          <a:p>
            <a:pPr algn="l"/>
            <a:r>
              <a:rPr sz="750" b="0" i="0">
                <a:solidFill>
                  <a:srgbClr val="444444"/>
                </a:solidFill>
              </a:rPr>
              <a:t>製品を日常業務に組み込み、継続的に活用する。</a:t>
            </a:r>
          </a:p>
        </p:txBody>
      </p:sp>
      <p:sp>
        <p:nvSpPr>
          <p:cNvPr id="24" name="Rectangle 23"/>
          <p:cNvSpPr/>
          <p:nvPr/>
        </p:nvSpPr>
        <p:spPr>
          <a:xfrm>
            <a:off x="548640" y="3410712"/>
            <a:ext cx="1371600" cy="150876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1792" y="3502152"/>
            <a:ext cx="1225296" cy="1325880"/>
          </a:xfrm>
          <a:prstGeom prst="rect">
            <a:avLst/>
          </a:prstGeom>
          <a:noFill/>
        </p:spPr>
        <p:txBody>
          <a:bodyPr wrap="square">
            <a:spAutoFit/>
          </a:bodyPr>
          <a:lstStyle/>
          <a:p>
            <a:pPr algn="l"/>
            <a:r>
              <a:rPr sz="800" b="1" i="0">
                <a:solidFill>
                  <a:srgbClr val="FFFFFF"/>
                </a:solidFill>
              </a:rPr>
              <a:t>フロントステージ（顧客可視）</a:t>
            </a:r>
          </a:p>
        </p:txBody>
      </p:sp>
      <p:sp>
        <p:nvSpPr>
          <p:cNvPr id="26" name="Rectangle 25"/>
          <p:cNvSpPr/>
          <p:nvPr/>
        </p:nvSpPr>
        <p:spPr>
          <a:xfrm>
            <a:off x="2029968" y="3410712"/>
            <a:ext cx="2345436" cy="1508760"/>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121408" y="3483864"/>
            <a:ext cx="2162556" cy="201168"/>
          </a:xfrm>
          <a:prstGeom prst="rect">
            <a:avLst/>
          </a:prstGeom>
          <a:noFill/>
        </p:spPr>
        <p:txBody>
          <a:bodyPr wrap="square">
            <a:spAutoFit/>
          </a:bodyPr>
          <a:lstStyle/>
          <a:p>
            <a:pPr algn="l"/>
            <a:r>
              <a:rPr sz="800" b="1" i="0">
                <a:solidFill>
                  <a:srgbClr val="0C3570"/>
                </a:solidFill>
              </a:rPr>
              <a:t>初回対応</a:t>
            </a:r>
          </a:p>
        </p:txBody>
      </p:sp>
      <p:sp>
        <p:nvSpPr>
          <p:cNvPr id="28" name="TextBox 27"/>
          <p:cNvSpPr txBox="1"/>
          <p:nvPr/>
        </p:nvSpPr>
        <p:spPr>
          <a:xfrm>
            <a:off x="2121408" y="3703320"/>
            <a:ext cx="2162556" cy="1124712"/>
          </a:xfrm>
          <a:prstGeom prst="rect">
            <a:avLst/>
          </a:prstGeom>
          <a:noFill/>
        </p:spPr>
        <p:txBody>
          <a:bodyPr wrap="square">
            <a:spAutoFit/>
          </a:bodyPr>
          <a:lstStyle/>
          <a:p>
            <a:pPr algn="l"/>
            <a:r>
              <a:rPr sz="750" b="0" i="0">
                <a:solidFill>
                  <a:srgbClr val="444444"/>
                </a:solidFill>
              </a:rPr>
              <a:t>24時間以内の初回返答と、担当者アサインを行う。対応品質が第一印象を決定する。</a:t>
            </a:r>
          </a:p>
        </p:txBody>
      </p:sp>
      <p:sp>
        <p:nvSpPr>
          <p:cNvPr id="29" name="Rectangle 28"/>
          <p:cNvSpPr/>
          <p:nvPr/>
        </p:nvSpPr>
        <p:spPr>
          <a:xfrm>
            <a:off x="4430268" y="3410712"/>
            <a:ext cx="2345436" cy="1508760"/>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21708" y="3483864"/>
            <a:ext cx="2162556" cy="201168"/>
          </a:xfrm>
          <a:prstGeom prst="rect">
            <a:avLst/>
          </a:prstGeom>
          <a:noFill/>
        </p:spPr>
        <p:txBody>
          <a:bodyPr wrap="square">
            <a:spAutoFit/>
          </a:bodyPr>
          <a:lstStyle/>
          <a:p>
            <a:pPr algn="l"/>
            <a:r>
              <a:rPr sz="800" b="1" i="0">
                <a:solidFill>
                  <a:srgbClr val="0C3570"/>
                </a:solidFill>
              </a:rPr>
              <a:t>デモ実施</a:t>
            </a:r>
          </a:p>
        </p:txBody>
      </p:sp>
      <p:sp>
        <p:nvSpPr>
          <p:cNvPr id="31" name="TextBox 30"/>
          <p:cNvSpPr txBox="1"/>
          <p:nvPr/>
        </p:nvSpPr>
        <p:spPr>
          <a:xfrm>
            <a:off x="4521708" y="3703320"/>
            <a:ext cx="2162556" cy="1124712"/>
          </a:xfrm>
          <a:prstGeom prst="rect">
            <a:avLst/>
          </a:prstGeom>
          <a:noFill/>
        </p:spPr>
        <p:txBody>
          <a:bodyPr wrap="square">
            <a:spAutoFit/>
          </a:bodyPr>
          <a:lstStyle/>
          <a:p>
            <a:pPr algn="l"/>
            <a:r>
              <a:rPr sz="750" b="0" i="0">
                <a:solidFill>
                  <a:srgbClr val="444444"/>
                </a:solidFill>
              </a:rPr>
              <a:t>顧客の課題に合わせたカスタマイズデモを実施し、具体的な価値を体感させる。</a:t>
            </a:r>
          </a:p>
        </p:txBody>
      </p:sp>
      <p:sp>
        <p:nvSpPr>
          <p:cNvPr id="32" name="Rectangle 31"/>
          <p:cNvSpPr/>
          <p:nvPr/>
        </p:nvSpPr>
        <p:spPr>
          <a:xfrm>
            <a:off x="6830568" y="3410712"/>
            <a:ext cx="2345436" cy="1508760"/>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922008" y="3483864"/>
            <a:ext cx="2162556" cy="201168"/>
          </a:xfrm>
          <a:prstGeom prst="rect">
            <a:avLst/>
          </a:prstGeom>
          <a:noFill/>
        </p:spPr>
        <p:txBody>
          <a:bodyPr wrap="square">
            <a:spAutoFit/>
          </a:bodyPr>
          <a:lstStyle/>
          <a:p>
            <a:pPr algn="l"/>
            <a:r>
              <a:rPr sz="800" b="1" i="0">
                <a:solidFill>
                  <a:srgbClr val="0C3570"/>
                </a:solidFill>
              </a:rPr>
              <a:t>オンボーディング</a:t>
            </a:r>
          </a:p>
        </p:txBody>
      </p:sp>
      <p:sp>
        <p:nvSpPr>
          <p:cNvPr id="34" name="TextBox 33"/>
          <p:cNvSpPr txBox="1"/>
          <p:nvPr/>
        </p:nvSpPr>
        <p:spPr>
          <a:xfrm>
            <a:off x="6922008" y="3703320"/>
            <a:ext cx="2162556" cy="1124712"/>
          </a:xfrm>
          <a:prstGeom prst="rect">
            <a:avLst/>
          </a:prstGeom>
          <a:noFill/>
        </p:spPr>
        <p:txBody>
          <a:bodyPr wrap="square">
            <a:spAutoFit/>
          </a:bodyPr>
          <a:lstStyle/>
          <a:p>
            <a:pPr algn="l"/>
            <a:r>
              <a:rPr sz="750" b="0" i="0">
                <a:solidFill>
                  <a:srgbClr val="444444"/>
                </a:solidFill>
              </a:rPr>
              <a:t>構造化されたオンボーディングプログラムで、30日以内の初期成果創出を支援する。</a:t>
            </a:r>
          </a:p>
        </p:txBody>
      </p:sp>
      <p:sp>
        <p:nvSpPr>
          <p:cNvPr id="35" name="Rectangle 34"/>
          <p:cNvSpPr/>
          <p:nvPr/>
        </p:nvSpPr>
        <p:spPr>
          <a:xfrm>
            <a:off x="9230868" y="3410712"/>
            <a:ext cx="2345436" cy="1508760"/>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322308" y="3483864"/>
            <a:ext cx="2162556" cy="201168"/>
          </a:xfrm>
          <a:prstGeom prst="rect">
            <a:avLst/>
          </a:prstGeom>
          <a:noFill/>
        </p:spPr>
        <p:txBody>
          <a:bodyPr wrap="square">
            <a:spAutoFit/>
          </a:bodyPr>
          <a:lstStyle/>
          <a:p>
            <a:pPr algn="l"/>
            <a:r>
              <a:rPr sz="800" b="1" i="0">
                <a:solidFill>
                  <a:srgbClr val="0C3570"/>
                </a:solidFill>
              </a:rPr>
              <a:t>定期チェックイン</a:t>
            </a:r>
          </a:p>
        </p:txBody>
      </p:sp>
      <p:sp>
        <p:nvSpPr>
          <p:cNvPr id="37" name="TextBox 36"/>
          <p:cNvSpPr txBox="1"/>
          <p:nvPr/>
        </p:nvSpPr>
        <p:spPr>
          <a:xfrm>
            <a:off x="9322308" y="3703320"/>
            <a:ext cx="2162556" cy="1124712"/>
          </a:xfrm>
          <a:prstGeom prst="rect">
            <a:avLst/>
          </a:prstGeom>
          <a:noFill/>
        </p:spPr>
        <p:txBody>
          <a:bodyPr wrap="square">
            <a:spAutoFit/>
          </a:bodyPr>
          <a:lstStyle/>
          <a:p>
            <a:pPr algn="l"/>
            <a:r>
              <a:rPr sz="750" b="0" i="0">
                <a:solidFill>
                  <a:srgbClr val="444444"/>
                </a:solidFill>
              </a:rPr>
              <a:t>月次の成果確認ミーティングで、活用状況と課題を把握し、プロアクティブに支援する。</a:t>
            </a:r>
          </a:p>
        </p:txBody>
      </p:sp>
      <p:sp>
        <p:nvSpPr>
          <p:cNvPr id="38" name="Rectangle 37"/>
          <p:cNvSpPr/>
          <p:nvPr/>
        </p:nvSpPr>
        <p:spPr>
          <a:xfrm>
            <a:off x="548640" y="4992624"/>
            <a:ext cx="1371600" cy="150876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1792" y="5084064"/>
            <a:ext cx="1225296" cy="1325880"/>
          </a:xfrm>
          <a:prstGeom prst="rect">
            <a:avLst/>
          </a:prstGeom>
          <a:noFill/>
        </p:spPr>
        <p:txBody>
          <a:bodyPr wrap="square">
            <a:spAutoFit/>
          </a:bodyPr>
          <a:lstStyle/>
          <a:p>
            <a:pPr algn="l"/>
            <a:r>
              <a:rPr sz="800" b="1" i="0">
                <a:solidFill>
                  <a:srgbClr val="FFFFFF"/>
                </a:solidFill>
              </a:rPr>
              <a:t>バックステージ（顧客不可視）</a:t>
            </a:r>
          </a:p>
        </p:txBody>
      </p:sp>
      <p:sp>
        <p:nvSpPr>
          <p:cNvPr id="40" name="Rectangle 39"/>
          <p:cNvSpPr/>
          <p:nvPr/>
        </p:nvSpPr>
        <p:spPr>
          <a:xfrm>
            <a:off x="2029968" y="4992624"/>
            <a:ext cx="2345436" cy="150876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121408" y="5065776"/>
            <a:ext cx="2162556" cy="201168"/>
          </a:xfrm>
          <a:prstGeom prst="rect">
            <a:avLst/>
          </a:prstGeom>
          <a:noFill/>
        </p:spPr>
        <p:txBody>
          <a:bodyPr wrap="square">
            <a:spAutoFit/>
          </a:bodyPr>
          <a:lstStyle/>
          <a:p>
            <a:pPr algn="l"/>
            <a:r>
              <a:rPr sz="800" b="1" i="0">
                <a:solidFill>
                  <a:srgbClr val="FFFFFF"/>
                </a:solidFill>
              </a:rPr>
              <a:t>リード管理</a:t>
            </a:r>
          </a:p>
        </p:txBody>
      </p:sp>
      <p:sp>
        <p:nvSpPr>
          <p:cNvPr id="42" name="TextBox 41"/>
          <p:cNvSpPr txBox="1"/>
          <p:nvPr/>
        </p:nvSpPr>
        <p:spPr>
          <a:xfrm>
            <a:off x="2121408" y="5285232"/>
            <a:ext cx="2162556" cy="1124712"/>
          </a:xfrm>
          <a:prstGeom prst="rect">
            <a:avLst/>
          </a:prstGeom>
          <a:noFill/>
        </p:spPr>
        <p:txBody>
          <a:bodyPr wrap="square">
            <a:spAutoFit/>
          </a:bodyPr>
          <a:lstStyle/>
          <a:p>
            <a:pPr algn="l"/>
            <a:r>
              <a:rPr sz="750" b="0" i="0">
                <a:solidFill>
                  <a:srgbClr val="FFFFFF"/>
                </a:solidFill>
              </a:rPr>
              <a:t>CRMでリード情報を管理し、優先度付けと担当者アサインを自動化する。</a:t>
            </a:r>
          </a:p>
        </p:txBody>
      </p:sp>
      <p:sp>
        <p:nvSpPr>
          <p:cNvPr id="43" name="Rectangle 42"/>
          <p:cNvSpPr/>
          <p:nvPr/>
        </p:nvSpPr>
        <p:spPr>
          <a:xfrm>
            <a:off x="4430268" y="4992624"/>
            <a:ext cx="2345436" cy="150876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521708" y="5065776"/>
            <a:ext cx="2162556" cy="201168"/>
          </a:xfrm>
          <a:prstGeom prst="rect">
            <a:avLst/>
          </a:prstGeom>
          <a:noFill/>
        </p:spPr>
        <p:txBody>
          <a:bodyPr wrap="square">
            <a:spAutoFit/>
          </a:bodyPr>
          <a:lstStyle/>
          <a:p>
            <a:pPr algn="l"/>
            <a:r>
              <a:rPr sz="800" b="1" i="0">
                <a:solidFill>
                  <a:srgbClr val="FFFFFF"/>
                </a:solidFill>
              </a:rPr>
              <a:t>デモ準備</a:t>
            </a:r>
          </a:p>
        </p:txBody>
      </p:sp>
      <p:sp>
        <p:nvSpPr>
          <p:cNvPr id="45" name="TextBox 44"/>
          <p:cNvSpPr txBox="1"/>
          <p:nvPr/>
        </p:nvSpPr>
        <p:spPr>
          <a:xfrm>
            <a:off x="4521708" y="5285232"/>
            <a:ext cx="2162556" cy="1124712"/>
          </a:xfrm>
          <a:prstGeom prst="rect">
            <a:avLst/>
          </a:prstGeom>
          <a:noFill/>
        </p:spPr>
        <p:txBody>
          <a:bodyPr wrap="square">
            <a:spAutoFit/>
          </a:bodyPr>
          <a:lstStyle/>
          <a:p>
            <a:pPr algn="l"/>
            <a:r>
              <a:rPr sz="750" b="0" i="0">
                <a:solidFill>
                  <a:srgbClr val="FFFFFF"/>
                </a:solidFill>
              </a:rPr>
              <a:t>顧客の業界・課題に合わせたデモシナリオを事前に準備し、品質を均一化する。</a:t>
            </a:r>
          </a:p>
        </p:txBody>
      </p:sp>
      <p:sp>
        <p:nvSpPr>
          <p:cNvPr id="46" name="Rectangle 45"/>
          <p:cNvSpPr/>
          <p:nvPr/>
        </p:nvSpPr>
        <p:spPr>
          <a:xfrm>
            <a:off x="6830568" y="4992624"/>
            <a:ext cx="2345436" cy="150876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922008" y="5065776"/>
            <a:ext cx="2162556" cy="201168"/>
          </a:xfrm>
          <a:prstGeom prst="rect">
            <a:avLst/>
          </a:prstGeom>
          <a:noFill/>
        </p:spPr>
        <p:txBody>
          <a:bodyPr wrap="square">
            <a:spAutoFit/>
          </a:bodyPr>
          <a:lstStyle/>
          <a:p>
            <a:pPr algn="l"/>
            <a:r>
              <a:rPr sz="800" b="1" i="0">
                <a:solidFill>
                  <a:srgbClr val="FFFFFF"/>
                </a:solidFill>
              </a:rPr>
              <a:t>システム設定</a:t>
            </a:r>
          </a:p>
        </p:txBody>
      </p:sp>
      <p:sp>
        <p:nvSpPr>
          <p:cNvPr id="48" name="TextBox 47"/>
          <p:cNvSpPr txBox="1"/>
          <p:nvPr/>
        </p:nvSpPr>
        <p:spPr>
          <a:xfrm>
            <a:off x="6922008" y="5285232"/>
            <a:ext cx="2162556" cy="1124712"/>
          </a:xfrm>
          <a:prstGeom prst="rect">
            <a:avLst/>
          </a:prstGeom>
          <a:noFill/>
        </p:spPr>
        <p:txBody>
          <a:bodyPr wrap="square">
            <a:spAutoFit/>
          </a:bodyPr>
          <a:lstStyle/>
          <a:p>
            <a:pPr algn="l"/>
            <a:r>
              <a:rPr sz="750" b="0" i="0">
                <a:solidFill>
                  <a:srgbClr val="FFFFFF"/>
                </a:solidFill>
              </a:rPr>
              <a:t>顧客環境に合わせた初期設定を自動化し、導入工数を最小化する。</a:t>
            </a:r>
          </a:p>
        </p:txBody>
      </p:sp>
      <p:sp>
        <p:nvSpPr>
          <p:cNvPr id="49" name="Rectangle 48"/>
          <p:cNvSpPr/>
          <p:nvPr/>
        </p:nvSpPr>
        <p:spPr>
          <a:xfrm>
            <a:off x="9230868" y="4992624"/>
            <a:ext cx="2345436" cy="150876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322308" y="5065776"/>
            <a:ext cx="2162556" cy="201168"/>
          </a:xfrm>
          <a:prstGeom prst="rect">
            <a:avLst/>
          </a:prstGeom>
          <a:noFill/>
        </p:spPr>
        <p:txBody>
          <a:bodyPr wrap="square">
            <a:spAutoFit/>
          </a:bodyPr>
          <a:lstStyle/>
          <a:p>
            <a:pPr algn="l"/>
            <a:r>
              <a:rPr sz="800" b="1" i="0">
                <a:solidFill>
                  <a:srgbClr val="FFFFFF"/>
                </a:solidFill>
              </a:rPr>
              <a:t>ヘルススコア監視</a:t>
            </a:r>
          </a:p>
        </p:txBody>
      </p:sp>
      <p:sp>
        <p:nvSpPr>
          <p:cNvPr id="51" name="TextBox 50"/>
          <p:cNvSpPr txBox="1"/>
          <p:nvPr/>
        </p:nvSpPr>
        <p:spPr>
          <a:xfrm>
            <a:off x="9322308" y="5285232"/>
            <a:ext cx="2162556" cy="1124712"/>
          </a:xfrm>
          <a:prstGeom prst="rect">
            <a:avLst/>
          </a:prstGeom>
          <a:noFill/>
        </p:spPr>
        <p:txBody>
          <a:bodyPr wrap="square">
            <a:spAutoFit/>
          </a:bodyPr>
          <a:lstStyle/>
          <a:p>
            <a:pPr algn="l"/>
            <a:r>
              <a:rPr sz="750" b="0" i="0">
                <a:solidFill>
                  <a:srgbClr val="FFFFFF"/>
                </a:solidFill>
              </a:rPr>
              <a:t>活用率・ログイン頻度・問い合わせ数を自動集計し、解約リスクを早期検知する。</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ファネル分析：認知から成約まで5段階の転換率を改善することで売上を2倍にできる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funnel ／ 用途: 転換率・段階的絞り込みの可視化 ／ 件数: 4〜6段階</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認知から成約までの5段階ファネルを分析すると、デモ→提案の転換率改善が最大のレバレッジポイントであることが判明した。</a:t>
            </a:r>
          </a:p>
        </p:txBody>
      </p:sp>
      <p:sp>
        <p:nvSpPr>
          <p:cNvPr id="10" name="Rectangle 9"/>
          <p:cNvSpPr/>
          <p:nvPr/>
        </p:nvSpPr>
        <p:spPr>
          <a:xfrm>
            <a:off x="548640" y="1874519"/>
            <a:ext cx="5029200" cy="804672"/>
          </a:xfrm>
          <a:prstGeom prst="rect">
            <a:avLst/>
          </a:prstGeom>
          <a:solidFill>
            <a:srgbClr val="1D1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057400"/>
            <a:ext cx="4754880" cy="438912"/>
          </a:xfrm>
          <a:prstGeom prst="rect">
            <a:avLst/>
          </a:prstGeom>
          <a:noFill/>
        </p:spPr>
        <p:txBody>
          <a:bodyPr wrap="square">
            <a:spAutoFit/>
          </a:bodyPr>
          <a:lstStyle/>
          <a:p>
            <a:pPr algn="l"/>
            <a:r>
              <a:rPr sz="900" b="1" i="0">
                <a:solidFill>
                  <a:srgbClr val="FFFFFF"/>
                </a:solidFill>
              </a:rPr>
              <a:t>認知  10,000件  (100%)</a:t>
            </a:r>
          </a:p>
        </p:txBody>
      </p:sp>
      <p:sp>
        <p:nvSpPr>
          <p:cNvPr id="12" name="Rectangle 11"/>
          <p:cNvSpPr/>
          <p:nvPr/>
        </p:nvSpPr>
        <p:spPr>
          <a:xfrm>
            <a:off x="1051560" y="2807208"/>
            <a:ext cx="4023360" cy="804672"/>
          </a:xfrm>
          <a:prstGeom prst="rect">
            <a:avLst/>
          </a:prstGeom>
          <a:solidFill>
            <a:srgbClr val="1D2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88719" y="2990088"/>
            <a:ext cx="3749040" cy="438912"/>
          </a:xfrm>
          <a:prstGeom prst="rect">
            <a:avLst/>
          </a:prstGeom>
          <a:noFill/>
        </p:spPr>
        <p:txBody>
          <a:bodyPr wrap="square">
            <a:spAutoFit/>
          </a:bodyPr>
          <a:lstStyle/>
          <a:p>
            <a:pPr algn="l"/>
            <a:r>
              <a:rPr sz="900" b="1" i="0">
                <a:solidFill>
                  <a:srgbClr val="FFFFFF"/>
                </a:solidFill>
              </a:rPr>
              <a:t>問い合わせ  2,000件  (20%)</a:t>
            </a:r>
          </a:p>
        </p:txBody>
      </p:sp>
      <p:sp>
        <p:nvSpPr>
          <p:cNvPr id="14" name="Rectangle 13"/>
          <p:cNvSpPr/>
          <p:nvPr/>
        </p:nvSpPr>
        <p:spPr>
          <a:xfrm>
            <a:off x="1554480" y="3739896"/>
            <a:ext cx="3017520" cy="804672"/>
          </a:xfrm>
          <a:prstGeom prst="rect">
            <a:avLst/>
          </a:prstGeom>
          <a:solidFill>
            <a:srgbClr val="1D42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691640" y="3922776"/>
            <a:ext cx="2743200" cy="438912"/>
          </a:xfrm>
          <a:prstGeom prst="rect">
            <a:avLst/>
          </a:prstGeom>
          <a:noFill/>
        </p:spPr>
        <p:txBody>
          <a:bodyPr wrap="square">
            <a:spAutoFit/>
          </a:bodyPr>
          <a:lstStyle/>
          <a:p>
            <a:pPr algn="l"/>
            <a:r>
              <a:rPr sz="900" b="1" i="0">
                <a:solidFill>
                  <a:srgbClr val="FFFFFF"/>
                </a:solidFill>
              </a:rPr>
              <a:t>デモ参加  800件  (8%)</a:t>
            </a:r>
          </a:p>
        </p:txBody>
      </p:sp>
      <p:sp>
        <p:nvSpPr>
          <p:cNvPr id="16" name="Rectangle 15"/>
          <p:cNvSpPr/>
          <p:nvPr/>
        </p:nvSpPr>
        <p:spPr>
          <a:xfrm>
            <a:off x="1931669" y="4672583"/>
            <a:ext cx="2263140" cy="804672"/>
          </a:xfrm>
          <a:prstGeom prst="rect">
            <a:avLst/>
          </a:prstGeom>
          <a:solidFill>
            <a:srgbClr val="1D5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068829" y="4855464"/>
            <a:ext cx="1988820" cy="438912"/>
          </a:xfrm>
          <a:prstGeom prst="rect">
            <a:avLst/>
          </a:prstGeom>
          <a:noFill/>
        </p:spPr>
        <p:txBody>
          <a:bodyPr wrap="square">
            <a:spAutoFit/>
          </a:bodyPr>
          <a:lstStyle/>
          <a:p>
            <a:pPr algn="l"/>
            <a:r>
              <a:rPr sz="900" b="1" i="0">
                <a:solidFill>
                  <a:srgbClr val="FFFFFF"/>
                </a:solidFill>
              </a:rPr>
              <a:t>提案受領  320件  (3.2%)</a:t>
            </a:r>
          </a:p>
        </p:txBody>
      </p:sp>
      <p:sp>
        <p:nvSpPr>
          <p:cNvPr id="18" name="Rectangle 17"/>
          <p:cNvSpPr/>
          <p:nvPr/>
        </p:nvSpPr>
        <p:spPr>
          <a:xfrm>
            <a:off x="2308860" y="5605272"/>
            <a:ext cx="1508760" cy="804672"/>
          </a:xfrm>
          <a:prstGeom prst="rect">
            <a:avLst/>
          </a:prstGeom>
          <a:solidFill>
            <a:srgbClr val="1D68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446020" y="5788152"/>
            <a:ext cx="1234439" cy="438912"/>
          </a:xfrm>
          <a:prstGeom prst="rect">
            <a:avLst/>
          </a:prstGeom>
          <a:noFill/>
        </p:spPr>
        <p:txBody>
          <a:bodyPr wrap="square">
            <a:spAutoFit/>
          </a:bodyPr>
          <a:lstStyle/>
          <a:p>
            <a:pPr algn="l"/>
            <a:r>
              <a:rPr sz="900" b="1" i="0">
                <a:solidFill>
                  <a:srgbClr val="FFFFFF"/>
                </a:solidFill>
              </a:rPr>
              <a:t>成約  96件  (0.96%)</a:t>
            </a:r>
          </a:p>
        </p:txBody>
      </p:sp>
      <p:sp>
        <p:nvSpPr>
          <p:cNvPr id="20" name="Rectangle 19"/>
          <p:cNvSpPr/>
          <p:nvPr/>
        </p:nvSpPr>
        <p:spPr>
          <a:xfrm>
            <a:off x="6766560" y="1828800"/>
            <a:ext cx="4846320" cy="1097280"/>
          </a:xfrm>
          <a:prstGeom prst="rect">
            <a:avLst/>
          </a:prstGeom>
          <a:solidFill>
            <a:srgbClr val="E8EEF8"/>
          </a:solidFill>
          <a:ln w="6350">
            <a:solidFill>
              <a:srgbClr val="1D5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76288" y="1883664"/>
            <a:ext cx="4626864" cy="164592"/>
          </a:xfrm>
          <a:prstGeom prst="rect">
            <a:avLst/>
          </a:prstGeom>
          <a:noFill/>
        </p:spPr>
        <p:txBody>
          <a:bodyPr wrap="square">
            <a:spAutoFit/>
          </a:bodyPr>
          <a:lstStyle/>
          <a:p>
            <a:pPr algn="l"/>
            <a:r>
              <a:rPr sz="750" b="1" i="0">
                <a:solidFill>
                  <a:srgbClr val="1D51A3"/>
                </a:solidFill>
              </a:rPr>
              <a:t>INSIGHT</a:t>
            </a:r>
          </a:p>
        </p:txBody>
      </p:sp>
      <p:sp>
        <p:nvSpPr>
          <p:cNvPr id="22" name="TextBox 21"/>
          <p:cNvSpPr txBox="1"/>
          <p:nvPr/>
        </p:nvSpPr>
        <p:spPr>
          <a:xfrm>
            <a:off x="6876288" y="2066543"/>
            <a:ext cx="4626864" cy="804671"/>
          </a:xfrm>
          <a:prstGeom prst="rect">
            <a:avLst/>
          </a:prstGeom>
          <a:noFill/>
        </p:spPr>
        <p:txBody>
          <a:bodyPr wrap="square">
            <a:spAutoFit/>
          </a:bodyPr>
          <a:lstStyle/>
          <a:p>
            <a:pPr algn="l"/>
            <a:r>
              <a:rPr sz="750" b="0" i="0">
                <a:solidFill>
                  <a:srgbClr val="0C3570"/>
                </a:solidFill>
              </a:rPr>
              <a:t>デモ→提案の転換率（40%）が業界平均（55%）を大幅に下回っており、ここの改善が最大のレバレッジポイントである。</a:t>
            </a:r>
          </a:p>
        </p:txBody>
      </p:sp>
      <p:sp>
        <p:nvSpPr>
          <p:cNvPr id="23" name="Rectangle 22"/>
          <p:cNvSpPr/>
          <p:nvPr/>
        </p:nvSpPr>
        <p:spPr>
          <a:xfrm>
            <a:off x="6766560" y="3017520"/>
            <a:ext cx="4846320" cy="182880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76288" y="3108960"/>
            <a:ext cx="4626864" cy="164592"/>
          </a:xfrm>
          <a:prstGeom prst="rect">
            <a:avLst/>
          </a:prstGeom>
          <a:noFill/>
        </p:spPr>
        <p:txBody>
          <a:bodyPr wrap="square">
            <a:spAutoFit/>
          </a:bodyPr>
          <a:lstStyle/>
          <a:p>
            <a:pPr algn="l"/>
            <a:r>
              <a:rPr sz="750" b="1" i="0">
                <a:solidFill>
                  <a:srgbClr val="1D51A3"/>
                </a:solidFill>
              </a:rPr>
              <a:t>改善施策 01</a:t>
            </a:r>
          </a:p>
        </p:txBody>
      </p:sp>
      <p:sp>
        <p:nvSpPr>
          <p:cNvPr id="25" name="TextBox 24"/>
          <p:cNvSpPr txBox="1"/>
          <p:nvPr/>
        </p:nvSpPr>
        <p:spPr>
          <a:xfrm>
            <a:off x="6876288" y="3291839"/>
            <a:ext cx="4626864" cy="320040"/>
          </a:xfrm>
          <a:prstGeom prst="rect">
            <a:avLst/>
          </a:prstGeom>
          <a:noFill/>
        </p:spPr>
        <p:txBody>
          <a:bodyPr wrap="square">
            <a:spAutoFit/>
          </a:bodyPr>
          <a:lstStyle/>
          <a:p>
            <a:pPr algn="l"/>
            <a:r>
              <a:rPr sz="1000" b="1" i="0">
                <a:solidFill>
                  <a:srgbClr val="0C3570"/>
                </a:solidFill>
              </a:rPr>
              <a:t>デモ品質の向上で転換率を55%に改善</a:t>
            </a:r>
          </a:p>
        </p:txBody>
      </p:sp>
      <p:sp>
        <p:nvSpPr>
          <p:cNvPr id="26" name="TextBox 25"/>
          <p:cNvSpPr txBox="1"/>
          <p:nvPr/>
        </p:nvSpPr>
        <p:spPr>
          <a:xfrm>
            <a:off x="6876288" y="3630168"/>
            <a:ext cx="4626864" cy="347472"/>
          </a:xfrm>
          <a:prstGeom prst="rect">
            <a:avLst/>
          </a:prstGeom>
          <a:noFill/>
        </p:spPr>
        <p:txBody>
          <a:bodyPr wrap="square">
            <a:spAutoFit/>
          </a:bodyPr>
          <a:lstStyle/>
          <a:p>
            <a:pPr algn="l"/>
            <a:r>
              <a:rPr sz="750" b="0" i="0">
                <a:solidFill>
                  <a:srgbClr val="444444"/>
                </a:solidFill>
              </a:rPr>
              <a:t>デモ参加者の提案受領率を現状の40%から業界平均の55%に改善することで、成約数が1.4倍になる。</a:t>
            </a:r>
          </a:p>
        </p:txBody>
      </p:sp>
      <p:sp>
        <p:nvSpPr>
          <p:cNvPr id="27" name="TextBox 26"/>
          <p:cNvSpPr txBox="1"/>
          <p:nvPr/>
        </p:nvSpPr>
        <p:spPr>
          <a:xfrm>
            <a:off x="6903720" y="4023360"/>
            <a:ext cx="4572000" cy="502920"/>
          </a:xfrm>
          <a:prstGeom prst="rect">
            <a:avLst/>
          </a:prstGeom>
          <a:noFill/>
        </p:spPr>
        <p:txBody>
          <a:bodyPr wrap="square">
            <a:spAutoFit/>
          </a:bodyPr>
          <a:lstStyle/>
          <a:p>
            <a:pPr algn="l"/>
            <a:r>
              <a:rPr sz="700" b="0" i="0">
                <a:solidFill>
                  <a:srgbClr val="444444"/>
                </a:solidFill>
              </a:rPr>
              <a:t>▶ 現状課題：デモが製品機能の説明に終始しており、顧客の具体的な課題解決シナリオを示せていないため転換率が低い。</a:t>
            </a:r>
          </a:p>
        </p:txBody>
      </p:sp>
      <p:sp>
        <p:nvSpPr>
          <p:cNvPr id="28" name="TextBox 27"/>
          <p:cNvSpPr txBox="1"/>
          <p:nvPr/>
        </p:nvSpPr>
        <p:spPr>
          <a:xfrm>
            <a:off x="6903720" y="4553712"/>
            <a:ext cx="4572000" cy="502920"/>
          </a:xfrm>
          <a:prstGeom prst="rect">
            <a:avLst/>
          </a:prstGeom>
          <a:noFill/>
        </p:spPr>
        <p:txBody>
          <a:bodyPr wrap="square">
            <a:spAutoFit/>
          </a:bodyPr>
          <a:lstStyle/>
          <a:p>
            <a:pPr algn="l"/>
            <a:r>
              <a:rPr sz="700" b="0" i="0">
                <a:solidFill>
                  <a:srgbClr val="444444"/>
                </a:solidFill>
              </a:rPr>
              <a:t>▶ 改善策：顧客の業界・課題に合わせたカスタマイズデモを実施し、ROI試算を提示することで提案受領率を向上させる。</a:t>
            </a:r>
          </a:p>
        </p:txBody>
      </p:sp>
      <p:sp>
        <p:nvSpPr>
          <p:cNvPr id="29" name="Rectangle 28"/>
          <p:cNvSpPr/>
          <p:nvPr/>
        </p:nvSpPr>
        <p:spPr>
          <a:xfrm>
            <a:off x="6766560" y="4937760"/>
            <a:ext cx="4846320" cy="173736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76288" y="5029200"/>
            <a:ext cx="4626864" cy="164592"/>
          </a:xfrm>
          <a:prstGeom prst="rect">
            <a:avLst/>
          </a:prstGeom>
          <a:noFill/>
        </p:spPr>
        <p:txBody>
          <a:bodyPr wrap="square">
            <a:spAutoFit/>
          </a:bodyPr>
          <a:lstStyle/>
          <a:p>
            <a:pPr algn="l"/>
            <a:r>
              <a:rPr sz="750" b="1" i="0">
                <a:solidFill>
                  <a:srgbClr val="93B5E6"/>
                </a:solidFill>
              </a:rPr>
              <a:t>改善施策 02</a:t>
            </a:r>
          </a:p>
        </p:txBody>
      </p:sp>
      <p:sp>
        <p:nvSpPr>
          <p:cNvPr id="31" name="TextBox 30"/>
          <p:cNvSpPr txBox="1"/>
          <p:nvPr/>
        </p:nvSpPr>
        <p:spPr>
          <a:xfrm>
            <a:off x="6876288" y="5212080"/>
            <a:ext cx="4626864" cy="320040"/>
          </a:xfrm>
          <a:prstGeom prst="rect">
            <a:avLst/>
          </a:prstGeom>
          <a:noFill/>
        </p:spPr>
        <p:txBody>
          <a:bodyPr wrap="square">
            <a:spAutoFit/>
          </a:bodyPr>
          <a:lstStyle/>
          <a:p>
            <a:pPr algn="l"/>
            <a:r>
              <a:rPr sz="1000" b="1" i="0">
                <a:solidFill>
                  <a:srgbClr val="FFFFFF"/>
                </a:solidFill>
              </a:rPr>
              <a:t>提案→成約の転換率を35%に改善</a:t>
            </a:r>
          </a:p>
        </p:txBody>
      </p:sp>
      <p:sp>
        <p:nvSpPr>
          <p:cNvPr id="32" name="TextBox 31"/>
          <p:cNvSpPr txBox="1"/>
          <p:nvPr/>
        </p:nvSpPr>
        <p:spPr>
          <a:xfrm>
            <a:off x="6876288" y="5550408"/>
            <a:ext cx="4626864" cy="347472"/>
          </a:xfrm>
          <a:prstGeom prst="rect">
            <a:avLst/>
          </a:prstGeom>
          <a:noFill/>
        </p:spPr>
        <p:txBody>
          <a:bodyPr wrap="square">
            <a:spAutoFit/>
          </a:bodyPr>
          <a:lstStyle/>
          <a:p>
            <a:pPr algn="l"/>
            <a:r>
              <a:rPr sz="750" b="0" i="0">
                <a:solidFill>
                  <a:srgbClr val="FFFFFF"/>
                </a:solidFill>
              </a:rPr>
              <a:t>提案受領から成約までの転換率を現状の30%から35%に改善することで、成約数がさらに1.2倍になる。</a:t>
            </a:r>
          </a:p>
        </p:txBody>
      </p:sp>
      <p:sp>
        <p:nvSpPr>
          <p:cNvPr id="33" name="TextBox 32"/>
          <p:cNvSpPr txBox="1"/>
          <p:nvPr/>
        </p:nvSpPr>
        <p:spPr>
          <a:xfrm>
            <a:off x="6903720" y="5943600"/>
            <a:ext cx="4572000" cy="502920"/>
          </a:xfrm>
          <a:prstGeom prst="rect">
            <a:avLst/>
          </a:prstGeom>
          <a:noFill/>
        </p:spPr>
        <p:txBody>
          <a:bodyPr wrap="square">
            <a:spAutoFit/>
          </a:bodyPr>
          <a:lstStyle/>
          <a:p>
            <a:pPr algn="l"/>
            <a:r>
              <a:rPr sz="700" b="0" i="0">
                <a:solidFill>
                  <a:srgbClr val="FFFFFF"/>
                </a:solidFill>
              </a:rPr>
              <a:t>▶ 現状課題：提案書の内容が汎用的で、顧客固有の課題への対応が不明確なため、競合との差別化ができていない。</a:t>
            </a:r>
          </a:p>
        </p:txBody>
      </p:sp>
      <p:sp>
        <p:nvSpPr>
          <p:cNvPr id="34" name="TextBox 33"/>
          <p:cNvSpPr txBox="1"/>
          <p:nvPr/>
        </p:nvSpPr>
        <p:spPr>
          <a:xfrm>
            <a:off x="6903720" y="6473952"/>
            <a:ext cx="4572000" cy="502920"/>
          </a:xfrm>
          <a:prstGeom prst="rect">
            <a:avLst/>
          </a:prstGeom>
          <a:noFill/>
        </p:spPr>
        <p:txBody>
          <a:bodyPr wrap="square">
            <a:spAutoFit/>
          </a:bodyPr>
          <a:lstStyle/>
          <a:p>
            <a:pPr algn="l"/>
            <a:r>
              <a:rPr sz="700" b="0" i="0">
                <a:solidFill>
                  <a:srgbClr val="FFFFFF"/>
                </a:solidFill>
              </a:rPr>
              <a:t>▶ 改善策：顧客の課題に特化したカスタム提案書と、導入後の成果保証プログラムを提供することで成約率を向上させる。</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3フェーズのロードマップ：準備・実行・拡大の順序で確実に成果を積み上げる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timeline_3 ／ 用途: 3段階の時系列計画 ／ 件数: 3件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3フェーズのロードマップを設定し、各フェーズの実施内容・完了条件・成果物を明確にすることで、確実な実行を担保する。</a:t>
            </a:r>
          </a:p>
        </p:txBody>
      </p:sp>
      <p:sp>
        <p:nvSpPr>
          <p:cNvPr id="10" name="Rectangle 9"/>
          <p:cNvSpPr/>
          <p:nvPr/>
        </p:nvSpPr>
        <p:spPr>
          <a:xfrm>
            <a:off x="548640" y="1828800"/>
            <a:ext cx="3627120"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883664"/>
            <a:ext cx="3627120" cy="4791456"/>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938528"/>
            <a:ext cx="3407664" cy="182880"/>
          </a:xfrm>
          <a:prstGeom prst="rect">
            <a:avLst/>
          </a:prstGeom>
          <a:noFill/>
        </p:spPr>
        <p:txBody>
          <a:bodyPr wrap="square">
            <a:spAutoFit/>
          </a:bodyPr>
          <a:lstStyle/>
          <a:p>
            <a:pPr algn="l"/>
            <a:r>
              <a:rPr sz="750" b="1" i="0">
                <a:solidFill>
                  <a:srgbClr val="1D51A3"/>
                </a:solidFill>
              </a:rPr>
              <a:t>Phase 1 ／ 2026年Q1</a:t>
            </a:r>
          </a:p>
        </p:txBody>
      </p:sp>
      <p:sp>
        <p:nvSpPr>
          <p:cNvPr id="13" name="TextBox 12"/>
          <p:cNvSpPr txBox="1"/>
          <p:nvPr/>
        </p:nvSpPr>
        <p:spPr>
          <a:xfrm>
            <a:off x="658368" y="2139696"/>
            <a:ext cx="3407664" cy="292608"/>
          </a:xfrm>
          <a:prstGeom prst="rect">
            <a:avLst/>
          </a:prstGeom>
          <a:noFill/>
        </p:spPr>
        <p:txBody>
          <a:bodyPr wrap="square">
            <a:spAutoFit/>
          </a:bodyPr>
          <a:lstStyle/>
          <a:p>
            <a:pPr algn="l"/>
            <a:r>
              <a:rPr sz="1100" b="1" i="0">
                <a:solidFill>
                  <a:srgbClr val="0C3570"/>
                </a:solidFill>
              </a:rPr>
              <a:t>準備・基盤整備</a:t>
            </a:r>
          </a:p>
        </p:txBody>
      </p:sp>
      <p:sp>
        <p:nvSpPr>
          <p:cNvPr id="14" name="TextBox 13"/>
          <p:cNvSpPr txBox="1"/>
          <p:nvPr/>
        </p:nvSpPr>
        <p:spPr>
          <a:xfrm>
            <a:off x="658368" y="2468880"/>
            <a:ext cx="3407664" cy="347472"/>
          </a:xfrm>
          <a:prstGeom prst="rect">
            <a:avLst/>
          </a:prstGeom>
          <a:noFill/>
        </p:spPr>
        <p:txBody>
          <a:bodyPr wrap="square">
            <a:spAutoFit/>
          </a:bodyPr>
          <a:lstStyle/>
          <a:p>
            <a:pPr algn="l"/>
            <a:r>
              <a:rPr sz="750" b="0" i="0">
                <a:solidFill>
                  <a:srgbClr val="444444"/>
                </a:solidFill>
              </a:rPr>
              <a:t>CS体制の整備とツール導入を完了し、本格展開の基盤を構築する。</a:t>
            </a:r>
          </a:p>
        </p:txBody>
      </p:sp>
      <p:sp>
        <p:nvSpPr>
          <p:cNvPr id="15" name="TextBox 14"/>
          <p:cNvSpPr txBox="1"/>
          <p:nvPr/>
        </p:nvSpPr>
        <p:spPr>
          <a:xfrm>
            <a:off x="676656" y="2880360"/>
            <a:ext cx="3371088" cy="594360"/>
          </a:xfrm>
          <a:prstGeom prst="rect">
            <a:avLst/>
          </a:prstGeom>
          <a:noFill/>
        </p:spPr>
        <p:txBody>
          <a:bodyPr wrap="square">
            <a:spAutoFit/>
          </a:bodyPr>
          <a:lstStyle/>
          <a:p>
            <a:pPr algn="l"/>
            <a:r>
              <a:rPr sz="700" b="0" i="0">
                <a:solidFill>
                  <a:srgbClr val="444444"/>
                </a:solidFill>
              </a:rPr>
              <a:t>▶ 実施内容：CS担当者の採用（5名→8名）・CRMの導入・オンボーディングプログラムの設計を完了する。</a:t>
            </a:r>
          </a:p>
        </p:txBody>
      </p:sp>
      <p:sp>
        <p:nvSpPr>
          <p:cNvPr id="16" name="TextBox 15"/>
          <p:cNvSpPr txBox="1"/>
          <p:nvPr/>
        </p:nvSpPr>
        <p:spPr>
          <a:xfrm>
            <a:off x="676656" y="3502152"/>
            <a:ext cx="3371088" cy="594360"/>
          </a:xfrm>
          <a:prstGeom prst="rect">
            <a:avLst/>
          </a:prstGeom>
          <a:noFill/>
        </p:spPr>
        <p:txBody>
          <a:bodyPr wrap="square">
            <a:spAutoFit/>
          </a:bodyPr>
          <a:lstStyle/>
          <a:p>
            <a:pPr algn="l"/>
            <a:r>
              <a:rPr sz="700" b="0" i="0">
                <a:solidFill>
                  <a:srgbClr val="444444"/>
                </a:solidFill>
              </a:rPr>
              <a:t>▶ 完了条件：CS体制の整備完了・ツール稼働確認・パイロット顧客20社での検証完了</a:t>
            </a:r>
          </a:p>
        </p:txBody>
      </p:sp>
      <p:sp>
        <p:nvSpPr>
          <p:cNvPr id="17" name="TextBox 16"/>
          <p:cNvSpPr txBox="1"/>
          <p:nvPr/>
        </p:nvSpPr>
        <p:spPr>
          <a:xfrm>
            <a:off x="676656" y="4123944"/>
            <a:ext cx="3371088" cy="594360"/>
          </a:xfrm>
          <a:prstGeom prst="rect">
            <a:avLst/>
          </a:prstGeom>
          <a:noFill/>
        </p:spPr>
        <p:txBody>
          <a:bodyPr wrap="square">
            <a:spAutoFit/>
          </a:bodyPr>
          <a:lstStyle/>
          <a:p>
            <a:pPr algn="l"/>
            <a:r>
              <a:rPr sz="700" b="0" i="0">
                <a:solidFill>
                  <a:srgbClr val="444444"/>
                </a:solidFill>
              </a:rPr>
              <a:t>▶ 成果物：CS運用マニュアル・ヘルススコア定義書・オンボーディングプログラム</a:t>
            </a:r>
          </a:p>
        </p:txBody>
      </p:sp>
      <p:sp>
        <p:nvSpPr>
          <p:cNvPr id="18" name="Rectangle 17"/>
          <p:cNvSpPr/>
          <p:nvPr/>
        </p:nvSpPr>
        <p:spPr>
          <a:xfrm>
            <a:off x="4267199" y="1828800"/>
            <a:ext cx="3627120"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267199" y="1883664"/>
            <a:ext cx="3627120" cy="4791456"/>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76928" y="1938528"/>
            <a:ext cx="3407664" cy="182880"/>
          </a:xfrm>
          <a:prstGeom prst="rect">
            <a:avLst/>
          </a:prstGeom>
          <a:noFill/>
        </p:spPr>
        <p:txBody>
          <a:bodyPr wrap="square">
            <a:spAutoFit/>
          </a:bodyPr>
          <a:lstStyle/>
          <a:p>
            <a:pPr algn="l"/>
            <a:r>
              <a:rPr sz="750" b="1" i="0">
                <a:solidFill>
                  <a:srgbClr val="1D51A3"/>
                </a:solidFill>
              </a:rPr>
              <a:t>Phase 2 ／ 2026年Q2〜Q3</a:t>
            </a:r>
          </a:p>
        </p:txBody>
      </p:sp>
      <p:sp>
        <p:nvSpPr>
          <p:cNvPr id="21" name="TextBox 20"/>
          <p:cNvSpPr txBox="1"/>
          <p:nvPr/>
        </p:nvSpPr>
        <p:spPr>
          <a:xfrm>
            <a:off x="4376928" y="2139696"/>
            <a:ext cx="3407664" cy="292608"/>
          </a:xfrm>
          <a:prstGeom prst="rect">
            <a:avLst/>
          </a:prstGeom>
          <a:noFill/>
        </p:spPr>
        <p:txBody>
          <a:bodyPr wrap="square">
            <a:spAutoFit/>
          </a:bodyPr>
          <a:lstStyle/>
          <a:p>
            <a:pPr algn="l"/>
            <a:r>
              <a:rPr sz="1100" b="1" i="0">
                <a:solidFill>
                  <a:srgbClr val="0C3570"/>
                </a:solidFill>
              </a:rPr>
              <a:t>本格展開・効果検証</a:t>
            </a:r>
          </a:p>
        </p:txBody>
      </p:sp>
      <p:sp>
        <p:nvSpPr>
          <p:cNvPr id="22" name="TextBox 21"/>
          <p:cNvSpPr txBox="1"/>
          <p:nvPr/>
        </p:nvSpPr>
        <p:spPr>
          <a:xfrm>
            <a:off x="4376928" y="2468880"/>
            <a:ext cx="3407664" cy="347472"/>
          </a:xfrm>
          <a:prstGeom prst="rect">
            <a:avLst/>
          </a:prstGeom>
          <a:noFill/>
        </p:spPr>
        <p:txBody>
          <a:bodyPr wrap="square">
            <a:spAutoFit/>
          </a:bodyPr>
          <a:lstStyle/>
          <a:p>
            <a:pPr algn="l"/>
            <a:r>
              <a:rPr sz="750" b="0" i="0">
                <a:solidFill>
                  <a:srgbClr val="444444"/>
                </a:solidFill>
              </a:rPr>
              <a:t>全顧客への施策展開と効果測定を行い、改善サイクルを確立する。</a:t>
            </a:r>
          </a:p>
        </p:txBody>
      </p:sp>
      <p:sp>
        <p:nvSpPr>
          <p:cNvPr id="23" name="TextBox 22"/>
          <p:cNvSpPr txBox="1"/>
          <p:nvPr/>
        </p:nvSpPr>
        <p:spPr>
          <a:xfrm>
            <a:off x="4395215" y="2880360"/>
            <a:ext cx="3371088" cy="594360"/>
          </a:xfrm>
          <a:prstGeom prst="rect">
            <a:avLst/>
          </a:prstGeom>
          <a:noFill/>
        </p:spPr>
        <p:txBody>
          <a:bodyPr wrap="square">
            <a:spAutoFit/>
          </a:bodyPr>
          <a:lstStyle/>
          <a:p>
            <a:pPr algn="l"/>
            <a:r>
              <a:rPr sz="700" b="0" i="0">
                <a:solidFill>
                  <a:srgbClr val="444444"/>
                </a:solidFill>
              </a:rPr>
              <a:t>▶ 実施内容：全顧客へのオンボーディング改善適用・月次チェックインの実施・ヘルススコアによる解約リスク管理を開始する。</a:t>
            </a:r>
          </a:p>
        </p:txBody>
      </p:sp>
      <p:sp>
        <p:nvSpPr>
          <p:cNvPr id="24" name="TextBox 23"/>
          <p:cNvSpPr txBox="1"/>
          <p:nvPr/>
        </p:nvSpPr>
        <p:spPr>
          <a:xfrm>
            <a:off x="4395215" y="3502152"/>
            <a:ext cx="3371088" cy="594360"/>
          </a:xfrm>
          <a:prstGeom prst="rect">
            <a:avLst/>
          </a:prstGeom>
          <a:noFill/>
        </p:spPr>
        <p:txBody>
          <a:bodyPr wrap="square">
            <a:spAutoFit/>
          </a:bodyPr>
          <a:lstStyle/>
          <a:p>
            <a:pPr algn="l"/>
            <a:r>
              <a:rPr sz="700" b="0" i="0">
                <a:solidFill>
                  <a:srgbClr val="444444"/>
                </a:solidFill>
              </a:rPr>
              <a:t>▶ 完了条件：継続率の改善傾向確認（目標：前期比+5%）・NPS向上（目標：+10pt）</a:t>
            </a:r>
          </a:p>
        </p:txBody>
      </p:sp>
      <p:sp>
        <p:nvSpPr>
          <p:cNvPr id="25" name="TextBox 24"/>
          <p:cNvSpPr txBox="1"/>
          <p:nvPr/>
        </p:nvSpPr>
        <p:spPr>
          <a:xfrm>
            <a:off x="4395215" y="4123944"/>
            <a:ext cx="3371088" cy="594360"/>
          </a:xfrm>
          <a:prstGeom prst="rect">
            <a:avLst/>
          </a:prstGeom>
          <a:noFill/>
        </p:spPr>
        <p:txBody>
          <a:bodyPr wrap="square">
            <a:spAutoFit/>
          </a:bodyPr>
          <a:lstStyle/>
          <a:p>
            <a:pPr algn="l"/>
            <a:r>
              <a:rPr sz="700" b="0" i="0">
                <a:solidFill>
                  <a:srgbClr val="444444"/>
                </a:solidFill>
              </a:rPr>
              <a:t>▶ 成果物：月次KPIレポート・改善施策一覧・成功事例集</a:t>
            </a:r>
          </a:p>
        </p:txBody>
      </p:sp>
      <p:sp>
        <p:nvSpPr>
          <p:cNvPr id="26" name="Rectangle 25"/>
          <p:cNvSpPr/>
          <p:nvPr/>
        </p:nvSpPr>
        <p:spPr>
          <a:xfrm>
            <a:off x="7985759" y="1828800"/>
            <a:ext cx="3627120" cy="5486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985759" y="1883664"/>
            <a:ext cx="3627120" cy="4791456"/>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095487" y="1938528"/>
            <a:ext cx="3407664" cy="182880"/>
          </a:xfrm>
          <a:prstGeom prst="rect">
            <a:avLst/>
          </a:prstGeom>
          <a:noFill/>
        </p:spPr>
        <p:txBody>
          <a:bodyPr wrap="square">
            <a:spAutoFit/>
          </a:bodyPr>
          <a:lstStyle/>
          <a:p>
            <a:pPr algn="l"/>
            <a:r>
              <a:rPr sz="750" b="1" i="0">
                <a:solidFill>
                  <a:srgbClr val="93B5E6"/>
                </a:solidFill>
              </a:rPr>
              <a:t>Phase 3 ／ 2026年Q4</a:t>
            </a:r>
          </a:p>
        </p:txBody>
      </p:sp>
      <p:sp>
        <p:nvSpPr>
          <p:cNvPr id="29" name="TextBox 28"/>
          <p:cNvSpPr txBox="1"/>
          <p:nvPr/>
        </p:nvSpPr>
        <p:spPr>
          <a:xfrm>
            <a:off x="8095487" y="2139696"/>
            <a:ext cx="3407664" cy="292608"/>
          </a:xfrm>
          <a:prstGeom prst="rect">
            <a:avLst/>
          </a:prstGeom>
          <a:noFill/>
        </p:spPr>
        <p:txBody>
          <a:bodyPr wrap="square">
            <a:spAutoFit/>
          </a:bodyPr>
          <a:lstStyle/>
          <a:p>
            <a:pPr algn="l"/>
            <a:r>
              <a:rPr sz="1100" b="1" i="0">
                <a:solidFill>
                  <a:srgbClr val="FFFFFF"/>
                </a:solidFill>
              </a:rPr>
              <a:t>拡大・最適化</a:t>
            </a:r>
          </a:p>
        </p:txBody>
      </p:sp>
      <p:sp>
        <p:nvSpPr>
          <p:cNvPr id="30" name="TextBox 29"/>
          <p:cNvSpPr txBox="1"/>
          <p:nvPr/>
        </p:nvSpPr>
        <p:spPr>
          <a:xfrm>
            <a:off x="8095487" y="2468880"/>
            <a:ext cx="3407664" cy="347472"/>
          </a:xfrm>
          <a:prstGeom prst="rect">
            <a:avLst/>
          </a:prstGeom>
          <a:noFill/>
        </p:spPr>
        <p:txBody>
          <a:bodyPr wrap="square">
            <a:spAutoFit/>
          </a:bodyPr>
          <a:lstStyle/>
          <a:p>
            <a:pPr algn="l"/>
            <a:r>
              <a:rPr sz="750" b="0" i="0">
                <a:solidFill>
                  <a:srgbClr val="FFFFFF"/>
                </a:solidFill>
              </a:rPr>
              <a:t>成果を確認しながら施策を拡大し、持続的な成長モデルを確立する。</a:t>
            </a:r>
          </a:p>
        </p:txBody>
      </p:sp>
      <p:sp>
        <p:nvSpPr>
          <p:cNvPr id="31" name="TextBox 30"/>
          <p:cNvSpPr txBox="1"/>
          <p:nvPr/>
        </p:nvSpPr>
        <p:spPr>
          <a:xfrm>
            <a:off x="8113776" y="2880360"/>
            <a:ext cx="3371088" cy="594360"/>
          </a:xfrm>
          <a:prstGeom prst="rect">
            <a:avLst/>
          </a:prstGeom>
          <a:noFill/>
        </p:spPr>
        <p:txBody>
          <a:bodyPr wrap="square">
            <a:spAutoFit/>
          </a:bodyPr>
          <a:lstStyle/>
          <a:p>
            <a:pPr algn="l"/>
            <a:r>
              <a:rPr sz="700" b="0" i="0">
                <a:solidFill>
                  <a:srgbClr val="FFFFFF"/>
                </a:solidFill>
              </a:rPr>
              <a:t>▶ 実施内容：CS担当者の追加採用（8名→12名）・リファラルプログラムの開始・成功事例の横展開を実施する。</a:t>
            </a:r>
          </a:p>
        </p:txBody>
      </p:sp>
      <p:sp>
        <p:nvSpPr>
          <p:cNvPr id="32" name="TextBox 31"/>
          <p:cNvSpPr txBox="1"/>
          <p:nvPr/>
        </p:nvSpPr>
        <p:spPr>
          <a:xfrm>
            <a:off x="8113776" y="3502152"/>
            <a:ext cx="3371088" cy="594360"/>
          </a:xfrm>
          <a:prstGeom prst="rect">
            <a:avLst/>
          </a:prstGeom>
          <a:noFill/>
        </p:spPr>
        <p:txBody>
          <a:bodyPr wrap="square">
            <a:spAutoFit/>
          </a:bodyPr>
          <a:lstStyle/>
          <a:p>
            <a:pPr algn="l"/>
            <a:r>
              <a:rPr sz="700" b="0" i="0">
                <a:solidFill>
                  <a:srgbClr val="FFFFFF"/>
                </a:solidFill>
              </a:rPr>
              <a:t>▶ 完了条件：年間継続率15%改善達成・NPS+20pt達成・売上2.4億円増収の確認</a:t>
            </a:r>
          </a:p>
        </p:txBody>
      </p:sp>
      <p:sp>
        <p:nvSpPr>
          <p:cNvPr id="33" name="TextBox 32"/>
          <p:cNvSpPr txBox="1"/>
          <p:nvPr/>
        </p:nvSpPr>
        <p:spPr>
          <a:xfrm>
            <a:off x="8113776" y="4123944"/>
            <a:ext cx="3371088" cy="594360"/>
          </a:xfrm>
          <a:prstGeom prst="rect">
            <a:avLst/>
          </a:prstGeom>
          <a:noFill/>
        </p:spPr>
        <p:txBody>
          <a:bodyPr wrap="square">
            <a:spAutoFit/>
          </a:bodyPr>
          <a:lstStyle/>
          <a:p>
            <a:pPr algn="l"/>
            <a:r>
              <a:rPr sz="700" b="0" i="0">
                <a:solidFill>
                  <a:srgbClr val="FFFFFF"/>
                </a:solidFill>
              </a:rPr>
              <a:t>▶ 成果物：年次成果報告書・次年度計画書・スケールアップ戦略</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5段階のマイルストーン計画：各期間の実施内容と期待成果を明確に定義する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timeline_5 ／ 用途: 5段階の時系列計画 ／ 件数: 5件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5段階のマイルストーンを設定し、各期間の実施内容・完了条件・期待成果を明確にすることで、計画の実行可能性を高める。</a:t>
            </a:r>
          </a:p>
        </p:txBody>
      </p:sp>
      <p:sp>
        <p:nvSpPr>
          <p:cNvPr id="10" name="Rectangle 9"/>
          <p:cNvSpPr/>
          <p:nvPr/>
        </p:nvSpPr>
        <p:spPr>
          <a:xfrm>
            <a:off x="548640" y="1828800"/>
            <a:ext cx="2139696"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883664"/>
            <a:ext cx="2139696" cy="4791456"/>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938528"/>
            <a:ext cx="1920239" cy="182880"/>
          </a:xfrm>
          <a:prstGeom prst="rect">
            <a:avLst/>
          </a:prstGeom>
          <a:noFill/>
        </p:spPr>
        <p:txBody>
          <a:bodyPr wrap="square">
            <a:spAutoFit/>
          </a:bodyPr>
          <a:lstStyle/>
          <a:p>
            <a:pPr algn="l"/>
            <a:r>
              <a:rPr sz="750" b="1" i="0">
                <a:solidFill>
                  <a:srgbClr val="1D51A3"/>
                </a:solidFill>
              </a:rPr>
              <a:t>M1 ／ 2026年1月</a:t>
            </a:r>
          </a:p>
        </p:txBody>
      </p:sp>
      <p:sp>
        <p:nvSpPr>
          <p:cNvPr id="13" name="TextBox 12"/>
          <p:cNvSpPr txBox="1"/>
          <p:nvPr/>
        </p:nvSpPr>
        <p:spPr>
          <a:xfrm>
            <a:off x="658368" y="2139696"/>
            <a:ext cx="1920239" cy="292608"/>
          </a:xfrm>
          <a:prstGeom prst="rect">
            <a:avLst/>
          </a:prstGeom>
          <a:noFill/>
        </p:spPr>
        <p:txBody>
          <a:bodyPr wrap="square">
            <a:spAutoFit/>
          </a:bodyPr>
          <a:lstStyle/>
          <a:p>
            <a:pPr algn="l"/>
            <a:r>
              <a:rPr sz="1100" b="1" i="0">
                <a:solidFill>
                  <a:srgbClr val="0C3570"/>
                </a:solidFill>
              </a:rPr>
              <a:t>キックオフ</a:t>
            </a:r>
          </a:p>
        </p:txBody>
      </p:sp>
      <p:sp>
        <p:nvSpPr>
          <p:cNvPr id="14" name="TextBox 13"/>
          <p:cNvSpPr txBox="1"/>
          <p:nvPr/>
        </p:nvSpPr>
        <p:spPr>
          <a:xfrm>
            <a:off x="658368" y="2468880"/>
            <a:ext cx="1920239" cy="347472"/>
          </a:xfrm>
          <a:prstGeom prst="rect">
            <a:avLst/>
          </a:prstGeom>
          <a:noFill/>
        </p:spPr>
        <p:txBody>
          <a:bodyPr wrap="square">
            <a:spAutoFit/>
          </a:bodyPr>
          <a:lstStyle/>
          <a:p>
            <a:pPr algn="l"/>
            <a:r>
              <a:rPr sz="750" b="0" i="0">
                <a:solidFill>
                  <a:srgbClr val="444444"/>
                </a:solidFill>
              </a:rPr>
              <a:t>プロジェクト開始と体制構築</a:t>
            </a:r>
          </a:p>
        </p:txBody>
      </p:sp>
      <p:sp>
        <p:nvSpPr>
          <p:cNvPr id="15" name="TextBox 14"/>
          <p:cNvSpPr txBox="1"/>
          <p:nvPr/>
        </p:nvSpPr>
        <p:spPr>
          <a:xfrm>
            <a:off x="676656" y="2880360"/>
            <a:ext cx="1883663" cy="594360"/>
          </a:xfrm>
          <a:prstGeom prst="rect">
            <a:avLst/>
          </a:prstGeom>
          <a:noFill/>
        </p:spPr>
        <p:txBody>
          <a:bodyPr wrap="square">
            <a:spAutoFit/>
          </a:bodyPr>
          <a:lstStyle/>
          <a:p>
            <a:pPr algn="l"/>
            <a:r>
              <a:rPr sz="700" b="0" i="0">
                <a:solidFill>
                  <a:srgbClr val="444444"/>
                </a:solidFill>
              </a:rPr>
              <a:t>▶ 実施内容：プロジェクト計画書・体制図・KPI設定書の作成</a:t>
            </a:r>
          </a:p>
        </p:txBody>
      </p:sp>
      <p:sp>
        <p:nvSpPr>
          <p:cNvPr id="16" name="TextBox 15"/>
          <p:cNvSpPr txBox="1"/>
          <p:nvPr/>
        </p:nvSpPr>
        <p:spPr>
          <a:xfrm>
            <a:off x="676656" y="3502152"/>
            <a:ext cx="1883663" cy="594360"/>
          </a:xfrm>
          <a:prstGeom prst="rect">
            <a:avLst/>
          </a:prstGeom>
          <a:noFill/>
        </p:spPr>
        <p:txBody>
          <a:bodyPr wrap="square">
            <a:spAutoFit/>
          </a:bodyPr>
          <a:lstStyle/>
          <a:p>
            <a:pPr algn="l"/>
            <a:r>
              <a:rPr sz="700" b="0" i="0">
                <a:solidFill>
                  <a:srgbClr val="444444"/>
                </a:solidFill>
              </a:rPr>
              <a:t>▶ 完了条件：全ステークホルダーの合意取得</a:t>
            </a:r>
          </a:p>
        </p:txBody>
      </p:sp>
      <p:sp>
        <p:nvSpPr>
          <p:cNvPr id="17" name="Rectangle 16"/>
          <p:cNvSpPr/>
          <p:nvPr/>
        </p:nvSpPr>
        <p:spPr>
          <a:xfrm>
            <a:off x="2779776" y="1828800"/>
            <a:ext cx="2139696"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779776" y="1883664"/>
            <a:ext cx="2139696" cy="4791456"/>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889504" y="1938528"/>
            <a:ext cx="1920239" cy="182880"/>
          </a:xfrm>
          <a:prstGeom prst="rect">
            <a:avLst/>
          </a:prstGeom>
          <a:noFill/>
        </p:spPr>
        <p:txBody>
          <a:bodyPr wrap="square">
            <a:spAutoFit/>
          </a:bodyPr>
          <a:lstStyle/>
          <a:p>
            <a:pPr algn="l"/>
            <a:r>
              <a:rPr sz="750" b="1" i="0">
                <a:solidFill>
                  <a:srgbClr val="1D51A3"/>
                </a:solidFill>
              </a:rPr>
              <a:t>M2 ／ 2026年3月</a:t>
            </a:r>
          </a:p>
        </p:txBody>
      </p:sp>
      <p:sp>
        <p:nvSpPr>
          <p:cNvPr id="20" name="TextBox 19"/>
          <p:cNvSpPr txBox="1"/>
          <p:nvPr/>
        </p:nvSpPr>
        <p:spPr>
          <a:xfrm>
            <a:off x="2889504" y="2139696"/>
            <a:ext cx="1920239" cy="292608"/>
          </a:xfrm>
          <a:prstGeom prst="rect">
            <a:avLst/>
          </a:prstGeom>
          <a:noFill/>
        </p:spPr>
        <p:txBody>
          <a:bodyPr wrap="square">
            <a:spAutoFit/>
          </a:bodyPr>
          <a:lstStyle/>
          <a:p>
            <a:pPr algn="l"/>
            <a:r>
              <a:rPr sz="1100" b="1" i="0">
                <a:solidFill>
                  <a:srgbClr val="0C3570"/>
                </a:solidFill>
              </a:rPr>
              <a:t>基盤整備完了</a:t>
            </a:r>
          </a:p>
        </p:txBody>
      </p:sp>
      <p:sp>
        <p:nvSpPr>
          <p:cNvPr id="21" name="TextBox 20"/>
          <p:cNvSpPr txBox="1"/>
          <p:nvPr/>
        </p:nvSpPr>
        <p:spPr>
          <a:xfrm>
            <a:off x="2889504" y="2468880"/>
            <a:ext cx="1920239" cy="347472"/>
          </a:xfrm>
          <a:prstGeom prst="rect">
            <a:avLst/>
          </a:prstGeom>
          <a:noFill/>
        </p:spPr>
        <p:txBody>
          <a:bodyPr wrap="square">
            <a:spAutoFit/>
          </a:bodyPr>
          <a:lstStyle/>
          <a:p>
            <a:pPr algn="l"/>
            <a:r>
              <a:rPr sz="750" b="0" i="0">
                <a:solidFill>
                  <a:srgbClr val="444444"/>
                </a:solidFill>
              </a:rPr>
              <a:t>ツール導入とプロセス設計の完了</a:t>
            </a:r>
          </a:p>
        </p:txBody>
      </p:sp>
      <p:sp>
        <p:nvSpPr>
          <p:cNvPr id="22" name="TextBox 21"/>
          <p:cNvSpPr txBox="1"/>
          <p:nvPr/>
        </p:nvSpPr>
        <p:spPr>
          <a:xfrm>
            <a:off x="2907792" y="2880360"/>
            <a:ext cx="1883663" cy="594360"/>
          </a:xfrm>
          <a:prstGeom prst="rect">
            <a:avLst/>
          </a:prstGeom>
          <a:noFill/>
        </p:spPr>
        <p:txBody>
          <a:bodyPr wrap="square">
            <a:spAutoFit/>
          </a:bodyPr>
          <a:lstStyle/>
          <a:p>
            <a:pPr algn="l"/>
            <a:r>
              <a:rPr sz="700" b="0" i="0">
                <a:solidFill>
                  <a:srgbClr val="444444"/>
                </a:solidFill>
              </a:rPr>
              <a:t>▶ 実施内容：CRM稼働・オンボーディングプログラム完成</a:t>
            </a:r>
          </a:p>
        </p:txBody>
      </p:sp>
      <p:sp>
        <p:nvSpPr>
          <p:cNvPr id="23" name="TextBox 22"/>
          <p:cNvSpPr txBox="1"/>
          <p:nvPr/>
        </p:nvSpPr>
        <p:spPr>
          <a:xfrm>
            <a:off x="2907792" y="3502152"/>
            <a:ext cx="1883663" cy="594360"/>
          </a:xfrm>
          <a:prstGeom prst="rect">
            <a:avLst/>
          </a:prstGeom>
          <a:noFill/>
        </p:spPr>
        <p:txBody>
          <a:bodyPr wrap="square">
            <a:spAutoFit/>
          </a:bodyPr>
          <a:lstStyle/>
          <a:p>
            <a:pPr algn="l"/>
            <a:r>
              <a:rPr sz="700" b="0" i="0">
                <a:solidFill>
                  <a:srgbClr val="444444"/>
                </a:solidFill>
              </a:rPr>
              <a:t>▶ 完了条件：ツール稼働確認とパイロット開始</a:t>
            </a:r>
          </a:p>
        </p:txBody>
      </p:sp>
      <p:sp>
        <p:nvSpPr>
          <p:cNvPr id="24" name="Rectangle 23"/>
          <p:cNvSpPr/>
          <p:nvPr/>
        </p:nvSpPr>
        <p:spPr>
          <a:xfrm>
            <a:off x="5010912" y="1828800"/>
            <a:ext cx="2139696"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10912" y="1883664"/>
            <a:ext cx="2139696" cy="4791456"/>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120640" y="1938528"/>
            <a:ext cx="1920239" cy="182880"/>
          </a:xfrm>
          <a:prstGeom prst="rect">
            <a:avLst/>
          </a:prstGeom>
          <a:noFill/>
        </p:spPr>
        <p:txBody>
          <a:bodyPr wrap="square">
            <a:spAutoFit/>
          </a:bodyPr>
          <a:lstStyle/>
          <a:p>
            <a:pPr algn="l"/>
            <a:r>
              <a:rPr sz="750" b="1" i="0">
                <a:solidFill>
                  <a:srgbClr val="1D51A3"/>
                </a:solidFill>
              </a:rPr>
              <a:t>M3 ／ 2026年6月</a:t>
            </a:r>
          </a:p>
        </p:txBody>
      </p:sp>
      <p:sp>
        <p:nvSpPr>
          <p:cNvPr id="27" name="TextBox 26"/>
          <p:cNvSpPr txBox="1"/>
          <p:nvPr/>
        </p:nvSpPr>
        <p:spPr>
          <a:xfrm>
            <a:off x="5120640" y="2139696"/>
            <a:ext cx="1920239" cy="292608"/>
          </a:xfrm>
          <a:prstGeom prst="rect">
            <a:avLst/>
          </a:prstGeom>
          <a:noFill/>
        </p:spPr>
        <p:txBody>
          <a:bodyPr wrap="square">
            <a:spAutoFit/>
          </a:bodyPr>
          <a:lstStyle/>
          <a:p>
            <a:pPr algn="l"/>
            <a:r>
              <a:rPr sz="1100" b="1" i="0">
                <a:solidFill>
                  <a:srgbClr val="0C3570"/>
                </a:solidFill>
              </a:rPr>
              <a:t>中間検証</a:t>
            </a:r>
          </a:p>
        </p:txBody>
      </p:sp>
      <p:sp>
        <p:nvSpPr>
          <p:cNvPr id="28" name="TextBox 27"/>
          <p:cNvSpPr txBox="1"/>
          <p:nvPr/>
        </p:nvSpPr>
        <p:spPr>
          <a:xfrm>
            <a:off x="5120640" y="2468880"/>
            <a:ext cx="1920239" cy="347472"/>
          </a:xfrm>
          <a:prstGeom prst="rect">
            <a:avLst/>
          </a:prstGeom>
          <a:noFill/>
        </p:spPr>
        <p:txBody>
          <a:bodyPr wrap="square">
            <a:spAutoFit/>
          </a:bodyPr>
          <a:lstStyle/>
          <a:p>
            <a:pPr algn="l"/>
            <a:r>
              <a:rPr sz="750" b="0" i="0">
                <a:solidFill>
                  <a:srgbClr val="444444"/>
                </a:solidFill>
              </a:rPr>
              <a:t>パイロット施策の効果確認と改善</a:t>
            </a:r>
          </a:p>
        </p:txBody>
      </p:sp>
      <p:sp>
        <p:nvSpPr>
          <p:cNvPr id="29" name="TextBox 28"/>
          <p:cNvSpPr txBox="1"/>
          <p:nvPr/>
        </p:nvSpPr>
        <p:spPr>
          <a:xfrm>
            <a:off x="5138927" y="2880360"/>
            <a:ext cx="1883663" cy="594360"/>
          </a:xfrm>
          <a:prstGeom prst="rect">
            <a:avLst/>
          </a:prstGeom>
          <a:noFill/>
        </p:spPr>
        <p:txBody>
          <a:bodyPr wrap="square">
            <a:spAutoFit/>
          </a:bodyPr>
          <a:lstStyle/>
          <a:p>
            <a:pPr algn="l"/>
            <a:r>
              <a:rPr sz="700" b="0" i="0">
                <a:solidFill>
                  <a:srgbClr val="444444"/>
                </a:solidFill>
              </a:rPr>
              <a:t>▶ 実施内容：中間KPIレポート・改善施策一覧の作成</a:t>
            </a:r>
          </a:p>
        </p:txBody>
      </p:sp>
      <p:sp>
        <p:nvSpPr>
          <p:cNvPr id="30" name="TextBox 29"/>
          <p:cNvSpPr txBox="1"/>
          <p:nvPr/>
        </p:nvSpPr>
        <p:spPr>
          <a:xfrm>
            <a:off x="5138927" y="3502152"/>
            <a:ext cx="1883663" cy="594360"/>
          </a:xfrm>
          <a:prstGeom prst="rect">
            <a:avLst/>
          </a:prstGeom>
          <a:noFill/>
        </p:spPr>
        <p:txBody>
          <a:bodyPr wrap="square">
            <a:spAutoFit/>
          </a:bodyPr>
          <a:lstStyle/>
          <a:p>
            <a:pPr algn="l"/>
            <a:r>
              <a:rPr sz="700" b="0" i="0">
                <a:solidFill>
                  <a:srgbClr val="444444"/>
                </a:solidFill>
              </a:rPr>
              <a:t>▶ 完了条件：継続率+5%・NPS+8ptの達成</a:t>
            </a:r>
          </a:p>
        </p:txBody>
      </p:sp>
      <p:sp>
        <p:nvSpPr>
          <p:cNvPr id="31" name="Rectangle 30"/>
          <p:cNvSpPr/>
          <p:nvPr/>
        </p:nvSpPr>
        <p:spPr>
          <a:xfrm>
            <a:off x="7242048" y="1828800"/>
            <a:ext cx="2139696"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242048" y="1883664"/>
            <a:ext cx="2139696" cy="4791456"/>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51775" y="1938528"/>
            <a:ext cx="1920239" cy="182880"/>
          </a:xfrm>
          <a:prstGeom prst="rect">
            <a:avLst/>
          </a:prstGeom>
          <a:noFill/>
        </p:spPr>
        <p:txBody>
          <a:bodyPr wrap="square">
            <a:spAutoFit/>
          </a:bodyPr>
          <a:lstStyle/>
          <a:p>
            <a:pPr algn="l"/>
            <a:r>
              <a:rPr sz="750" b="1" i="0">
                <a:solidFill>
                  <a:srgbClr val="1D51A3"/>
                </a:solidFill>
              </a:rPr>
              <a:t>M4 ／ 2026年9月</a:t>
            </a:r>
          </a:p>
        </p:txBody>
      </p:sp>
      <p:sp>
        <p:nvSpPr>
          <p:cNvPr id="34" name="TextBox 33"/>
          <p:cNvSpPr txBox="1"/>
          <p:nvPr/>
        </p:nvSpPr>
        <p:spPr>
          <a:xfrm>
            <a:off x="7351775" y="2139696"/>
            <a:ext cx="1920239" cy="292608"/>
          </a:xfrm>
          <a:prstGeom prst="rect">
            <a:avLst/>
          </a:prstGeom>
          <a:noFill/>
        </p:spPr>
        <p:txBody>
          <a:bodyPr wrap="square">
            <a:spAutoFit/>
          </a:bodyPr>
          <a:lstStyle/>
          <a:p>
            <a:pPr algn="l"/>
            <a:r>
              <a:rPr sz="1100" b="1" i="0">
                <a:solidFill>
                  <a:srgbClr val="0C3570"/>
                </a:solidFill>
              </a:rPr>
              <a:t>本格展開</a:t>
            </a:r>
          </a:p>
        </p:txBody>
      </p:sp>
      <p:sp>
        <p:nvSpPr>
          <p:cNvPr id="35" name="TextBox 34"/>
          <p:cNvSpPr txBox="1"/>
          <p:nvPr/>
        </p:nvSpPr>
        <p:spPr>
          <a:xfrm>
            <a:off x="7351775" y="2468880"/>
            <a:ext cx="1920239" cy="347472"/>
          </a:xfrm>
          <a:prstGeom prst="rect">
            <a:avLst/>
          </a:prstGeom>
          <a:noFill/>
        </p:spPr>
        <p:txBody>
          <a:bodyPr wrap="square">
            <a:spAutoFit/>
          </a:bodyPr>
          <a:lstStyle/>
          <a:p>
            <a:pPr algn="l"/>
            <a:r>
              <a:rPr sz="750" b="0" i="0">
                <a:solidFill>
                  <a:srgbClr val="444444"/>
                </a:solidFill>
              </a:rPr>
              <a:t>全顧客への施策適用と効果測定</a:t>
            </a:r>
          </a:p>
        </p:txBody>
      </p:sp>
      <p:sp>
        <p:nvSpPr>
          <p:cNvPr id="36" name="TextBox 35"/>
          <p:cNvSpPr txBox="1"/>
          <p:nvPr/>
        </p:nvSpPr>
        <p:spPr>
          <a:xfrm>
            <a:off x="7370064" y="2880360"/>
            <a:ext cx="1883663" cy="594360"/>
          </a:xfrm>
          <a:prstGeom prst="rect">
            <a:avLst/>
          </a:prstGeom>
          <a:noFill/>
        </p:spPr>
        <p:txBody>
          <a:bodyPr wrap="square">
            <a:spAutoFit/>
          </a:bodyPr>
          <a:lstStyle/>
          <a:p>
            <a:pPr algn="l"/>
            <a:r>
              <a:rPr sz="700" b="0" i="0">
                <a:solidFill>
                  <a:srgbClr val="444444"/>
                </a:solidFill>
              </a:rPr>
              <a:t>▶ 実施内容：月次KPIレポート・成功事例集の作成</a:t>
            </a:r>
          </a:p>
        </p:txBody>
      </p:sp>
      <p:sp>
        <p:nvSpPr>
          <p:cNvPr id="37" name="TextBox 36"/>
          <p:cNvSpPr txBox="1"/>
          <p:nvPr/>
        </p:nvSpPr>
        <p:spPr>
          <a:xfrm>
            <a:off x="7370064" y="3502152"/>
            <a:ext cx="1883663" cy="594360"/>
          </a:xfrm>
          <a:prstGeom prst="rect">
            <a:avLst/>
          </a:prstGeom>
          <a:noFill/>
        </p:spPr>
        <p:txBody>
          <a:bodyPr wrap="square">
            <a:spAutoFit/>
          </a:bodyPr>
          <a:lstStyle/>
          <a:p>
            <a:pPr algn="l"/>
            <a:r>
              <a:rPr sz="700" b="0" i="0">
                <a:solidFill>
                  <a:srgbClr val="444444"/>
                </a:solidFill>
              </a:rPr>
              <a:t>▶ 完了条件：継続率+10%・NPS+15ptの達成</a:t>
            </a:r>
          </a:p>
        </p:txBody>
      </p:sp>
      <p:sp>
        <p:nvSpPr>
          <p:cNvPr id="38" name="Rectangle 37"/>
          <p:cNvSpPr/>
          <p:nvPr/>
        </p:nvSpPr>
        <p:spPr>
          <a:xfrm>
            <a:off x="9473184" y="1828800"/>
            <a:ext cx="2139696" cy="5486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473184" y="1883664"/>
            <a:ext cx="2139696" cy="4791456"/>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582911" y="1938528"/>
            <a:ext cx="1920239" cy="182880"/>
          </a:xfrm>
          <a:prstGeom prst="rect">
            <a:avLst/>
          </a:prstGeom>
          <a:noFill/>
        </p:spPr>
        <p:txBody>
          <a:bodyPr wrap="square">
            <a:spAutoFit/>
          </a:bodyPr>
          <a:lstStyle/>
          <a:p>
            <a:pPr algn="l"/>
            <a:r>
              <a:rPr sz="750" b="1" i="0">
                <a:solidFill>
                  <a:srgbClr val="93B5E6"/>
                </a:solidFill>
              </a:rPr>
              <a:t>M5 ／ 2026年12月</a:t>
            </a:r>
          </a:p>
        </p:txBody>
      </p:sp>
      <p:sp>
        <p:nvSpPr>
          <p:cNvPr id="41" name="TextBox 40"/>
          <p:cNvSpPr txBox="1"/>
          <p:nvPr/>
        </p:nvSpPr>
        <p:spPr>
          <a:xfrm>
            <a:off x="9582911" y="2139696"/>
            <a:ext cx="1920239" cy="292608"/>
          </a:xfrm>
          <a:prstGeom prst="rect">
            <a:avLst/>
          </a:prstGeom>
          <a:noFill/>
        </p:spPr>
        <p:txBody>
          <a:bodyPr wrap="square">
            <a:spAutoFit/>
          </a:bodyPr>
          <a:lstStyle/>
          <a:p>
            <a:pPr algn="l"/>
            <a:r>
              <a:rPr sz="1100" b="1" i="0">
                <a:solidFill>
                  <a:srgbClr val="FFFFFF"/>
                </a:solidFill>
              </a:rPr>
              <a:t>目標達成</a:t>
            </a:r>
          </a:p>
        </p:txBody>
      </p:sp>
      <p:sp>
        <p:nvSpPr>
          <p:cNvPr id="42" name="TextBox 41"/>
          <p:cNvSpPr txBox="1"/>
          <p:nvPr/>
        </p:nvSpPr>
        <p:spPr>
          <a:xfrm>
            <a:off x="9582911" y="2468880"/>
            <a:ext cx="1920239" cy="347472"/>
          </a:xfrm>
          <a:prstGeom prst="rect">
            <a:avLst/>
          </a:prstGeom>
          <a:noFill/>
        </p:spPr>
        <p:txBody>
          <a:bodyPr wrap="square">
            <a:spAutoFit/>
          </a:bodyPr>
          <a:lstStyle/>
          <a:p>
            <a:pPr algn="l"/>
            <a:r>
              <a:rPr sz="750" b="0" i="0">
                <a:solidFill>
                  <a:srgbClr val="FFFFFF"/>
                </a:solidFill>
              </a:rPr>
              <a:t>年間目標の達成確認と次年度計画</a:t>
            </a:r>
          </a:p>
        </p:txBody>
      </p:sp>
      <p:sp>
        <p:nvSpPr>
          <p:cNvPr id="43" name="TextBox 42"/>
          <p:cNvSpPr txBox="1"/>
          <p:nvPr/>
        </p:nvSpPr>
        <p:spPr>
          <a:xfrm>
            <a:off x="9601200" y="2880360"/>
            <a:ext cx="1883663" cy="594360"/>
          </a:xfrm>
          <a:prstGeom prst="rect">
            <a:avLst/>
          </a:prstGeom>
          <a:noFill/>
        </p:spPr>
        <p:txBody>
          <a:bodyPr wrap="square">
            <a:spAutoFit/>
          </a:bodyPr>
          <a:lstStyle/>
          <a:p>
            <a:pPr algn="l"/>
            <a:r>
              <a:rPr sz="700" b="0" i="0">
                <a:solidFill>
                  <a:srgbClr val="FFFFFF"/>
                </a:solidFill>
              </a:rPr>
              <a:t>▶ 実施内容：年次成果報告書・次年度計画書の作成</a:t>
            </a:r>
          </a:p>
        </p:txBody>
      </p:sp>
      <p:sp>
        <p:nvSpPr>
          <p:cNvPr id="44" name="TextBox 43"/>
          <p:cNvSpPr txBox="1"/>
          <p:nvPr/>
        </p:nvSpPr>
        <p:spPr>
          <a:xfrm>
            <a:off x="9601200" y="3502152"/>
            <a:ext cx="1883663" cy="594360"/>
          </a:xfrm>
          <a:prstGeom prst="rect">
            <a:avLst/>
          </a:prstGeom>
          <a:noFill/>
        </p:spPr>
        <p:txBody>
          <a:bodyPr wrap="square">
            <a:spAutoFit/>
          </a:bodyPr>
          <a:lstStyle/>
          <a:p>
            <a:pPr algn="l"/>
            <a:r>
              <a:rPr sz="700" b="0" i="0">
                <a:solidFill>
                  <a:srgbClr val="FFFFFF"/>
                </a:solidFill>
              </a:rPr>
              <a:t>▶ 完了条件：継続率+15%・売上+2.4億円の達成</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四半期ロードマップ：4四半期の実施計画と期待成果を明確に定義する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roadmap_quarter ／ 用途: 四半期単位の実行計画 ／ 件数: 4件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4四半期のロードマップを設定し、各四半期の実施内容・完了条件・期待成果を明確にすることで、年間計画の実行可能性を高める。</a:t>
            </a:r>
          </a:p>
        </p:txBody>
      </p:sp>
      <p:sp>
        <p:nvSpPr>
          <p:cNvPr id="10" name="Rectangle 9"/>
          <p:cNvSpPr/>
          <p:nvPr/>
        </p:nvSpPr>
        <p:spPr>
          <a:xfrm>
            <a:off x="548640" y="1828800"/>
            <a:ext cx="2697479"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883664"/>
            <a:ext cx="2697479" cy="4791456"/>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938528"/>
            <a:ext cx="2478024" cy="182880"/>
          </a:xfrm>
          <a:prstGeom prst="rect">
            <a:avLst/>
          </a:prstGeom>
          <a:noFill/>
        </p:spPr>
        <p:txBody>
          <a:bodyPr wrap="square">
            <a:spAutoFit/>
          </a:bodyPr>
          <a:lstStyle/>
          <a:p>
            <a:pPr algn="l"/>
            <a:r>
              <a:rPr sz="750" b="1" i="0">
                <a:solidFill>
                  <a:srgbClr val="1D51A3"/>
                </a:solidFill>
              </a:rPr>
              <a:t>Q1 ／ 2026年1〜3月</a:t>
            </a:r>
          </a:p>
        </p:txBody>
      </p:sp>
      <p:sp>
        <p:nvSpPr>
          <p:cNvPr id="13" name="TextBox 12"/>
          <p:cNvSpPr txBox="1"/>
          <p:nvPr/>
        </p:nvSpPr>
        <p:spPr>
          <a:xfrm>
            <a:off x="658368" y="2139696"/>
            <a:ext cx="2478024" cy="256032"/>
          </a:xfrm>
          <a:prstGeom prst="rect">
            <a:avLst/>
          </a:prstGeom>
          <a:noFill/>
        </p:spPr>
        <p:txBody>
          <a:bodyPr wrap="square">
            <a:spAutoFit/>
          </a:bodyPr>
          <a:lstStyle/>
          <a:p>
            <a:pPr algn="l"/>
            <a:r>
              <a:rPr sz="1200" b="1" i="0">
                <a:solidFill>
                  <a:srgbClr val="0C3570"/>
                </a:solidFill>
              </a:rPr>
              <a:t>基盤整備</a:t>
            </a:r>
          </a:p>
        </p:txBody>
      </p:sp>
      <p:sp>
        <p:nvSpPr>
          <p:cNvPr id="14" name="TextBox 13"/>
          <p:cNvSpPr txBox="1"/>
          <p:nvPr/>
        </p:nvSpPr>
        <p:spPr>
          <a:xfrm>
            <a:off x="658368" y="2423160"/>
            <a:ext cx="2478024" cy="347472"/>
          </a:xfrm>
          <a:prstGeom prst="rect">
            <a:avLst/>
          </a:prstGeom>
          <a:noFill/>
        </p:spPr>
        <p:txBody>
          <a:bodyPr wrap="square">
            <a:spAutoFit/>
          </a:bodyPr>
          <a:lstStyle/>
          <a:p>
            <a:pPr algn="l"/>
            <a:r>
              <a:rPr sz="750" b="0" i="0">
                <a:solidFill>
                  <a:srgbClr val="444444"/>
                </a:solidFill>
              </a:rPr>
              <a:t>CS体制の整備とツール導入を完了し、本格展開の基盤を構築する。</a:t>
            </a:r>
          </a:p>
        </p:txBody>
      </p:sp>
      <p:sp>
        <p:nvSpPr>
          <p:cNvPr id="15" name="TextBox 14"/>
          <p:cNvSpPr txBox="1"/>
          <p:nvPr/>
        </p:nvSpPr>
        <p:spPr>
          <a:xfrm>
            <a:off x="676656" y="2834640"/>
            <a:ext cx="2441448" cy="594360"/>
          </a:xfrm>
          <a:prstGeom prst="rect">
            <a:avLst/>
          </a:prstGeom>
          <a:noFill/>
        </p:spPr>
        <p:txBody>
          <a:bodyPr wrap="square">
            <a:spAutoFit/>
          </a:bodyPr>
          <a:lstStyle/>
          <a:p>
            <a:pPr algn="l"/>
            <a:r>
              <a:rPr sz="700" b="0" i="0">
                <a:solidFill>
                  <a:srgbClr val="444444"/>
                </a:solidFill>
              </a:rPr>
              <a:t>▶ 実施内容：CS担当者採用・CRM導入・オンボーディング設計</a:t>
            </a:r>
          </a:p>
        </p:txBody>
      </p:sp>
      <p:sp>
        <p:nvSpPr>
          <p:cNvPr id="16" name="TextBox 15"/>
          <p:cNvSpPr txBox="1"/>
          <p:nvPr/>
        </p:nvSpPr>
        <p:spPr>
          <a:xfrm>
            <a:off x="676656" y="3474720"/>
            <a:ext cx="2441448" cy="457200"/>
          </a:xfrm>
          <a:prstGeom prst="rect">
            <a:avLst/>
          </a:prstGeom>
          <a:noFill/>
        </p:spPr>
        <p:txBody>
          <a:bodyPr wrap="square">
            <a:spAutoFit/>
          </a:bodyPr>
          <a:lstStyle/>
          <a:p>
            <a:pPr algn="l"/>
            <a:r>
              <a:rPr sz="700" b="0" i="0">
                <a:solidFill>
                  <a:srgbClr val="444444"/>
                </a:solidFill>
              </a:rPr>
              <a:t>▶ 成果物：CRM稼働・プログラム完成</a:t>
            </a:r>
          </a:p>
        </p:txBody>
      </p:sp>
      <p:sp>
        <p:nvSpPr>
          <p:cNvPr id="17" name="TextBox 16"/>
          <p:cNvSpPr txBox="1"/>
          <p:nvPr/>
        </p:nvSpPr>
        <p:spPr>
          <a:xfrm>
            <a:off x="676656" y="3977639"/>
            <a:ext cx="2441448" cy="457200"/>
          </a:xfrm>
          <a:prstGeom prst="rect">
            <a:avLst/>
          </a:prstGeom>
          <a:noFill/>
        </p:spPr>
        <p:txBody>
          <a:bodyPr wrap="square">
            <a:spAutoFit/>
          </a:bodyPr>
          <a:lstStyle/>
          <a:p>
            <a:pPr algn="l"/>
            <a:r>
              <a:rPr sz="700" b="0" i="0">
                <a:solidFill>
                  <a:srgbClr val="444444"/>
                </a:solidFill>
              </a:rPr>
              <a:t>▶ 期待KPI：継続率+3%・NPS+5pt</a:t>
            </a:r>
          </a:p>
        </p:txBody>
      </p:sp>
      <p:sp>
        <p:nvSpPr>
          <p:cNvPr id="18" name="Rectangle 17"/>
          <p:cNvSpPr/>
          <p:nvPr/>
        </p:nvSpPr>
        <p:spPr>
          <a:xfrm>
            <a:off x="3337560" y="1828800"/>
            <a:ext cx="2697479"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337560" y="1883664"/>
            <a:ext cx="2697479" cy="4791456"/>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47288" y="1938528"/>
            <a:ext cx="2478024" cy="182880"/>
          </a:xfrm>
          <a:prstGeom prst="rect">
            <a:avLst/>
          </a:prstGeom>
          <a:noFill/>
        </p:spPr>
        <p:txBody>
          <a:bodyPr wrap="square">
            <a:spAutoFit/>
          </a:bodyPr>
          <a:lstStyle/>
          <a:p>
            <a:pPr algn="l"/>
            <a:r>
              <a:rPr sz="750" b="1" i="0">
                <a:solidFill>
                  <a:srgbClr val="1D51A3"/>
                </a:solidFill>
              </a:rPr>
              <a:t>Q2 ／ 2026年4〜6月</a:t>
            </a:r>
          </a:p>
        </p:txBody>
      </p:sp>
      <p:sp>
        <p:nvSpPr>
          <p:cNvPr id="21" name="TextBox 20"/>
          <p:cNvSpPr txBox="1"/>
          <p:nvPr/>
        </p:nvSpPr>
        <p:spPr>
          <a:xfrm>
            <a:off x="3447288" y="2139696"/>
            <a:ext cx="2478024" cy="256032"/>
          </a:xfrm>
          <a:prstGeom prst="rect">
            <a:avLst/>
          </a:prstGeom>
          <a:noFill/>
        </p:spPr>
        <p:txBody>
          <a:bodyPr wrap="square">
            <a:spAutoFit/>
          </a:bodyPr>
          <a:lstStyle/>
          <a:p>
            <a:pPr algn="l"/>
            <a:r>
              <a:rPr sz="1200" b="1" i="0">
                <a:solidFill>
                  <a:srgbClr val="0C3570"/>
                </a:solidFill>
              </a:rPr>
              <a:t>パイロット展開</a:t>
            </a:r>
          </a:p>
        </p:txBody>
      </p:sp>
      <p:sp>
        <p:nvSpPr>
          <p:cNvPr id="22" name="TextBox 21"/>
          <p:cNvSpPr txBox="1"/>
          <p:nvPr/>
        </p:nvSpPr>
        <p:spPr>
          <a:xfrm>
            <a:off x="3447288" y="2423160"/>
            <a:ext cx="2478024" cy="347472"/>
          </a:xfrm>
          <a:prstGeom prst="rect">
            <a:avLst/>
          </a:prstGeom>
          <a:noFill/>
        </p:spPr>
        <p:txBody>
          <a:bodyPr wrap="square">
            <a:spAutoFit/>
          </a:bodyPr>
          <a:lstStyle/>
          <a:p>
            <a:pPr algn="l"/>
            <a:r>
              <a:rPr sz="750" b="0" i="0">
                <a:solidFill>
                  <a:srgbClr val="444444"/>
                </a:solidFill>
              </a:rPr>
              <a:t>パイロット顧客50社への施策適用と効果検証を行う。</a:t>
            </a:r>
          </a:p>
        </p:txBody>
      </p:sp>
      <p:sp>
        <p:nvSpPr>
          <p:cNvPr id="23" name="TextBox 22"/>
          <p:cNvSpPr txBox="1"/>
          <p:nvPr/>
        </p:nvSpPr>
        <p:spPr>
          <a:xfrm>
            <a:off x="3465576" y="2834640"/>
            <a:ext cx="2441448" cy="594360"/>
          </a:xfrm>
          <a:prstGeom prst="rect">
            <a:avLst/>
          </a:prstGeom>
          <a:noFill/>
        </p:spPr>
        <p:txBody>
          <a:bodyPr wrap="square">
            <a:spAutoFit/>
          </a:bodyPr>
          <a:lstStyle/>
          <a:p>
            <a:pPr algn="l"/>
            <a:r>
              <a:rPr sz="700" b="0" i="0">
                <a:solidFill>
                  <a:srgbClr val="444444"/>
                </a:solidFill>
              </a:rPr>
              <a:t>▶ 実施内容：オンボーディング改善・月次チェックイン開始</a:t>
            </a:r>
          </a:p>
        </p:txBody>
      </p:sp>
      <p:sp>
        <p:nvSpPr>
          <p:cNvPr id="24" name="TextBox 23"/>
          <p:cNvSpPr txBox="1"/>
          <p:nvPr/>
        </p:nvSpPr>
        <p:spPr>
          <a:xfrm>
            <a:off x="3465576" y="3474720"/>
            <a:ext cx="2441448" cy="457200"/>
          </a:xfrm>
          <a:prstGeom prst="rect">
            <a:avLst/>
          </a:prstGeom>
          <a:noFill/>
        </p:spPr>
        <p:txBody>
          <a:bodyPr wrap="square">
            <a:spAutoFit/>
          </a:bodyPr>
          <a:lstStyle/>
          <a:p>
            <a:pPr algn="l"/>
            <a:r>
              <a:rPr sz="700" b="0" i="0">
                <a:solidFill>
                  <a:srgbClr val="444444"/>
                </a:solidFill>
              </a:rPr>
              <a:t>▶ 成果物：中間KPIレポート</a:t>
            </a:r>
          </a:p>
        </p:txBody>
      </p:sp>
      <p:sp>
        <p:nvSpPr>
          <p:cNvPr id="25" name="TextBox 24"/>
          <p:cNvSpPr txBox="1"/>
          <p:nvPr/>
        </p:nvSpPr>
        <p:spPr>
          <a:xfrm>
            <a:off x="3465576" y="3977639"/>
            <a:ext cx="2441448" cy="457200"/>
          </a:xfrm>
          <a:prstGeom prst="rect">
            <a:avLst/>
          </a:prstGeom>
          <a:noFill/>
        </p:spPr>
        <p:txBody>
          <a:bodyPr wrap="square">
            <a:spAutoFit/>
          </a:bodyPr>
          <a:lstStyle/>
          <a:p>
            <a:pPr algn="l"/>
            <a:r>
              <a:rPr sz="700" b="0" i="0">
                <a:solidFill>
                  <a:srgbClr val="444444"/>
                </a:solidFill>
              </a:rPr>
              <a:t>▶ 期待KPI：継続率+5%・NPS+8pt</a:t>
            </a:r>
          </a:p>
        </p:txBody>
      </p:sp>
      <p:sp>
        <p:nvSpPr>
          <p:cNvPr id="26" name="Rectangle 25"/>
          <p:cNvSpPr/>
          <p:nvPr/>
        </p:nvSpPr>
        <p:spPr>
          <a:xfrm>
            <a:off x="6126479" y="1828800"/>
            <a:ext cx="2697479"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126479" y="1883664"/>
            <a:ext cx="2697479" cy="4791456"/>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36207" y="1938528"/>
            <a:ext cx="2478024" cy="182880"/>
          </a:xfrm>
          <a:prstGeom prst="rect">
            <a:avLst/>
          </a:prstGeom>
          <a:noFill/>
        </p:spPr>
        <p:txBody>
          <a:bodyPr wrap="square">
            <a:spAutoFit/>
          </a:bodyPr>
          <a:lstStyle/>
          <a:p>
            <a:pPr algn="l"/>
            <a:r>
              <a:rPr sz="750" b="1" i="0">
                <a:solidFill>
                  <a:srgbClr val="1D51A3"/>
                </a:solidFill>
              </a:rPr>
              <a:t>Q3 ／ 2026年7〜9月</a:t>
            </a:r>
          </a:p>
        </p:txBody>
      </p:sp>
      <p:sp>
        <p:nvSpPr>
          <p:cNvPr id="29" name="TextBox 28"/>
          <p:cNvSpPr txBox="1"/>
          <p:nvPr/>
        </p:nvSpPr>
        <p:spPr>
          <a:xfrm>
            <a:off x="6236207" y="2139696"/>
            <a:ext cx="2478024" cy="256032"/>
          </a:xfrm>
          <a:prstGeom prst="rect">
            <a:avLst/>
          </a:prstGeom>
          <a:noFill/>
        </p:spPr>
        <p:txBody>
          <a:bodyPr wrap="square">
            <a:spAutoFit/>
          </a:bodyPr>
          <a:lstStyle/>
          <a:p>
            <a:pPr algn="l"/>
            <a:r>
              <a:rPr sz="1200" b="1" i="0">
                <a:solidFill>
                  <a:srgbClr val="0C3570"/>
                </a:solidFill>
              </a:rPr>
              <a:t>本格展開</a:t>
            </a:r>
          </a:p>
        </p:txBody>
      </p:sp>
      <p:sp>
        <p:nvSpPr>
          <p:cNvPr id="30" name="TextBox 29"/>
          <p:cNvSpPr txBox="1"/>
          <p:nvPr/>
        </p:nvSpPr>
        <p:spPr>
          <a:xfrm>
            <a:off x="6236207" y="2423160"/>
            <a:ext cx="2478024" cy="347472"/>
          </a:xfrm>
          <a:prstGeom prst="rect">
            <a:avLst/>
          </a:prstGeom>
          <a:noFill/>
        </p:spPr>
        <p:txBody>
          <a:bodyPr wrap="square">
            <a:spAutoFit/>
          </a:bodyPr>
          <a:lstStyle/>
          <a:p>
            <a:pPr algn="l"/>
            <a:r>
              <a:rPr sz="750" b="0" i="0">
                <a:solidFill>
                  <a:srgbClr val="444444"/>
                </a:solidFill>
              </a:rPr>
              <a:t>全顧客への施策適用と改善サイクルの確立を行う。</a:t>
            </a:r>
          </a:p>
        </p:txBody>
      </p:sp>
      <p:sp>
        <p:nvSpPr>
          <p:cNvPr id="31" name="TextBox 30"/>
          <p:cNvSpPr txBox="1"/>
          <p:nvPr/>
        </p:nvSpPr>
        <p:spPr>
          <a:xfrm>
            <a:off x="6254495" y="2834640"/>
            <a:ext cx="2441448" cy="594360"/>
          </a:xfrm>
          <a:prstGeom prst="rect">
            <a:avLst/>
          </a:prstGeom>
          <a:noFill/>
        </p:spPr>
        <p:txBody>
          <a:bodyPr wrap="square">
            <a:spAutoFit/>
          </a:bodyPr>
          <a:lstStyle/>
          <a:p>
            <a:pPr algn="l"/>
            <a:r>
              <a:rPr sz="700" b="0" i="0">
                <a:solidFill>
                  <a:srgbClr val="444444"/>
                </a:solidFill>
              </a:rPr>
              <a:t>▶ 実施内容：全顧客適用・ヘルススコア運用・事例収集</a:t>
            </a:r>
          </a:p>
        </p:txBody>
      </p:sp>
      <p:sp>
        <p:nvSpPr>
          <p:cNvPr id="32" name="TextBox 31"/>
          <p:cNvSpPr txBox="1"/>
          <p:nvPr/>
        </p:nvSpPr>
        <p:spPr>
          <a:xfrm>
            <a:off x="6254495" y="3474720"/>
            <a:ext cx="2441448" cy="457200"/>
          </a:xfrm>
          <a:prstGeom prst="rect">
            <a:avLst/>
          </a:prstGeom>
          <a:noFill/>
        </p:spPr>
        <p:txBody>
          <a:bodyPr wrap="square">
            <a:spAutoFit/>
          </a:bodyPr>
          <a:lstStyle/>
          <a:p>
            <a:pPr algn="l"/>
            <a:r>
              <a:rPr sz="700" b="0" i="0">
                <a:solidFill>
                  <a:srgbClr val="444444"/>
                </a:solidFill>
              </a:rPr>
              <a:t>▶ 成果物：月次KPIレポート</a:t>
            </a:r>
          </a:p>
        </p:txBody>
      </p:sp>
      <p:sp>
        <p:nvSpPr>
          <p:cNvPr id="33" name="TextBox 32"/>
          <p:cNvSpPr txBox="1"/>
          <p:nvPr/>
        </p:nvSpPr>
        <p:spPr>
          <a:xfrm>
            <a:off x="6254495" y="3977639"/>
            <a:ext cx="2441448" cy="457200"/>
          </a:xfrm>
          <a:prstGeom prst="rect">
            <a:avLst/>
          </a:prstGeom>
          <a:noFill/>
        </p:spPr>
        <p:txBody>
          <a:bodyPr wrap="square">
            <a:spAutoFit/>
          </a:bodyPr>
          <a:lstStyle/>
          <a:p>
            <a:pPr algn="l"/>
            <a:r>
              <a:rPr sz="700" b="0" i="0">
                <a:solidFill>
                  <a:srgbClr val="444444"/>
                </a:solidFill>
              </a:rPr>
              <a:t>▶ 期待KPI：継続率+10%・NPS+15pt</a:t>
            </a:r>
          </a:p>
        </p:txBody>
      </p:sp>
      <p:sp>
        <p:nvSpPr>
          <p:cNvPr id="34" name="Rectangle 33"/>
          <p:cNvSpPr/>
          <p:nvPr/>
        </p:nvSpPr>
        <p:spPr>
          <a:xfrm>
            <a:off x="8915399" y="1828800"/>
            <a:ext cx="2697479"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915399" y="1883664"/>
            <a:ext cx="2697479" cy="4791456"/>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025127" y="1938528"/>
            <a:ext cx="2478024" cy="182880"/>
          </a:xfrm>
          <a:prstGeom prst="rect">
            <a:avLst/>
          </a:prstGeom>
          <a:noFill/>
        </p:spPr>
        <p:txBody>
          <a:bodyPr wrap="square">
            <a:spAutoFit/>
          </a:bodyPr>
          <a:lstStyle/>
          <a:p>
            <a:pPr algn="l"/>
            <a:r>
              <a:rPr sz="750" b="1" i="0">
                <a:solidFill>
                  <a:srgbClr val="1D51A3"/>
                </a:solidFill>
              </a:rPr>
              <a:t>Q4 ／ 2026年10〜12月</a:t>
            </a:r>
          </a:p>
        </p:txBody>
      </p:sp>
      <p:sp>
        <p:nvSpPr>
          <p:cNvPr id="37" name="TextBox 36"/>
          <p:cNvSpPr txBox="1"/>
          <p:nvPr/>
        </p:nvSpPr>
        <p:spPr>
          <a:xfrm>
            <a:off x="9025127" y="2139696"/>
            <a:ext cx="2478024" cy="256032"/>
          </a:xfrm>
          <a:prstGeom prst="rect">
            <a:avLst/>
          </a:prstGeom>
          <a:noFill/>
        </p:spPr>
        <p:txBody>
          <a:bodyPr wrap="square">
            <a:spAutoFit/>
          </a:bodyPr>
          <a:lstStyle/>
          <a:p>
            <a:pPr algn="l"/>
            <a:r>
              <a:rPr sz="1200" b="1" i="0">
                <a:solidFill>
                  <a:srgbClr val="0C3570"/>
                </a:solidFill>
              </a:rPr>
              <a:t>拡大・最適化</a:t>
            </a:r>
          </a:p>
        </p:txBody>
      </p:sp>
      <p:sp>
        <p:nvSpPr>
          <p:cNvPr id="38" name="TextBox 37"/>
          <p:cNvSpPr txBox="1"/>
          <p:nvPr/>
        </p:nvSpPr>
        <p:spPr>
          <a:xfrm>
            <a:off x="9025127" y="2423160"/>
            <a:ext cx="2478024" cy="347472"/>
          </a:xfrm>
          <a:prstGeom prst="rect">
            <a:avLst/>
          </a:prstGeom>
          <a:noFill/>
        </p:spPr>
        <p:txBody>
          <a:bodyPr wrap="square">
            <a:spAutoFit/>
          </a:bodyPr>
          <a:lstStyle/>
          <a:p>
            <a:pPr algn="l"/>
            <a:r>
              <a:rPr sz="750" b="0" i="0">
                <a:solidFill>
                  <a:srgbClr val="444444"/>
                </a:solidFill>
              </a:rPr>
              <a:t>成果確認と次年度計画の策定を行う。</a:t>
            </a:r>
          </a:p>
        </p:txBody>
      </p:sp>
      <p:sp>
        <p:nvSpPr>
          <p:cNvPr id="39" name="TextBox 38"/>
          <p:cNvSpPr txBox="1"/>
          <p:nvPr/>
        </p:nvSpPr>
        <p:spPr>
          <a:xfrm>
            <a:off x="9043415" y="2834640"/>
            <a:ext cx="2441448" cy="594360"/>
          </a:xfrm>
          <a:prstGeom prst="rect">
            <a:avLst/>
          </a:prstGeom>
          <a:noFill/>
        </p:spPr>
        <p:txBody>
          <a:bodyPr wrap="square">
            <a:spAutoFit/>
          </a:bodyPr>
          <a:lstStyle/>
          <a:p>
            <a:pPr algn="l"/>
            <a:r>
              <a:rPr sz="700" b="0" i="0">
                <a:solidFill>
                  <a:srgbClr val="444444"/>
                </a:solidFill>
              </a:rPr>
              <a:t>▶ 実施内容：追加採用・リファラル開始・次年度計画策定</a:t>
            </a:r>
          </a:p>
        </p:txBody>
      </p:sp>
      <p:sp>
        <p:nvSpPr>
          <p:cNvPr id="40" name="TextBox 39"/>
          <p:cNvSpPr txBox="1"/>
          <p:nvPr/>
        </p:nvSpPr>
        <p:spPr>
          <a:xfrm>
            <a:off x="9043415" y="3474720"/>
            <a:ext cx="2441448" cy="457200"/>
          </a:xfrm>
          <a:prstGeom prst="rect">
            <a:avLst/>
          </a:prstGeom>
          <a:noFill/>
        </p:spPr>
        <p:txBody>
          <a:bodyPr wrap="square">
            <a:spAutoFit/>
          </a:bodyPr>
          <a:lstStyle/>
          <a:p>
            <a:pPr algn="l"/>
            <a:r>
              <a:rPr sz="700" b="0" i="0">
                <a:solidFill>
                  <a:srgbClr val="444444"/>
                </a:solidFill>
              </a:rPr>
              <a:t>▶ 成果物：年次成果報告書</a:t>
            </a:r>
          </a:p>
        </p:txBody>
      </p:sp>
      <p:sp>
        <p:nvSpPr>
          <p:cNvPr id="41" name="TextBox 40"/>
          <p:cNvSpPr txBox="1"/>
          <p:nvPr/>
        </p:nvSpPr>
        <p:spPr>
          <a:xfrm>
            <a:off x="9043415" y="3977639"/>
            <a:ext cx="2441448" cy="457200"/>
          </a:xfrm>
          <a:prstGeom prst="rect">
            <a:avLst/>
          </a:prstGeom>
          <a:noFill/>
        </p:spPr>
        <p:txBody>
          <a:bodyPr wrap="square">
            <a:spAutoFit/>
          </a:bodyPr>
          <a:lstStyle/>
          <a:p>
            <a:pPr algn="l"/>
            <a:r>
              <a:rPr sz="700" b="0" i="0">
                <a:solidFill>
                  <a:srgbClr val="444444"/>
                </a:solidFill>
              </a:rPr>
              <a:t>▶ 期待KPI：継続率+15%・NPS+20pt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マイルストーン計画：6つの重要節目で進捗を管理し、年間目標を確実に達成する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milestone_plan ／ 用途: 重要節目の管理計画 ／ 件数: 4〜8件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6つのマイルストーンを設定し、各節目の完了条件・成果物・リスクを明確にすることで、年間目標の確実な達成を管理する。</a:t>
            </a:r>
          </a:p>
        </p:txBody>
      </p:sp>
      <p:sp>
        <p:nvSpPr>
          <p:cNvPr id="10" name="Rectangle 9"/>
          <p:cNvSpPr/>
          <p:nvPr/>
        </p:nvSpPr>
        <p:spPr>
          <a:xfrm>
            <a:off x="548640" y="1828800"/>
            <a:ext cx="3627120" cy="2359152"/>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01952"/>
            <a:ext cx="3407664" cy="182880"/>
          </a:xfrm>
          <a:prstGeom prst="rect">
            <a:avLst/>
          </a:prstGeom>
          <a:noFill/>
        </p:spPr>
        <p:txBody>
          <a:bodyPr wrap="square">
            <a:spAutoFit/>
          </a:bodyPr>
          <a:lstStyle/>
          <a:p>
            <a:pPr algn="l"/>
            <a:r>
              <a:rPr sz="750" b="1" i="0">
                <a:solidFill>
                  <a:srgbClr val="1D51A3"/>
                </a:solidFill>
              </a:rPr>
              <a:t>MS1 ／ 2026年1月末</a:t>
            </a:r>
          </a:p>
        </p:txBody>
      </p:sp>
      <p:sp>
        <p:nvSpPr>
          <p:cNvPr id="12" name="TextBox 11"/>
          <p:cNvSpPr txBox="1"/>
          <p:nvPr/>
        </p:nvSpPr>
        <p:spPr>
          <a:xfrm>
            <a:off x="658368" y="2103120"/>
            <a:ext cx="3407664" cy="256032"/>
          </a:xfrm>
          <a:prstGeom prst="rect">
            <a:avLst/>
          </a:prstGeom>
          <a:noFill/>
        </p:spPr>
        <p:txBody>
          <a:bodyPr wrap="square">
            <a:spAutoFit/>
          </a:bodyPr>
          <a:lstStyle/>
          <a:p>
            <a:pPr algn="l"/>
            <a:r>
              <a:rPr sz="1100" b="1" i="0">
                <a:solidFill>
                  <a:srgbClr val="0C3570"/>
                </a:solidFill>
              </a:rPr>
              <a:t>プロジェクト承認</a:t>
            </a:r>
          </a:p>
        </p:txBody>
      </p:sp>
      <p:sp>
        <p:nvSpPr>
          <p:cNvPr id="13" name="TextBox 12"/>
          <p:cNvSpPr txBox="1"/>
          <p:nvPr/>
        </p:nvSpPr>
        <p:spPr>
          <a:xfrm>
            <a:off x="676656" y="2423160"/>
            <a:ext cx="3371088" cy="502920"/>
          </a:xfrm>
          <a:prstGeom prst="rect">
            <a:avLst/>
          </a:prstGeom>
          <a:noFill/>
        </p:spPr>
        <p:txBody>
          <a:bodyPr wrap="square">
            <a:spAutoFit/>
          </a:bodyPr>
          <a:lstStyle/>
          <a:p>
            <a:pPr algn="l"/>
            <a:r>
              <a:rPr sz="750" b="0" i="0">
                <a:solidFill>
                  <a:srgbClr val="444444"/>
                </a:solidFill>
              </a:rPr>
              <a:t>▶ 成果物：承認書・予算計画書</a:t>
            </a:r>
          </a:p>
        </p:txBody>
      </p:sp>
      <p:sp>
        <p:nvSpPr>
          <p:cNvPr id="14" name="TextBox 13"/>
          <p:cNvSpPr txBox="1"/>
          <p:nvPr/>
        </p:nvSpPr>
        <p:spPr>
          <a:xfrm>
            <a:off x="676656" y="2971800"/>
            <a:ext cx="3371088" cy="502920"/>
          </a:xfrm>
          <a:prstGeom prst="rect">
            <a:avLst/>
          </a:prstGeom>
          <a:noFill/>
        </p:spPr>
        <p:txBody>
          <a:bodyPr wrap="square">
            <a:spAutoFit/>
          </a:bodyPr>
          <a:lstStyle/>
          <a:p>
            <a:pPr algn="l"/>
            <a:r>
              <a:rPr sz="750" b="0" i="0">
                <a:solidFill>
                  <a:srgbClr val="444444"/>
                </a:solidFill>
              </a:rPr>
              <a:t>▶ リスク対応：承認遅延→代替案の事前準備</a:t>
            </a:r>
          </a:p>
        </p:txBody>
      </p:sp>
      <p:sp>
        <p:nvSpPr>
          <p:cNvPr id="15" name="Rectangle 14"/>
          <p:cNvSpPr/>
          <p:nvPr/>
        </p:nvSpPr>
        <p:spPr>
          <a:xfrm>
            <a:off x="4267199" y="1828800"/>
            <a:ext cx="3627120" cy="2359152"/>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76928" y="1901952"/>
            <a:ext cx="3407664" cy="182880"/>
          </a:xfrm>
          <a:prstGeom prst="rect">
            <a:avLst/>
          </a:prstGeom>
          <a:noFill/>
        </p:spPr>
        <p:txBody>
          <a:bodyPr wrap="square">
            <a:spAutoFit/>
          </a:bodyPr>
          <a:lstStyle/>
          <a:p>
            <a:pPr algn="l"/>
            <a:r>
              <a:rPr sz="750" b="1" i="0">
                <a:solidFill>
                  <a:srgbClr val="1D51A3"/>
                </a:solidFill>
              </a:rPr>
              <a:t>MS2 ／ 2026年3月末</a:t>
            </a:r>
          </a:p>
        </p:txBody>
      </p:sp>
      <p:sp>
        <p:nvSpPr>
          <p:cNvPr id="17" name="TextBox 16"/>
          <p:cNvSpPr txBox="1"/>
          <p:nvPr/>
        </p:nvSpPr>
        <p:spPr>
          <a:xfrm>
            <a:off x="4376928" y="2103120"/>
            <a:ext cx="3407664" cy="256032"/>
          </a:xfrm>
          <a:prstGeom prst="rect">
            <a:avLst/>
          </a:prstGeom>
          <a:noFill/>
        </p:spPr>
        <p:txBody>
          <a:bodyPr wrap="square">
            <a:spAutoFit/>
          </a:bodyPr>
          <a:lstStyle/>
          <a:p>
            <a:pPr algn="l"/>
            <a:r>
              <a:rPr sz="1100" b="1" i="0">
                <a:solidFill>
                  <a:srgbClr val="0C3570"/>
                </a:solidFill>
              </a:rPr>
              <a:t>体制整備完了</a:t>
            </a:r>
          </a:p>
        </p:txBody>
      </p:sp>
      <p:sp>
        <p:nvSpPr>
          <p:cNvPr id="18" name="TextBox 17"/>
          <p:cNvSpPr txBox="1"/>
          <p:nvPr/>
        </p:nvSpPr>
        <p:spPr>
          <a:xfrm>
            <a:off x="4395215" y="2423160"/>
            <a:ext cx="3371088" cy="502920"/>
          </a:xfrm>
          <a:prstGeom prst="rect">
            <a:avLst/>
          </a:prstGeom>
          <a:noFill/>
        </p:spPr>
        <p:txBody>
          <a:bodyPr wrap="square">
            <a:spAutoFit/>
          </a:bodyPr>
          <a:lstStyle/>
          <a:p>
            <a:pPr algn="l"/>
            <a:r>
              <a:rPr sz="750" b="0" i="0">
                <a:solidFill>
                  <a:srgbClr val="444444"/>
                </a:solidFill>
              </a:rPr>
              <a:t>▶ 成果物：CRM稼働・マニュアル完成</a:t>
            </a:r>
          </a:p>
        </p:txBody>
      </p:sp>
      <p:sp>
        <p:nvSpPr>
          <p:cNvPr id="19" name="TextBox 18"/>
          <p:cNvSpPr txBox="1"/>
          <p:nvPr/>
        </p:nvSpPr>
        <p:spPr>
          <a:xfrm>
            <a:off x="4395215" y="2971800"/>
            <a:ext cx="3371088" cy="502920"/>
          </a:xfrm>
          <a:prstGeom prst="rect">
            <a:avLst/>
          </a:prstGeom>
          <a:noFill/>
        </p:spPr>
        <p:txBody>
          <a:bodyPr wrap="square">
            <a:spAutoFit/>
          </a:bodyPr>
          <a:lstStyle/>
          <a:p>
            <a:pPr algn="l"/>
            <a:r>
              <a:rPr sz="750" b="0" i="0">
                <a:solidFill>
                  <a:srgbClr val="444444"/>
                </a:solidFill>
              </a:rPr>
              <a:t>▶ リスク対応：採用遅延→外部委託で補完</a:t>
            </a:r>
          </a:p>
        </p:txBody>
      </p:sp>
      <p:sp>
        <p:nvSpPr>
          <p:cNvPr id="20" name="Rectangle 19"/>
          <p:cNvSpPr/>
          <p:nvPr/>
        </p:nvSpPr>
        <p:spPr>
          <a:xfrm>
            <a:off x="7985759" y="1840618"/>
            <a:ext cx="3627120" cy="2359152"/>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95487" y="1913770"/>
            <a:ext cx="3407664" cy="182880"/>
          </a:xfrm>
          <a:prstGeom prst="rect">
            <a:avLst/>
          </a:prstGeom>
          <a:noFill/>
        </p:spPr>
        <p:txBody>
          <a:bodyPr wrap="square">
            <a:spAutoFit/>
          </a:bodyPr>
          <a:lstStyle/>
          <a:p>
            <a:pPr algn="l"/>
            <a:r>
              <a:rPr sz="750" b="1" i="0">
                <a:solidFill>
                  <a:srgbClr val="1D51A3"/>
                </a:solidFill>
              </a:rPr>
              <a:t>MS3 ／ 2026年6月末</a:t>
            </a:r>
          </a:p>
        </p:txBody>
      </p:sp>
      <p:sp>
        <p:nvSpPr>
          <p:cNvPr id="22" name="TextBox 21"/>
          <p:cNvSpPr txBox="1"/>
          <p:nvPr/>
        </p:nvSpPr>
        <p:spPr>
          <a:xfrm>
            <a:off x="8095487" y="2114938"/>
            <a:ext cx="3407664" cy="256032"/>
          </a:xfrm>
          <a:prstGeom prst="rect">
            <a:avLst/>
          </a:prstGeom>
          <a:noFill/>
        </p:spPr>
        <p:txBody>
          <a:bodyPr wrap="square">
            <a:spAutoFit/>
          </a:bodyPr>
          <a:lstStyle/>
          <a:p>
            <a:pPr algn="l"/>
            <a:r>
              <a:rPr sz="1100" b="1" i="0">
                <a:solidFill>
                  <a:srgbClr val="0C3570"/>
                </a:solidFill>
              </a:rPr>
              <a:t>中間目標達成</a:t>
            </a:r>
          </a:p>
        </p:txBody>
      </p:sp>
      <p:sp>
        <p:nvSpPr>
          <p:cNvPr id="23" name="TextBox 22"/>
          <p:cNvSpPr txBox="1"/>
          <p:nvPr/>
        </p:nvSpPr>
        <p:spPr>
          <a:xfrm>
            <a:off x="8113776" y="2434978"/>
            <a:ext cx="3371088" cy="502920"/>
          </a:xfrm>
          <a:prstGeom prst="rect">
            <a:avLst/>
          </a:prstGeom>
          <a:noFill/>
        </p:spPr>
        <p:txBody>
          <a:bodyPr wrap="square">
            <a:spAutoFit/>
          </a:bodyPr>
          <a:lstStyle/>
          <a:p>
            <a:pPr algn="l"/>
            <a:r>
              <a:rPr sz="750" b="0" i="0">
                <a:solidFill>
                  <a:srgbClr val="444444"/>
                </a:solidFill>
              </a:rPr>
              <a:t>▶ 成果物：中間KPIレポート</a:t>
            </a:r>
          </a:p>
        </p:txBody>
      </p:sp>
      <p:sp>
        <p:nvSpPr>
          <p:cNvPr id="24" name="TextBox 23"/>
          <p:cNvSpPr txBox="1"/>
          <p:nvPr/>
        </p:nvSpPr>
        <p:spPr>
          <a:xfrm>
            <a:off x="8113776" y="2983618"/>
            <a:ext cx="3371088" cy="502920"/>
          </a:xfrm>
          <a:prstGeom prst="rect">
            <a:avLst/>
          </a:prstGeom>
          <a:noFill/>
        </p:spPr>
        <p:txBody>
          <a:bodyPr wrap="square">
            <a:spAutoFit/>
          </a:bodyPr>
          <a:lstStyle/>
          <a:p>
            <a:pPr algn="l"/>
            <a:r>
              <a:rPr sz="750" b="0" i="0">
                <a:solidFill>
                  <a:srgbClr val="444444"/>
                </a:solidFill>
              </a:rPr>
              <a:t>▶ リスク対応：効果遅延→施策の見直し</a:t>
            </a:r>
          </a:p>
        </p:txBody>
      </p:sp>
      <p:sp>
        <p:nvSpPr>
          <p:cNvPr id="25" name="Rectangle 24"/>
          <p:cNvSpPr/>
          <p:nvPr/>
        </p:nvSpPr>
        <p:spPr>
          <a:xfrm>
            <a:off x="548640" y="4315968"/>
            <a:ext cx="3627120" cy="2359152"/>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8" y="4389120"/>
            <a:ext cx="3407664" cy="182880"/>
          </a:xfrm>
          <a:prstGeom prst="rect">
            <a:avLst/>
          </a:prstGeom>
          <a:noFill/>
        </p:spPr>
        <p:txBody>
          <a:bodyPr wrap="square">
            <a:spAutoFit/>
          </a:bodyPr>
          <a:lstStyle/>
          <a:p>
            <a:pPr algn="l"/>
            <a:r>
              <a:rPr sz="750" b="1" i="0">
                <a:solidFill>
                  <a:srgbClr val="1D51A3"/>
                </a:solidFill>
              </a:rPr>
              <a:t>MS4 ／ 2026年9月末</a:t>
            </a:r>
          </a:p>
        </p:txBody>
      </p:sp>
      <p:sp>
        <p:nvSpPr>
          <p:cNvPr id="27" name="TextBox 26"/>
          <p:cNvSpPr txBox="1"/>
          <p:nvPr/>
        </p:nvSpPr>
        <p:spPr>
          <a:xfrm>
            <a:off x="658368" y="4590288"/>
            <a:ext cx="3407664" cy="256032"/>
          </a:xfrm>
          <a:prstGeom prst="rect">
            <a:avLst/>
          </a:prstGeom>
          <a:noFill/>
        </p:spPr>
        <p:txBody>
          <a:bodyPr wrap="square">
            <a:spAutoFit/>
          </a:bodyPr>
          <a:lstStyle/>
          <a:p>
            <a:pPr algn="l"/>
            <a:r>
              <a:rPr sz="1100" b="1" i="0">
                <a:solidFill>
                  <a:srgbClr val="0C3570"/>
                </a:solidFill>
              </a:rPr>
              <a:t>本格展開完了</a:t>
            </a:r>
          </a:p>
        </p:txBody>
      </p:sp>
      <p:sp>
        <p:nvSpPr>
          <p:cNvPr id="28" name="TextBox 27"/>
          <p:cNvSpPr txBox="1"/>
          <p:nvPr/>
        </p:nvSpPr>
        <p:spPr>
          <a:xfrm>
            <a:off x="676656" y="4910328"/>
            <a:ext cx="3371088" cy="502920"/>
          </a:xfrm>
          <a:prstGeom prst="rect">
            <a:avLst/>
          </a:prstGeom>
          <a:noFill/>
        </p:spPr>
        <p:txBody>
          <a:bodyPr wrap="square">
            <a:spAutoFit/>
          </a:bodyPr>
          <a:lstStyle/>
          <a:p>
            <a:pPr algn="l"/>
            <a:r>
              <a:rPr sz="750" b="0" i="0">
                <a:solidFill>
                  <a:srgbClr val="444444"/>
                </a:solidFill>
              </a:rPr>
              <a:t>▶ 成果物：月次KPIレポート</a:t>
            </a:r>
          </a:p>
        </p:txBody>
      </p:sp>
      <p:sp>
        <p:nvSpPr>
          <p:cNvPr id="29" name="TextBox 28"/>
          <p:cNvSpPr txBox="1"/>
          <p:nvPr/>
        </p:nvSpPr>
        <p:spPr>
          <a:xfrm>
            <a:off x="676656" y="5458968"/>
            <a:ext cx="3371088" cy="502920"/>
          </a:xfrm>
          <a:prstGeom prst="rect">
            <a:avLst/>
          </a:prstGeom>
          <a:noFill/>
        </p:spPr>
        <p:txBody>
          <a:bodyPr wrap="square">
            <a:spAutoFit/>
          </a:bodyPr>
          <a:lstStyle/>
          <a:p>
            <a:pPr algn="l"/>
            <a:r>
              <a:rPr sz="750" b="0" i="0">
                <a:solidFill>
                  <a:srgbClr val="444444"/>
                </a:solidFill>
              </a:rPr>
              <a:t>▶ リスク対応：適用漏れ→チェックリストで管理</a:t>
            </a:r>
          </a:p>
        </p:txBody>
      </p:sp>
      <p:sp>
        <p:nvSpPr>
          <p:cNvPr id="30" name="Rectangle 29"/>
          <p:cNvSpPr/>
          <p:nvPr/>
        </p:nvSpPr>
        <p:spPr>
          <a:xfrm>
            <a:off x="4297680" y="4306824"/>
            <a:ext cx="3627120" cy="2359152"/>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07409" y="4379976"/>
            <a:ext cx="3407664" cy="182880"/>
          </a:xfrm>
          <a:prstGeom prst="rect">
            <a:avLst/>
          </a:prstGeom>
          <a:noFill/>
        </p:spPr>
        <p:txBody>
          <a:bodyPr wrap="square">
            <a:spAutoFit/>
          </a:bodyPr>
          <a:lstStyle/>
          <a:p>
            <a:pPr algn="l"/>
            <a:r>
              <a:rPr sz="750" b="1" i="0">
                <a:solidFill>
                  <a:srgbClr val="1D51A3"/>
                </a:solidFill>
              </a:rPr>
              <a:t>MS5 ／ 2026年11月末</a:t>
            </a:r>
          </a:p>
        </p:txBody>
      </p:sp>
      <p:sp>
        <p:nvSpPr>
          <p:cNvPr id="32" name="TextBox 31"/>
          <p:cNvSpPr txBox="1"/>
          <p:nvPr/>
        </p:nvSpPr>
        <p:spPr>
          <a:xfrm>
            <a:off x="4407409" y="4581144"/>
            <a:ext cx="3407664" cy="256032"/>
          </a:xfrm>
          <a:prstGeom prst="rect">
            <a:avLst/>
          </a:prstGeom>
          <a:noFill/>
        </p:spPr>
        <p:txBody>
          <a:bodyPr wrap="square">
            <a:spAutoFit/>
          </a:bodyPr>
          <a:lstStyle/>
          <a:p>
            <a:pPr algn="l"/>
            <a:r>
              <a:rPr sz="1100" b="1" i="0">
                <a:solidFill>
                  <a:srgbClr val="0C3570"/>
                </a:solidFill>
              </a:rPr>
              <a:t>年間目標達成見込み確認</a:t>
            </a:r>
          </a:p>
        </p:txBody>
      </p:sp>
      <p:sp>
        <p:nvSpPr>
          <p:cNvPr id="33" name="TextBox 32"/>
          <p:cNvSpPr txBox="1"/>
          <p:nvPr/>
        </p:nvSpPr>
        <p:spPr>
          <a:xfrm>
            <a:off x="4425696" y="4901184"/>
            <a:ext cx="3371088" cy="502920"/>
          </a:xfrm>
          <a:prstGeom prst="rect">
            <a:avLst/>
          </a:prstGeom>
          <a:noFill/>
        </p:spPr>
        <p:txBody>
          <a:bodyPr wrap="square">
            <a:spAutoFit/>
          </a:bodyPr>
          <a:lstStyle/>
          <a:p>
            <a:pPr algn="l"/>
            <a:r>
              <a:rPr sz="750" b="0" i="0">
                <a:solidFill>
                  <a:srgbClr val="444444"/>
                </a:solidFill>
              </a:rPr>
              <a:t>▶ 成果物：達成見込みレポート</a:t>
            </a:r>
          </a:p>
        </p:txBody>
      </p:sp>
      <p:sp>
        <p:nvSpPr>
          <p:cNvPr id="34" name="TextBox 33"/>
          <p:cNvSpPr txBox="1"/>
          <p:nvPr/>
        </p:nvSpPr>
        <p:spPr>
          <a:xfrm>
            <a:off x="4425696" y="5449824"/>
            <a:ext cx="3371088" cy="502920"/>
          </a:xfrm>
          <a:prstGeom prst="rect">
            <a:avLst/>
          </a:prstGeom>
          <a:noFill/>
        </p:spPr>
        <p:txBody>
          <a:bodyPr wrap="square">
            <a:spAutoFit/>
          </a:bodyPr>
          <a:lstStyle/>
          <a:p>
            <a:pPr algn="l"/>
            <a:r>
              <a:rPr sz="750" b="0" i="0">
                <a:solidFill>
                  <a:srgbClr val="444444"/>
                </a:solidFill>
              </a:rPr>
              <a:t>▶ リスク対応：未達→追加施策の即時実行</a:t>
            </a:r>
          </a:p>
        </p:txBody>
      </p:sp>
      <p:sp>
        <p:nvSpPr>
          <p:cNvPr id="35" name="Rectangle 34"/>
          <p:cNvSpPr/>
          <p:nvPr/>
        </p:nvSpPr>
        <p:spPr>
          <a:xfrm>
            <a:off x="8016240" y="4306824"/>
            <a:ext cx="3627120" cy="2359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144257" y="4370831"/>
            <a:ext cx="3407664" cy="182880"/>
          </a:xfrm>
          <a:prstGeom prst="rect">
            <a:avLst/>
          </a:prstGeom>
          <a:noFill/>
        </p:spPr>
        <p:txBody>
          <a:bodyPr wrap="square">
            <a:spAutoFit/>
          </a:bodyPr>
          <a:lstStyle/>
          <a:p>
            <a:pPr algn="l"/>
            <a:r>
              <a:rPr sz="750" b="1" i="0" dirty="0">
                <a:solidFill>
                  <a:srgbClr val="93B5E6"/>
                </a:solidFill>
              </a:rPr>
              <a:t>MS6 ／ 2026年12月末</a:t>
            </a:r>
          </a:p>
        </p:txBody>
      </p:sp>
      <p:sp>
        <p:nvSpPr>
          <p:cNvPr id="37" name="TextBox 36"/>
          <p:cNvSpPr txBox="1"/>
          <p:nvPr/>
        </p:nvSpPr>
        <p:spPr>
          <a:xfrm>
            <a:off x="8125968" y="4581144"/>
            <a:ext cx="3407664" cy="256032"/>
          </a:xfrm>
          <a:prstGeom prst="rect">
            <a:avLst/>
          </a:prstGeom>
          <a:noFill/>
        </p:spPr>
        <p:txBody>
          <a:bodyPr wrap="square">
            <a:spAutoFit/>
          </a:bodyPr>
          <a:lstStyle/>
          <a:p>
            <a:pPr algn="l"/>
            <a:r>
              <a:rPr sz="1100" b="1" i="0">
                <a:solidFill>
                  <a:srgbClr val="FFFFFF"/>
                </a:solidFill>
              </a:rPr>
              <a:t>年間目標達成</a:t>
            </a:r>
          </a:p>
        </p:txBody>
      </p:sp>
      <p:sp>
        <p:nvSpPr>
          <p:cNvPr id="38" name="TextBox 37"/>
          <p:cNvSpPr txBox="1"/>
          <p:nvPr/>
        </p:nvSpPr>
        <p:spPr>
          <a:xfrm>
            <a:off x="8144257" y="4901184"/>
            <a:ext cx="3371088" cy="502920"/>
          </a:xfrm>
          <a:prstGeom prst="rect">
            <a:avLst/>
          </a:prstGeom>
          <a:noFill/>
        </p:spPr>
        <p:txBody>
          <a:bodyPr wrap="square">
            <a:spAutoFit/>
          </a:bodyPr>
          <a:lstStyle/>
          <a:p>
            <a:pPr algn="l"/>
            <a:r>
              <a:rPr sz="750" b="0" i="0">
                <a:solidFill>
                  <a:srgbClr val="FFFFFF"/>
                </a:solidFill>
              </a:rPr>
              <a:t>▶ 成果物：年次成果報告書・次年度計画</a:t>
            </a:r>
          </a:p>
        </p:txBody>
      </p:sp>
      <p:sp>
        <p:nvSpPr>
          <p:cNvPr id="39" name="TextBox 38"/>
          <p:cNvSpPr txBox="1"/>
          <p:nvPr/>
        </p:nvSpPr>
        <p:spPr>
          <a:xfrm>
            <a:off x="8144257" y="5449824"/>
            <a:ext cx="3371088" cy="502920"/>
          </a:xfrm>
          <a:prstGeom prst="rect">
            <a:avLst/>
          </a:prstGeom>
          <a:noFill/>
        </p:spPr>
        <p:txBody>
          <a:bodyPr wrap="square">
            <a:spAutoFit/>
          </a:bodyPr>
          <a:lstStyle/>
          <a:p>
            <a:pPr algn="l"/>
            <a:r>
              <a:rPr sz="750" b="0" i="0">
                <a:solidFill>
                  <a:srgbClr val="FFFFFF"/>
                </a:solidFill>
              </a:rPr>
              <a:t>▶ リスク対応：未達→原因分析と次年度計画への反映</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3つのKPIがすべて改善傾向にある：継続率・NPS・売上の3指標で成果を確認する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kpi_cards_3 ／ 用途: 3指標のKPI表示 ／ 件数: 3件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継続率・NPS・売上の3指標がすべて改善傾向にあり、施策の効果が定量的に確認できている。次のアクションは拡大展開の承認である。</a:t>
            </a:r>
          </a:p>
        </p:txBody>
      </p:sp>
      <p:sp>
        <p:nvSpPr>
          <p:cNvPr id="10" name="Rectangle 9"/>
          <p:cNvSpPr/>
          <p:nvPr/>
        </p:nvSpPr>
        <p:spPr>
          <a:xfrm>
            <a:off x="548640" y="1828800"/>
            <a:ext cx="3614928"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20240"/>
            <a:ext cx="3395471" cy="182880"/>
          </a:xfrm>
          <a:prstGeom prst="rect">
            <a:avLst/>
          </a:prstGeom>
          <a:noFill/>
        </p:spPr>
        <p:txBody>
          <a:bodyPr wrap="square">
            <a:spAutoFit/>
          </a:bodyPr>
          <a:lstStyle/>
          <a:p>
            <a:pPr algn="l"/>
            <a:r>
              <a:rPr sz="750" b="1" i="0">
                <a:solidFill>
                  <a:srgbClr val="1D51A3"/>
                </a:solidFill>
              </a:rPr>
              <a:t>KPI 01</a:t>
            </a:r>
          </a:p>
        </p:txBody>
      </p:sp>
      <p:sp>
        <p:nvSpPr>
          <p:cNvPr id="12" name="TextBox 11"/>
          <p:cNvSpPr txBox="1"/>
          <p:nvPr/>
        </p:nvSpPr>
        <p:spPr>
          <a:xfrm>
            <a:off x="658368" y="2121408"/>
            <a:ext cx="3395471" cy="256032"/>
          </a:xfrm>
          <a:prstGeom prst="rect">
            <a:avLst/>
          </a:prstGeom>
          <a:noFill/>
        </p:spPr>
        <p:txBody>
          <a:bodyPr wrap="square">
            <a:spAutoFit/>
          </a:bodyPr>
          <a:lstStyle/>
          <a:p>
            <a:pPr algn="l"/>
            <a:r>
              <a:rPr sz="1100" b="1" i="0">
                <a:solidFill>
                  <a:srgbClr val="0C3570"/>
                </a:solidFill>
              </a:rPr>
              <a:t>顧客継続率</a:t>
            </a:r>
          </a:p>
        </p:txBody>
      </p:sp>
      <p:sp>
        <p:nvSpPr>
          <p:cNvPr id="13" name="TextBox 12"/>
          <p:cNvSpPr txBox="1"/>
          <p:nvPr/>
        </p:nvSpPr>
        <p:spPr>
          <a:xfrm>
            <a:off x="658368" y="2450592"/>
            <a:ext cx="3395471" cy="502920"/>
          </a:xfrm>
          <a:prstGeom prst="rect">
            <a:avLst/>
          </a:prstGeom>
          <a:noFill/>
        </p:spPr>
        <p:txBody>
          <a:bodyPr wrap="square">
            <a:spAutoFit/>
          </a:bodyPr>
          <a:lstStyle/>
          <a:p>
            <a:pPr algn="l"/>
            <a:r>
              <a:rPr sz="2800" b="1" i="0">
                <a:solidFill>
                  <a:srgbClr val="1D51A3"/>
                </a:solidFill>
              </a:rPr>
              <a:t>87</a:t>
            </a:r>
          </a:p>
        </p:txBody>
      </p:sp>
      <p:sp>
        <p:nvSpPr>
          <p:cNvPr id="14" name="TextBox 13"/>
          <p:cNvSpPr txBox="1"/>
          <p:nvPr/>
        </p:nvSpPr>
        <p:spPr>
          <a:xfrm>
            <a:off x="987552" y="2578608"/>
            <a:ext cx="731520" cy="274320"/>
          </a:xfrm>
          <a:prstGeom prst="rect">
            <a:avLst/>
          </a:prstGeom>
          <a:noFill/>
        </p:spPr>
        <p:txBody>
          <a:bodyPr wrap="square">
            <a:spAutoFit/>
          </a:bodyPr>
          <a:lstStyle/>
          <a:p>
            <a:pPr algn="l"/>
            <a:r>
              <a:rPr sz="1300" b="1" i="0">
                <a:solidFill>
                  <a:srgbClr val="688BC2"/>
                </a:solidFill>
              </a:rPr>
              <a:t>%</a:t>
            </a:r>
          </a:p>
        </p:txBody>
      </p:sp>
      <p:sp>
        <p:nvSpPr>
          <p:cNvPr id="15" name="TextBox 14"/>
          <p:cNvSpPr txBox="1"/>
          <p:nvPr/>
        </p:nvSpPr>
        <p:spPr>
          <a:xfrm>
            <a:off x="658368" y="2999232"/>
            <a:ext cx="3395471" cy="201168"/>
          </a:xfrm>
          <a:prstGeom prst="rect">
            <a:avLst/>
          </a:prstGeom>
          <a:noFill/>
        </p:spPr>
        <p:txBody>
          <a:bodyPr wrap="square">
            <a:spAutoFit/>
          </a:bodyPr>
          <a:lstStyle/>
          <a:p>
            <a:pPr algn="l"/>
            <a:r>
              <a:rPr sz="750" b="0" i="0">
                <a:solidFill>
                  <a:srgbClr val="99A2AD"/>
                </a:solidFill>
              </a:rPr>
              <a:t>前期比 +15pt ／ 目標：85%以上 ✓</a:t>
            </a:r>
          </a:p>
        </p:txBody>
      </p:sp>
      <p:sp>
        <p:nvSpPr>
          <p:cNvPr id="16" name="TextBox 15"/>
          <p:cNvSpPr txBox="1"/>
          <p:nvPr/>
        </p:nvSpPr>
        <p:spPr>
          <a:xfrm>
            <a:off x="658368" y="3246120"/>
            <a:ext cx="3395471" cy="411480"/>
          </a:xfrm>
          <a:prstGeom prst="rect">
            <a:avLst/>
          </a:prstGeom>
          <a:noFill/>
        </p:spPr>
        <p:txBody>
          <a:bodyPr wrap="square">
            <a:spAutoFit/>
          </a:bodyPr>
          <a:lstStyle/>
          <a:p>
            <a:pPr algn="l"/>
            <a:r>
              <a:rPr sz="750" b="0" i="0">
                <a:solidFill>
                  <a:srgbClr val="444444"/>
                </a:solidFill>
              </a:rPr>
              <a:t>継続率の改善は、CS体制強化とオンボーディング改善の直接的な成果である。業界平均（78%）を大幅に上回る水準に達した。</a:t>
            </a:r>
          </a:p>
        </p:txBody>
      </p:sp>
      <p:sp>
        <p:nvSpPr>
          <p:cNvPr id="17" name="TextBox 16"/>
          <p:cNvSpPr txBox="1"/>
          <p:nvPr/>
        </p:nvSpPr>
        <p:spPr>
          <a:xfrm>
            <a:off x="676656" y="3703320"/>
            <a:ext cx="3358895" cy="502920"/>
          </a:xfrm>
          <a:prstGeom prst="rect">
            <a:avLst/>
          </a:prstGeom>
          <a:noFill/>
        </p:spPr>
        <p:txBody>
          <a:bodyPr wrap="square">
            <a:spAutoFit/>
          </a:bodyPr>
          <a:lstStyle/>
          <a:p>
            <a:pPr algn="l"/>
            <a:r>
              <a:rPr sz="700" b="0" i="0">
                <a:solidFill>
                  <a:srgbClr val="444444"/>
                </a:solidFill>
              </a:rPr>
              <a:t>▶ 次のアクション：継続率90%を次期目標に設定し、解約リスク顧客への早期介入プログラムを強化する。</a:t>
            </a:r>
          </a:p>
        </p:txBody>
      </p:sp>
      <p:sp>
        <p:nvSpPr>
          <p:cNvPr id="18" name="Rectangle 17"/>
          <p:cNvSpPr/>
          <p:nvPr/>
        </p:nvSpPr>
        <p:spPr>
          <a:xfrm>
            <a:off x="4273296" y="1828800"/>
            <a:ext cx="3614928"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83024" y="1920240"/>
            <a:ext cx="3395471" cy="182880"/>
          </a:xfrm>
          <a:prstGeom prst="rect">
            <a:avLst/>
          </a:prstGeom>
          <a:noFill/>
        </p:spPr>
        <p:txBody>
          <a:bodyPr wrap="square">
            <a:spAutoFit/>
          </a:bodyPr>
          <a:lstStyle/>
          <a:p>
            <a:pPr algn="l"/>
            <a:r>
              <a:rPr sz="750" b="1" i="0">
                <a:solidFill>
                  <a:srgbClr val="1D51A3"/>
                </a:solidFill>
              </a:rPr>
              <a:t>KPI 02</a:t>
            </a:r>
          </a:p>
        </p:txBody>
      </p:sp>
      <p:sp>
        <p:nvSpPr>
          <p:cNvPr id="20" name="TextBox 19"/>
          <p:cNvSpPr txBox="1"/>
          <p:nvPr/>
        </p:nvSpPr>
        <p:spPr>
          <a:xfrm>
            <a:off x="4383024" y="2121408"/>
            <a:ext cx="3395471" cy="256032"/>
          </a:xfrm>
          <a:prstGeom prst="rect">
            <a:avLst/>
          </a:prstGeom>
          <a:noFill/>
        </p:spPr>
        <p:txBody>
          <a:bodyPr wrap="square">
            <a:spAutoFit/>
          </a:bodyPr>
          <a:lstStyle/>
          <a:p>
            <a:pPr algn="l"/>
            <a:r>
              <a:rPr sz="1100" b="1" i="0">
                <a:solidFill>
                  <a:srgbClr val="0C3570"/>
                </a:solidFill>
              </a:rPr>
              <a:t>NPS（推奨度スコア）</a:t>
            </a:r>
          </a:p>
        </p:txBody>
      </p:sp>
      <p:sp>
        <p:nvSpPr>
          <p:cNvPr id="21" name="TextBox 20"/>
          <p:cNvSpPr txBox="1"/>
          <p:nvPr/>
        </p:nvSpPr>
        <p:spPr>
          <a:xfrm>
            <a:off x="4383024" y="2450592"/>
            <a:ext cx="3395471" cy="502920"/>
          </a:xfrm>
          <a:prstGeom prst="rect">
            <a:avLst/>
          </a:prstGeom>
          <a:noFill/>
        </p:spPr>
        <p:txBody>
          <a:bodyPr wrap="square">
            <a:spAutoFit/>
          </a:bodyPr>
          <a:lstStyle/>
          <a:p>
            <a:pPr algn="l"/>
            <a:r>
              <a:rPr sz="2800" b="1" i="0">
                <a:solidFill>
                  <a:srgbClr val="1D51A3"/>
                </a:solidFill>
              </a:rPr>
              <a:t>+42</a:t>
            </a:r>
          </a:p>
        </p:txBody>
      </p:sp>
      <p:sp>
        <p:nvSpPr>
          <p:cNvPr id="22" name="TextBox 21"/>
          <p:cNvSpPr txBox="1"/>
          <p:nvPr/>
        </p:nvSpPr>
        <p:spPr>
          <a:xfrm>
            <a:off x="4876800" y="2578608"/>
            <a:ext cx="731520" cy="274320"/>
          </a:xfrm>
          <a:prstGeom prst="rect">
            <a:avLst/>
          </a:prstGeom>
          <a:noFill/>
        </p:spPr>
        <p:txBody>
          <a:bodyPr wrap="square">
            <a:spAutoFit/>
          </a:bodyPr>
          <a:lstStyle/>
          <a:p>
            <a:pPr algn="l"/>
            <a:r>
              <a:rPr sz="1300" b="1" i="0">
                <a:solidFill>
                  <a:srgbClr val="688BC2"/>
                </a:solidFill>
              </a:rPr>
              <a:t>pt</a:t>
            </a:r>
          </a:p>
        </p:txBody>
      </p:sp>
      <p:sp>
        <p:nvSpPr>
          <p:cNvPr id="23" name="TextBox 22"/>
          <p:cNvSpPr txBox="1"/>
          <p:nvPr/>
        </p:nvSpPr>
        <p:spPr>
          <a:xfrm>
            <a:off x="4383024" y="2999232"/>
            <a:ext cx="3395471" cy="201168"/>
          </a:xfrm>
          <a:prstGeom prst="rect">
            <a:avLst/>
          </a:prstGeom>
          <a:noFill/>
        </p:spPr>
        <p:txBody>
          <a:bodyPr wrap="square">
            <a:spAutoFit/>
          </a:bodyPr>
          <a:lstStyle/>
          <a:p>
            <a:pPr algn="l"/>
            <a:r>
              <a:rPr sz="750" b="0" i="0">
                <a:solidFill>
                  <a:srgbClr val="99A2AD"/>
                </a:solidFill>
              </a:rPr>
              <a:t>前期比 +22pt ／ 目標：+30以上 ✓</a:t>
            </a:r>
          </a:p>
        </p:txBody>
      </p:sp>
      <p:sp>
        <p:nvSpPr>
          <p:cNvPr id="24" name="TextBox 23"/>
          <p:cNvSpPr txBox="1"/>
          <p:nvPr/>
        </p:nvSpPr>
        <p:spPr>
          <a:xfrm>
            <a:off x="4383024" y="3246120"/>
            <a:ext cx="3395471" cy="411480"/>
          </a:xfrm>
          <a:prstGeom prst="rect">
            <a:avLst/>
          </a:prstGeom>
          <a:noFill/>
        </p:spPr>
        <p:txBody>
          <a:bodyPr wrap="square">
            <a:spAutoFit/>
          </a:bodyPr>
          <a:lstStyle/>
          <a:p>
            <a:pPr algn="l"/>
            <a:r>
              <a:rPr sz="750" b="0" i="0">
                <a:solidFill>
                  <a:srgbClr val="444444"/>
                </a:solidFill>
              </a:rPr>
              <a:t>NPSの大幅改善は、顧客が製品価値を実感し、他社への推奨意欲が高まっていることを示している。</a:t>
            </a:r>
          </a:p>
        </p:txBody>
      </p:sp>
      <p:sp>
        <p:nvSpPr>
          <p:cNvPr id="25" name="TextBox 24"/>
          <p:cNvSpPr txBox="1"/>
          <p:nvPr/>
        </p:nvSpPr>
        <p:spPr>
          <a:xfrm>
            <a:off x="4401311" y="3703320"/>
            <a:ext cx="3358895" cy="502920"/>
          </a:xfrm>
          <a:prstGeom prst="rect">
            <a:avLst/>
          </a:prstGeom>
          <a:noFill/>
        </p:spPr>
        <p:txBody>
          <a:bodyPr wrap="square">
            <a:spAutoFit/>
          </a:bodyPr>
          <a:lstStyle/>
          <a:p>
            <a:pPr algn="l"/>
            <a:r>
              <a:rPr sz="700" b="0" i="0">
                <a:solidFill>
                  <a:srgbClr val="444444"/>
                </a:solidFill>
              </a:rPr>
              <a:t>▶ 次のアクション：NPS+50を次期目標に設定し、推奨顧客向けのリファラルプログラムを開始する。</a:t>
            </a:r>
          </a:p>
        </p:txBody>
      </p:sp>
      <p:sp>
        <p:nvSpPr>
          <p:cNvPr id="26" name="Rectangle 25"/>
          <p:cNvSpPr/>
          <p:nvPr/>
        </p:nvSpPr>
        <p:spPr>
          <a:xfrm>
            <a:off x="7997951" y="1828800"/>
            <a:ext cx="3614928"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107679" y="1920240"/>
            <a:ext cx="3395471" cy="182880"/>
          </a:xfrm>
          <a:prstGeom prst="rect">
            <a:avLst/>
          </a:prstGeom>
          <a:noFill/>
        </p:spPr>
        <p:txBody>
          <a:bodyPr wrap="square">
            <a:spAutoFit/>
          </a:bodyPr>
          <a:lstStyle/>
          <a:p>
            <a:pPr algn="l"/>
            <a:r>
              <a:rPr sz="750" b="1" i="0">
                <a:solidFill>
                  <a:srgbClr val="93B5E6"/>
                </a:solidFill>
              </a:rPr>
              <a:t>KPI 03</a:t>
            </a:r>
          </a:p>
        </p:txBody>
      </p:sp>
      <p:sp>
        <p:nvSpPr>
          <p:cNvPr id="28" name="TextBox 27"/>
          <p:cNvSpPr txBox="1"/>
          <p:nvPr/>
        </p:nvSpPr>
        <p:spPr>
          <a:xfrm>
            <a:off x="8107679" y="2121408"/>
            <a:ext cx="3395471" cy="256032"/>
          </a:xfrm>
          <a:prstGeom prst="rect">
            <a:avLst/>
          </a:prstGeom>
          <a:noFill/>
        </p:spPr>
        <p:txBody>
          <a:bodyPr wrap="square">
            <a:spAutoFit/>
          </a:bodyPr>
          <a:lstStyle/>
          <a:p>
            <a:pPr algn="l"/>
            <a:r>
              <a:rPr sz="1100" b="1" i="0">
                <a:solidFill>
                  <a:srgbClr val="FFFFFF"/>
                </a:solidFill>
              </a:rPr>
              <a:t>年間売上増加額</a:t>
            </a:r>
          </a:p>
        </p:txBody>
      </p:sp>
      <p:sp>
        <p:nvSpPr>
          <p:cNvPr id="29" name="TextBox 28"/>
          <p:cNvSpPr txBox="1"/>
          <p:nvPr/>
        </p:nvSpPr>
        <p:spPr>
          <a:xfrm>
            <a:off x="8107679" y="2450592"/>
            <a:ext cx="3395471" cy="502920"/>
          </a:xfrm>
          <a:prstGeom prst="rect">
            <a:avLst/>
          </a:prstGeom>
          <a:noFill/>
        </p:spPr>
        <p:txBody>
          <a:bodyPr wrap="square">
            <a:spAutoFit/>
          </a:bodyPr>
          <a:lstStyle/>
          <a:p>
            <a:pPr algn="l"/>
            <a:r>
              <a:rPr sz="2800" b="1" i="0">
                <a:solidFill>
                  <a:srgbClr val="FFFFFF"/>
                </a:solidFill>
              </a:rPr>
              <a:t>2.4</a:t>
            </a:r>
          </a:p>
        </p:txBody>
      </p:sp>
      <p:sp>
        <p:nvSpPr>
          <p:cNvPr id="30" name="TextBox 29"/>
          <p:cNvSpPr txBox="1"/>
          <p:nvPr/>
        </p:nvSpPr>
        <p:spPr>
          <a:xfrm>
            <a:off x="8601456" y="2578608"/>
            <a:ext cx="731520" cy="274320"/>
          </a:xfrm>
          <a:prstGeom prst="rect">
            <a:avLst/>
          </a:prstGeom>
          <a:noFill/>
        </p:spPr>
        <p:txBody>
          <a:bodyPr wrap="square">
            <a:spAutoFit/>
          </a:bodyPr>
          <a:lstStyle/>
          <a:p>
            <a:pPr algn="l"/>
            <a:r>
              <a:rPr sz="1300" b="1" i="0">
                <a:solidFill>
                  <a:srgbClr val="93B5E6"/>
                </a:solidFill>
              </a:rPr>
              <a:t>億円</a:t>
            </a:r>
          </a:p>
        </p:txBody>
      </p:sp>
      <p:sp>
        <p:nvSpPr>
          <p:cNvPr id="31" name="TextBox 30"/>
          <p:cNvSpPr txBox="1"/>
          <p:nvPr/>
        </p:nvSpPr>
        <p:spPr>
          <a:xfrm>
            <a:off x="8107679" y="2999232"/>
            <a:ext cx="3395471" cy="201168"/>
          </a:xfrm>
          <a:prstGeom prst="rect">
            <a:avLst/>
          </a:prstGeom>
          <a:noFill/>
        </p:spPr>
        <p:txBody>
          <a:bodyPr wrap="square">
            <a:spAutoFit/>
          </a:bodyPr>
          <a:lstStyle/>
          <a:p>
            <a:pPr algn="l"/>
            <a:r>
              <a:rPr sz="750" b="0" i="0">
                <a:solidFill>
                  <a:srgbClr val="93B5E6"/>
                </a:solidFill>
              </a:rPr>
              <a:t>前期比 +18% ／ 目標：2.0億円以上 ✓</a:t>
            </a:r>
          </a:p>
        </p:txBody>
      </p:sp>
      <p:sp>
        <p:nvSpPr>
          <p:cNvPr id="32" name="TextBox 31"/>
          <p:cNvSpPr txBox="1"/>
          <p:nvPr/>
        </p:nvSpPr>
        <p:spPr>
          <a:xfrm>
            <a:off x="8107679" y="3246120"/>
            <a:ext cx="3395471" cy="411480"/>
          </a:xfrm>
          <a:prstGeom prst="rect">
            <a:avLst/>
          </a:prstGeom>
          <a:noFill/>
        </p:spPr>
        <p:txBody>
          <a:bodyPr wrap="square">
            <a:spAutoFit/>
          </a:bodyPr>
          <a:lstStyle/>
          <a:p>
            <a:pPr algn="l"/>
            <a:r>
              <a:rPr sz="750" b="0" i="0">
                <a:solidFill>
                  <a:srgbClr val="FFFFFF"/>
                </a:solidFill>
              </a:rPr>
              <a:t>継続率改善（1.6億円）と新規獲得増加（0.8億円）の両輪で、目標を20%上回る成果を達成した。</a:t>
            </a:r>
          </a:p>
        </p:txBody>
      </p:sp>
      <p:sp>
        <p:nvSpPr>
          <p:cNvPr id="33" name="TextBox 32"/>
          <p:cNvSpPr txBox="1"/>
          <p:nvPr/>
        </p:nvSpPr>
        <p:spPr>
          <a:xfrm>
            <a:off x="8125968" y="3703320"/>
            <a:ext cx="3358895" cy="502920"/>
          </a:xfrm>
          <a:prstGeom prst="rect">
            <a:avLst/>
          </a:prstGeom>
          <a:noFill/>
        </p:spPr>
        <p:txBody>
          <a:bodyPr wrap="square">
            <a:spAutoFit/>
          </a:bodyPr>
          <a:lstStyle/>
          <a:p>
            <a:pPr algn="l"/>
            <a:r>
              <a:rPr sz="700" b="0" i="0">
                <a:solidFill>
                  <a:srgbClr val="FFFFFF"/>
                </a:solidFill>
              </a:rPr>
              <a:t>▶ 次のアクション：来期目標を3.5億円増収に設定し、CS体制のさらなる強化と新規市場への展開を承認する。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4つのKPIで施策効果を多角的に確認する：すべての指標が目標を達成している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kpi_cards_4 ／ 用途: 4指標のKPI表示 ／ 件数: 4件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継続率・NPS・売上・コスト削減の4指標がすべて目標を達成しており、施策の総合的な効果が確認できている。</a:t>
            </a:r>
          </a:p>
        </p:txBody>
      </p:sp>
      <p:sp>
        <p:nvSpPr>
          <p:cNvPr id="10" name="Rectangle 9"/>
          <p:cNvSpPr/>
          <p:nvPr/>
        </p:nvSpPr>
        <p:spPr>
          <a:xfrm>
            <a:off x="548640" y="1828800"/>
            <a:ext cx="2697479"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20240"/>
            <a:ext cx="2478024" cy="182880"/>
          </a:xfrm>
          <a:prstGeom prst="rect">
            <a:avLst/>
          </a:prstGeom>
          <a:noFill/>
        </p:spPr>
        <p:txBody>
          <a:bodyPr wrap="square">
            <a:spAutoFit/>
          </a:bodyPr>
          <a:lstStyle/>
          <a:p>
            <a:pPr algn="l"/>
            <a:r>
              <a:rPr sz="750" b="1" i="0">
                <a:solidFill>
                  <a:srgbClr val="1D51A3"/>
                </a:solidFill>
              </a:rPr>
              <a:t>KPI 01</a:t>
            </a:r>
          </a:p>
        </p:txBody>
      </p:sp>
      <p:sp>
        <p:nvSpPr>
          <p:cNvPr id="12" name="TextBox 11"/>
          <p:cNvSpPr txBox="1"/>
          <p:nvPr/>
        </p:nvSpPr>
        <p:spPr>
          <a:xfrm>
            <a:off x="658368" y="2121408"/>
            <a:ext cx="2478024" cy="256032"/>
          </a:xfrm>
          <a:prstGeom prst="rect">
            <a:avLst/>
          </a:prstGeom>
          <a:noFill/>
        </p:spPr>
        <p:txBody>
          <a:bodyPr wrap="square">
            <a:spAutoFit/>
          </a:bodyPr>
          <a:lstStyle/>
          <a:p>
            <a:pPr algn="l"/>
            <a:r>
              <a:rPr sz="1100" b="1" i="0">
                <a:solidFill>
                  <a:srgbClr val="0C3570"/>
                </a:solidFill>
              </a:rPr>
              <a:t>顧客継続率</a:t>
            </a:r>
          </a:p>
        </p:txBody>
      </p:sp>
      <p:sp>
        <p:nvSpPr>
          <p:cNvPr id="13" name="TextBox 12"/>
          <p:cNvSpPr txBox="1"/>
          <p:nvPr/>
        </p:nvSpPr>
        <p:spPr>
          <a:xfrm>
            <a:off x="658368" y="2450592"/>
            <a:ext cx="2478024" cy="502920"/>
          </a:xfrm>
          <a:prstGeom prst="rect">
            <a:avLst/>
          </a:prstGeom>
          <a:noFill/>
        </p:spPr>
        <p:txBody>
          <a:bodyPr wrap="square">
            <a:spAutoFit/>
          </a:bodyPr>
          <a:lstStyle/>
          <a:p>
            <a:pPr algn="l"/>
            <a:r>
              <a:rPr sz="2800" b="1" i="0">
                <a:solidFill>
                  <a:srgbClr val="1D51A3"/>
                </a:solidFill>
              </a:rPr>
              <a:t>87</a:t>
            </a:r>
          </a:p>
        </p:txBody>
      </p:sp>
      <p:sp>
        <p:nvSpPr>
          <p:cNvPr id="14" name="TextBox 13"/>
          <p:cNvSpPr txBox="1"/>
          <p:nvPr/>
        </p:nvSpPr>
        <p:spPr>
          <a:xfrm>
            <a:off x="987552" y="2578608"/>
            <a:ext cx="731520" cy="274320"/>
          </a:xfrm>
          <a:prstGeom prst="rect">
            <a:avLst/>
          </a:prstGeom>
          <a:noFill/>
        </p:spPr>
        <p:txBody>
          <a:bodyPr wrap="square">
            <a:spAutoFit/>
          </a:bodyPr>
          <a:lstStyle/>
          <a:p>
            <a:pPr algn="l"/>
            <a:r>
              <a:rPr sz="1300" b="1" i="0">
                <a:solidFill>
                  <a:srgbClr val="688BC2"/>
                </a:solidFill>
              </a:rPr>
              <a:t>%</a:t>
            </a:r>
          </a:p>
        </p:txBody>
      </p:sp>
      <p:sp>
        <p:nvSpPr>
          <p:cNvPr id="15" name="TextBox 14"/>
          <p:cNvSpPr txBox="1"/>
          <p:nvPr/>
        </p:nvSpPr>
        <p:spPr>
          <a:xfrm>
            <a:off x="658368" y="2999232"/>
            <a:ext cx="2478024" cy="201168"/>
          </a:xfrm>
          <a:prstGeom prst="rect">
            <a:avLst/>
          </a:prstGeom>
          <a:noFill/>
        </p:spPr>
        <p:txBody>
          <a:bodyPr wrap="square">
            <a:spAutoFit/>
          </a:bodyPr>
          <a:lstStyle/>
          <a:p>
            <a:pPr algn="l"/>
            <a:r>
              <a:rPr sz="750" b="0" i="0">
                <a:solidFill>
                  <a:srgbClr val="99A2AD"/>
                </a:solidFill>
              </a:rPr>
              <a:t>前期比+15pt ／ 目標85%以上 ✓</a:t>
            </a:r>
          </a:p>
        </p:txBody>
      </p:sp>
      <p:sp>
        <p:nvSpPr>
          <p:cNvPr id="16" name="TextBox 15"/>
          <p:cNvSpPr txBox="1"/>
          <p:nvPr/>
        </p:nvSpPr>
        <p:spPr>
          <a:xfrm>
            <a:off x="658368" y="3246120"/>
            <a:ext cx="2478024" cy="411480"/>
          </a:xfrm>
          <a:prstGeom prst="rect">
            <a:avLst/>
          </a:prstGeom>
          <a:noFill/>
        </p:spPr>
        <p:txBody>
          <a:bodyPr wrap="square">
            <a:spAutoFit/>
          </a:bodyPr>
          <a:lstStyle/>
          <a:p>
            <a:pPr algn="l"/>
            <a:r>
              <a:rPr sz="750" b="0" i="0">
                <a:solidFill>
                  <a:srgbClr val="444444"/>
                </a:solidFill>
              </a:rPr>
              <a:t>継続率改善は年間1.6億円の収益改善に相当し、施策の最重要成果指標である。</a:t>
            </a:r>
          </a:p>
        </p:txBody>
      </p:sp>
      <p:sp>
        <p:nvSpPr>
          <p:cNvPr id="17" name="TextBox 16"/>
          <p:cNvSpPr txBox="1"/>
          <p:nvPr/>
        </p:nvSpPr>
        <p:spPr>
          <a:xfrm>
            <a:off x="676656" y="3703320"/>
            <a:ext cx="2441448" cy="502920"/>
          </a:xfrm>
          <a:prstGeom prst="rect">
            <a:avLst/>
          </a:prstGeom>
          <a:noFill/>
        </p:spPr>
        <p:txBody>
          <a:bodyPr wrap="square">
            <a:spAutoFit/>
          </a:bodyPr>
          <a:lstStyle/>
          <a:p>
            <a:pPr algn="l"/>
            <a:r>
              <a:rPr sz="700" b="0" i="0">
                <a:solidFill>
                  <a:srgbClr val="444444"/>
                </a:solidFill>
              </a:rPr>
              <a:t>▶ 次のアクション：継続率90%を次期目標に設定し、解約リスク顧客への早期介入を強化する。</a:t>
            </a:r>
          </a:p>
        </p:txBody>
      </p:sp>
      <p:sp>
        <p:nvSpPr>
          <p:cNvPr id="18" name="Rectangle 17"/>
          <p:cNvSpPr/>
          <p:nvPr/>
        </p:nvSpPr>
        <p:spPr>
          <a:xfrm>
            <a:off x="3337560" y="1828800"/>
            <a:ext cx="2697479"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47288" y="1920240"/>
            <a:ext cx="2478024" cy="182880"/>
          </a:xfrm>
          <a:prstGeom prst="rect">
            <a:avLst/>
          </a:prstGeom>
          <a:noFill/>
        </p:spPr>
        <p:txBody>
          <a:bodyPr wrap="square">
            <a:spAutoFit/>
          </a:bodyPr>
          <a:lstStyle/>
          <a:p>
            <a:pPr algn="l"/>
            <a:r>
              <a:rPr sz="750" b="1" i="0">
                <a:solidFill>
                  <a:srgbClr val="1D51A3"/>
                </a:solidFill>
              </a:rPr>
              <a:t>KPI 02</a:t>
            </a:r>
          </a:p>
        </p:txBody>
      </p:sp>
      <p:sp>
        <p:nvSpPr>
          <p:cNvPr id="20" name="TextBox 19"/>
          <p:cNvSpPr txBox="1"/>
          <p:nvPr/>
        </p:nvSpPr>
        <p:spPr>
          <a:xfrm>
            <a:off x="3447288" y="2121408"/>
            <a:ext cx="2478024" cy="256032"/>
          </a:xfrm>
          <a:prstGeom prst="rect">
            <a:avLst/>
          </a:prstGeom>
          <a:noFill/>
        </p:spPr>
        <p:txBody>
          <a:bodyPr wrap="square">
            <a:spAutoFit/>
          </a:bodyPr>
          <a:lstStyle/>
          <a:p>
            <a:pPr algn="l"/>
            <a:r>
              <a:rPr sz="1100" b="1" i="0">
                <a:solidFill>
                  <a:srgbClr val="0C3570"/>
                </a:solidFill>
              </a:rPr>
              <a:t>NPS</a:t>
            </a:r>
          </a:p>
        </p:txBody>
      </p:sp>
      <p:sp>
        <p:nvSpPr>
          <p:cNvPr id="21" name="TextBox 20"/>
          <p:cNvSpPr txBox="1"/>
          <p:nvPr/>
        </p:nvSpPr>
        <p:spPr>
          <a:xfrm>
            <a:off x="3447288" y="2450592"/>
            <a:ext cx="2478024" cy="502920"/>
          </a:xfrm>
          <a:prstGeom prst="rect">
            <a:avLst/>
          </a:prstGeom>
          <a:noFill/>
        </p:spPr>
        <p:txBody>
          <a:bodyPr wrap="square">
            <a:spAutoFit/>
          </a:bodyPr>
          <a:lstStyle/>
          <a:p>
            <a:pPr algn="l"/>
            <a:r>
              <a:rPr sz="2800" b="1" i="0">
                <a:solidFill>
                  <a:srgbClr val="1D51A3"/>
                </a:solidFill>
              </a:rPr>
              <a:t>+42</a:t>
            </a:r>
          </a:p>
        </p:txBody>
      </p:sp>
      <p:sp>
        <p:nvSpPr>
          <p:cNvPr id="22" name="TextBox 21"/>
          <p:cNvSpPr txBox="1"/>
          <p:nvPr/>
        </p:nvSpPr>
        <p:spPr>
          <a:xfrm>
            <a:off x="3941064" y="2578608"/>
            <a:ext cx="731520" cy="274320"/>
          </a:xfrm>
          <a:prstGeom prst="rect">
            <a:avLst/>
          </a:prstGeom>
          <a:noFill/>
        </p:spPr>
        <p:txBody>
          <a:bodyPr wrap="square">
            <a:spAutoFit/>
          </a:bodyPr>
          <a:lstStyle/>
          <a:p>
            <a:pPr algn="l"/>
            <a:r>
              <a:rPr sz="1300" b="1" i="0">
                <a:solidFill>
                  <a:srgbClr val="688BC2"/>
                </a:solidFill>
              </a:rPr>
              <a:t>pt</a:t>
            </a:r>
          </a:p>
        </p:txBody>
      </p:sp>
      <p:sp>
        <p:nvSpPr>
          <p:cNvPr id="23" name="TextBox 22"/>
          <p:cNvSpPr txBox="1"/>
          <p:nvPr/>
        </p:nvSpPr>
        <p:spPr>
          <a:xfrm>
            <a:off x="3447288" y="2999232"/>
            <a:ext cx="2478024" cy="201168"/>
          </a:xfrm>
          <a:prstGeom prst="rect">
            <a:avLst/>
          </a:prstGeom>
          <a:noFill/>
        </p:spPr>
        <p:txBody>
          <a:bodyPr wrap="square">
            <a:spAutoFit/>
          </a:bodyPr>
          <a:lstStyle/>
          <a:p>
            <a:pPr algn="l"/>
            <a:r>
              <a:rPr sz="750" b="0" i="0">
                <a:solidFill>
                  <a:srgbClr val="99A2AD"/>
                </a:solidFill>
              </a:rPr>
              <a:t>前期比+22pt ／ 目標+30以上 ✓</a:t>
            </a:r>
          </a:p>
        </p:txBody>
      </p:sp>
      <p:sp>
        <p:nvSpPr>
          <p:cNvPr id="24" name="TextBox 23"/>
          <p:cNvSpPr txBox="1"/>
          <p:nvPr/>
        </p:nvSpPr>
        <p:spPr>
          <a:xfrm>
            <a:off x="3447288" y="3246120"/>
            <a:ext cx="2478024" cy="411480"/>
          </a:xfrm>
          <a:prstGeom prst="rect">
            <a:avLst/>
          </a:prstGeom>
          <a:noFill/>
        </p:spPr>
        <p:txBody>
          <a:bodyPr wrap="square">
            <a:spAutoFit/>
          </a:bodyPr>
          <a:lstStyle/>
          <a:p>
            <a:pPr algn="l"/>
            <a:r>
              <a:rPr sz="750" b="0" i="0">
                <a:solidFill>
                  <a:srgbClr val="444444"/>
                </a:solidFill>
              </a:rPr>
              <a:t>NPS向上により口コミ経由の新規問い合わせが月20件増加し、獲得コスト削減に貢献している。</a:t>
            </a:r>
          </a:p>
        </p:txBody>
      </p:sp>
      <p:sp>
        <p:nvSpPr>
          <p:cNvPr id="25" name="TextBox 24"/>
          <p:cNvSpPr txBox="1"/>
          <p:nvPr/>
        </p:nvSpPr>
        <p:spPr>
          <a:xfrm>
            <a:off x="3465576" y="3703320"/>
            <a:ext cx="2441448" cy="502920"/>
          </a:xfrm>
          <a:prstGeom prst="rect">
            <a:avLst/>
          </a:prstGeom>
          <a:noFill/>
        </p:spPr>
        <p:txBody>
          <a:bodyPr wrap="square">
            <a:spAutoFit/>
          </a:bodyPr>
          <a:lstStyle/>
          <a:p>
            <a:pPr algn="l"/>
            <a:r>
              <a:rPr sz="700" b="0" i="0">
                <a:solidFill>
                  <a:srgbClr val="444444"/>
                </a:solidFill>
              </a:rPr>
              <a:t>▶ 次のアクション：NPS+50を次期目標に設定し、リファラルプログラムを開始する。</a:t>
            </a:r>
          </a:p>
        </p:txBody>
      </p:sp>
      <p:sp>
        <p:nvSpPr>
          <p:cNvPr id="26" name="Rectangle 25"/>
          <p:cNvSpPr/>
          <p:nvPr/>
        </p:nvSpPr>
        <p:spPr>
          <a:xfrm>
            <a:off x="6126479" y="1828800"/>
            <a:ext cx="2697479"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36207" y="1920240"/>
            <a:ext cx="2478024" cy="182880"/>
          </a:xfrm>
          <a:prstGeom prst="rect">
            <a:avLst/>
          </a:prstGeom>
          <a:noFill/>
        </p:spPr>
        <p:txBody>
          <a:bodyPr wrap="square">
            <a:spAutoFit/>
          </a:bodyPr>
          <a:lstStyle/>
          <a:p>
            <a:pPr algn="l"/>
            <a:r>
              <a:rPr sz="750" b="1" i="0">
                <a:solidFill>
                  <a:srgbClr val="1D51A3"/>
                </a:solidFill>
              </a:rPr>
              <a:t>KPI 03</a:t>
            </a:r>
          </a:p>
        </p:txBody>
      </p:sp>
      <p:sp>
        <p:nvSpPr>
          <p:cNvPr id="28" name="TextBox 27"/>
          <p:cNvSpPr txBox="1"/>
          <p:nvPr/>
        </p:nvSpPr>
        <p:spPr>
          <a:xfrm>
            <a:off x="6236207" y="2121408"/>
            <a:ext cx="2478024" cy="256032"/>
          </a:xfrm>
          <a:prstGeom prst="rect">
            <a:avLst/>
          </a:prstGeom>
          <a:noFill/>
        </p:spPr>
        <p:txBody>
          <a:bodyPr wrap="square">
            <a:spAutoFit/>
          </a:bodyPr>
          <a:lstStyle/>
          <a:p>
            <a:pPr algn="l"/>
            <a:r>
              <a:rPr sz="1100" b="1" i="0">
                <a:solidFill>
                  <a:srgbClr val="0C3570"/>
                </a:solidFill>
              </a:rPr>
              <a:t>売上増加</a:t>
            </a:r>
          </a:p>
        </p:txBody>
      </p:sp>
      <p:sp>
        <p:nvSpPr>
          <p:cNvPr id="29" name="TextBox 28"/>
          <p:cNvSpPr txBox="1"/>
          <p:nvPr/>
        </p:nvSpPr>
        <p:spPr>
          <a:xfrm>
            <a:off x="6236207" y="2450592"/>
            <a:ext cx="2478024" cy="502920"/>
          </a:xfrm>
          <a:prstGeom prst="rect">
            <a:avLst/>
          </a:prstGeom>
          <a:noFill/>
        </p:spPr>
        <p:txBody>
          <a:bodyPr wrap="square">
            <a:spAutoFit/>
          </a:bodyPr>
          <a:lstStyle/>
          <a:p>
            <a:pPr algn="l"/>
            <a:r>
              <a:rPr sz="2800" b="1" i="0">
                <a:solidFill>
                  <a:srgbClr val="1D51A3"/>
                </a:solidFill>
              </a:rPr>
              <a:t>2.4</a:t>
            </a:r>
          </a:p>
        </p:txBody>
      </p:sp>
      <p:sp>
        <p:nvSpPr>
          <p:cNvPr id="30" name="TextBox 29"/>
          <p:cNvSpPr txBox="1"/>
          <p:nvPr/>
        </p:nvSpPr>
        <p:spPr>
          <a:xfrm>
            <a:off x="6729983" y="2578608"/>
            <a:ext cx="731520" cy="274320"/>
          </a:xfrm>
          <a:prstGeom prst="rect">
            <a:avLst/>
          </a:prstGeom>
          <a:noFill/>
        </p:spPr>
        <p:txBody>
          <a:bodyPr wrap="square">
            <a:spAutoFit/>
          </a:bodyPr>
          <a:lstStyle/>
          <a:p>
            <a:pPr algn="l"/>
            <a:r>
              <a:rPr sz="1300" b="1" i="0">
                <a:solidFill>
                  <a:srgbClr val="688BC2"/>
                </a:solidFill>
              </a:rPr>
              <a:t>億円</a:t>
            </a:r>
          </a:p>
        </p:txBody>
      </p:sp>
      <p:sp>
        <p:nvSpPr>
          <p:cNvPr id="31" name="TextBox 30"/>
          <p:cNvSpPr txBox="1"/>
          <p:nvPr/>
        </p:nvSpPr>
        <p:spPr>
          <a:xfrm>
            <a:off x="6236207" y="2999232"/>
            <a:ext cx="2478024" cy="201168"/>
          </a:xfrm>
          <a:prstGeom prst="rect">
            <a:avLst/>
          </a:prstGeom>
          <a:noFill/>
        </p:spPr>
        <p:txBody>
          <a:bodyPr wrap="square">
            <a:spAutoFit/>
          </a:bodyPr>
          <a:lstStyle/>
          <a:p>
            <a:pPr algn="l"/>
            <a:r>
              <a:rPr sz="750" b="0" i="0">
                <a:solidFill>
                  <a:srgbClr val="99A2AD"/>
                </a:solidFill>
              </a:rPr>
              <a:t>前期比+18% ／ 目標2.0億円以上 ✓</a:t>
            </a:r>
          </a:p>
        </p:txBody>
      </p:sp>
      <p:sp>
        <p:nvSpPr>
          <p:cNvPr id="32" name="TextBox 31"/>
          <p:cNvSpPr txBox="1"/>
          <p:nvPr/>
        </p:nvSpPr>
        <p:spPr>
          <a:xfrm>
            <a:off x="6236207" y="3246120"/>
            <a:ext cx="2478024" cy="411480"/>
          </a:xfrm>
          <a:prstGeom prst="rect">
            <a:avLst/>
          </a:prstGeom>
          <a:noFill/>
        </p:spPr>
        <p:txBody>
          <a:bodyPr wrap="square">
            <a:spAutoFit/>
          </a:bodyPr>
          <a:lstStyle/>
          <a:p>
            <a:pPr algn="l"/>
            <a:r>
              <a:rPr sz="750" b="0" i="0">
                <a:solidFill>
                  <a:srgbClr val="444444"/>
                </a:solidFill>
              </a:rPr>
              <a:t>継続率改善と新規獲得の両輪で、目標を20%上回る成果を達成した。</a:t>
            </a:r>
          </a:p>
        </p:txBody>
      </p:sp>
      <p:sp>
        <p:nvSpPr>
          <p:cNvPr id="33" name="TextBox 32"/>
          <p:cNvSpPr txBox="1"/>
          <p:nvPr/>
        </p:nvSpPr>
        <p:spPr>
          <a:xfrm>
            <a:off x="6254495" y="3703320"/>
            <a:ext cx="2441448" cy="502920"/>
          </a:xfrm>
          <a:prstGeom prst="rect">
            <a:avLst/>
          </a:prstGeom>
          <a:noFill/>
        </p:spPr>
        <p:txBody>
          <a:bodyPr wrap="square">
            <a:spAutoFit/>
          </a:bodyPr>
          <a:lstStyle/>
          <a:p>
            <a:pPr algn="l"/>
            <a:r>
              <a:rPr sz="700" b="0" i="0">
                <a:solidFill>
                  <a:srgbClr val="444444"/>
                </a:solidFill>
              </a:rPr>
              <a:t>▶ 次のアクション：来期目標を3.5億円増収に設定し、CS体制のさらなる強化を承認する。</a:t>
            </a:r>
          </a:p>
        </p:txBody>
      </p:sp>
      <p:sp>
        <p:nvSpPr>
          <p:cNvPr id="34" name="Rectangle 33"/>
          <p:cNvSpPr/>
          <p:nvPr/>
        </p:nvSpPr>
        <p:spPr>
          <a:xfrm>
            <a:off x="8915399" y="1828800"/>
            <a:ext cx="2697479"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025127" y="1920240"/>
            <a:ext cx="2478024" cy="182880"/>
          </a:xfrm>
          <a:prstGeom prst="rect">
            <a:avLst/>
          </a:prstGeom>
          <a:noFill/>
        </p:spPr>
        <p:txBody>
          <a:bodyPr wrap="square">
            <a:spAutoFit/>
          </a:bodyPr>
          <a:lstStyle/>
          <a:p>
            <a:pPr algn="l"/>
            <a:r>
              <a:rPr sz="750" b="1" i="0">
                <a:solidFill>
                  <a:srgbClr val="93B5E6"/>
                </a:solidFill>
              </a:rPr>
              <a:t>KPI 04</a:t>
            </a:r>
          </a:p>
        </p:txBody>
      </p:sp>
      <p:sp>
        <p:nvSpPr>
          <p:cNvPr id="36" name="TextBox 35"/>
          <p:cNvSpPr txBox="1"/>
          <p:nvPr/>
        </p:nvSpPr>
        <p:spPr>
          <a:xfrm>
            <a:off x="9025127" y="2121408"/>
            <a:ext cx="2478024" cy="256032"/>
          </a:xfrm>
          <a:prstGeom prst="rect">
            <a:avLst/>
          </a:prstGeom>
          <a:noFill/>
        </p:spPr>
        <p:txBody>
          <a:bodyPr wrap="square">
            <a:spAutoFit/>
          </a:bodyPr>
          <a:lstStyle/>
          <a:p>
            <a:pPr algn="l"/>
            <a:r>
              <a:rPr sz="1100" b="1" i="0">
                <a:solidFill>
                  <a:srgbClr val="FFFFFF"/>
                </a:solidFill>
              </a:rPr>
              <a:t>コスト削減</a:t>
            </a:r>
          </a:p>
        </p:txBody>
      </p:sp>
      <p:sp>
        <p:nvSpPr>
          <p:cNvPr id="37" name="TextBox 36"/>
          <p:cNvSpPr txBox="1"/>
          <p:nvPr/>
        </p:nvSpPr>
        <p:spPr>
          <a:xfrm>
            <a:off x="9025127" y="2450592"/>
            <a:ext cx="2478024" cy="502920"/>
          </a:xfrm>
          <a:prstGeom prst="rect">
            <a:avLst/>
          </a:prstGeom>
          <a:noFill/>
        </p:spPr>
        <p:txBody>
          <a:bodyPr wrap="square">
            <a:spAutoFit/>
          </a:bodyPr>
          <a:lstStyle/>
          <a:p>
            <a:pPr algn="l"/>
            <a:r>
              <a:rPr sz="2800" b="1" i="0">
                <a:solidFill>
                  <a:srgbClr val="FFFFFF"/>
                </a:solidFill>
              </a:rPr>
              <a:t>8,000</a:t>
            </a:r>
          </a:p>
        </p:txBody>
      </p:sp>
      <p:sp>
        <p:nvSpPr>
          <p:cNvPr id="38" name="TextBox 37"/>
          <p:cNvSpPr txBox="1"/>
          <p:nvPr/>
        </p:nvSpPr>
        <p:spPr>
          <a:xfrm>
            <a:off x="9848087" y="2578608"/>
            <a:ext cx="731520" cy="274320"/>
          </a:xfrm>
          <a:prstGeom prst="rect">
            <a:avLst/>
          </a:prstGeom>
          <a:noFill/>
        </p:spPr>
        <p:txBody>
          <a:bodyPr wrap="square">
            <a:spAutoFit/>
          </a:bodyPr>
          <a:lstStyle/>
          <a:p>
            <a:pPr algn="l"/>
            <a:r>
              <a:rPr sz="1300" b="1" i="0">
                <a:solidFill>
                  <a:srgbClr val="93B5E6"/>
                </a:solidFill>
              </a:rPr>
              <a:t>万円</a:t>
            </a:r>
          </a:p>
        </p:txBody>
      </p:sp>
      <p:sp>
        <p:nvSpPr>
          <p:cNvPr id="39" name="TextBox 38"/>
          <p:cNvSpPr txBox="1"/>
          <p:nvPr/>
        </p:nvSpPr>
        <p:spPr>
          <a:xfrm>
            <a:off x="9025127" y="2999232"/>
            <a:ext cx="2478024" cy="201168"/>
          </a:xfrm>
          <a:prstGeom prst="rect">
            <a:avLst/>
          </a:prstGeom>
          <a:noFill/>
        </p:spPr>
        <p:txBody>
          <a:bodyPr wrap="square">
            <a:spAutoFit/>
          </a:bodyPr>
          <a:lstStyle/>
          <a:p>
            <a:pPr algn="l"/>
            <a:r>
              <a:rPr sz="750" b="0" i="0">
                <a:solidFill>
                  <a:srgbClr val="93B5E6"/>
                </a:solidFill>
              </a:rPr>
              <a:t>前期比-20% ／ 目標6,000万円以上 ✓</a:t>
            </a:r>
          </a:p>
        </p:txBody>
      </p:sp>
      <p:sp>
        <p:nvSpPr>
          <p:cNvPr id="40" name="TextBox 39"/>
          <p:cNvSpPr txBox="1"/>
          <p:nvPr/>
        </p:nvSpPr>
        <p:spPr>
          <a:xfrm>
            <a:off x="9025127" y="3246120"/>
            <a:ext cx="2478024" cy="411480"/>
          </a:xfrm>
          <a:prstGeom prst="rect">
            <a:avLst/>
          </a:prstGeom>
          <a:noFill/>
        </p:spPr>
        <p:txBody>
          <a:bodyPr wrap="square">
            <a:spAutoFit/>
          </a:bodyPr>
          <a:lstStyle/>
          <a:p>
            <a:pPr algn="l"/>
            <a:r>
              <a:rPr sz="750" b="0" i="0">
                <a:solidFill>
                  <a:srgbClr val="FFFFFF"/>
                </a:solidFill>
              </a:rPr>
              <a:t>自動化と効率化により、目標を133%上回るコスト削減を達成した。</a:t>
            </a:r>
          </a:p>
        </p:txBody>
      </p:sp>
      <p:sp>
        <p:nvSpPr>
          <p:cNvPr id="41" name="TextBox 40"/>
          <p:cNvSpPr txBox="1"/>
          <p:nvPr/>
        </p:nvSpPr>
        <p:spPr>
          <a:xfrm>
            <a:off x="9043415" y="3703320"/>
            <a:ext cx="2441448" cy="502920"/>
          </a:xfrm>
          <a:prstGeom prst="rect">
            <a:avLst/>
          </a:prstGeom>
          <a:noFill/>
        </p:spPr>
        <p:txBody>
          <a:bodyPr wrap="square">
            <a:spAutoFit/>
          </a:bodyPr>
          <a:lstStyle/>
          <a:p>
            <a:pPr algn="l"/>
            <a:r>
              <a:rPr sz="700" b="0" i="0">
                <a:solidFill>
                  <a:srgbClr val="FFFFFF"/>
                </a:solidFill>
              </a:rPr>
              <a:t>▶ 次のアクション：削減効果をCS投資に再配分し、さらなる成長を加速させる。</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最重要指標：継続率15%改善により年間2.4億円の増収を達成した</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big_number ／ 用途: 最重要数値の強調表示 ／ 件数: 1〜3件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継続率・NPS・売上の3指標がすべて目標を大幅に上回っており、施策の総合的な効果が定量的に確認できている。</a:t>
            </a:r>
          </a:p>
        </p:txBody>
      </p:sp>
      <p:sp>
        <p:nvSpPr>
          <p:cNvPr id="10" name="Rectangle 9"/>
          <p:cNvSpPr/>
          <p:nvPr/>
        </p:nvSpPr>
        <p:spPr>
          <a:xfrm>
            <a:off x="548640" y="1828800"/>
            <a:ext cx="3614928"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20240"/>
            <a:ext cx="3395471" cy="182880"/>
          </a:xfrm>
          <a:prstGeom prst="rect">
            <a:avLst/>
          </a:prstGeom>
          <a:noFill/>
        </p:spPr>
        <p:txBody>
          <a:bodyPr wrap="square">
            <a:spAutoFit/>
          </a:bodyPr>
          <a:lstStyle/>
          <a:p>
            <a:pPr algn="l"/>
            <a:r>
              <a:rPr sz="750" b="1" i="0">
                <a:solidFill>
                  <a:srgbClr val="1D51A3"/>
                </a:solidFill>
              </a:rPr>
              <a:t>PRIMARY KPI</a:t>
            </a:r>
          </a:p>
        </p:txBody>
      </p:sp>
      <p:sp>
        <p:nvSpPr>
          <p:cNvPr id="12" name="TextBox 11"/>
          <p:cNvSpPr txBox="1"/>
          <p:nvPr/>
        </p:nvSpPr>
        <p:spPr>
          <a:xfrm>
            <a:off x="658368" y="2121408"/>
            <a:ext cx="3395471" cy="256032"/>
          </a:xfrm>
          <a:prstGeom prst="rect">
            <a:avLst/>
          </a:prstGeom>
          <a:noFill/>
        </p:spPr>
        <p:txBody>
          <a:bodyPr wrap="square">
            <a:spAutoFit/>
          </a:bodyPr>
          <a:lstStyle/>
          <a:p>
            <a:pPr algn="l"/>
            <a:r>
              <a:rPr sz="1100" b="1" i="0">
                <a:solidFill>
                  <a:srgbClr val="0C3570"/>
                </a:solidFill>
              </a:rPr>
              <a:t>顧客継続率の改善</a:t>
            </a:r>
          </a:p>
        </p:txBody>
      </p:sp>
      <p:sp>
        <p:nvSpPr>
          <p:cNvPr id="13" name="TextBox 12"/>
          <p:cNvSpPr txBox="1"/>
          <p:nvPr/>
        </p:nvSpPr>
        <p:spPr>
          <a:xfrm>
            <a:off x="658368" y="2450592"/>
            <a:ext cx="3395471" cy="502920"/>
          </a:xfrm>
          <a:prstGeom prst="rect">
            <a:avLst/>
          </a:prstGeom>
          <a:noFill/>
        </p:spPr>
        <p:txBody>
          <a:bodyPr wrap="square">
            <a:spAutoFit/>
          </a:bodyPr>
          <a:lstStyle/>
          <a:p>
            <a:pPr algn="l"/>
            <a:r>
              <a:rPr sz="2800" b="1" i="0">
                <a:solidFill>
                  <a:srgbClr val="1D51A3"/>
                </a:solidFill>
              </a:rPr>
              <a:t>+15</a:t>
            </a:r>
          </a:p>
        </p:txBody>
      </p:sp>
      <p:sp>
        <p:nvSpPr>
          <p:cNvPr id="14" name="TextBox 13"/>
          <p:cNvSpPr txBox="1"/>
          <p:nvPr/>
        </p:nvSpPr>
        <p:spPr>
          <a:xfrm>
            <a:off x="1152144" y="2578608"/>
            <a:ext cx="731520" cy="274320"/>
          </a:xfrm>
          <a:prstGeom prst="rect">
            <a:avLst/>
          </a:prstGeom>
          <a:noFill/>
        </p:spPr>
        <p:txBody>
          <a:bodyPr wrap="square">
            <a:spAutoFit/>
          </a:bodyPr>
          <a:lstStyle/>
          <a:p>
            <a:pPr algn="l"/>
            <a:r>
              <a:rPr sz="1300" b="1" i="0">
                <a:solidFill>
                  <a:srgbClr val="688BC2"/>
                </a:solidFill>
              </a:rPr>
              <a:t>%</a:t>
            </a:r>
          </a:p>
        </p:txBody>
      </p:sp>
      <p:sp>
        <p:nvSpPr>
          <p:cNvPr id="15" name="TextBox 14"/>
          <p:cNvSpPr txBox="1"/>
          <p:nvPr/>
        </p:nvSpPr>
        <p:spPr>
          <a:xfrm>
            <a:off x="658368" y="2999232"/>
            <a:ext cx="3395471" cy="201168"/>
          </a:xfrm>
          <a:prstGeom prst="rect">
            <a:avLst/>
          </a:prstGeom>
          <a:noFill/>
        </p:spPr>
        <p:txBody>
          <a:bodyPr wrap="square">
            <a:spAutoFit/>
          </a:bodyPr>
          <a:lstStyle/>
          <a:p>
            <a:pPr algn="l"/>
            <a:r>
              <a:rPr sz="750" b="0" i="0">
                <a:solidFill>
                  <a:srgbClr val="99A2AD"/>
                </a:solidFill>
              </a:rPr>
              <a:t> ／ </a:t>
            </a:r>
          </a:p>
        </p:txBody>
      </p:sp>
      <p:sp>
        <p:nvSpPr>
          <p:cNvPr id="16" name="TextBox 15"/>
          <p:cNvSpPr txBox="1"/>
          <p:nvPr/>
        </p:nvSpPr>
        <p:spPr>
          <a:xfrm>
            <a:off x="658368" y="3246120"/>
            <a:ext cx="3395471" cy="411480"/>
          </a:xfrm>
          <a:prstGeom prst="rect">
            <a:avLst/>
          </a:prstGeom>
          <a:noFill/>
        </p:spPr>
        <p:txBody>
          <a:bodyPr wrap="square">
            <a:spAutoFit/>
          </a:bodyPr>
          <a:lstStyle/>
          <a:p>
            <a:pPr algn="l"/>
            <a:r>
              <a:rPr sz="750" b="0" i="0">
                <a:solidFill>
                  <a:srgbClr val="444444"/>
                </a:solidFill>
              </a:rPr>
              <a:t>CS体制強化とオンボーディング改善により、業界平均（78%）を大幅に上回る87%を達成した。</a:t>
            </a:r>
          </a:p>
        </p:txBody>
      </p:sp>
      <p:sp>
        <p:nvSpPr>
          <p:cNvPr id="17" name="TextBox 16"/>
          <p:cNvSpPr txBox="1"/>
          <p:nvPr/>
        </p:nvSpPr>
        <p:spPr>
          <a:xfrm>
            <a:off x="676656" y="3703320"/>
            <a:ext cx="3358895" cy="502920"/>
          </a:xfrm>
          <a:prstGeom prst="rect">
            <a:avLst/>
          </a:prstGeom>
          <a:noFill/>
        </p:spPr>
        <p:txBody>
          <a:bodyPr wrap="square">
            <a:spAutoFit/>
          </a:bodyPr>
          <a:lstStyle/>
          <a:p>
            <a:pPr algn="l"/>
            <a:r>
              <a:rPr sz="700" b="0" i="0">
                <a:solidFill>
                  <a:srgbClr val="444444"/>
                </a:solidFill>
              </a:rPr>
              <a:t>▶ 次のアクション：継続率90%を次期目標に設定し、解約リスク顧客への早期介入プログラムを強化する。</a:t>
            </a:r>
          </a:p>
        </p:txBody>
      </p:sp>
      <p:sp>
        <p:nvSpPr>
          <p:cNvPr id="18" name="Rectangle 17"/>
          <p:cNvSpPr/>
          <p:nvPr/>
        </p:nvSpPr>
        <p:spPr>
          <a:xfrm>
            <a:off x="4273296" y="1828800"/>
            <a:ext cx="3614928"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83024" y="1920240"/>
            <a:ext cx="3395471" cy="182880"/>
          </a:xfrm>
          <a:prstGeom prst="rect">
            <a:avLst/>
          </a:prstGeom>
          <a:noFill/>
        </p:spPr>
        <p:txBody>
          <a:bodyPr wrap="square">
            <a:spAutoFit/>
          </a:bodyPr>
          <a:lstStyle/>
          <a:p>
            <a:pPr algn="l"/>
            <a:r>
              <a:rPr sz="750" b="1" i="0">
                <a:solidFill>
                  <a:srgbClr val="93B5E6"/>
                </a:solidFill>
              </a:rPr>
              <a:t>REVENUE IMPACT</a:t>
            </a:r>
          </a:p>
        </p:txBody>
      </p:sp>
      <p:sp>
        <p:nvSpPr>
          <p:cNvPr id="20" name="TextBox 19"/>
          <p:cNvSpPr txBox="1"/>
          <p:nvPr/>
        </p:nvSpPr>
        <p:spPr>
          <a:xfrm>
            <a:off x="4383024" y="2121408"/>
            <a:ext cx="3395471" cy="256032"/>
          </a:xfrm>
          <a:prstGeom prst="rect">
            <a:avLst/>
          </a:prstGeom>
          <a:noFill/>
        </p:spPr>
        <p:txBody>
          <a:bodyPr wrap="square">
            <a:spAutoFit/>
          </a:bodyPr>
          <a:lstStyle/>
          <a:p>
            <a:pPr algn="l"/>
            <a:r>
              <a:rPr sz="1100" b="1" i="0">
                <a:solidFill>
                  <a:srgbClr val="FFFFFF"/>
                </a:solidFill>
              </a:rPr>
              <a:t>年間増収額</a:t>
            </a:r>
          </a:p>
        </p:txBody>
      </p:sp>
      <p:sp>
        <p:nvSpPr>
          <p:cNvPr id="21" name="TextBox 20"/>
          <p:cNvSpPr txBox="1"/>
          <p:nvPr/>
        </p:nvSpPr>
        <p:spPr>
          <a:xfrm>
            <a:off x="4383024" y="2450592"/>
            <a:ext cx="3395471" cy="502920"/>
          </a:xfrm>
          <a:prstGeom prst="rect">
            <a:avLst/>
          </a:prstGeom>
          <a:noFill/>
        </p:spPr>
        <p:txBody>
          <a:bodyPr wrap="square">
            <a:spAutoFit/>
          </a:bodyPr>
          <a:lstStyle/>
          <a:p>
            <a:pPr algn="l"/>
            <a:r>
              <a:rPr sz="2800" b="1" i="0">
                <a:solidFill>
                  <a:srgbClr val="FFFFFF"/>
                </a:solidFill>
              </a:rPr>
              <a:t>2.4</a:t>
            </a:r>
          </a:p>
        </p:txBody>
      </p:sp>
      <p:sp>
        <p:nvSpPr>
          <p:cNvPr id="22" name="TextBox 21"/>
          <p:cNvSpPr txBox="1"/>
          <p:nvPr/>
        </p:nvSpPr>
        <p:spPr>
          <a:xfrm>
            <a:off x="4876800" y="2578608"/>
            <a:ext cx="731520" cy="274320"/>
          </a:xfrm>
          <a:prstGeom prst="rect">
            <a:avLst/>
          </a:prstGeom>
          <a:noFill/>
        </p:spPr>
        <p:txBody>
          <a:bodyPr wrap="square">
            <a:spAutoFit/>
          </a:bodyPr>
          <a:lstStyle/>
          <a:p>
            <a:pPr algn="l"/>
            <a:r>
              <a:rPr sz="1300" b="1" i="0">
                <a:solidFill>
                  <a:srgbClr val="93B5E6"/>
                </a:solidFill>
              </a:rPr>
              <a:t>億円</a:t>
            </a:r>
          </a:p>
        </p:txBody>
      </p:sp>
      <p:sp>
        <p:nvSpPr>
          <p:cNvPr id="23" name="TextBox 22"/>
          <p:cNvSpPr txBox="1"/>
          <p:nvPr/>
        </p:nvSpPr>
        <p:spPr>
          <a:xfrm>
            <a:off x="4383024" y="2999232"/>
            <a:ext cx="3395471" cy="201168"/>
          </a:xfrm>
          <a:prstGeom prst="rect">
            <a:avLst/>
          </a:prstGeom>
          <a:noFill/>
        </p:spPr>
        <p:txBody>
          <a:bodyPr wrap="square">
            <a:spAutoFit/>
          </a:bodyPr>
          <a:lstStyle/>
          <a:p>
            <a:pPr algn="l"/>
            <a:r>
              <a:rPr sz="750" b="0" i="0">
                <a:solidFill>
                  <a:srgbClr val="93B5E6"/>
                </a:solidFill>
              </a:rPr>
              <a:t> ／ </a:t>
            </a:r>
          </a:p>
        </p:txBody>
      </p:sp>
      <p:sp>
        <p:nvSpPr>
          <p:cNvPr id="24" name="TextBox 23"/>
          <p:cNvSpPr txBox="1"/>
          <p:nvPr/>
        </p:nvSpPr>
        <p:spPr>
          <a:xfrm>
            <a:off x="4383024" y="3246120"/>
            <a:ext cx="3395471" cy="411480"/>
          </a:xfrm>
          <a:prstGeom prst="rect">
            <a:avLst/>
          </a:prstGeom>
          <a:noFill/>
        </p:spPr>
        <p:txBody>
          <a:bodyPr wrap="square">
            <a:spAutoFit/>
          </a:bodyPr>
          <a:lstStyle/>
          <a:p>
            <a:pPr algn="l"/>
            <a:r>
              <a:rPr sz="750" b="0" i="0">
                <a:solidFill>
                  <a:srgbClr val="FFFFFF"/>
                </a:solidFill>
              </a:rPr>
              <a:t>継続率改善（1.6億円）と新規獲得増加（0.8億円）の両輪で、目標を20%上回る成果を達成した。</a:t>
            </a:r>
          </a:p>
        </p:txBody>
      </p:sp>
      <p:sp>
        <p:nvSpPr>
          <p:cNvPr id="25" name="TextBox 24"/>
          <p:cNvSpPr txBox="1"/>
          <p:nvPr/>
        </p:nvSpPr>
        <p:spPr>
          <a:xfrm>
            <a:off x="4401311" y="3703320"/>
            <a:ext cx="3358895" cy="502920"/>
          </a:xfrm>
          <a:prstGeom prst="rect">
            <a:avLst/>
          </a:prstGeom>
          <a:noFill/>
        </p:spPr>
        <p:txBody>
          <a:bodyPr wrap="square">
            <a:spAutoFit/>
          </a:bodyPr>
          <a:lstStyle/>
          <a:p>
            <a:pPr algn="l"/>
            <a:r>
              <a:rPr sz="700" b="0" i="0">
                <a:solidFill>
                  <a:srgbClr val="FFFFFF"/>
                </a:solidFill>
              </a:rPr>
              <a:t>▶ 次のアクション：来期目標を3.5億円増収に設定し、CS体制のさらなる強化と新規市場への展開を承認する。</a:t>
            </a:r>
          </a:p>
        </p:txBody>
      </p:sp>
      <p:sp>
        <p:nvSpPr>
          <p:cNvPr id="26" name="Rectangle 25"/>
          <p:cNvSpPr/>
          <p:nvPr/>
        </p:nvSpPr>
        <p:spPr>
          <a:xfrm>
            <a:off x="7997951" y="1828800"/>
            <a:ext cx="3614928"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107679" y="1920240"/>
            <a:ext cx="3395471" cy="182880"/>
          </a:xfrm>
          <a:prstGeom prst="rect">
            <a:avLst/>
          </a:prstGeom>
          <a:noFill/>
        </p:spPr>
        <p:txBody>
          <a:bodyPr wrap="square">
            <a:spAutoFit/>
          </a:bodyPr>
          <a:lstStyle/>
          <a:p>
            <a:pPr algn="l"/>
            <a:r>
              <a:rPr sz="750" b="1" i="0">
                <a:solidFill>
                  <a:srgbClr val="1D51A3"/>
                </a:solidFill>
              </a:rPr>
              <a:t>CUSTOMER SENTIMENT</a:t>
            </a:r>
          </a:p>
        </p:txBody>
      </p:sp>
      <p:sp>
        <p:nvSpPr>
          <p:cNvPr id="28" name="TextBox 27"/>
          <p:cNvSpPr txBox="1"/>
          <p:nvPr/>
        </p:nvSpPr>
        <p:spPr>
          <a:xfrm>
            <a:off x="8107679" y="2121408"/>
            <a:ext cx="3395471" cy="256032"/>
          </a:xfrm>
          <a:prstGeom prst="rect">
            <a:avLst/>
          </a:prstGeom>
          <a:noFill/>
        </p:spPr>
        <p:txBody>
          <a:bodyPr wrap="square">
            <a:spAutoFit/>
          </a:bodyPr>
          <a:lstStyle/>
          <a:p>
            <a:pPr algn="l"/>
            <a:r>
              <a:rPr sz="1100" b="1" i="0">
                <a:solidFill>
                  <a:srgbClr val="0C3570"/>
                </a:solidFill>
              </a:rPr>
              <a:t>NPS（推奨度スコア）</a:t>
            </a:r>
          </a:p>
        </p:txBody>
      </p:sp>
      <p:sp>
        <p:nvSpPr>
          <p:cNvPr id="29" name="TextBox 28"/>
          <p:cNvSpPr txBox="1"/>
          <p:nvPr/>
        </p:nvSpPr>
        <p:spPr>
          <a:xfrm>
            <a:off x="8107679" y="2450592"/>
            <a:ext cx="3395471" cy="502920"/>
          </a:xfrm>
          <a:prstGeom prst="rect">
            <a:avLst/>
          </a:prstGeom>
          <a:noFill/>
        </p:spPr>
        <p:txBody>
          <a:bodyPr wrap="square">
            <a:spAutoFit/>
          </a:bodyPr>
          <a:lstStyle/>
          <a:p>
            <a:pPr algn="l"/>
            <a:r>
              <a:rPr sz="2800" b="1" i="0">
                <a:solidFill>
                  <a:srgbClr val="1D51A3"/>
                </a:solidFill>
              </a:rPr>
              <a:t>+42</a:t>
            </a:r>
          </a:p>
        </p:txBody>
      </p:sp>
      <p:sp>
        <p:nvSpPr>
          <p:cNvPr id="30" name="TextBox 29"/>
          <p:cNvSpPr txBox="1"/>
          <p:nvPr/>
        </p:nvSpPr>
        <p:spPr>
          <a:xfrm>
            <a:off x="8601456" y="2578608"/>
            <a:ext cx="731520" cy="274320"/>
          </a:xfrm>
          <a:prstGeom prst="rect">
            <a:avLst/>
          </a:prstGeom>
          <a:noFill/>
        </p:spPr>
        <p:txBody>
          <a:bodyPr wrap="square">
            <a:spAutoFit/>
          </a:bodyPr>
          <a:lstStyle/>
          <a:p>
            <a:pPr algn="l"/>
            <a:r>
              <a:rPr sz="1300" b="1" i="0">
                <a:solidFill>
                  <a:srgbClr val="688BC2"/>
                </a:solidFill>
              </a:rPr>
              <a:t>pt</a:t>
            </a:r>
          </a:p>
        </p:txBody>
      </p:sp>
      <p:sp>
        <p:nvSpPr>
          <p:cNvPr id="31" name="TextBox 30"/>
          <p:cNvSpPr txBox="1"/>
          <p:nvPr/>
        </p:nvSpPr>
        <p:spPr>
          <a:xfrm>
            <a:off x="8107679" y="2999232"/>
            <a:ext cx="3395471" cy="201168"/>
          </a:xfrm>
          <a:prstGeom prst="rect">
            <a:avLst/>
          </a:prstGeom>
          <a:noFill/>
        </p:spPr>
        <p:txBody>
          <a:bodyPr wrap="square">
            <a:spAutoFit/>
          </a:bodyPr>
          <a:lstStyle/>
          <a:p>
            <a:pPr algn="l"/>
            <a:r>
              <a:rPr sz="750" b="0" i="0">
                <a:solidFill>
                  <a:srgbClr val="99A2AD"/>
                </a:solidFill>
              </a:rPr>
              <a:t> ／ </a:t>
            </a:r>
          </a:p>
        </p:txBody>
      </p:sp>
      <p:sp>
        <p:nvSpPr>
          <p:cNvPr id="32" name="TextBox 31"/>
          <p:cNvSpPr txBox="1"/>
          <p:nvPr/>
        </p:nvSpPr>
        <p:spPr>
          <a:xfrm>
            <a:off x="8107679" y="3246120"/>
            <a:ext cx="3395471" cy="411480"/>
          </a:xfrm>
          <a:prstGeom prst="rect">
            <a:avLst/>
          </a:prstGeom>
          <a:noFill/>
        </p:spPr>
        <p:txBody>
          <a:bodyPr wrap="square">
            <a:spAutoFit/>
          </a:bodyPr>
          <a:lstStyle/>
          <a:p>
            <a:pPr algn="l"/>
            <a:r>
              <a:rPr sz="750" b="0" i="0">
                <a:solidFill>
                  <a:srgbClr val="444444"/>
                </a:solidFill>
              </a:rPr>
              <a:t>前期比+22ptの大幅改善を達成し、顧客が製品価値を実感して他社への推奨意欲が高まっている。</a:t>
            </a:r>
          </a:p>
        </p:txBody>
      </p:sp>
      <p:sp>
        <p:nvSpPr>
          <p:cNvPr id="33" name="TextBox 32"/>
          <p:cNvSpPr txBox="1"/>
          <p:nvPr/>
        </p:nvSpPr>
        <p:spPr>
          <a:xfrm>
            <a:off x="8125968" y="3703320"/>
            <a:ext cx="3358895" cy="502920"/>
          </a:xfrm>
          <a:prstGeom prst="rect">
            <a:avLst/>
          </a:prstGeom>
          <a:noFill/>
        </p:spPr>
        <p:txBody>
          <a:bodyPr wrap="square">
            <a:spAutoFit/>
          </a:bodyPr>
          <a:lstStyle/>
          <a:p>
            <a:pPr algn="l"/>
            <a:r>
              <a:rPr sz="700" b="0" i="0">
                <a:solidFill>
                  <a:srgbClr val="444444"/>
                </a:solidFill>
              </a:rPr>
              <a:t>▶ 次のアクション：NPS+50を次期目標に設定し、推奨顧客向けのリファラルプログラムを開始する。</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ダッシュボード：4つの主要指標で事業の健全性を一覧で確認する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dashboard ／ 用途: 複数指標の一覧表示 ／ 件数: 4〜8件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4つの主要指標がすべて目標を達成しており、事業の健全性が確認できている。次のアクションは拡大展開の承認である。</a:t>
            </a:r>
          </a:p>
        </p:txBody>
      </p:sp>
      <p:sp>
        <p:nvSpPr>
          <p:cNvPr id="10" name="Rectangle 9"/>
          <p:cNvSpPr/>
          <p:nvPr/>
        </p:nvSpPr>
        <p:spPr>
          <a:xfrm>
            <a:off x="548640" y="1828800"/>
            <a:ext cx="5477256" cy="2359152"/>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01952"/>
            <a:ext cx="1371600" cy="182880"/>
          </a:xfrm>
          <a:prstGeom prst="rect">
            <a:avLst/>
          </a:prstGeom>
          <a:noFill/>
        </p:spPr>
        <p:txBody>
          <a:bodyPr wrap="square">
            <a:spAutoFit/>
          </a:bodyPr>
          <a:lstStyle/>
          <a:p>
            <a:pPr algn="l"/>
            <a:r>
              <a:rPr sz="750" b="1" i="0">
                <a:solidFill>
                  <a:srgbClr val="1D51A3"/>
                </a:solidFill>
              </a:rPr>
              <a:t>KPI 01</a:t>
            </a:r>
          </a:p>
        </p:txBody>
      </p:sp>
      <p:sp>
        <p:nvSpPr>
          <p:cNvPr id="12" name="TextBox 11"/>
          <p:cNvSpPr txBox="1"/>
          <p:nvPr/>
        </p:nvSpPr>
        <p:spPr>
          <a:xfrm>
            <a:off x="658368" y="2103120"/>
            <a:ext cx="5257800" cy="256032"/>
          </a:xfrm>
          <a:prstGeom prst="rect">
            <a:avLst/>
          </a:prstGeom>
          <a:noFill/>
        </p:spPr>
        <p:txBody>
          <a:bodyPr wrap="square">
            <a:spAutoFit/>
          </a:bodyPr>
          <a:lstStyle/>
          <a:p>
            <a:pPr algn="l"/>
            <a:r>
              <a:rPr sz="1100" b="1" i="0">
                <a:solidFill>
                  <a:srgbClr val="0C3570"/>
                </a:solidFill>
              </a:rPr>
              <a:t>顧客継続率</a:t>
            </a:r>
          </a:p>
        </p:txBody>
      </p:sp>
      <p:sp>
        <p:nvSpPr>
          <p:cNvPr id="13" name="TextBox 12"/>
          <p:cNvSpPr txBox="1"/>
          <p:nvPr/>
        </p:nvSpPr>
        <p:spPr>
          <a:xfrm>
            <a:off x="658368" y="2395728"/>
            <a:ext cx="2286000" cy="411480"/>
          </a:xfrm>
          <a:prstGeom prst="rect">
            <a:avLst/>
          </a:prstGeom>
          <a:noFill/>
        </p:spPr>
        <p:txBody>
          <a:bodyPr wrap="square">
            <a:spAutoFit/>
          </a:bodyPr>
          <a:lstStyle/>
          <a:p>
            <a:pPr algn="l"/>
            <a:r>
              <a:rPr sz="2400" b="1" i="0">
                <a:solidFill>
                  <a:srgbClr val="0C3570"/>
                </a:solidFill>
              </a:rPr>
              <a:t>87%</a:t>
            </a:r>
          </a:p>
        </p:txBody>
      </p:sp>
      <p:sp>
        <p:nvSpPr>
          <p:cNvPr id="14" name="TextBox 13"/>
          <p:cNvSpPr txBox="1"/>
          <p:nvPr/>
        </p:nvSpPr>
        <p:spPr>
          <a:xfrm>
            <a:off x="658368" y="2852928"/>
            <a:ext cx="5257800" cy="182880"/>
          </a:xfrm>
          <a:prstGeom prst="rect">
            <a:avLst/>
          </a:prstGeom>
          <a:noFill/>
        </p:spPr>
        <p:txBody>
          <a:bodyPr wrap="square">
            <a:spAutoFit/>
          </a:bodyPr>
          <a:lstStyle/>
          <a:p>
            <a:pPr algn="l"/>
            <a:r>
              <a:rPr sz="750" b="0" i="0">
                <a:solidFill>
                  <a:srgbClr val="1D51A3"/>
                </a:solidFill>
              </a:rPr>
              <a:t>前期比 +15pt</a:t>
            </a:r>
          </a:p>
        </p:txBody>
      </p:sp>
      <p:sp>
        <p:nvSpPr>
          <p:cNvPr id="15" name="TextBox 14"/>
          <p:cNvSpPr txBox="1"/>
          <p:nvPr/>
        </p:nvSpPr>
        <p:spPr>
          <a:xfrm>
            <a:off x="658368" y="3063240"/>
            <a:ext cx="5257800" cy="411480"/>
          </a:xfrm>
          <a:prstGeom prst="rect">
            <a:avLst/>
          </a:prstGeom>
          <a:noFill/>
        </p:spPr>
        <p:txBody>
          <a:bodyPr wrap="square">
            <a:spAutoFit/>
          </a:bodyPr>
          <a:lstStyle/>
          <a:p>
            <a:pPr algn="l"/>
            <a:r>
              <a:rPr sz="750" b="0" i="0">
                <a:solidFill>
                  <a:srgbClr val="444444"/>
                </a:solidFill>
              </a:rPr>
              <a:t>業界平均（78%）を大幅に上回る87%を達成。CS体制強化の直接的な成果である。</a:t>
            </a:r>
          </a:p>
        </p:txBody>
      </p:sp>
      <p:sp>
        <p:nvSpPr>
          <p:cNvPr id="16" name="TextBox 15"/>
          <p:cNvSpPr txBox="1"/>
          <p:nvPr/>
        </p:nvSpPr>
        <p:spPr>
          <a:xfrm>
            <a:off x="676656" y="3520440"/>
            <a:ext cx="5221224" cy="411480"/>
          </a:xfrm>
          <a:prstGeom prst="rect">
            <a:avLst/>
          </a:prstGeom>
          <a:noFill/>
        </p:spPr>
        <p:txBody>
          <a:bodyPr wrap="square">
            <a:spAutoFit/>
          </a:bodyPr>
          <a:lstStyle/>
          <a:p>
            <a:pPr algn="l"/>
            <a:r>
              <a:rPr sz="700" b="0" i="0">
                <a:solidFill>
                  <a:srgbClr val="444444"/>
                </a:solidFill>
              </a:rPr>
              <a:t>▶ 継続率90%を次期目標に設定し、解約リスク顧客への早期介入プログラムを強化する。</a:t>
            </a:r>
          </a:p>
        </p:txBody>
      </p:sp>
      <p:sp>
        <p:nvSpPr>
          <p:cNvPr id="17" name="Rectangle 16"/>
          <p:cNvSpPr/>
          <p:nvPr/>
        </p:nvSpPr>
        <p:spPr>
          <a:xfrm>
            <a:off x="6135624" y="1828800"/>
            <a:ext cx="5477256" cy="2359152"/>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45352" y="1901952"/>
            <a:ext cx="1371600" cy="182880"/>
          </a:xfrm>
          <a:prstGeom prst="rect">
            <a:avLst/>
          </a:prstGeom>
          <a:noFill/>
        </p:spPr>
        <p:txBody>
          <a:bodyPr wrap="square">
            <a:spAutoFit/>
          </a:bodyPr>
          <a:lstStyle/>
          <a:p>
            <a:pPr algn="l"/>
            <a:r>
              <a:rPr sz="750" b="1" i="0">
                <a:solidFill>
                  <a:srgbClr val="1D51A3"/>
                </a:solidFill>
              </a:rPr>
              <a:t>KPI 02</a:t>
            </a:r>
          </a:p>
        </p:txBody>
      </p:sp>
      <p:sp>
        <p:nvSpPr>
          <p:cNvPr id="19" name="TextBox 18"/>
          <p:cNvSpPr txBox="1"/>
          <p:nvPr/>
        </p:nvSpPr>
        <p:spPr>
          <a:xfrm>
            <a:off x="6245352" y="2103120"/>
            <a:ext cx="5257800" cy="256032"/>
          </a:xfrm>
          <a:prstGeom prst="rect">
            <a:avLst/>
          </a:prstGeom>
          <a:noFill/>
        </p:spPr>
        <p:txBody>
          <a:bodyPr wrap="square">
            <a:spAutoFit/>
          </a:bodyPr>
          <a:lstStyle/>
          <a:p>
            <a:pPr algn="l"/>
            <a:r>
              <a:rPr sz="1100" b="1" i="0">
                <a:solidFill>
                  <a:srgbClr val="0C3570"/>
                </a:solidFill>
              </a:rPr>
              <a:t>NPS（推奨度スコア）</a:t>
            </a:r>
          </a:p>
        </p:txBody>
      </p:sp>
      <p:sp>
        <p:nvSpPr>
          <p:cNvPr id="20" name="TextBox 19"/>
          <p:cNvSpPr txBox="1"/>
          <p:nvPr/>
        </p:nvSpPr>
        <p:spPr>
          <a:xfrm>
            <a:off x="6245352" y="2395728"/>
            <a:ext cx="2286000" cy="411480"/>
          </a:xfrm>
          <a:prstGeom prst="rect">
            <a:avLst/>
          </a:prstGeom>
          <a:noFill/>
        </p:spPr>
        <p:txBody>
          <a:bodyPr wrap="square">
            <a:spAutoFit/>
          </a:bodyPr>
          <a:lstStyle/>
          <a:p>
            <a:pPr algn="l"/>
            <a:r>
              <a:rPr sz="2400" b="1" i="0">
                <a:solidFill>
                  <a:srgbClr val="0C3570"/>
                </a:solidFill>
              </a:rPr>
              <a:t>+42pt</a:t>
            </a:r>
          </a:p>
        </p:txBody>
      </p:sp>
      <p:sp>
        <p:nvSpPr>
          <p:cNvPr id="21" name="TextBox 20"/>
          <p:cNvSpPr txBox="1"/>
          <p:nvPr/>
        </p:nvSpPr>
        <p:spPr>
          <a:xfrm>
            <a:off x="6245352" y="2852928"/>
            <a:ext cx="5257800" cy="182880"/>
          </a:xfrm>
          <a:prstGeom prst="rect">
            <a:avLst/>
          </a:prstGeom>
          <a:noFill/>
        </p:spPr>
        <p:txBody>
          <a:bodyPr wrap="square">
            <a:spAutoFit/>
          </a:bodyPr>
          <a:lstStyle/>
          <a:p>
            <a:pPr algn="l"/>
            <a:r>
              <a:rPr sz="750" b="0" i="0">
                <a:solidFill>
                  <a:srgbClr val="1D51A3"/>
                </a:solidFill>
              </a:rPr>
              <a:t>前期比 +22pt</a:t>
            </a:r>
          </a:p>
        </p:txBody>
      </p:sp>
      <p:sp>
        <p:nvSpPr>
          <p:cNvPr id="22" name="TextBox 21"/>
          <p:cNvSpPr txBox="1"/>
          <p:nvPr/>
        </p:nvSpPr>
        <p:spPr>
          <a:xfrm>
            <a:off x="6245352" y="3063240"/>
            <a:ext cx="5257800" cy="411480"/>
          </a:xfrm>
          <a:prstGeom prst="rect">
            <a:avLst/>
          </a:prstGeom>
          <a:noFill/>
        </p:spPr>
        <p:txBody>
          <a:bodyPr wrap="square">
            <a:spAutoFit/>
          </a:bodyPr>
          <a:lstStyle/>
          <a:p>
            <a:pPr algn="l"/>
            <a:r>
              <a:rPr sz="750" b="0" i="0">
                <a:solidFill>
                  <a:srgbClr val="444444"/>
                </a:solidFill>
              </a:rPr>
              <a:t>前期比+22ptの大幅改善。口コミ経由の新規問い合わせが月20件増加しており、リファラルプログラムの開始を推奨する。</a:t>
            </a:r>
          </a:p>
        </p:txBody>
      </p:sp>
      <p:sp>
        <p:nvSpPr>
          <p:cNvPr id="23" name="TextBox 22"/>
          <p:cNvSpPr txBox="1"/>
          <p:nvPr/>
        </p:nvSpPr>
        <p:spPr>
          <a:xfrm>
            <a:off x="6263640" y="3520440"/>
            <a:ext cx="5221224" cy="411480"/>
          </a:xfrm>
          <a:prstGeom prst="rect">
            <a:avLst/>
          </a:prstGeom>
          <a:noFill/>
        </p:spPr>
        <p:txBody>
          <a:bodyPr wrap="square">
            <a:spAutoFit/>
          </a:bodyPr>
          <a:lstStyle/>
          <a:p>
            <a:pPr algn="l"/>
            <a:r>
              <a:rPr sz="700" b="0" i="0">
                <a:solidFill>
                  <a:srgbClr val="444444"/>
                </a:solidFill>
              </a:rPr>
              <a:t>▶ NPS+50を次期目標に設定し、リファラルプログラムを開始する。</a:t>
            </a:r>
          </a:p>
        </p:txBody>
      </p:sp>
      <p:sp>
        <p:nvSpPr>
          <p:cNvPr id="24" name="Rectangle 23"/>
          <p:cNvSpPr/>
          <p:nvPr/>
        </p:nvSpPr>
        <p:spPr>
          <a:xfrm>
            <a:off x="548640" y="4315968"/>
            <a:ext cx="5477256" cy="2359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 y="4389120"/>
            <a:ext cx="1371600" cy="182880"/>
          </a:xfrm>
          <a:prstGeom prst="rect">
            <a:avLst/>
          </a:prstGeom>
          <a:noFill/>
        </p:spPr>
        <p:txBody>
          <a:bodyPr wrap="square">
            <a:spAutoFit/>
          </a:bodyPr>
          <a:lstStyle/>
          <a:p>
            <a:pPr algn="l"/>
            <a:r>
              <a:rPr sz="750" b="1" i="0">
                <a:solidFill>
                  <a:srgbClr val="93B5E6"/>
                </a:solidFill>
              </a:rPr>
              <a:t>KPI 03</a:t>
            </a:r>
          </a:p>
        </p:txBody>
      </p:sp>
      <p:sp>
        <p:nvSpPr>
          <p:cNvPr id="26" name="TextBox 25"/>
          <p:cNvSpPr txBox="1"/>
          <p:nvPr/>
        </p:nvSpPr>
        <p:spPr>
          <a:xfrm>
            <a:off x="658368" y="4590288"/>
            <a:ext cx="5257800" cy="256032"/>
          </a:xfrm>
          <a:prstGeom prst="rect">
            <a:avLst/>
          </a:prstGeom>
          <a:noFill/>
        </p:spPr>
        <p:txBody>
          <a:bodyPr wrap="square">
            <a:spAutoFit/>
          </a:bodyPr>
          <a:lstStyle/>
          <a:p>
            <a:pPr algn="l"/>
            <a:r>
              <a:rPr sz="1100" b="1" i="0">
                <a:solidFill>
                  <a:srgbClr val="FFFFFF"/>
                </a:solidFill>
              </a:rPr>
              <a:t>年間売上増加額</a:t>
            </a:r>
          </a:p>
        </p:txBody>
      </p:sp>
      <p:sp>
        <p:nvSpPr>
          <p:cNvPr id="27" name="TextBox 26"/>
          <p:cNvSpPr txBox="1"/>
          <p:nvPr/>
        </p:nvSpPr>
        <p:spPr>
          <a:xfrm>
            <a:off x="658368" y="4882896"/>
            <a:ext cx="2286000" cy="411480"/>
          </a:xfrm>
          <a:prstGeom prst="rect">
            <a:avLst/>
          </a:prstGeom>
          <a:noFill/>
        </p:spPr>
        <p:txBody>
          <a:bodyPr wrap="square">
            <a:spAutoFit/>
          </a:bodyPr>
          <a:lstStyle/>
          <a:p>
            <a:pPr algn="l"/>
            <a:r>
              <a:rPr sz="2400" b="1" i="0">
                <a:solidFill>
                  <a:srgbClr val="FFFFFF"/>
                </a:solidFill>
              </a:rPr>
              <a:t>2.4億円</a:t>
            </a:r>
          </a:p>
        </p:txBody>
      </p:sp>
      <p:sp>
        <p:nvSpPr>
          <p:cNvPr id="28" name="TextBox 27"/>
          <p:cNvSpPr txBox="1"/>
          <p:nvPr/>
        </p:nvSpPr>
        <p:spPr>
          <a:xfrm>
            <a:off x="658368" y="5340096"/>
            <a:ext cx="5257800" cy="182880"/>
          </a:xfrm>
          <a:prstGeom prst="rect">
            <a:avLst/>
          </a:prstGeom>
          <a:noFill/>
        </p:spPr>
        <p:txBody>
          <a:bodyPr wrap="square">
            <a:spAutoFit/>
          </a:bodyPr>
          <a:lstStyle/>
          <a:p>
            <a:pPr algn="l"/>
            <a:r>
              <a:rPr sz="750" b="0" i="0">
                <a:solidFill>
                  <a:srgbClr val="93B5E6"/>
                </a:solidFill>
              </a:rPr>
              <a:t>前期比 +18%</a:t>
            </a:r>
          </a:p>
        </p:txBody>
      </p:sp>
      <p:sp>
        <p:nvSpPr>
          <p:cNvPr id="29" name="TextBox 28"/>
          <p:cNvSpPr txBox="1"/>
          <p:nvPr/>
        </p:nvSpPr>
        <p:spPr>
          <a:xfrm>
            <a:off x="658368" y="5550408"/>
            <a:ext cx="5257800" cy="411480"/>
          </a:xfrm>
          <a:prstGeom prst="rect">
            <a:avLst/>
          </a:prstGeom>
          <a:noFill/>
        </p:spPr>
        <p:txBody>
          <a:bodyPr wrap="square">
            <a:spAutoFit/>
          </a:bodyPr>
          <a:lstStyle/>
          <a:p>
            <a:pPr algn="l"/>
            <a:r>
              <a:rPr sz="750" b="0" i="0">
                <a:solidFill>
                  <a:srgbClr val="FFFFFF"/>
                </a:solidFill>
              </a:rPr>
              <a:t>継続率改善と新規獲得の両輪で、目標（2.0億円）を20%上回る成果を達成した。</a:t>
            </a:r>
          </a:p>
        </p:txBody>
      </p:sp>
      <p:sp>
        <p:nvSpPr>
          <p:cNvPr id="30" name="TextBox 29"/>
          <p:cNvSpPr txBox="1"/>
          <p:nvPr/>
        </p:nvSpPr>
        <p:spPr>
          <a:xfrm>
            <a:off x="676656" y="6007608"/>
            <a:ext cx="5221224" cy="411480"/>
          </a:xfrm>
          <a:prstGeom prst="rect">
            <a:avLst/>
          </a:prstGeom>
          <a:noFill/>
        </p:spPr>
        <p:txBody>
          <a:bodyPr wrap="square">
            <a:spAutoFit/>
          </a:bodyPr>
          <a:lstStyle/>
          <a:p>
            <a:pPr algn="l"/>
            <a:r>
              <a:rPr sz="700" b="0" i="0">
                <a:solidFill>
                  <a:srgbClr val="FFFFFF"/>
                </a:solidFill>
              </a:rPr>
              <a:t>▶ 来期目標を3.5億円増収に設定し、CS体制のさらなる強化を承認する。</a:t>
            </a:r>
          </a:p>
        </p:txBody>
      </p:sp>
      <p:sp>
        <p:nvSpPr>
          <p:cNvPr id="31" name="Rectangle 30"/>
          <p:cNvSpPr/>
          <p:nvPr/>
        </p:nvSpPr>
        <p:spPr>
          <a:xfrm>
            <a:off x="6135624" y="4315968"/>
            <a:ext cx="5477256" cy="2359152"/>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45352" y="4389120"/>
            <a:ext cx="1371600" cy="182880"/>
          </a:xfrm>
          <a:prstGeom prst="rect">
            <a:avLst/>
          </a:prstGeom>
          <a:noFill/>
        </p:spPr>
        <p:txBody>
          <a:bodyPr wrap="square">
            <a:spAutoFit/>
          </a:bodyPr>
          <a:lstStyle/>
          <a:p>
            <a:pPr algn="l"/>
            <a:r>
              <a:rPr sz="750" b="1" i="0">
                <a:solidFill>
                  <a:srgbClr val="1D51A3"/>
                </a:solidFill>
              </a:rPr>
              <a:t>KPI 04</a:t>
            </a:r>
          </a:p>
        </p:txBody>
      </p:sp>
      <p:sp>
        <p:nvSpPr>
          <p:cNvPr id="33" name="TextBox 32"/>
          <p:cNvSpPr txBox="1"/>
          <p:nvPr/>
        </p:nvSpPr>
        <p:spPr>
          <a:xfrm>
            <a:off x="6245352" y="4590288"/>
            <a:ext cx="5257800" cy="256032"/>
          </a:xfrm>
          <a:prstGeom prst="rect">
            <a:avLst/>
          </a:prstGeom>
          <a:noFill/>
        </p:spPr>
        <p:txBody>
          <a:bodyPr wrap="square">
            <a:spAutoFit/>
          </a:bodyPr>
          <a:lstStyle/>
          <a:p>
            <a:pPr algn="l"/>
            <a:r>
              <a:rPr sz="1100" b="1" i="0">
                <a:solidFill>
                  <a:srgbClr val="0C3570"/>
                </a:solidFill>
              </a:rPr>
              <a:t>運用コスト削減額</a:t>
            </a:r>
          </a:p>
        </p:txBody>
      </p:sp>
      <p:sp>
        <p:nvSpPr>
          <p:cNvPr id="34" name="TextBox 33"/>
          <p:cNvSpPr txBox="1"/>
          <p:nvPr/>
        </p:nvSpPr>
        <p:spPr>
          <a:xfrm>
            <a:off x="6245352" y="4882896"/>
            <a:ext cx="2286000" cy="411480"/>
          </a:xfrm>
          <a:prstGeom prst="rect">
            <a:avLst/>
          </a:prstGeom>
          <a:noFill/>
        </p:spPr>
        <p:txBody>
          <a:bodyPr wrap="square">
            <a:spAutoFit/>
          </a:bodyPr>
          <a:lstStyle/>
          <a:p>
            <a:pPr algn="l"/>
            <a:r>
              <a:rPr sz="2400" b="1" i="0">
                <a:solidFill>
                  <a:srgbClr val="0C3570"/>
                </a:solidFill>
              </a:rPr>
              <a:t>8,000万円</a:t>
            </a:r>
          </a:p>
        </p:txBody>
      </p:sp>
      <p:sp>
        <p:nvSpPr>
          <p:cNvPr id="35" name="TextBox 34"/>
          <p:cNvSpPr txBox="1"/>
          <p:nvPr/>
        </p:nvSpPr>
        <p:spPr>
          <a:xfrm>
            <a:off x="6245352" y="5340096"/>
            <a:ext cx="5257800" cy="182880"/>
          </a:xfrm>
          <a:prstGeom prst="rect">
            <a:avLst/>
          </a:prstGeom>
          <a:noFill/>
        </p:spPr>
        <p:txBody>
          <a:bodyPr wrap="square">
            <a:spAutoFit/>
          </a:bodyPr>
          <a:lstStyle/>
          <a:p>
            <a:pPr algn="l"/>
            <a:r>
              <a:rPr sz="750" b="0" i="0">
                <a:solidFill>
                  <a:srgbClr val="1D51A3"/>
                </a:solidFill>
              </a:rPr>
              <a:t>前期比 -20%</a:t>
            </a:r>
          </a:p>
        </p:txBody>
      </p:sp>
      <p:sp>
        <p:nvSpPr>
          <p:cNvPr id="36" name="TextBox 35"/>
          <p:cNvSpPr txBox="1"/>
          <p:nvPr/>
        </p:nvSpPr>
        <p:spPr>
          <a:xfrm>
            <a:off x="6245352" y="5550408"/>
            <a:ext cx="5257800" cy="411480"/>
          </a:xfrm>
          <a:prstGeom prst="rect">
            <a:avLst/>
          </a:prstGeom>
          <a:noFill/>
        </p:spPr>
        <p:txBody>
          <a:bodyPr wrap="square">
            <a:spAutoFit/>
          </a:bodyPr>
          <a:lstStyle/>
          <a:p>
            <a:pPr algn="l"/>
            <a:r>
              <a:rPr sz="750" b="0" i="0">
                <a:solidFill>
                  <a:srgbClr val="444444"/>
                </a:solidFill>
              </a:rPr>
              <a:t>目標を133%上回るコスト削減を達成。削減効果をCS投資に再配分し、さらなる成長を加速させる。</a:t>
            </a:r>
          </a:p>
        </p:txBody>
      </p:sp>
      <p:sp>
        <p:nvSpPr>
          <p:cNvPr id="37" name="TextBox 36"/>
          <p:cNvSpPr txBox="1"/>
          <p:nvPr/>
        </p:nvSpPr>
        <p:spPr>
          <a:xfrm>
            <a:off x="6263640" y="6007608"/>
            <a:ext cx="5221224" cy="411480"/>
          </a:xfrm>
          <a:prstGeom prst="rect">
            <a:avLst/>
          </a:prstGeom>
          <a:noFill/>
        </p:spPr>
        <p:txBody>
          <a:bodyPr wrap="square">
            <a:spAutoFit/>
          </a:bodyPr>
          <a:lstStyle/>
          <a:p>
            <a:pPr algn="l"/>
            <a:r>
              <a:rPr sz="700" b="0" i="0">
                <a:solidFill>
                  <a:srgbClr val="444444"/>
                </a:solidFill>
              </a:rPr>
              <a:t>▶ 削減効果をCS投資に再配分し、さらなる成長を加速させる。</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スコアカード：5つの評価軸で施策の総合評価を行い、次期計画の優先順位を決定する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scorecard ／ 用途: 多軸評価の一覧表示 ／ 件数: 4〜8件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5つの評価軸で施策の総合評価を行った結果、すべての軸で目標を達成しており、次期の拡大展開を推奨する。</a:t>
            </a:r>
          </a:p>
        </p:txBody>
      </p:sp>
      <p:sp>
        <p:nvSpPr>
          <p:cNvPr id="10" name="Rectangle 9"/>
          <p:cNvSpPr/>
          <p:nvPr/>
        </p:nvSpPr>
        <p:spPr>
          <a:xfrm>
            <a:off x="548640" y="1874519"/>
            <a:ext cx="2011680" cy="5029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3" y="1965960"/>
            <a:ext cx="1901952" cy="365760"/>
          </a:xfrm>
          <a:prstGeom prst="rect">
            <a:avLst/>
          </a:prstGeom>
          <a:noFill/>
        </p:spPr>
        <p:txBody>
          <a:bodyPr wrap="square">
            <a:spAutoFit/>
          </a:bodyPr>
          <a:lstStyle/>
          <a:p>
            <a:pPr algn="l"/>
            <a:r>
              <a:rPr sz="900" b="1" i="0">
                <a:solidFill>
                  <a:srgbClr val="FFFFFF"/>
                </a:solidFill>
              </a:rPr>
              <a:t>評価軸</a:t>
            </a:r>
          </a:p>
        </p:txBody>
      </p:sp>
      <p:sp>
        <p:nvSpPr>
          <p:cNvPr id="12" name="Rectangle 11"/>
          <p:cNvSpPr/>
          <p:nvPr/>
        </p:nvSpPr>
        <p:spPr>
          <a:xfrm>
            <a:off x="2578608" y="1874519"/>
            <a:ext cx="1280160" cy="5029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33472" y="1965960"/>
            <a:ext cx="1170431" cy="365760"/>
          </a:xfrm>
          <a:prstGeom prst="rect">
            <a:avLst/>
          </a:prstGeom>
          <a:noFill/>
        </p:spPr>
        <p:txBody>
          <a:bodyPr wrap="square">
            <a:spAutoFit/>
          </a:bodyPr>
          <a:lstStyle/>
          <a:p>
            <a:pPr algn="l"/>
            <a:r>
              <a:rPr sz="900" b="1" i="0">
                <a:solidFill>
                  <a:srgbClr val="FFFFFF"/>
                </a:solidFill>
              </a:rPr>
              <a:t>目標値</a:t>
            </a:r>
          </a:p>
        </p:txBody>
      </p:sp>
      <p:sp>
        <p:nvSpPr>
          <p:cNvPr id="14" name="Rectangle 13"/>
          <p:cNvSpPr/>
          <p:nvPr/>
        </p:nvSpPr>
        <p:spPr>
          <a:xfrm>
            <a:off x="3877056" y="1874519"/>
            <a:ext cx="1280160" cy="5029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931920" y="1965960"/>
            <a:ext cx="1170431" cy="365760"/>
          </a:xfrm>
          <a:prstGeom prst="rect">
            <a:avLst/>
          </a:prstGeom>
          <a:noFill/>
        </p:spPr>
        <p:txBody>
          <a:bodyPr wrap="square">
            <a:spAutoFit/>
          </a:bodyPr>
          <a:lstStyle/>
          <a:p>
            <a:pPr algn="l"/>
            <a:r>
              <a:rPr sz="900" b="1" i="0">
                <a:solidFill>
                  <a:srgbClr val="FFFFFF"/>
                </a:solidFill>
              </a:rPr>
              <a:t>実績値</a:t>
            </a:r>
          </a:p>
        </p:txBody>
      </p:sp>
      <p:sp>
        <p:nvSpPr>
          <p:cNvPr id="16" name="Rectangle 15"/>
          <p:cNvSpPr/>
          <p:nvPr/>
        </p:nvSpPr>
        <p:spPr>
          <a:xfrm>
            <a:off x="5175504" y="1874519"/>
            <a:ext cx="914400" cy="5029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30368" y="1965960"/>
            <a:ext cx="804672" cy="365760"/>
          </a:xfrm>
          <a:prstGeom prst="rect">
            <a:avLst/>
          </a:prstGeom>
          <a:noFill/>
        </p:spPr>
        <p:txBody>
          <a:bodyPr wrap="square">
            <a:spAutoFit/>
          </a:bodyPr>
          <a:lstStyle/>
          <a:p>
            <a:pPr algn="l"/>
            <a:r>
              <a:rPr sz="900" b="1" i="0">
                <a:solidFill>
                  <a:srgbClr val="FFFFFF"/>
                </a:solidFill>
              </a:rPr>
              <a:t>評価</a:t>
            </a:r>
          </a:p>
        </p:txBody>
      </p:sp>
      <p:sp>
        <p:nvSpPr>
          <p:cNvPr id="18" name="Rectangle 17"/>
          <p:cNvSpPr/>
          <p:nvPr/>
        </p:nvSpPr>
        <p:spPr>
          <a:xfrm>
            <a:off x="6108192" y="1874519"/>
            <a:ext cx="5577840" cy="5029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63055" y="1965960"/>
            <a:ext cx="5468112" cy="365760"/>
          </a:xfrm>
          <a:prstGeom prst="rect">
            <a:avLst/>
          </a:prstGeom>
          <a:noFill/>
        </p:spPr>
        <p:txBody>
          <a:bodyPr wrap="square">
            <a:spAutoFit/>
          </a:bodyPr>
          <a:lstStyle/>
          <a:p>
            <a:pPr algn="l"/>
            <a:r>
              <a:rPr sz="900" b="1" i="0">
                <a:solidFill>
                  <a:srgbClr val="FFFFFF"/>
                </a:solidFill>
              </a:rPr>
              <a:t>意味・示唆・次のアクション</a:t>
            </a:r>
          </a:p>
        </p:txBody>
      </p:sp>
      <p:sp>
        <p:nvSpPr>
          <p:cNvPr id="20" name="Rectangle 19"/>
          <p:cNvSpPr/>
          <p:nvPr/>
        </p:nvSpPr>
        <p:spPr>
          <a:xfrm>
            <a:off x="548640" y="2395727"/>
            <a:ext cx="2011680" cy="5029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3503" y="2441447"/>
            <a:ext cx="1901952" cy="411480"/>
          </a:xfrm>
          <a:prstGeom prst="rect">
            <a:avLst/>
          </a:prstGeom>
          <a:noFill/>
        </p:spPr>
        <p:txBody>
          <a:bodyPr wrap="square">
            <a:spAutoFit/>
          </a:bodyPr>
          <a:lstStyle/>
          <a:p>
            <a:pPr algn="l"/>
            <a:r>
              <a:rPr sz="750" b="1" i="0">
                <a:solidFill>
                  <a:srgbClr val="444444"/>
                </a:solidFill>
              </a:rPr>
              <a:t>顧客継続率</a:t>
            </a:r>
          </a:p>
        </p:txBody>
      </p:sp>
      <p:sp>
        <p:nvSpPr>
          <p:cNvPr id="22" name="Rectangle 21"/>
          <p:cNvSpPr/>
          <p:nvPr/>
        </p:nvSpPr>
        <p:spPr>
          <a:xfrm>
            <a:off x="2578608" y="2395727"/>
            <a:ext cx="1280160" cy="5029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633472" y="2441447"/>
            <a:ext cx="1170431" cy="411480"/>
          </a:xfrm>
          <a:prstGeom prst="rect">
            <a:avLst/>
          </a:prstGeom>
          <a:noFill/>
        </p:spPr>
        <p:txBody>
          <a:bodyPr wrap="square">
            <a:spAutoFit/>
          </a:bodyPr>
          <a:lstStyle/>
          <a:p>
            <a:pPr algn="l"/>
            <a:r>
              <a:rPr sz="750" b="0" i="0">
                <a:solidFill>
                  <a:srgbClr val="444444"/>
                </a:solidFill>
              </a:rPr>
              <a:t>85%以上</a:t>
            </a:r>
          </a:p>
        </p:txBody>
      </p:sp>
      <p:sp>
        <p:nvSpPr>
          <p:cNvPr id="24" name="Rectangle 23"/>
          <p:cNvSpPr/>
          <p:nvPr/>
        </p:nvSpPr>
        <p:spPr>
          <a:xfrm>
            <a:off x="3877056" y="2395727"/>
            <a:ext cx="1280160" cy="502920"/>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0" y="2441447"/>
            <a:ext cx="1170431" cy="411480"/>
          </a:xfrm>
          <a:prstGeom prst="rect">
            <a:avLst/>
          </a:prstGeom>
          <a:noFill/>
        </p:spPr>
        <p:txBody>
          <a:bodyPr wrap="square">
            <a:spAutoFit/>
          </a:bodyPr>
          <a:lstStyle/>
          <a:p>
            <a:pPr algn="l"/>
            <a:r>
              <a:rPr sz="750" b="0" i="0">
                <a:solidFill>
                  <a:srgbClr val="0C3570"/>
                </a:solidFill>
              </a:rPr>
              <a:t>87%</a:t>
            </a:r>
          </a:p>
        </p:txBody>
      </p:sp>
      <p:sp>
        <p:nvSpPr>
          <p:cNvPr id="26" name="Rectangle 25"/>
          <p:cNvSpPr/>
          <p:nvPr/>
        </p:nvSpPr>
        <p:spPr>
          <a:xfrm>
            <a:off x="5175504" y="2395727"/>
            <a:ext cx="914400" cy="5029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230368" y="2441447"/>
            <a:ext cx="804672" cy="411480"/>
          </a:xfrm>
          <a:prstGeom prst="rect">
            <a:avLst/>
          </a:prstGeom>
          <a:noFill/>
        </p:spPr>
        <p:txBody>
          <a:bodyPr wrap="square">
            <a:spAutoFit/>
          </a:bodyPr>
          <a:lstStyle/>
          <a:p>
            <a:pPr algn="l"/>
            <a:r>
              <a:rPr sz="750" b="0" i="0">
                <a:solidFill>
                  <a:srgbClr val="228822"/>
                </a:solidFill>
              </a:rPr>
              <a:t>◎ 達成</a:t>
            </a:r>
          </a:p>
        </p:txBody>
      </p:sp>
      <p:sp>
        <p:nvSpPr>
          <p:cNvPr id="28" name="Rectangle 27"/>
          <p:cNvSpPr/>
          <p:nvPr/>
        </p:nvSpPr>
        <p:spPr>
          <a:xfrm>
            <a:off x="6108192" y="2395727"/>
            <a:ext cx="5577840" cy="5029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63055" y="2441447"/>
            <a:ext cx="5468112" cy="411480"/>
          </a:xfrm>
          <a:prstGeom prst="rect">
            <a:avLst/>
          </a:prstGeom>
          <a:noFill/>
        </p:spPr>
        <p:txBody>
          <a:bodyPr wrap="square">
            <a:spAutoFit/>
          </a:bodyPr>
          <a:lstStyle/>
          <a:p>
            <a:pPr algn="l"/>
            <a:r>
              <a:rPr sz="750" b="0" i="0">
                <a:solidFill>
                  <a:srgbClr val="444444"/>
                </a:solidFill>
              </a:rPr>
              <a:t>業界平均（78%）を大幅に上回る水準を達成。CS体制強化の直接的な成果であり、継続率90%を次期目標に設定する。</a:t>
            </a:r>
          </a:p>
        </p:txBody>
      </p:sp>
      <p:sp>
        <p:nvSpPr>
          <p:cNvPr id="30" name="Rectangle 29"/>
          <p:cNvSpPr/>
          <p:nvPr/>
        </p:nvSpPr>
        <p:spPr>
          <a:xfrm>
            <a:off x="548640" y="2916936"/>
            <a:ext cx="201168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03503" y="2962656"/>
            <a:ext cx="1901952" cy="411480"/>
          </a:xfrm>
          <a:prstGeom prst="rect">
            <a:avLst/>
          </a:prstGeom>
          <a:noFill/>
        </p:spPr>
        <p:txBody>
          <a:bodyPr wrap="square">
            <a:spAutoFit/>
          </a:bodyPr>
          <a:lstStyle/>
          <a:p>
            <a:pPr algn="l"/>
            <a:r>
              <a:rPr sz="750" b="1" i="0">
                <a:solidFill>
                  <a:srgbClr val="444444"/>
                </a:solidFill>
              </a:rPr>
              <a:t>NPS</a:t>
            </a:r>
          </a:p>
        </p:txBody>
      </p:sp>
      <p:sp>
        <p:nvSpPr>
          <p:cNvPr id="32" name="Rectangle 31"/>
          <p:cNvSpPr/>
          <p:nvPr/>
        </p:nvSpPr>
        <p:spPr>
          <a:xfrm>
            <a:off x="2578608" y="2916936"/>
            <a:ext cx="128016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633472" y="2962656"/>
            <a:ext cx="1170431" cy="411480"/>
          </a:xfrm>
          <a:prstGeom prst="rect">
            <a:avLst/>
          </a:prstGeom>
          <a:noFill/>
        </p:spPr>
        <p:txBody>
          <a:bodyPr wrap="square">
            <a:spAutoFit/>
          </a:bodyPr>
          <a:lstStyle/>
          <a:p>
            <a:pPr algn="l"/>
            <a:r>
              <a:rPr sz="750" b="0" i="0">
                <a:solidFill>
                  <a:srgbClr val="444444"/>
                </a:solidFill>
              </a:rPr>
              <a:t>+30以上</a:t>
            </a:r>
          </a:p>
        </p:txBody>
      </p:sp>
      <p:sp>
        <p:nvSpPr>
          <p:cNvPr id="34" name="Rectangle 33"/>
          <p:cNvSpPr/>
          <p:nvPr/>
        </p:nvSpPr>
        <p:spPr>
          <a:xfrm>
            <a:off x="3877056" y="2916936"/>
            <a:ext cx="1280160" cy="502920"/>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0" y="2962656"/>
            <a:ext cx="1170431" cy="411480"/>
          </a:xfrm>
          <a:prstGeom prst="rect">
            <a:avLst/>
          </a:prstGeom>
          <a:noFill/>
        </p:spPr>
        <p:txBody>
          <a:bodyPr wrap="square">
            <a:spAutoFit/>
          </a:bodyPr>
          <a:lstStyle/>
          <a:p>
            <a:pPr algn="l"/>
            <a:r>
              <a:rPr sz="750" b="0" i="0">
                <a:solidFill>
                  <a:srgbClr val="0C3570"/>
                </a:solidFill>
              </a:rPr>
              <a:t>+42</a:t>
            </a:r>
          </a:p>
        </p:txBody>
      </p:sp>
      <p:sp>
        <p:nvSpPr>
          <p:cNvPr id="36" name="Rectangle 35"/>
          <p:cNvSpPr/>
          <p:nvPr/>
        </p:nvSpPr>
        <p:spPr>
          <a:xfrm>
            <a:off x="5175504" y="2916936"/>
            <a:ext cx="9144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230368" y="2962656"/>
            <a:ext cx="804672" cy="411480"/>
          </a:xfrm>
          <a:prstGeom prst="rect">
            <a:avLst/>
          </a:prstGeom>
          <a:noFill/>
        </p:spPr>
        <p:txBody>
          <a:bodyPr wrap="square">
            <a:spAutoFit/>
          </a:bodyPr>
          <a:lstStyle/>
          <a:p>
            <a:pPr algn="l"/>
            <a:r>
              <a:rPr sz="750" b="0" i="0">
                <a:solidFill>
                  <a:srgbClr val="228822"/>
                </a:solidFill>
              </a:rPr>
              <a:t>◎ 達成</a:t>
            </a:r>
          </a:p>
        </p:txBody>
      </p:sp>
      <p:sp>
        <p:nvSpPr>
          <p:cNvPr id="38" name="Rectangle 37"/>
          <p:cNvSpPr/>
          <p:nvPr/>
        </p:nvSpPr>
        <p:spPr>
          <a:xfrm>
            <a:off x="6108192" y="2916936"/>
            <a:ext cx="557784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163055" y="2962656"/>
            <a:ext cx="5468112" cy="411480"/>
          </a:xfrm>
          <a:prstGeom prst="rect">
            <a:avLst/>
          </a:prstGeom>
          <a:noFill/>
        </p:spPr>
        <p:txBody>
          <a:bodyPr wrap="square">
            <a:spAutoFit/>
          </a:bodyPr>
          <a:lstStyle/>
          <a:p>
            <a:pPr algn="l"/>
            <a:r>
              <a:rPr sz="750" b="0" i="0">
                <a:solidFill>
                  <a:srgbClr val="444444"/>
                </a:solidFill>
              </a:rPr>
              <a:t>前期比+22ptの大幅改善。口コミ経由の新規問い合わせが月20件増加しており、リファラルプログラムの開始を推奨する。</a:t>
            </a:r>
          </a:p>
        </p:txBody>
      </p:sp>
      <p:sp>
        <p:nvSpPr>
          <p:cNvPr id="40" name="Rectangle 39"/>
          <p:cNvSpPr/>
          <p:nvPr/>
        </p:nvSpPr>
        <p:spPr>
          <a:xfrm>
            <a:off x="548640" y="3438144"/>
            <a:ext cx="2011680" cy="5029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03503" y="3483863"/>
            <a:ext cx="1901952" cy="411480"/>
          </a:xfrm>
          <a:prstGeom prst="rect">
            <a:avLst/>
          </a:prstGeom>
          <a:noFill/>
        </p:spPr>
        <p:txBody>
          <a:bodyPr wrap="square">
            <a:spAutoFit/>
          </a:bodyPr>
          <a:lstStyle/>
          <a:p>
            <a:pPr algn="l"/>
            <a:r>
              <a:rPr sz="750" b="1" i="0">
                <a:solidFill>
                  <a:srgbClr val="444444"/>
                </a:solidFill>
              </a:rPr>
              <a:t>売上増加額</a:t>
            </a:r>
          </a:p>
        </p:txBody>
      </p:sp>
      <p:sp>
        <p:nvSpPr>
          <p:cNvPr id="42" name="Rectangle 41"/>
          <p:cNvSpPr/>
          <p:nvPr/>
        </p:nvSpPr>
        <p:spPr>
          <a:xfrm>
            <a:off x="2578608" y="3438144"/>
            <a:ext cx="1280160" cy="5029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633472" y="3483863"/>
            <a:ext cx="1170431" cy="411480"/>
          </a:xfrm>
          <a:prstGeom prst="rect">
            <a:avLst/>
          </a:prstGeom>
          <a:noFill/>
        </p:spPr>
        <p:txBody>
          <a:bodyPr wrap="square">
            <a:spAutoFit/>
          </a:bodyPr>
          <a:lstStyle/>
          <a:p>
            <a:pPr algn="l"/>
            <a:r>
              <a:rPr sz="750" b="0" i="0">
                <a:solidFill>
                  <a:srgbClr val="444444"/>
                </a:solidFill>
              </a:rPr>
              <a:t>2.0億円以上</a:t>
            </a:r>
          </a:p>
        </p:txBody>
      </p:sp>
      <p:sp>
        <p:nvSpPr>
          <p:cNvPr id="44" name="Rectangle 43"/>
          <p:cNvSpPr/>
          <p:nvPr/>
        </p:nvSpPr>
        <p:spPr>
          <a:xfrm>
            <a:off x="3877056" y="3438144"/>
            <a:ext cx="1280160" cy="502920"/>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0" y="3483863"/>
            <a:ext cx="1170431" cy="411480"/>
          </a:xfrm>
          <a:prstGeom prst="rect">
            <a:avLst/>
          </a:prstGeom>
          <a:noFill/>
        </p:spPr>
        <p:txBody>
          <a:bodyPr wrap="square">
            <a:spAutoFit/>
          </a:bodyPr>
          <a:lstStyle/>
          <a:p>
            <a:pPr algn="l"/>
            <a:r>
              <a:rPr sz="750" b="0" i="0">
                <a:solidFill>
                  <a:srgbClr val="0C3570"/>
                </a:solidFill>
              </a:rPr>
              <a:t>2.4億円</a:t>
            </a:r>
          </a:p>
        </p:txBody>
      </p:sp>
      <p:sp>
        <p:nvSpPr>
          <p:cNvPr id="46" name="Rectangle 45"/>
          <p:cNvSpPr/>
          <p:nvPr/>
        </p:nvSpPr>
        <p:spPr>
          <a:xfrm>
            <a:off x="5175504" y="3438144"/>
            <a:ext cx="914400" cy="5029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230368" y="3483863"/>
            <a:ext cx="804672" cy="411480"/>
          </a:xfrm>
          <a:prstGeom prst="rect">
            <a:avLst/>
          </a:prstGeom>
          <a:noFill/>
        </p:spPr>
        <p:txBody>
          <a:bodyPr wrap="square">
            <a:spAutoFit/>
          </a:bodyPr>
          <a:lstStyle/>
          <a:p>
            <a:pPr algn="l"/>
            <a:r>
              <a:rPr sz="750" b="0" i="0">
                <a:solidFill>
                  <a:srgbClr val="228822"/>
                </a:solidFill>
              </a:rPr>
              <a:t>◎ 達成</a:t>
            </a:r>
          </a:p>
        </p:txBody>
      </p:sp>
      <p:sp>
        <p:nvSpPr>
          <p:cNvPr id="48" name="Rectangle 47"/>
          <p:cNvSpPr/>
          <p:nvPr/>
        </p:nvSpPr>
        <p:spPr>
          <a:xfrm>
            <a:off x="6108192" y="3438144"/>
            <a:ext cx="5577840" cy="5029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163055" y="3483863"/>
            <a:ext cx="5468112" cy="411480"/>
          </a:xfrm>
          <a:prstGeom prst="rect">
            <a:avLst/>
          </a:prstGeom>
          <a:noFill/>
        </p:spPr>
        <p:txBody>
          <a:bodyPr wrap="square">
            <a:spAutoFit/>
          </a:bodyPr>
          <a:lstStyle/>
          <a:p>
            <a:pPr algn="l"/>
            <a:r>
              <a:rPr sz="750" b="0" i="0">
                <a:solidFill>
                  <a:srgbClr val="444444"/>
                </a:solidFill>
              </a:rPr>
              <a:t>目標を20%上回る成果を達成。継続率改善と新規獲得の両輪が機能しており、来期目標を3.5億円に設定する。</a:t>
            </a:r>
          </a:p>
        </p:txBody>
      </p:sp>
      <p:sp>
        <p:nvSpPr>
          <p:cNvPr id="50" name="Rectangle 49"/>
          <p:cNvSpPr/>
          <p:nvPr/>
        </p:nvSpPr>
        <p:spPr>
          <a:xfrm>
            <a:off x="548640" y="3959351"/>
            <a:ext cx="201168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03503" y="4005071"/>
            <a:ext cx="1901952" cy="411480"/>
          </a:xfrm>
          <a:prstGeom prst="rect">
            <a:avLst/>
          </a:prstGeom>
          <a:noFill/>
        </p:spPr>
        <p:txBody>
          <a:bodyPr wrap="square">
            <a:spAutoFit/>
          </a:bodyPr>
          <a:lstStyle/>
          <a:p>
            <a:pPr algn="l"/>
            <a:r>
              <a:rPr sz="750" b="1" i="0">
                <a:solidFill>
                  <a:srgbClr val="444444"/>
                </a:solidFill>
              </a:rPr>
              <a:t>コスト削減額</a:t>
            </a:r>
          </a:p>
        </p:txBody>
      </p:sp>
      <p:sp>
        <p:nvSpPr>
          <p:cNvPr id="52" name="Rectangle 51"/>
          <p:cNvSpPr/>
          <p:nvPr/>
        </p:nvSpPr>
        <p:spPr>
          <a:xfrm>
            <a:off x="2578608" y="3959351"/>
            <a:ext cx="128016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633472" y="4005071"/>
            <a:ext cx="1170431" cy="411480"/>
          </a:xfrm>
          <a:prstGeom prst="rect">
            <a:avLst/>
          </a:prstGeom>
          <a:noFill/>
        </p:spPr>
        <p:txBody>
          <a:bodyPr wrap="square">
            <a:spAutoFit/>
          </a:bodyPr>
          <a:lstStyle/>
          <a:p>
            <a:pPr algn="l"/>
            <a:r>
              <a:rPr sz="750" b="0" i="0">
                <a:solidFill>
                  <a:srgbClr val="444444"/>
                </a:solidFill>
              </a:rPr>
              <a:t>6,000万円以上</a:t>
            </a:r>
          </a:p>
        </p:txBody>
      </p:sp>
      <p:sp>
        <p:nvSpPr>
          <p:cNvPr id="54" name="Rectangle 53"/>
          <p:cNvSpPr/>
          <p:nvPr/>
        </p:nvSpPr>
        <p:spPr>
          <a:xfrm>
            <a:off x="3877056" y="3959351"/>
            <a:ext cx="1280160" cy="502920"/>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0" y="4005071"/>
            <a:ext cx="1170431" cy="411480"/>
          </a:xfrm>
          <a:prstGeom prst="rect">
            <a:avLst/>
          </a:prstGeom>
          <a:noFill/>
        </p:spPr>
        <p:txBody>
          <a:bodyPr wrap="square">
            <a:spAutoFit/>
          </a:bodyPr>
          <a:lstStyle/>
          <a:p>
            <a:pPr algn="l"/>
            <a:r>
              <a:rPr sz="750" b="0" i="0">
                <a:solidFill>
                  <a:srgbClr val="0C3570"/>
                </a:solidFill>
              </a:rPr>
              <a:t>8,000万円</a:t>
            </a:r>
          </a:p>
        </p:txBody>
      </p:sp>
      <p:sp>
        <p:nvSpPr>
          <p:cNvPr id="56" name="Rectangle 55"/>
          <p:cNvSpPr/>
          <p:nvPr/>
        </p:nvSpPr>
        <p:spPr>
          <a:xfrm>
            <a:off x="5175504" y="3959351"/>
            <a:ext cx="9144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230368" y="4005071"/>
            <a:ext cx="804672" cy="411480"/>
          </a:xfrm>
          <a:prstGeom prst="rect">
            <a:avLst/>
          </a:prstGeom>
          <a:noFill/>
        </p:spPr>
        <p:txBody>
          <a:bodyPr wrap="square">
            <a:spAutoFit/>
          </a:bodyPr>
          <a:lstStyle/>
          <a:p>
            <a:pPr algn="l"/>
            <a:r>
              <a:rPr sz="750" b="0" i="0">
                <a:solidFill>
                  <a:srgbClr val="228822"/>
                </a:solidFill>
              </a:rPr>
              <a:t>◎ 達成</a:t>
            </a:r>
          </a:p>
        </p:txBody>
      </p:sp>
      <p:sp>
        <p:nvSpPr>
          <p:cNvPr id="58" name="Rectangle 57"/>
          <p:cNvSpPr/>
          <p:nvPr/>
        </p:nvSpPr>
        <p:spPr>
          <a:xfrm>
            <a:off x="6108192" y="3959351"/>
            <a:ext cx="557784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163055" y="4005071"/>
            <a:ext cx="5468112" cy="411480"/>
          </a:xfrm>
          <a:prstGeom prst="rect">
            <a:avLst/>
          </a:prstGeom>
          <a:noFill/>
        </p:spPr>
        <p:txBody>
          <a:bodyPr wrap="square">
            <a:spAutoFit/>
          </a:bodyPr>
          <a:lstStyle/>
          <a:p>
            <a:pPr algn="l"/>
            <a:r>
              <a:rPr sz="750" b="0" i="0">
                <a:solidFill>
                  <a:srgbClr val="444444"/>
                </a:solidFill>
              </a:rPr>
              <a:t>目標を133%上回るコスト削減を達成。削減効果をCS投資に再配分し、さらなる成長を加速させる。</a:t>
            </a:r>
          </a:p>
        </p:txBody>
      </p:sp>
      <p:sp>
        <p:nvSpPr>
          <p:cNvPr id="60" name="Rectangle 59"/>
          <p:cNvSpPr/>
          <p:nvPr/>
        </p:nvSpPr>
        <p:spPr>
          <a:xfrm>
            <a:off x="548640" y="4480559"/>
            <a:ext cx="2011680" cy="5029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03503" y="4526279"/>
            <a:ext cx="1901952" cy="411480"/>
          </a:xfrm>
          <a:prstGeom prst="rect">
            <a:avLst/>
          </a:prstGeom>
          <a:noFill/>
        </p:spPr>
        <p:txBody>
          <a:bodyPr wrap="square">
            <a:spAutoFit/>
          </a:bodyPr>
          <a:lstStyle/>
          <a:p>
            <a:pPr algn="l"/>
            <a:r>
              <a:rPr sz="750" b="1" i="0">
                <a:solidFill>
                  <a:srgbClr val="444444"/>
                </a:solidFill>
              </a:rPr>
              <a:t>CS担当者充足率</a:t>
            </a:r>
          </a:p>
        </p:txBody>
      </p:sp>
      <p:sp>
        <p:nvSpPr>
          <p:cNvPr id="62" name="Rectangle 61"/>
          <p:cNvSpPr/>
          <p:nvPr/>
        </p:nvSpPr>
        <p:spPr>
          <a:xfrm>
            <a:off x="2578608" y="4480559"/>
            <a:ext cx="1280160" cy="5029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2633472" y="4526279"/>
            <a:ext cx="1170431" cy="411480"/>
          </a:xfrm>
          <a:prstGeom prst="rect">
            <a:avLst/>
          </a:prstGeom>
          <a:noFill/>
        </p:spPr>
        <p:txBody>
          <a:bodyPr wrap="square">
            <a:spAutoFit/>
          </a:bodyPr>
          <a:lstStyle/>
          <a:p>
            <a:pPr algn="l"/>
            <a:r>
              <a:rPr sz="750" b="0" i="0">
                <a:solidFill>
                  <a:srgbClr val="444444"/>
                </a:solidFill>
              </a:rPr>
              <a:t>100%（12名）</a:t>
            </a:r>
          </a:p>
        </p:txBody>
      </p:sp>
      <p:sp>
        <p:nvSpPr>
          <p:cNvPr id="64" name="Rectangle 63"/>
          <p:cNvSpPr/>
          <p:nvPr/>
        </p:nvSpPr>
        <p:spPr>
          <a:xfrm>
            <a:off x="3877056" y="4480559"/>
            <a:ext cx="1280160" cy="502920"/>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931920" y="4526279"/>
            <a:ext cx="1170431" cy="411480"/>
          </a:xfrm>
          <a:prstGeom prst="rect">
            <a:avLst/>
          </a:prstGeom>
          <a:noFill/>
        </p:spPr>
        <p:txBody>
          <a:bodyPr wrap="square">
            <a:spAutoFit/>
          </a:bodyPr>
          <a:lstStyle/>
          <a:p>
            <a:pPr algn="l"/>
            <a:r>
              <a:rPr sz="750" b="0" i="0">
                <a:solidFill>
                  <a:srgbClr val="0C3570"/>
                </a:solidFill>
              </a:rPr>
              <a:t>83%（10名）</a:t>
            </a:r>
          </a:p>
        </p:txBody>
      </p:sp>
      <p:sp>
        <p:nvSpPr>
          <p:cNvPr id="66" name="Rectangle 65"/>
          <p:cNvSpPr/>
          <p:nvPr/>
        </p:nvSpPr>
        <p:spPr>
          <a:xfrm>
            <a:off x="5175504" y="4480559"/>
            <a:ext cx="914400" cy="5029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230368" y="4526279"/>
            <a:ext cx="804672" cy="411480"/>
          </a:xfrm>
          <a:prstGeom prst="rect">
            <a:avLst/>
          </a:prstGeom>
          <a:noFill/>
        </p:spPr>
        <p:txBody>
          <a:bodyPr wrap="square">
            <a:spAutoFit/>
          </a:bodyPr>
          <a:lstStyle/>
          <a:p>
            <a:pPr algn="l"/>
            <a:r>
              <a:rPr sz="750" b="0" i="0">
                <a:solidFill>
                  <a:srgbClr val="CC8800"/>
                </a:solidFill>
              </a:rPr>
              <a:t>△ 未達</a:t>
            </a:r>
          </a:p>
        </p:txBody>
      </p:sp>
      <p:sp>
        <p:nvSpPr>
          <p:cNvPr id="68" name="Rectangle 67"/>
          <p:cNvSpPr/>
          <p:nvPr/>
        </p:nvSpPr>
        <p:spPr>
          <a:xfrm>
            <a:off x="6108192" y="4480559"/>
            <a:ext cx="5577840" cy="5029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163055" y="4526279"/>
            <a:ext cx="5468112" cy="411480"/>
          </a:xfrm>
          <a:prstGeom prst="rect">
            <a:avLst/>
          </a:prstGeom>
          <a:noFill/>
        </p:spPr>
        <p:txBody>
          <a:bodyPr wrap="square">
            <a:spAutoFit/>
          </a:bodyPr>
          <a:lstStyle/>
          <a:p>
            <a:pPr algn="l"/>
            <a:r>
              <a:rPr sz="750" b="0" i="0">
                <a:solidFill>
                  <a:srgbClr val="444444"/>
                </a:solidFill>
              </a:rPr>
              <a:t>採用が計画より2名遅れているが、外部委託で補完中。Q1中に12名体制を達成し、担当顧客数を50社以下に削減する。</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継続率は8四半期連続で改善し、業界平均を9pt上回る87%を達成した</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line_chart ／ 用途: 時系列推移の可視化 ／ 件数: 1〜3系列</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継続率は施策開始後8四半期連続で改善し、業界平均（78%）を9pt上回る87%を達成した。このトレンドが継続すれば来期中に90%達成が見込まれる。</a:t>
            </a:r>
          </a:p>
        </p:txBody>
      </p:sp>
      <p:sp>
        <p:nvSpPr>
          <p:cNvPr id="10" name="Rectangle 9"/>
          <p:cNvSpPr/>
          <p:nvPr/>
        </p:nvSpPr>
        <p:spPr>
          <a:xfrm>
            <a:off x="548640" y="1828800"/>
            <a:ext cx="685800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1901952"/>
            <a:ext cx="1828800" cy="201168"/>
          </a:xfrm>
          <a:prstGeom prst="rect">
            <a:avLst/>
          </a:prstGeom>
          <a:noFill/>
        </p:spPr>
        <p:txBody>
          <a:bodyPr wrap="square">
            <a:spAutoFit/>
          </a:bodyPr>
          <a:lstStyle/>
          <a:p>
            <a:pPr algn="l"/>
            <a:r>
              <a:rPr sz="800" b="1" i="0">
                <a:solidFill>
                  <a:srgbClr val="1D51A3"/>
                </a:solidFill>
              </a:rPr>
              <a:t>■ グラフ</a:t>
            </a:r>
          </a:p>
        </p:txBody>
      </p:sp>
      <p:sp>
        <p:nvSpPr>
          <p:cNvPr id="12" name="Rectangle 11"/>
          <p:cNvSpPr/>
          <p:nvPr/>
        </p:nvSpPr>
        <p:spPr>
          <a:xfrm>
            <a:off x="685800" y="2793649"/>
            <a:ext cx="640080" cy="2875630"/>
          </a:xfrm>
          <a:prstGeom prst="rect">
            <a:avLst/>
          </a:prstGeom>
          <a:solidFill>
            <a:srgbClr val="1D1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565049"/>
            <a:ext cx="640080" cy="201168"/>
          </a:xfrm>
          <a:prstGeom prst="rect">
            <a:avLst/>
          </a:prstGeom>
          <a:noFill/>
        </p:spPr>
        <p:txBody>
          <a:bodyPr wrap="square">
            <a:spAutoFit/>
          </a:bodyPr>
          <a:lstStyle/>
          <a:p>
            <a:pPr algn="ctr"/>
            <a:r>
              <a:rPr sz="800" b="1" i="0">
                <a:solidFill>
                  <a:srgbClr val="0C3570"/>
                </a:solidFill>
              </a:rPr>
              <a:t>72</a:t>
            </a:r>
          </a:p>
        </p:txBody>
      </p:sp>
      <p:sp>
        <p:nvSpPr>
          <p:cNvPr id="14" name="TextBox 13"/>
          <p:cNvSpPr txBox="1"/>
          <p:nvPr/>
        </p:nvSpPr>
        <p:spPr>
          <a:xfrm>
            <a:off x="685800" y="5714999"/>
            <a:ext cx="640080" cy="274320"/>
          </a:xfrm>
          <a:prstGeom prst="rect">
            <a:avLst/>
          </a:prstGeom>
          <a:noFill/>
        </p:spPr>
        <p:txBody>
          <a:bodyPr wrap="square">
            <a:spAutoFit/>
          </a:bodyPr>
          <a:lstStyle/>
          <a:p>
            <a:pPr algn="ctr"/>
            <a:r>
              <a:rPr sz="700" b="0" i="0">
                <a:solidFill>
                  <a:srgbClr val="444444"/>
                </a:solidFill>
              </a:rPr>
              <a:t>2024Q1</a:t>
            </a:r>
          </a:p>
        </p:txBody>
      </p:sp>
      <p:sp>
        <p:nvSpPr>
          <p:cNvPr id="15" name="Rectangle 14"/>
          <p:cNvSpPr/>
          <p:nvPr/>
        </p:nvSpPr>
        <p:spPr>
          <a:xfrm>
            <a:off x="1463040" y="2753710"/>
            <a:ext cx="640080" cy="2915569"/>
          </a:xfrm>
          <a:prstGeom prst="rect">
            <a:avLst/>
          </a:prstGeom>
          <a:solidFill>
            <a:srgbClr val="1D2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463040" y="2525110"/>
            <a:ext cx="640080" cy="201168"/>
          </a:xfrm>
          <a:prstGeom prst="rect">
            <a:avLst/>
          </a:prstGeom>
          <a:noFill/>
        </p:spPr>
        <p:txBody>
          <a:bodyPr wrap="square">
            <a:spAutoFit/>
          </a:bodyPr>
          <a:lstStyle/>
          <a:p>
            <a:pPr algn="ctr"/>
            <a:r>
              <a:rPr sz="800" b="1" i="0">
                <a:solidFill>
                  <a:srgbClr val="0C3570"/>
                </a:solidFill>
              </a:rPr>
              <a:t>73</a:t>
            </a:r>
          </a:p>
        </p:txBody>
      </p:sp>
      <p:sp>
        <p:nvSpPr>
          <p:cNvPr id="17" name="TextBox 16"/>
          <p:cNvSpPr txBox="1"/>
          <p:nvPr/>
        </p:nvSpPr>
        <p:spPr>
          <a:xfrm>
            <a:off x="1463040" y="5714999"/>
            <a:ext cx="640080" cy="274320"/>
          </a:xfrm>
          <a:prstGeom prst="rect">
            <a:avLst/>
          </a:prstGeom>
          <a:noFill/>
        </p:spPr>
        <p:txBody>
          <a:bodyPr wrap="square">
            <a:spAutoFit/>
          </a:bodyPr>
          <a:lstStyle/>
          <a:p>
            <a:pPr algn="ctr"/>
            <a:r>
              <a:rPr sz="700" b="0" i="0">
                <a:solidFill>
                  <a:srgbClr val="444444"/>
                </a:solidFill>
              </a:rPr>
              <a:t>2024Q2</a:t>
            </a:r>
          </a:p>
        </p:txBody>
      </p:sp>
      <p:sp>
        <p:nvSpPr>
          <p:cNvPr id="18" name="Rectangle 17"/>
          <p:cNvSpPr/>
          <p:nvPr/>
        </p:nvSpPr>
        <p:spPr>
          <a:xfrm>
            <a:off x="2240280" y="2713771"/>
            <a:ext cx="640080" cy="2955508"/>
          </a:xfrm>
          <a:prstGeom prst="rect">
            <a:avLst/>
          </a:prstGeom>
          <a:solidFill>
            <a:srgbClr val="1D3E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240280" y="2485171"/>
            <a:ext cx="640080" cy="201168"/>
          </a:xfrm>
          <a:prstGeom prst="rect">
            <a:avLst/>
          </a:prstGeom>
          <a:noFill/>
        </p:spPr>
        <p:txBody>
          <a:bodyPr wrap="square">
            <a:spAutoFit/>
          </a:bodyPr>
          <a:lstStyle/>
          <a:p>
            <a:pPr algn="ctr"/>
            <a:r>
              <a:rPr sz="800" b="1" i="0">
                <a:solidFill>
                  <a:srgbClr val="0C3570"/>
                </a:solidFill>
              </a:rPr>
              <a:t>74</a:t>
            </a:r>
          </a:p>
        </p:txBody>
      </p:sp>
      <p:sp>
        <p:nvSpPr>
          <p:cNvPr id="20" name="TextBox 19"/>
          <p:cNvSpPr txBox="1"/>
          <p:nvPr/>
        </p:nvSpPr>
        <p:spPr>
          <a:xfrm>
            <a:off x="2240280" y="5714999"/>
            <a:ext cx="640080" cy="274320"/>
          </a:xfrm>
          <a:prstGeom prst="rect">
            <a:avLst/>
          </a:prstGeom>
          <a:noFill/>
        </p:spPr>
        <p:txBody>
          <a:bodyPr wrap="square">
            <a:spAutoFit/>
          </a:bodyPr>
          <a:lstStyle/>
          <a:p>
            <a:pPr algn="ctr"/>
            <a:r>
              <a:rPr sz="700" b="0" i="0">
                <a:solidFill>
                  <a:srgbClr val="444444"/>
                </a:solidFill>
              </a:rPr>
              <a:t>2024Q3</a:t>
            </a:r>
          </a:p>
        </p:txBody>
      </p:sp>
      <p:sp>
        <p:nvSpPr>
          <p:cNvPr id="21" name="Rectangle 20"/>
          <p:cNvSpPr/>
          <p:nvPr/>
        </p:nvSpPr>
        <p:spPr>
          <a:xfrm>
            <a:off x="3017520" y="2673831"/>
            <a:ext cx="640080" cy="2995448"/>
          </a:xfrm>
          <a:prstGeom prst="rect">
            <a:avLst/>
          </a:prstGeom>
          <a:solidFill>
            <a:srgbClr val="1D4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017520" y="2445231"/>
            <a:ext cx="640080" cy="201168"/>
          </a:xfrm>
          <a:prstGeom prst="rect">
            <a:avLst/>
          </a:prstGeom>
          <a:noFill/>
        </p:spPr>
        <p:txBody>
          <a:bodyPr wrap="square">
            <a:spAutoFit/>
          </a:bodyPr>
          <a:lstStyle/>
          <a:p>
            <a:pPr algn="ctr"/>
            <a:r>
              <a:rPr sz="800" b="1" i="0">
                <a:solidFill>
                  <a:srgbClr val="0C3570"/>
                </a:solidFill>
              </a:rPr>
              <a:t>75</a:t>
            </a:r>
          </a:p>
        </p:txBody>
      </p:sp>
      <p:sp>
        <p:nvSpPr>
          <p:cNvPr id="23" name="TextBox 22"/>
          <p:cNvSpPr txBox="1"/>
          <p:nvPr/>
        </p:nvSpPr>
        <p:spPr>
          <a:xfrm>
            <a:off x="3017520" y="5714999"/>
            <a:ext cx="640080" cy="274320"/>
          </a:xfrm>
          <a:prstGeom prst="rect">
            <a:avLst/>
          </a:prstGeom>
          <a:noFill/>
        </p:spPr>
        <p:txBody>
          <a:bodyPr wrap="square">
            <a:spAutoFit/>
          </a:bodyPr>
          <a:lstStyle/>
          <a:p>
            <a:pPr algn="ctr"/>
            <a:r>
              <a:rPr sz="700" b="0" i="0">
                <a:solidFill>
                  <a:srgbClr val="444444"/>
                </a:solidFill>
              </a:rPr>
              <a:t>2024Q4</a:t>
            </a:r>
          </a:p>
        </p:txBody>
      </p:sp>
      <p:sp>
        <p:nvSpPr>
          <p:cNvPr id="24" name="Rectangle 23"/>
          <p:cNvSpPr/>
          <p:nvPr/>
        </p:nvSpPr>
        <p:spPr>
          <a:xfrm>
            <a:off x="3794760" y="2554013"/>
            <a:ext cx="640080" cy="3115266"/>
          </a:xfrm>
          <a:prstGeom prst="rect">
            <a:avLst/>
          </a:prstGeom>
          <a:solidFill>
            <a:srgbClr val="1D6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794760" y="2325413"/>
            <a:ext cx="640080" cy="201168"/>
          </a:xfrm>
          <a:prstGeom prst="rect">
            <a:avLst/>
          </a:prstGeom>
          <a:noFill/>
        </p:spPr>
        <p:txBody>
          <a:bodyPr wrap="square">
            <a:spAutoFit/>
          </a:bodyPr>
          <a:lstStyle/>
          <a:p>
            <a:pPr algn="ctr"/>
            <a:r>
              <a:rPr sz="800" b="1" i="0">
                <a:solidFill>
                  <a:srgbClr val="0C3570"/>
                </a:solidFill>
              </a:rPr>
              <a:t>78</a:t>
            </a:r>
          </a:p>
        </p:txBody>
      </p:sp>
      <p:sp>
        <p:nvSpPr>
          <p:cNvPr id="26" name="TextBox 25"/>
          <p:cNvSpPr txBox="1"/>
          <p:nvPr/>
        </p:nvSpPr>
        <p:spPr>
          <a:xfrm>
            <a:off x="3794760" y="5714999"/>
            <a:ext cx="640080" cy="274320"/>
          </a:xfrm>
          <a:prstGeom prst="rect">
            <a:avLst/>
          </a:prstGeom>
          <a:noFill/>
        </p:spPr>
        <p:txBody>
          <a:bodyPr wrap="square">
            <a:spAutoFit/>
          </a:bodyPr>
          <a:lstStyle/>
          <a:p>
            <a:pPr algn="ctr"/>
            <a:r>
              <a:rPr sz="700" b="0" i="0">
                <a:solidFill>
                  <a:srgbClr val="444444"/>
                </a:solidFill>
              </a:rPr>
              <a:t>2025Q1</a:t>
            </a:r>
          </a:p>
        </p:txBody>
      </p:sp>
      <p:sp>
        <p:nvSpPr>
          <p:cNvPr id="27" name="Rectangle 26"/>
          <p:cNvSpPr/>
          <p:nvPr/>
        </p:nvSpPr>
        <p:spPr>
          <a:xfrm>
            <a:off x="4572000" y="2434195"/>
            <a:ext cx="640080" cy="3235084"/>
          </a:xfrm>
          <a:prstGeom prst="rect">
            <a:avLst/>
          </a:prstGeom>
          <a:solidFill>
            <a:srgbClr val="1D7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0" y="2205595"/>
            <a:ext cx="640080" cy="201168"/>
          </a:xfrm>
          <a:prstGeom prst="rect">
            <a:avLst/>
          </a:prstGeom>
          <a:noFill/>
        </p:spPr>
        <p:txBody>
          <a:bodyPr wrap="square">
            <a:spAutoFit/>
          </a:bodyPr>
          <a:lstStyle/>
          <a:p>
            <a:pPr algn="ctr"/>
            <a:r>
              <a:rPr sz="800" b="1" i="0">
                <a:solidFill>
                  <a:srgbClr val="0C3570"/>
                </a:solidFill>
              </a:rPr>
              <a:t>81</a:t>
            </a:r>
          </a:p>
        </p:txBody>
      </p:sp>
      <p:sp>
        <p:nvSpPr>
          <p:cNvPr id="29" name="TextBox 28"/>
          <p:cNvSpPr txBox="1"/>
          <p:nvPr/>
        </p:nvSpPr>
        <p:spPr>
          <a:xfrm>
            <a:off x="4572000" y="5714999"/>
            <a:ext cx="640080" cy="274320"/>
          </a:xfrm>
          <a:prstGeom prst="rect">
            <a:avLst/>
          </a:prstGeom>
          <a:noFill/>
        </p:spPr>
        <p:txBody>
          <a:bodyPr wrap="square">
            <a:spAutoFit/>
          </a:bodyPr>
          <a:lstStyle/>
          <a:p>
            <a:pPr algn="ctr"/>
            <a:r>
              <a:rPr sz="700" b="0" i="0">
                <a:solidFill>
                  <a:srgbClr val="444444"/>
                </a:solidFill>
              </a:rPr>
              <a:t>2025Q2</a:t>
            </a:r>
          </a:p>
        </p:txBody>
      </p:sp>
      <p:sp>
        <p:nvSpPr>
          <p:cNvPr id="30" name="Rectangle 29"/>
          <p:cNvSpPr/>
          <p:nvPr/>
        </p:nvSpPr>
        <p:spPr>
          <a:xfrm>
            <a:off x="5349240" y="2314377"/>
            <a:ext cx="640080" cy="3354902"/>
          </a:xfrm>
          <a:prstGeom prst="rect">
            <a:avLst/>
          </a:prstGeom>
          <a:solidFill>
            <a:srgbClr val="1D82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349240" y="2085777"/>
            <a:ext cx="640080" cy="201168"/>
          </a:xfrm>
          <a:prstGeom prst="rect">
            <a:avLst/>
          </a:prstGeom>
          <a:noFill/>
        </p:spPr>
        <p:txBody>
          <a:bodyPr wrap="square">
            <a:spAutoFit/>
          </a:bodyPr>
          <a:lstStyle/>
          <a:p>
            <a:pPr algn="ctr"/>
            <a:r>
              <a:rPr sz="800" b="1" i="0">
                <a:solidFill>
                  <a:srgbClr val="0C3570"/>
                </a:solidFill>
              </a:rPr>
              <a:t>84</a:t>
            </a:r>
          </a:p>
        </p:txBody>
      </p:sp>
      <p:sp>
        <p:nvSpPr>
          <p:cNvPr id="32" name="TextBox 31"/>
          <p:cNvSpPr txBox="1"/>
          <p:nvPr/>
        </p:nvSpPr>
        <p:spPr>
          <a:xfrm>
            <a:off x="5349240" y="5714999"/>
            <a:ext cx="640080" cy="274320"/>
          </a:xfrm>
          <a:prstGeom prst="rect">
            <a:avLst/>
          </a:prstGeom>
          <a:noFill/>
        </p:spPr>
        <p:txBody>
          <a:bodyPr wrap="square">
            <a:spAutoFit/>
          </a:bodyPr>
          <a:lstStyle/>
          <a:p>
            <a:pPr algn="ctr"/>
            <a:r>
              <a:rPr sz="700" b="0" i="0">
                <a:solidFill>
                  <a:srgbClr val="444444"/>
                </a:solidFill>
              </a:rPr>
              <a:t>2025Q3</a:t>
            </a:r>
          </a:p>
        </p:txBody>
      </p:sp>
      <p:sp>
        <p:nvSpPr>
          <p:cNvPr id="33" name="Rectangle 32"/>
          <p:cNvSpPr/>
          <p:nvPr/>
        </p:nvSpPr>
        <p:spPr>
          <a:xfrm>
            <a:off x="6126480" y="2194559"/>
            <a:ext cx="640080" cy="3474720"/>
          </a:xfrm>
          <a:prstGeom prst="rect">
            <a:avLst/>
          </a:prstGeom>
          <a:solidFill>
            <a:srgbClr val="1D93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26480" y="1965959"/>
            <a:ext cx="640080" cy="201168"/>
          </a:xfrm>
          <a:prstGeom prst="rect">
            <a:avLst/>
          </a:prstGeom>
          <a:noFill/>
        </p:spPr>
        <p:txBody>
          <a:bodyPr wrap="square">
            <a:spAutoFit/>
          </a:bodyPr>
          <a:lstStyle/>
          <a:p>
            <a:pPr algn="ctr"/>
            <a:r>
              <a:rPr sz="800" b="1" i="0">
                <a:solidFill>
                  <a:srgbClr val="0C3570"/>
                </a:solidFill>
              </a:rPr>
              <a:t>87</a:t>
            </a:r>
          </a:p>
        </p:txBody>
      </p:sp>
      <p:sp>
        <p:nvSpPr>
          <p:cNvPr id="35" name="TextBox 34"/>
          <p:cNvSpPr txBox="1"/>
          <p:nvPr/>
        </p:nvSpPr>
        <p:spPr>
          <a:xfrm>
            <a:off x="6126480" y="5714999"/>
            <a:ext cx="640080" cy="274320"/>
          </a:xfrm>
          <a:prstGeom prst="rect">
            <a:avLst/>
          </a:prstGeom>
          <a:noFill/>
        </p:spPr>
        <p:txBody>
          <a:bodyPr wrap="square">
            <a:spAutoFit/>
          </a:bodyPr>
          <a:lstStyle/>
          <a:p>
            <a:pPr algn="ctr"/>
            <a:r>
              <a:rPr sz="700" b="0" i="0">
                <a:solidFill>
                  <a:srgbClr val="444444"/>
                </a:solidFill>
              </a:rPr>
              <a:t>2025Q4</a:t>
            </a:r>
          </a:p>
        </p:txBody>
      </p:sp>
      <p:sp>
        <p:nvSpPr>
          <p:cNvPr id="36" name="Rectangle 35"/>
          <p:cNvSpPr/>
          <p:nvPr/>
        </p:nvSpPr>
        <p:spPr>
          <a:xfrm>
            <a:off x="7543800" y="1828800"/>
            <a:ext cx="4069080" cy="1005840"/>
          </a:xfrm>
          <a:prstGeom prst="rect">
            <a:avLst/>
          </a:prstGeom>
          <a:solidFill>
            <a:srgbClr val="E8EEF8"/>
          </a:solidFill>
          <a:ln w="6350">
            <a:solidFill>
              <a:srgbClr val="1D5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653527" y="1883664"/>
            <a:ext cx="3849624" cy="164592"/>
          </a:xfrm>
          <a:prstGeom prst="rect">
            <a:avLst/>
          </a:prstGeom>
          <a:noFill/>
        </p:spPr>
        <p:txBody>
          <a:bodyPr wrap="square">
            <a:spAutoFit/>
          </a:bodyPr>
          <a:lstStyle/>
          <a:p>
            <a:pPr algn="l"/>
            <a:r>
              <a:rPr sz="750" b="1" i="0">
                <a:solidFill>
                  <a:srgbClr val="1D51A3"/>
                </a:solidFill>
              </a:rPr>
              <a:t>INSIGHT</a:t>
            </a:r>
          </a:p>
        </p:txBody>
      </p:sp>
      <p:sp>
        <p:nvSpPr>
          <p:cNvPr id="38" name="TextBox 37"/>
          <p:cNvSpPr txBox="1"/>
          <p:nvPr/>
        </p:nvSpPr>
        <p:spPr>
          <a:xfrm>
            <a:off x="7653527" y="2066543"/>
            <a:ext cx="3849624" cy="713232"/>
          </a:xfrm>
          <a:prstGeom prst="rect">
            <a:avLst/>
          </a:prstGeom>
          <a:noFill/>
        </p:spPr>
        <p:txBody>
          <a:bodyPr wrap="square">
            <a:spAutoFit/>
          </a:bodyPr>
          <a:lstStyle/>
          <a:p>
            <a:pPr algn="l"/>
            <a:r>
              <a:rPr sz="750" b="0" i="0">
                <a:solidFill>
                  <a:srgbClr val="0C3570"/>
                </a:solidFill>
              </a:rPr>
              <a:t>継続率の改善トレンドは施策効果の直接的な証拠であり、CS投資の継続・拡大を正当化する根拠となる。</a:t>
            </a:r>
          </a:p>
        </p:txBody>
      </p:sp>
      <p:sp>
        <p:nvSpPr>
          <p:cNvPr id="39" name="Rectangle 38"/>
          <p:cNvSpPr/>
          <p:nvPr/>
        </p:nvSpPr>
        <p:spPr>
          <a:xfrm>
            <a:off x="7543800" y="2926080"/>
            <a:ext cx="4069080" cy="201168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653527" y="3017520"/>
            <a:ext cx="3849624" cy="164592"/>
          </a:xfrm>
          <a:prstGeom prst="rect">
            <a:avLst/>
          </a:prstGeom>
          <a:noFill/>
        </p:spPr>
        <p:txBody>
          <a:bodyPr wrap="square">
            <a:spAutoFit/>
          </a:bodyPr>
          <a:lstStyle/>
          <a:p>
            <a:pPr algn="l"/>
            <a:r>
              <a:rPr sz="750" b="1" i="0">
                <a:solidFill>
                  <a:srgbClr val="1D51A3"/>
                </a:solidFill>
              </a:rPr>
              <a:t>データの読み方</a:t>
            </a:r>
          </a:p>
        </p:txBody>
      </p:sp>
      <p:sp>
        <p:nvSpPr>
          <p:cNvPr id="41" name="TextBox 40"/>
          <p:cNvSpPr txBox="1"/>
          <p:nvPr/>
        </p:nvSpPr>
        <p:spPr>
          <a:xfrm>
            <a:off x="7653527" y="3200400"/>
            <a:ext cx="3849624" cy="320040"/>
          </a:xfrm>
          <a:prstGeom prst="rect">
            <a:avLst/>
          </a:prstGeom>
          <a:noFill/>
        </p:spPr>
        <p:txBody>
          <a:bodyPr wrap="square">
            <a:spAutoFit/>
          </a:bodyPr>
          <a:lstStyle/>
          <a:p>
            <a:pPr algn="l"/>
            <a:r>
              <a:rPr sz="1000" b="1" i="0">
                <a:solidFill>
                  <a:srgbClr val="0C3570"/>
                </a:solidFill>
              </a:rPr>
              <a:t>グラフから読み取れる事実</a:t>
            </a:r>
          </a:p>
        </p:txBody>
      </p:sp>
      <p:sp>
        <p:nvSpPr>
          <p:cNvPr id="42" name="TextBox 41"/>
          <p:cNvSpPr txBox="1"/>
          <p:nvPr/>
        </p:nvSpPr>
        <p:spPr>
          <a:xfrm>
            <a:off x="7653527" y="3538728"/>
            <a:ext cx="3849624" cy="347472"/>
          </a:xfrm>
          <a:prstGeom prst="rect">
            <a:avLst/>
          </a:prstGeom>
          <a:noFill/>
        </p:spPr>
        <p:txBody>
          <a:bodyPr wrap="square">
            <a:spAutoFit/>
          </a:bodyPr>
          <a:lstStyle/>
          <a:p>
            <a:pPr algn="l"/>
            <a:r>
              <a:rPr sz="750" b="0" i="0">
                <a:solidFill>
                  <a:srgbClr val="444444"/>
                </a:solidFill>
              </a:rPr>
              <a:t>グラフのデータポイントを正確に読み取り、数値の変化・差異・傾向を客観的に記述する。</a:t>
            </a:r>
          </a:p>
        </p:txBody>
      </p:sp>
      <p:sp>
        <p:nvSpPr>
          <p:cNvPr id="43" name="TextBox 42"/>
          <p:cNvSpPr txBox="1"/>
          <p:nvPr/>
        </p:nvSpPr>
        <p:spPr>
          <a:xfrm>
            <a:off x="7680960" y="3931920"/>
            <a:ext cx="3794760" cy="502920"/>
          </a:xfrm>
          <a:prstGeom prst="rect">
            <a:avLst/>
          </a:prstGeom>
          <a:noFill/>
        </p:spPr>
        <p:txBody>
          <a:bodyPr wrap="square">
            <a:spAutoFit/>
          </a:bodyPr>
          <a:lstStyle/>
          <a:p>
            <a:pPr algn="l"/>
            <a:r>
              <a:rPr sz="700" b="0" i="0">
                <a:solidFill>
                  <a:srgbClr val="444444"/>
                </a:solidFill>
              </a:rPr>
              <a:t>▶ 重要性：このデータが企画書上でどのような意味を持つかを説明し、意思決定との関連性を明確にする。</a:t>
            </a:r>
          </a:p>
        </p:txBody>
      </p:sp>
      <p:sp>
        <p:nvSpPr>
          <p:cNvPr id="44" name="TextBox 43"/>
          <p:cNvSpPr txBox="1"/>
          <p:nvPr/>
        </p:nvSpPr>
        <p:spPr>
          <a:xfrm>
            <a:off x="7680960" y="4462272"/>
            <a:ext cx="3794760" cy="502920"/>
          </a:xfrm>
          <a:prstGeom prst="rect">
            <a:avLst/>
          </a:prstGeom>
          <a:noFill/>
        </p:spPr>
        <p:txBody>
          <a:bodyPr wrap="square">
            <a:spAutoFit/>
          </a:bodyPr>
          <a:lstStyle/>
          <a:p>
            <a:pPr algn="l"/>
            <a:r>
              <a:rPr sz="700" b="0" i="0">
                <a:solidFill>
                  <a:srgbClr val="444444"/>
                </a:solidFill>
              </a:rPr>
              <a:t>▶ 示唆：データから導かれる企画書上の示唆を記述し、次のアクションへの橋渡しを行う。</a:t>
            </a:r>
          </a:p>
        </p:txBody>
      </p:sp>
      <p:sp>
        <p:nvSpPr>
          <p:cNvPr id="45" name="TextBox 44"/>
          <p:cNvSpPr txBox="1"/>
          <p:nvPr/>
        </p:nvSpPr>
        <p:spPr>
          <a:xfrm>
            <a:off x="7543800" y="5029200"/>
            <a:ext cx="4069080" cy="201168"/>
          </a:xfrm>
          <a:prstGeom prst="rect">
            <a:avLst/>
          </a:prstGeom>
          <a:noFill/>
        </p:spPr>
        <p:txBody>
          <a:bodyPr wrap="square">
            <a:spAutoFit/>
          </a:bodyPr>
          <a:lstStyle/>
          <a:p>
            <a:pPr algn="l"/>
            <a:r>
              <a:rPr sz="750" b="0" i="0">
                <a:solidFill>
                  <a:srgbClr val="99A2AD"/>
                </a:solidFill>
              </a:rPr>
              <a:t>出典：社内データ（2026年）</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自社の継続率は競合他社を5〜12pt上回り、業界トップの水準を達成している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bar_chart ／ 用途: 項目間の比較 ／ 件数: 3〜8項目</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自社の継続率（87%）は競合他社（75〜82%）を5〜12pt上回り、業界平均（78%）も9pt上回る業界トップの水準を達成している。</a:t>
            </a:r>
          </a:p>
        </p:txBody>
      </p:sp>
      <p:sp>
        <p:nvSpPr>
          <p:cNvPr id="10" name="Rectangle 9"/>
          <p:cNvSpPr/>
          <p:nvPr/>
        </p:nvSpPr>
        <p:spPr>
          <a:xfrm>
            <a:off x="548640" y="1828800"/>
            <a:ext cx="685800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1901952"/>
            <a:ext cx="1828800" cy="201168"/>
          </a:xfrm>
          <a:prstGeom prst="rect">
            <a:avLst/>
          </a:prstGeom>
          <a:noFill/>
        </p:spPr>
        <p:txBody>
          <a:bodyPr wrap="square">
            <a:spAutoFit/>
          </a:bodyPr>
          <a:lstStyle/>
          <a:p>
            <a:pPr algn="l"/>
            <a:r>
              <a:rPr sz="800" b="1" i="0">
                <a:solidFill>
                  <a:srgbClr val="1D51A3"/>
                </a:solidFill>
              </a:rPr>
              <a:t>■ グラフ</a:t>
            </a:r>
          </a:p>
        </p:txBody>
      </p:sp>
      <p:sp>
        <p:nvSpPr>
          <p:cNvPr id="12" name="Rectangle 11"/>
          <p:cNvSpPr/>
          <p:nvPr/>
        </p:nvSpPr>
        <p:spPr>
          <a:xfrm>
            <a:off x="685800" y="2194559"/>
            <a:ext cx="1097280" cy="3474720"/>
          </a:xfrm>
          <a:prstGeom prst="rect">
            <a:avLst/>
          </a:prstGeom>
          <a:solidFill>
            <a:srgbClr val="1D1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1965959"/>
            <a:ext cx="1097280" cy="201168"/>
          </a:xfrm>
          <a:prstGeom prst="rect">
            <a:avLst/>
          </a:prstGeom>
          <a:noFill/>
        </p:spPr>
        <p:txBody>
          <a:bodyPr wrap="square">
            <a:spAutoFit/>
          </a:bodyPr>
          <a:lstStyle/>
          <a:p>
            <a:pPr algn="ctr"/>
            <a:r>
              <a:rPr sz="800" b="1" i="0">
                <a:solidFill>
                  <a:srgbClr val="0C3570"/>
                </a:solidFill>
              </a:rPr>
              <a:t>87</a:t>
            </a:r>
          </a:p>
        </p:txBody>
      </p:sp>
      <p:sp>
        <p:nvSpPr>
          <p:cNvPr id="14" name="TextBox 13"/>
          <p:cNvSpPr txBox="1"/>
          <p:nvPr/>
        </p:nvSpPr>
        <p:spPr>
          <a:xfrm>
            <a:off x="685800" y="5714999"/>
            <a:ext cx="1097280" cy="274320"/>
          </a:xfrm>
          <a:prstGeom prst="rect">
            <a:avLst/>
          </a:prstGeom>
          <a:noFill/>
        </p:spPr>
        <p:txBody>
          <a:bodyPr wrap="square">
            <a:spAutoFit/>
          </a:bodyPr>
          <a:lstStyle/>
          <a:p>
            <a:pPr algn="ctr"/>
            <a:r>
              <a:rPr sz="700" b="0" i="0">
                <a:solidFill>
                  <a:srgbClr val="444444"/>
                </a:solidFill>
              </a:rPr>
              <a:t>自社</a:t>
            </a:r>
          </a:p>
        </p:txBody>
      </p:sp>
      <p:sp>
        <p:nvSpPr>
          <p:cNvPr id="15" name="Rectangle 14"/>
          <p:cNvSpPr/>
          <p:nvPr/>
        </p:nvSpPr>
        <p:spPr>
          <a:xfrm>
            <a:off x="1920239" y="2394256"/>
            <a:ext cx="1097280" cy="3275023"/>
          </a:xfrm>
          <a:prstGeom prst="rect">
            <a:avLst/>
          </a:prstGeom>
          <a:solidFill>
            <a:srgbClr val="1D3A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920239" y="2165656"/>
            <a:ext cx="1097280" cy="201168"/>
          </a:xfrm>
          <a:prstGeom prst="rect">
            <a:avLst/>
          </a:prstGeom>
          <a:noFill/>
        </p:spPr>
        <p:txBody>
          <a:bodyPr wrap="square">
            <a:spAutoFit/>
          </a:bodyPr>
          <a:lstStyle/>
          <a:p>
            <a:pPr algn="ctr"/>
            <a:r>
              <a:rPr sz="800" b="1" i="0">
                <a:solidFill>
                  <a:srgbClr val="0C3570"/>
                </a:solidFill>
              </a:rPr>
              <a:t>82</a:t>
            </a:r>
          </a:p>
        </p:txBody>
      </p:sp>
      <p:sp>
        <p:nvSpPr>
          <p:cNvPr id="17" name="TextBox 16"/>
          <p:cNvSpPr txBox="1"/>
          <p:nvPr/>
        </p:nvSpPr>
        <p:spPr>
          <a:xfrm>
            <a:off x="1920239" y="5714999"/>
            <a:ext cx="1097280" cy="274320"/>
          </a:xfrm>
          <a:prstGeom prst="rect">
            <a:avLst/>
          </a:prstGeom>
          <a:noFill/>
        </p:spPr>
        <p:txBody>
          <a:bodyPr wrap="square">
            <a:spAutoFit/>
          </a:bodyPr>
          <a:lstStyle/>
          <a:p>
            <a:pPr algn="ctr"/>
            <a:r>
              <a:rPr sz="700" b="0" i="0">
                <a:solidFill>
                  <a:srgbClr val="444444"/>
                </a:solidFill>
              </a:rPr>
              <a:t>競合A</a:t>
            </a:r>
          </a:p>
        </p:txBody>
      </p:sp>
      <p:sp>
        <p:nvSpPr>
          <p:cNvPr id="18" name="Rectangle 17"/>
          <p:cNvSpPr/>
          <p:nvPr/>
        </p:nvSpPr>
        <p:spPr>
          <a:xfrm>
            <a:off x="3154679" y="2514074"/>
            <a:ext cx="1097280" cy="3155205"/>
          </a:xfrm>
          <a:prstGeom prst="rect">
            <a:avLst/>
          </a:prstGeom>
          <a:solidFill>
            <a:srgbClr val="1D58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154679" y="2285474"/>
            <a:ext cx="1097280" cy="201168"/>
          </a:xfrm>
          <a:prstGeom prst="rect">
            <a:avLst/>
          </a:prstGeom>
          <a:noFill/>
        </p:spPr>
        <p:txBody>
          <a:bodyPr wrap="square">
            <a:spAutoFit/>
          </a:bodyPr>
          <a:lstStyle/>
          <a:p>
            <a:pPr algn="ctr"/>
            <a:r>
              <a:rPr sz="800" b="1" i="0">
                <a:solidFill>
                  <a:srgbClr val="0C3570"/>
                </a:solidFill>
              </a:rPr>
              <a:t>79</a:t>
            </a:r>
          </a:p>
        </p:txBody>
      </p:sp>
      <p:sp>
        <p:nvSpPr>
          <p:cNvPr id="20" name="TextBox 19"/>
          <p:cNvSpPr txBox="1"/>
          <p:nvPr/>
        </p:nvSpPr>
        <p:spPr>
          <a:xfrm>
            <a:off x="3154679" y="5714999"/>
            <a:ext cx="1097280" cy="274320"/>
          </a:xfrm>
          <a:prstGeom prst="rect">
            <a:avLst/>
          </a:prstGeom>
          <a:noFill/>
        </p:spPr>
        <p:txBody>
          <a:bodyPr wrap="square">
            <a:spAutoFit/>
          </a:bodyPr>
          <a:lstStyle/>
          <a:p>
            <a:pPr algn="ctr"/>
            <a:r>
              <a:rPr sz="700" b="0" i="0">
                <a:solidFill>
                  <a:srgbClr val="444444"/>
                </a:solidFill>
              </a:rPr>
              <a:t>競合B</a:t>
            </a:r>
          </a:p>
        </p:txBody>
      </p:sp>
      <p:sp>
        <p:nvSpPr>
          <p:cNvPr id="21" name="Rectangle 20"/>
          <p:cNvSpPr/>
          <p:nvPr/>
        </p:nvSpPr>
        <p:spPr>
          <a:xfrm>
            <a:off x="4389120" y="2673831"/>
            <a:ext cx="1097280" cy="2995448"/>
          </a:xfrm>
          <a:prstGeom prst="rect">
            <a:avLst/>
          </a:prstGeom>
          <a:solidFill>
            <a:srgbClr val="1D7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89120" y="2445231"/>
            <a:ext cx="1097280" cy="201168"/>
          </a:xfrm>
          <a:prstGeom prst="rect">
            <a:avLst/>
          </a:prstGeom>
          <a:noFill/>
        </p:spPr>
        <p:txBody>
          <a:bodyPr wrap="square">
            <a:spAutoFit/>
          </a:bodyPr>
          <a:lstStyle/>
          <a:p>
            <a:pPr algn="ctr"/>
            <a:r>
              <a:rPr sz="800" b="1" i="0">
                <a:solidFill>
                  <a:srgbClr val="0C3570"/>
                </a:solidFill>
              </a:rPr>
              <a:t>75</a:t>
            </a:r>
          </a:p>
        </p:txBody>
      </p:sp>
      <p:sp>
        <p:nvSpPr>
          <p:cNvPr id="23" name="TextBox 22"/>
          <p:cNvSpPr txBox="1"/>
          <p:nvPr/>
        </p:nvSpPr>
        <p:spPr>
          <a:xfrm>
            <a:off x="4389120" y="5714999"/>
            <a:ext cx="1097280" cy="274320"/>
          </a:xfrm>
          <a:prstGeom prst="rect">
            <a:avLst/>
          </a:prstGeom>
          <a:noFill/>
        </p:spPr>
        <p:txBody>
          <a:bodyPr wrap="square">
            <a:spAutoFit/>
          </a:bodyPr>
          <a:lstStyle/>
          <a:p>
            <a:pPr algn="ctr"/>
            <a:r>
              <a:rPr sz="700" b="0" i="0">
                <a:solidFill>
                  <a:srgbClr val="444444"/>
                </a:solidFill>
              </a:rPr>
              <a:t>競合C</a:t>
            </a:r>
          </a:p>
        </p:txBody>
      </p:sp>
      <p:sp>
        <p:nvSpPr>
          <p:cNvPr id="24" name="Rectangle 23"/>
          <p:cNvSpPr/>
          <p:nvPr/>
        </p:nvSpPr>
        <p:spPr>
          <a:xfrm>
            <a:off x="5623559" y="2554013"/>
            <a:ext cx="1097280" cy="3115266"/>
          </a:xfrm>
          <a:prstGeom prst="rect">
            <a:avLst/>
          </a:prstGeom>
          <a:solidFill>
            <a:srgbClr val="1D93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23559" y="2325413"/>
            <a:ext cx="1097280" cy="201168"/>
          </a:xfrm>
          <a:prstGeom prst="rect">
            <a:avLst/>
          </a:prstGeom>
          <a:noFill/>
        </p:spPr>
        <p:txBody>
          <a:bodyPr wrap="square">
            <a:spAutoFit/>
          </a:bodyPr>
          <a:lstStyle/>
          <a:p>
            <a:pPr algn="ctr"/>
            <a:r>
              <a:rPr sz="800" b="1" i="0">
                <a:solidFill>
                  <a:srgbClr val="0C3570"/>
                </a:solidFill>
              </a:rPr>
              <a:t>78</a:t>
            </a:r>
          </a:p>
        </p:txBody>
      </p:sp>
      <p:sp>
        <p:nvSpPr>
          <p:cNvPr id="26" name="TextBox 25"/>
          <p:cNvSpPr txBox="1"/>
          <p:nvPr/>
        </p:nvSpPr>
        <p:spPr>
          <a:xfrm>
            <a:off x="5623559" y="5714999"/>
            <a:ext cx="1097280" cy="274320"/>
          </a:xfrm>
          <a:prstGeom prst="rect">
            <a:avLst/>
          </a:prstGeom>
          <a:noFill/>
        </p:spPr>
        <p:txBody>
          <a:bodyPr wrap="square">
            <a:spAutoFit/>
          </a:bodyPr>
          <a:lstStyle/>
          <a:p>
            <a:pPr algn="ctr"/>
            <a:r>
              <a:rPr sz="700" b="0" i="0">
                <a:solidFill>
                  <a:srgbClr val="444444"/>
                </a:solidFill>
              </a:rPr>
              <a:t>業界平均</a:t>
            </a:r>
          </a:p>
        </p:txBody>
      </p:sp>
      <p:sp>
        <p:nvSpPr>
          <p:cNvPr id="27" name="Rectangle 26"/>
          <p:cNvSpPr/>
          <p:nvPr/>
        </p:nvSpPr>
        <p:spPr>
          <a:xfrm>
            <a:off x="7543800" y="1828800"/>
            <a:ext cx="4069080" cy="1005840"/>
          </a:xfrm>
          <a:prstGeom prst="rect">
            <a:avLst/>
          </a:prstGeom>
          <a:solidFill>
            <a:srgbClr val="E8EEF8"/>
          </a:solidFill>
          <a:ln w="6350">
            <a:solidFill>
              <a:srgbClr val="1D5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53527" y="1883664"/>
            <a:ext cx="3849624" cy="164592"/>
          </a:xfrm>
          <a:prstGeom prst="rect">
            <a:avLst/>
          </a:prstGeom>
          <a:noFill/>
        </p:spPr>
        <p:txBody>
          <a:bodyPr wrap="square">
            <a:spAutoFit/>
          </a:bodyPr>
          <a:lstStyle/>
          <a:p>
            <a:pPr algn="l"/>
            <a:r>
              <a:rPr sz="750" b="1" i="0">
                <a:solidFill>
                  <a:srgbClr val="1D51A3"/>
                </a:solidFill>
              </a:rPr>
              <a:t>INSIGHT</a:t>
            </a:r>
          </a:p>
        </p:txBody>
      </p:sp>
      <p:sp>
        <p:nvSpPr>
          <p:cNvPr id="29" name="TextBox 28"/>
          <p:cNvSpPr txBox="1"/>
          <p:nvPr/>
        </p:nvSpPr>
        <p:spPr>
          <a:xfrm>
            <a:off x="7653527" y="2066543"/>
            <a:ext cx="3849624" cy="713232"/>
          </a:xfrm>
          <a:prstGeom prst="rect">
            <a:avLst/>
          </a:prstGeom>
          <a:noFill/>
        </p:spPr>
        <p:txBody>
          <a:bodyPr wrap="square">
            <a:spAutoFit/>
          </a:bodyPr>
          <a:lstStyle/>
          <a:p>
            <a:pPr algn="l"/>
            <a:r>
              <a:rPr sz="750" b="0" i="0">
                <a:solidFill>
                  <a:srgbClr val="0C3570"/>
                </a:solidFill>
              </a:rPr>
              <a:t>競合優位の定量的証拠として、顧客への提案資料や投資家向け説明資料に活用できる重要なデータである。</a:t>
            </a:r>
          </a:p>
        </p:txBody>
      </p:sp>
      <p:sp>
        <p:nvSpPr>
          <p:cNvPr id="30" name="Rectangle 29"/>
          <p:cNvSpPr/>
          <p:nvPr/>
        </p:nvSpPr>
        <p:spPr>
          <a:xfrm>
            <a:off x="7543800" y="2926080"/>
            <a:ext cx="4069080" cy="201168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653527" y="3017520"/>
            <a:ext cx="3849624" cy="164592"/>
          </a:xfrm>
          <a:prstGeom prst="rect">
            <a:avLst/>
          </a:prstGeom>
          <a:noFill/>
        </p:spPr>
        <p:txBody>
          <a:bodyPr wrap="square">
            <a:spAutoFit/>
          </a:bodyPr>
          <a:lstStyle/>
          <a:p>
            <a:pPr algn="l"/>
            <a:r>
              <a:rPr sz="750" b="1" i="0">
                <a:solidFill>
                  <a:srgbClr val="1D51A3"/>
                </a:solidFill>
              </a:rPr>
              <a:t>データの読み方</a:t>
            </a:r>
          </a:p>
        </p:txBody>
      </p:sp>
      <p:sp>
        <p:nvSpPr>
          <p:cNvPr id="32" name="TextBox 31"/>
          <p:cNvSpPr txBox="1"/>
          <p:nvPr/>
        </p:nvSpPr>
        <p:spPr>
          <a:xfrm>
            <a:off x="7653527" y="3200400"/>
            <a:ext cx="3849624" cy="320040"/>
          </a:xfrm>
          <a:prstGeom prst="rect">
            <a:avLst/>
          </a:prstGeom>
          <a:noFill/>
        </p:spPr>
        <p:txBody>
          <a:bodyPr wrap="square">
            <a:spAutoFit/>
          </a:bodyPr>
          <a:lstStyle/>
          <a:p>
            <a:pPr algn="l"/>
            <a:r>
              <a:rPr sz="1000" b="1" i="0">
                <a:solidFill>
                  <a:srgbClr val="0C3570"/>
                </a:solidFill>
              </a:rPr>
              <a:t>グラフから読み取れる事実</a:t>
            </a:r>
          </a:p>
        </p:txBody>
      </p:sp>
      <p:sp>
        <p:nvSpPr>
          <p:cNvPr id="33" name="TextBox 32"/>
          <p:cNvSpPr txBox="1"/>
          <p:nvPr/>
        </p:nvSpPr>
        <p:spPr>
          <a:xfrm>
            <a:off x="7653527" y="3538728"/>
            <a:ext cx="3849624" cy="347472"/>
          </a:xfrm>
          <a:prstGeom prst="rect">
            <a:avLst/>
          </a:prstGeom>
          <a:noFill/>
        </p:spPr>
        <p:txBody>
          <a:bodyPr wrap="square">
            <a:spAutoFit/>
          </a:bodyPr>
          <a:lstStyle/>
          <a:p>
            <a:pPr algn="l"/>
            <a:r>
              <a:rPr sz="750" b="0" i="0">
                <a:solidFill>
                  <a:srgbClr val="444444"/>
                </a:solidFill>
              </a:rPr>
              <a:t>グラフのデータポイントを正確に読み取り、数値の変化・差異・傾向を客観的に記述する。</a:t>
            </a:r>
          </a:p>
        </p:txBody>
      </p:sp>
      <p:sp>
        <p:nvSpPr>
          <p:cNvPr id="34" name="TextBox 33"/>
          <p:cNvSpPr txBox="1"/>
          <p:nvPr/>
        </p:nvSpPr>
        <p:spPr>
          <a:xfrm>
            <a:off x="7680960" y="3931920"/>
            <a:ext cx="3794760" cy="502920"/>
          </a:xfrm>
          <a:prstGeom prst="rect">
            <a:avLst/>
          </a:prstGeom>
          <a:noFill/>
        </p:spPr>
        <p:txBody>
          <a:bodyPr wrap="square">
            <a:spAutoFit/>
          </a:bodyPr>
          <a:lstStyle/>
          <a:p>
            <a:pPr algn="l"/>
            <a:r>
              <a:rPr sz="700" b="0" i="0">
                <a:solidFill>
                  <a:srgbClr val="444444"/>
                </a:solidFill>
              </a:rPr>
              <a:t>▶ 重要性：このデータが企画書上でどのような意味を持つかを説明し、意思決定との関連性を明確にする。</a:t>
            </a:r>
          </a:p>
        </p:txBody>
      </p:sp>
      <p:sp>
        <p:nvSpPr>
          <p:cNvPr id="35" name="TextBox 34"/>
          <p:cNvSpPr txBox="1"/>
          <p:nvPr/>
        </p:nvSpPr>
        <p:spPr>
          <a:xfrm>
            <a:off x="7680960" y="4462272"/>
            <a:ext cx="3794760" cy="502920"/>
          </a:xfrm>
          <a:prstGeom prst="rect">
            <a:avLst/>
          </a:prstGeom>
          <a:noFill/>
        </p:spPr>
        <p:txBody>
          <a:bodyPr wrap="square">
            <a:spAutoFit/>
          </a:bodyPr>
          <a:lstStyle/>
          <a:p>
            <a:pPr algn="l"/>
            <a:r>
              <a:rPr sz="700" b="0" i="0">
                <a:solidFill>
                  <a:srgbClr val="444444"/>
                </a:solidFill>
              </a:rPr>
              <a:t>▶ 示唆：データから導かれる企画書上の示唆を記述し、次のアクションへの橋渡しを行う。</a:t>
            </a:r>
          </a:p>
        </p:txBody>
      </p:sp>
      <p:sp>
        <p:nvSpPr>
          <p:cNvPr id="36" name="TextBox 35"/>
          <p:cNvSpPr txBox="1"/>
          <p:nvPr/>
        </p:nvSpPr>
        <p:spPr>
          <a:xfrm>
            <a:off x="7543800" y="5029200"/>
            <a:ext cx="4069080" cy="201168"/>
          </a:xfrm>
          <a:prstGeom prst="rect">
            <a:avLst/>
          </a:prstGeom>
          <a:noFill/>
        </p:spPr>
        <p:txBody>
          <a:bodyPr wrap="square">
            <a:spAutoFit/>
          </a:bodyPr>
          <a:lstStyle/>
          <a:p>
            <a:pPr algn="l"/>
            <a:r>
              <a:rPr sz="750" b="0" i="0">
                <a:solidFill>
                  <a:srgbClr val="99A2AD"/>
                </a:solidFill>
              </a:rPr>
              <a:t>出典：業界調査レポート（2025年）</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売上構成は継続・新規・アップセルの3層で成長しており、持続可能な収益モデルが確立されている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stacked_bar ／ 用途: 構成比の推移可視化 ／ 件数: 2〜5系列</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売上は継続顧客・新規顧客・アップセルの3層で構成されており、すべての層が成長している。特に継続顧客売上の拡大が全体成長を牽引している。</a:t>
            </a:r>
          </a:p>
        </p:txBody>
      </p:sp>
      <p:sp>
        <p:nvSpPr>
          <p:cNvPr id="10" name="Rectangle 9"/>
          <p:cNvSpPr/>
          <p:nvPr/>
        </p:nvSpPr>
        <p:spPr>
          <a:xfrm>
            <a:off x="548640" y="1828800"/>
            <a:ext cx="685800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1901952"/>
            <a:ext cx="1828800" cy="201168"/>
          </a:xfrm>
          <a:prstGeom prst="rect">
            <a:avLst/>
          </a:prstGeom>
          <a:noFill/>
        </p:spPr>
        <p:txBody>
          <a:bodyPr wrap="square">
            <a:spAutoFit/>
          </a:bodyPr>
          <a:lstStyle/>
          <a:p>
            <a:pPr algn="l"/>
            <a:r>
              <a:rPr sz="800" b="1" i="0">
                <a:solidFill>
                  <a:srgbClr val="1D51A3"/>
                </a:solidFill>
              </a:rPr>
              <a:t>■ グラフ</a:t>
            </a:r>
          </a:p>
        </p:txBody>
      </p:sp>
      <p:sp>
        <p:nvSpPr>
          <p:cNvPr id="12" name="Rectangle 11"/>
          <p:cNvSpPr/>
          <p:nvPr/>
        </p:nvSpPr>
        <p:spPr>
          <a:xfrm>
            <a:off x="685800" y="3778623"/>
            <a:ext cx="1097280" cy="1890656"/>
          </a:xfrm>
          <a:prstGeom prst="rect">
            <a:avLst/>
          </a:prstGeom>
          <a:solidFill>
            <a:srgbClr val="1D1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3550023"/>
            <a:ext cx="1097280" cy="201168"/>
          </a:xfrm>
          <a:prstGeom prst="rect">
            <a:avLst/>
          </a:prstGeom>
          <a:noFill/>
        </p:spPr>
        <p:txBody>
          <a:bodyPr wrap="square">
            <a:spAutoFit/>
          </a:bodyPr>
          <a:lstStyle/>
          <a:p>
            <a:pPr algn="ctr"/>
            <a:r>
              <a:rPr sz="800" b="1" i="0">
                <a:solidFill>
                  <a:srgbClr val="0C3570"/>
                </a:solidFill>
              </a:rPr>
              <a:t>11.1</a:t>
            </a:r>
          </a:p>
        </p:txBody>
      </p:sp>
      <p:sp>
        <p:nvSpPr>
          <p:cNvPr id="14" name="TextBox 13"/>
          <p:cNvSpPr txBox="1"/>
          <p:nvPr/>
        </p:nvSpPr>
        <p:spPr>
          <a:xfrm>
            <a:off x="685800" y="5714999"/>
            <a:ext cx="1097280" cy="274320"/>
          </a:xfrm>
          <a:prstGeom prst="rect">
            <a:avLst/>
          </a:prstGeom>
          <a:noFill/>
        </p:spPr>
        <p:txBody>
          <a:bodyPr wrap="square">
            <a:spAutoFit/>
          </a:bodyPr>
          <a:lstStyle/>
          <a:p>
            <a:pPr algn="ctr"/>
            <a:r>
              <a:rPr sz="700" b="0" i="0">
                <a:solidFill>
                  <a:srgbClr val="444444"/>
                </a:solidFill>
              </a:rPr>
              <a:t>2023年</a:t>
            </a:r>
          </a:p>
        </p:txBody>
      </p:sp>
      <p:sp>
        <p:nvSpPr>
          <p:cNvPr id="15" name="Rectangle 14"/>
          <p:cNvSpPr/>
          <p:nvPr/>
        </p:nvSpPr>
        <p:spPr>
          <a:xfrm>
            <a:off x="1920239" y="3437964"/>
            <a:ext cx="1097280" cy="2231315"/>
          </a:xfrm>
          <a:prstGeom prst="rect">
            <a:avLst/>
          </a:prstGeom>
          <a:solidFill>
            <a:srgbClr val="1D44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920239" y="3209364"/>
            <a:ext cx="1097280" cy="201168"/>
          </a:xfrm>
          <a:prstGeom prst="rect">
            <a:avLst/>
          </a:prstGeom>
          <a:noFill/>
        </p:spPr>
        <p:txBody>
          <a:bodyPr wrap="square">
            <a:spAutoFit/>
          </a:bodyPr>
          <a:lstStyle/>
          <a:p>
            <a:pPr algn="ctr"/>
            <a:r>
              <a:rPr sz="800" b="1" i="0">
                <a:solidFill>
                  <a:srgbClr val="0C3570"/>
                </a:solidFill>
              </a:rPr>
              <a:t>13.1</a:t>
            </a:r>
          </a:p>
        </p:txBody>
      </p:sp>
      <p:sp>
        <p:nvSpPr>
          <p:cNvPr id="17" name="TextBox 16"/>
          <p:cNvSpPr txBox="1"/>
          <p:nvPr/>
        </p:nvSpPr>
        <p:spPr>
          <a:xfrm>
            <a:off x="1920239" y="5714999"/>
            <a:ext cx="1097280" cy="274320"/>
          </a:xfrm>
          <a:prstGeom prst="rect">
            <a:avLst/>
          </a:prstGeom>
          <a:noFill/>
        </p:spPr>
        <p:txBody>
          <a:bodyPr wrap="square">
            <a:spAutoFit/>
          </a:bodyPr>
          <a:lstStyle/>
          <a:p>
            <a:pPr algn="ctr"/>
            <a:r>
              <a:rPr sz="700" b="0" i="0">
                <a:solidFill>
                  <a:srgbClr val="444444"/>
                </a:solidFill>
              </a:rPr>
              <a:t>2024年</a:t>
            </a:r>
          </a:p>
        </p:txBody>
      </p:sp>
      <p:sp>
        <p:nvSpPr>
          <p:cNvPr id="18" name="Rectangle 17"/>
          <p:cNvSpPr/>
          <p:nvPr/>
        </p:nvSpPr>
        <p:spPr>
          <a:xfrm>
            <a:off x="3154679" y="2909943"/>
            <a:ext cx="1097280" cy="2759336"/>
          </a:xfrm>
          <a:prstGeom prst="rect">
            <a:avLst/>
          </a:prstGeom>
          <a:solidFill>
            <a:srgbClr val="1D6B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154679" y="2681343"/>
            <a:ext cx="1097280" cy="201168"/>
          </a:xfrm>
          <a:prstGeom prst="rect">
            <a:avLst/>
          </a:prstGeom>
          <a:noFill/>
        </p:spPr>
        <p:txBody>
          <a:bodyPr wrap="square">
            <a:spAutoFit/>
          </a:bodyPr>
          <a:lstStyle/>
          <a:p>
            <a:pPr algn="ctr"/>
            <a:r>
              <a:rPr sz="800" b="1" i="0">
                <a:solidFill>
                  <a:srgbClr val="0C3570"/>
                </a:solidFill>
              </a:rPr>
              <a:t>16.2</a:t>
            </a:r>
          </a:p>
        </p:txBody>
      </p:sp>
      <p:sp>
        <p:nvSpPr>
          <p:cNvPr id="20" name="TextBox 19"/>
          <p:cNvSpPr txBox="1"/>
          <p:nvPr/>
        </p:nvSpPr>
        <p:spPr>
          <a:xfrm>
            <a:off x="3154679" y="5714999"/>
            <a:ext cx="1097280" cy="274320"/>
          </a:xfrm>
          <a:prstGeom prst="rect">
            <a:avLst/>
          </a:prstGeom>
          <a:noFill/>
        </p:spPr>
        <p:txBody>
          <a:bodyPr wrap="square">
            <a:spAutoFit/>
          </a:bodyPr>
          <a:lstStyle/>
          <a:p>
            <a:pPr algn="ctr"/>
            <a:r>
              <a:rPr sz="700" b="0" i="0">
                <a:solidFill>
                  <a:srgbClr val="444444"/>
                </a:solidFill>
              </a:rPr>
              <a:t>2025年</a:t>
            </a:r>
          </a:p>
        </p:txBody>
      </p:sp>
      <p:sp>
        <p:nvSpPr>
          <p:cNvPr id="21" name="Rectangle 20"/>
          <p:cNvSpPr/>
          <p:nvPr/>
        </p:nvSpPr>
        <p:spPr>
          <a:xfrm>
            <a:off x="4389120" y="2194559"/>
            <a:ext cx="1097280" cy="3474720"/>
          </a:xfrm>
          <a:prstGeom prst="rect">
            <a:avLst/>
          </a:prstGeom>
          <a:solidFill>
            <a:srgbClr val="1D93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89120" y="1965959"/>
            <a:ext cx="1097280" cy="201168"/>
          </a:xfrm>
          <a:prstGeom prst="rect">
            <a:avLst/>
          </a:prstGeom>
          <a:noFill/>
        </p:spPr>
        <p:txBody>
          <a:bodyPr wrap="square">
            <a:spAutoFit/>
          </a:bodyPr>
          <a:lstStyle/>
          <a:p>
            <a:pPr algn="ctr"/>
            <a:r>
              <a:rPr sz="800" b="1" i="0">
                <a:solidFill>
                  <a:srgbClr val="0C3570"/>
                </a:solidFill>
              </a:rPr>
              <a:t>20.4</a:t>
            </a:r>
          </a:p>
        </p:txBody>
      </p:sp>
      <p:sp>
        <p:nvSpPr>
          <p:cNvPr id="23" name="TextBox 22"/>
          <p:cNvSpPr txBox="1"/>
          <p:nvPr/>
        </p:nvSpPr>
        <p:spPr>
          <a:xfrm>
            <a:off x="4389120" y="5714999"/>
            <a:ext cx="1097280" cy="274320"/>
          </a:xfrm>
          <a:prstGeom prst="rect">
            <a:avLst/>
          </a:prstGeom>
          <a:noFill/>
        </p:spPr>
        <p:txBody>
          <a:bodyPr wrap="square">
            <a:spAutoFit/>
          </a:bodyPr>
          <a:lstStyle/>
          <a:p>
            <a:pPr algn="ctr"/>
            <a:r>
              <a:rPr sz="700" b="0" i="0">
                <a:solidFill>
                  <a:srgbClr val="444444"/>
                </a:solidFill>
              </a:rPr>
              <a:t>2026年(計画)</a:t>
            </a:r>
          </a:p>
        </p:txBody>
      </p:sp>
      <p:sp>
        <p:nvSpPr>
          <p:cNvPr id="24" name="Rectangle 23"/>
          <p:cNvSpPr/>
          <p:nvPr/>
        </p:nvSpPr>
        <p:spPr>
          <a:xfrm>
            <a:off x="7543800" y="1828800"/>
            <a:ext cx="4069080" cy="1005840"/>
          </a:xfrm>
          <a:prstGeom prst="rect">
            <a:avLst/>
          </a:prstGeom>
          <a:solidFill>
            <a:srgbClr val="E8EEF8"/>
          </a:solidFill>
          <a:ln w="6350">
            <a:solidFill>
              <a:srgbClr val="1D5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653527" y="1883664"/>
            <a:ext cx="3849624" cy="164592"/>
          </a:xfrm>
          <a:prstGeom prst="rect">
            <a:avLst/>
          </a:prstGeom>
          <a:noFill/>
        </p:spPr>
        <p:txBody>
          <a:bodyPr wrap="square">
            <a:spAutoFit/>
          </a:bodyPr>
          <a:lstStyle/>
          <a:p>
            <a:pPr algn="l"/>
            <a:r>
              <a:rPr sz="750" b="1" i="0">
                <a:solidFill>
                  <a:srgbClr val="1D51A3"/>
                </a:solidFill>
              </a:rPr>
              <a:t>INSIGHT</a:t>
            </a:r>
          </a:p>
        </p:txBody>
      </p:sp>
      <p:sp>
        <p:nvSpPr>
          <p:cNvPr id="26" name="TextBox 25"/>
          <p:cNvSpPr txBox="1"/>
          <p:nvPr/>
        </p:nvSpPr>
        <p:spPr>
          <a:xfrm>
            <a:off x="7653527" y="2066543"/>
            <a:ext cx="3849624" cy="713232"/>
          </a:xfrm>
          <a:prstGeom prst="rect">
            <a:avLst/>
          </a:prstGeom>
          <a:noFill/>
        </p:spPr>
        <p:txBody>
          <a:bodyPr wrap="square">
            <a:spAutoFit/>
          </a:bodyPr>
          <a:lstStyle/>
          <a:p>
            <a:pPr algn="l"/>
            <a:r>
              <a:rPr sz="750" b="0" i="0">
                <a:solidFill>
                  <a:srgbClr val="0C3570"/>
                </a:solidFill>
              </a:rPr>
              <a:t>継続顧客売上の比率が高まることは、収益の安定性と予測可能性が向上していることを示しており、事業の健全性の証拠となる。</a:t>
            </a:r>
          </a:p>
        </p:txBody>
      </p:sp>
      <p:sp>
        <p:nvSpPr>
          <p:cNvPr id="27" name="Rectangle 26"/>
          <p:cNvSpPr/>
          <p:nvPr/>
        </p:nvSpPr>
        <p:spPr>
          <a:xfrm>
            <a:off x="7543800" y="2926080"/>
            <a:ext cx="4069080" cy="201168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53527" y="3017520"/>
            <a:ext cx="3849624" cy="164592"/>
          </a:xfrm>
          <a:prstGeom prst="rect">
            <a:avLst/>
          </a:prstGeom>
          <a:noFill/>
        </p:spPr>
        <p:txBody>
          <a:bodyPr wrap="square">
            <a:spAutoFit/>
          </a:bodyPr>
          <a:lstStyle/>
          <a:p>
            <a:pPr algn="l"/>
            <a:r>
              <a:rPr sz="750" b="1" i="0">
                <a:solidFill>
                  <a:srgbClr val="1D51A3"/>
                </a:solidFill>
              </a:rPr>
              <a:t>データの読み方</a:t>
            </a:r>
          </a:p>
        </p:txBody>
      </p:sp>
      <p:sp>
        <p:nvSpPr>
          <p:cNvPr id="29" name="TextBox 28"/>
          <p:cNvSpPr txBox="1"/>
          <p:nvPr/>
        </p:nvSpPr>
        <p:spPr>
          <a:xfrm>
            <a:off x="7653527" y="3200400"/>
            <a:ext cx="3849624" cy="320040"/>
          </a:xfrm>
          <a:prstGeom prst="rect">
            <a:avLst/>
          </a:prstGeom>
          <a:noFill/>
        </p:spPr>
        <p:txBody>
          <a:bodyPr wrap="square">
            <a:spAutoFit/>
          </a:bodyPr>
          <a:lstStyle/>
          <a:p>
            <a:pPr algn="l"/>
            <a:r>
              <a:rPr sz="1000" b="1" i="0">
                <a:solidFill>
                  <a:srgbClr val="0C3570"/>
                </a:solidFill>
              </a:rPr>
              <a:t>グラフから読み取れる事実</a:t>
            </a:r>
          </a:p>
        </p:txBody>
      </p:sp>
      <p:sp>
        <p:nvSpPr>
          <p:cNvPr id="30" name="TextBox 29"/>
          <p:cNvSpPr txBox="1"/>
          <p:nvPr/>
        </p:nvSpPr>
        <p:spPr>
          <a:xfrm>
            <a:off x="7653527" y="3538728"/>
            <a:ext cx="3849624" cy="347472"/>
          </a:xfrm>
          <a:prstGeom prst="rect">
            <a:avLst/>
          </a:prstGeom>
          <a:noFill/>
        </p:spPr>
        <p:txBody>
          <a:bodyPr wrap="square">
            <a:spAutoFit/>
          </a:bodyPr>
          <a:lstStyle/>
          <a:p>
            <a:pPr algn="l"/>
            <a:r>
              <a:rPr sz="750" b="0" i="0">
                <a:solidFill>
                  <a:srgbClr val="444444"/>
                </a:solidFill>
              </a:rPr>
              <a:t>グラフのデータポイントを正確に読み取り、数値の変化・差異・傾向を客観的に記述する。</a:t>
            </a:r>
          </a:p>
        </p:txBody>
      </p:sp>
      <p:sp>
        <p:nvSpPr>
          <p:cNvPr id="31" name="TextBox 30"/>
          <p:cNvSpPr txBox="1"/>
          <p:nvPr/>
        </p:nvSpPr>
        <p:spPr>
          <a:xfrm>
            <a:off x="7680960" y="3931920"/>
            <a:ext cx="3794760" cy="502920"/>
          </a:xfrm>
          <a:prstGeom prst="rect">
            <a:avLst/>
          </a:prstGeom>
          <a:noFill/>
        </p:spPr>
        <p:txBody>
          <a:bodyPr wrap="square">
            <a:spAutoFit/>
          </a:bodyPr>
          <a:lstStyle/>
          <a:p>
            <a:pPr algn="l"/>
            <a:r>
              <a:rPr sz="700" b="0" i="0">
                <a:solidFill>
                  <a:srgbClr val="444444"/>
                </a:solidFill>
              </a:rPr>
              <a:t>▶ 重要性：このデータが企画書上でどのような意味を持つかを説明し、意思決定との関連性を明確にする。</a:t>
            </a:r>
          </a:p>
        </p:txBody>
      </p:sp>
      <p:sp>
        <p:nvSpPr>
          <p:cNvPr id="32" name="TextBox 31"/>
          <p:cNvSpPr txBox="1"/>
          <p:nvPr/>
        </p:nvSpPr>
        <p:spPr>
          <a:xfrm>
            <a:off x="7680960" y="4462272"/>
            <a:ext cx="3794760" cy="502920"/>
          </a:xfrm>
          <a:prstGeom prst="rect">
            <a:avLst/>
          </a:prstGeom>
          <a:noFill/>
        </p:spPr>
        <p:txBody>
          <a:bodyPr wrap="square">
            <a:spAutoFit/>
          </a:bodyPr>
          <a:lstStyle/>
          <a:p>
            <a:pPr algn="l"/>
            <a:r>
              <a:rPr sz="700" b="0" i="0">
                <a:solidFill>
                  <a:srgbClr val="444444"/>
                </a:solidFill>
              </a:rPr>
              <a:t>▶ 示唆：データから導かれる企画書上の示唆を記述し、次のアクションへの橋渡しを行う。</a:t>
            </a:r>
          </a:p>
        </p:txBody>
      </p:sp>
      <p:sp>
        <p:nvSpPr>
          <p:cNvPr id="33" name="TextBox 32"/>
          <p:cNvSpPr txBox="1"/>
          <p:nvPr/>
        </p:nvSpPr>
        <p:spPr>
          <a:xfrm>
            <a:off x="7543800" y="5029200"/>
            <a:ext cx="4069080" cy="201168"/>
          </a:xfrm>
          <a:prstGeom prst="rect">
            <a:avLst/>
          </a:prstGeom>
          <a:noFill/>
        </p:spPr>
        <p:txBody>
          <a:bodyPr wrap="square">
            <a:spAutoFit/>
          </a:bodyPr>
          <a:lstStyle/>
          <a:p>
            <a:pPr algn="l"/>
            <a:r>
              <a:rPr sz="750" b="0" i="0">
                <a:solidFill>
                  <a:srgbClr val="99A2AD"/>
                </a:solidFill>
              </a:rPr>
              <a:t>出典：社内財務データ（2026年）</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売上改善効果の67%は継続率改善によるものであり、CS投資が最大のレバレッジポイントである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pie_chart ／ 用途: 構成比の可視化 ／ 件数: 3〜6項目</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売上改善効果の内訳を分析すると、継続率改善が67%を占めており、CS投資が最大のレバレッジポイントであることが定量的に確認できる。</a:t>
            </a:r>
          </a:p>
        </p:txBody>
      </p:sp>
      <p:sp>
        <p:nvSpPr>
          <p:cNvPr id="10" name="Rectangle 9"/>
          <p:cNvSpPr/>
          <p:nvPr/>
        </p:nvSpPr>
        <p:spPr>
          <a:xfrm>
            <a:off x="548640" y="1828800"/>
            <a:ext cx="685800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1901952"/>
            <a:ext cx="1828800" cy="201168"/>
          </a:xfrm>
          <a:prstGeom prst="rect">
            <a:avLst/>
          </a:prstGeom>
          <a:noFill/>
        </p:spPr>
        <p:txBody>
          <a:bodyPr wrap="square">
            <a:spAutoFit/>
          </a:bodyPr>
          <a:lstStyle/>
          <a:p>
            <a:pPr algn="l"/>
            <a:r>
              <a:rPr sz="800" b="1" i="0">
                <a:solidFill>
                  <a:srgbClr val="1D51A3"/>
                </a:solidFill>
              </a:rPr>
              <a:t>■ グラフ</a:t>
            </a:r>
          </a:p>
        </p:txBody>
      </p:sp>
      <p:sp>
        <p:nvSpPr>
          <p:cNvPr id="12" name="Rectangle 11"/>
          <p:cNvSpPr/>
          <p:nvPr/>
        </p:nvSpPr>
        <p:spPr>
          <a:xfrm>
            <a:off x="685800" y="2194559"/>
            <a:ext cx="1097280" cy="3474720"/>
          </a:xfrm>
          <a:prstGeom prst="rect">
            <a:avLst/>
          </a:prstGeom>
          <a:solidFill>
            <a:srgbClr val="1D1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1965959"/>
            <a:ext cx="1097280" cy="201168"/>
          </a:xfrm>
          <a:prstGeom prst="rect">
            <a:avLst/>
          </a:prstGeom>
          <a:noFill/>
        </p:spPr>
        <p:txBody>
          <a:bodyPr wrap="square">
            <a:spAutoFit/>
          </a:bodyPr>
          <a:lstStyle/>
          <a:p>
            <a:pPr algn="ctr"/>
            <a:r>
              <a:rPr sz="800" b="1" i="0">
                <a:solidFill>
                  <a:srgbClr val="0C3570"/>
                </a:solidFill>
              </a:rPr>
              <a:t>67</a:t>
            </a:r>
          </a:p>
        </p:txBody>
      </p:sp>
      <p:sp>
        <p:nvSpPr>
          <p:cNvPr id="14" name="TextBox 13"/>
          <p:cNvSpPr txBox="1"/>
          <p:nvPr/>
        </p:nvSpPr>
        <p:spPr>
          <a:xfrm>
            <a:off x="685800" y="5714999"/>
            <a:ext cx="1097280" cy="274320"/>
          </a:xfrm>
          <a:prstGeom prst="rect">
            <a:avLst/>
          </a:prstGeom>
          <a:noFill/>
        </p:spPr>
        <p:txBody>
          <a:bodyPr wrap="square">
            <a:spAutoFit/>
          </a:bodyPr>
          <a:lstStyle/>
          <a:p>
            <a:pPr algn="ctr"/>
            <a:r>
              <a:rPr sz="700" b="0" i="0">
                <a:solidFill>
                  <a:srgbClr val="444444"/>
                </a:solidFill>
              </a:rPr>
              <a:t>継続率改善</a:t>
            </a:r>
          </a:p>
        </p:txBody>
      </p:sp>
      <p:sp>
        <p:nvSpPr>
          <p:cNvPr id="15" name="Rectangle 14"/>
          <p:cNvSpPr/>
          <p:nvPr/>
        </p:nvSpPr>
        <p:spPr>
          <a:xfrm>
            <a:off x="1920239" y="3957850"/>
            <a:ext cx="1097280" cy="1711429"/>
          </a:xfrm>
          <a:prstGeom prst="rect">
            <a:avLst/>
          </a:prstGeom>
          <a:solidFill>
            <a:srgbClr val="1D44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920239" y="3729250"/>
            <a:ext cx="1097280" cy="201168"/>
          </a:xfrm>
          <a:prstGeom prst="rect">
            <a:avLst/>
          </a:prstGeom>
          <a:noFill/>
        </p:spPr>
        <p:txBody>
          <a:bodyPr wrap="square">
            <a:spAutoFit/>
          </a:bodyPr>
          <a:lstStyle/>
          <a:p>
            <a:pPr algn="ctr"/>
            <a:r>
              <a:rPr sz="800" b="1" i="0">
                <a:solidFill>
                  <a:srgbClr val="0C3570"/>
                </a:solidFill>
              </a:rPr>
              <a:t>33</a:t>
            </a:r>
          </a:p>
        </p:txBody>
      </p:sp>
      <p:sp>
        <p:nvSpPr>
          <p:cNvPr id="17" name="TextBox 16"/>
          <p:cNvSpPr txBox="1"/>
          <p:nvPr/>
        </p:nvSpPr>
        <p:spPr>
          <a:xfrm>
            <a:off x="1920239" y="5714999"/>
            <a:ext cx="1097280" cy="274320"/>
          </a:xfrm>
          <a:prstGeom prst="rect">
            <a:avLst/>
          </a:prstGeom>
          <a:noFill/>
        </p:spPr>
        <p:txBody>
          <a:bodyPr wrap="square">
            <a:spAutoFit/>
          </a:bodyPr>
          <a:lstStyle/>
          <a:p>
            <a:pPr algn="ctr"/>
            <a:r>
              <a:rPr sz="700" b="0" i="0">
                <a:solidFill>
                  <a:srgbClr val="444444"/>
                </a:solidFill>
              </a:rPr>
              <a:t>新規獲得増加</a:t>
            </a:r>
          </a:p>
        </p:txBody>
      </p:sp>
      <p:sp>
        <p:nvSpPr>
          <p:cNvPr id="18" name="Rectangle 17"/>
          <p:cNvSpPr/>
          <p:nvPr/>
        </p:nvSpPr>
        <p:spPr>
          <a:xfrm>
            <a:off x="3154679" y="4632050"/>
            <a:ext cx="1097280" cy="1037229"/>
          </a:xfrm>
          <a:prstGeom prst="rect">
            <a:avLst/>
          </a:prstGeom>
          <a:solidFill>
            <a:srgbClr val="1D6B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154679" y="4403450"/>
            <a:ext cx="1097280" cy="201168"/>
          </a:xfrm>
          <a:prstGeom prst="rect">
            <a:avLst/>
          </a:prstGeom>
          <a:noFill/>
        </p:spPr>
        <p:txBody>
          <a:bodyPr wrap="square">
            <a:spAutoFit/>
          </a:bodyPr>
          <a:lstStyle/>
          <a:p>
            <a:pPr algn="ctr"/>
            <a:r>
              <a:rPr sz="800" b="1" i="0">
                <a:solidFill>
                  <a:srgbClr val="0C3570"/>
                </a:solidFill>
              </a:rPr>
              <a:t>20</a:t>
            </a:r>
          </a:p>
        </p:txBody>
      </p:sp>
      <p:sp>
        <p:nvSpPr>
          <p:cNvPr id="20" name="TextBox 19"/>
          <p:cNvSpPr txBox="1"/>
          <p:nvPr/>
        </p:nvSpPr>
        <p:spPr>
          <a:xfrm>
            <a:off x="3154679" y="5714999"/>
            <a:ext cx="1097280" cy="274320"/>
          </a:xfrm>
          <a:prstGeom prst="rect">
            <a:avLst/>
          </a:prstGeom>
          <a:noFill/>
        </p:spPr>
        <p:txBody>
          <a:bodyPr wrap="square">
            <a:spAutoFit/>
          </a:bodyPr>
          <a:lstStyle/>
          <a:p>
            <a:pPr algn="ctr"/>
            <a:r>
              <a:rPr sz="700" b="0" i="0">
                <a:solidFill>
                  <a:srgbClr val="444444"/>
                </a:solidFill>
              </a:rPr>
              <a:t>アップセル</a:t>
            </a:r>
          </a:p>
        </p:txBody>
      </p:sp>
      <p:sp>
        <p:nvSpPr>
          <p:cNvPr id="21" name="Rectangle 20"/>
          <p:cNvSpPr/>
          <p:nvPr/>
        </p:nvSpPr>
        <p:spPr>
          <a:xfrm>
            <a:off x="4389120" y="5409972"/>
            <a:ext cx="1097280" cy="259307"/>
          </a:xfrm>
          <a:prstGeom prst="rect">
            <a:avLst/>
          </a:prstGeom>
          <a:solidFill>
            <a:srgbClr val="1D93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89120" y="5181372"/>
            <a:ext cx="1097280" cy="201168"/>
          </a:xfrm>
          <a:prstGeom prst="rect">
            <a:avLst/>
          </a:prstGeom>
          <a:noFill/>
        </p:spPr>
        <p:txBody>
          <a:bodyPr wrap="square">
            <a:spAutoFit/>
          </a:bodyPr>
          <a:lstStyle/>
          <a:p>
            <a:pPr algn="ctr"/>
            <a:r>
              <a:rPr sz="800" b="1" i="0">
                <a:solidFill>
                  <a:srgbClr val="0C3570"/>
                </a:solidFill>
              </a:rPr>
              <a:t>5</a:t>
            </a:r>
          </a:p>
        </p:txBody>
      </p:sp>
      <p:sp>
        <p:nvSpPr>
          <p:cNvPr id="23" name="TextBox 22"/>
          <p:cNvSpPr txBox="1"/>
          <p:nvPr/>
        </p:nvSpPr>
        <p:spPr>
          <a:xfrm>
            <a:off x="4389120" y="5714999"/>
            <a:ext cx="1097280" cy="274320"/>
          </a:xfrm>
          <a:prstGeom prst="rect">
            <a:avLst/>
          </a:prstGeom>
          <a:noFill/>
        </p:spPr>
        <p:txBody>
          <a:bodyPr wrap="square">
            <a:spAutoFit/>
          </a:bodyPr>
          <a:lstStyle/>
          <a:p>
            <a:pPr algn="ctr"/>
            <a:r>
              <a:rPr sz="700" b="0" i="0">
                <a:solidFill>
                  <a:srgbClr val="444444"/>
                </a:solidFill>
              </a:rPr>
              <a:t>その他</a:t>
            </a:r>
          </a:p>
        </p:txBody>
      </p:sp>
      <p:sp>
        <p:nvSpPr>
          <p:cNvPr id="24" name="Rectangle 23"/>
          <p:cNvSpPr/>
          <p:nvPr/>
        </p:nvSpPr>
        <p:spPr>
          <a:xfrm>
            <a:off x="7543800" y="1828800"/>
            <a:ext cx="4069080" cy="1005840"/>
          </a:xfrm>
          <a:prstGeom prst="rect">
            <a:avLst/>
          </a:prstGeom>
          <a:solidFill>
            <a:srgbClr val="E8EEF8"/>
          </a:solidFill>
          <a:ln w="6350">
            <a:solidFill>
              <a:srgbClr val="1D5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653527" y="1883664"/>
            <a:ext cx="3849624" cy="164592"/>
          </a:xfrm>
          <a:prstGeom prst="rect">
            <a:avLst/>
          </a:prstGeom>
          <a:noFill/>
        </p:spPr>
        <p:txBody>
          <a:bodyPr wrap="square">
            <a:spAutoFit/>
          </a:bodyPr>
          <a:lstStyle/>
          <a:p>
            <a:pPr algn="l"/>
            <a:r>
              <a:rPr sz="750" b="1" i="0">
                <a:solidFill>
                  <a:srgbClr val="1D51A3"/>
                </a:solidFill>
              </a:rPr>
              <a:t>INSIGHT</a:t>
            </a:r>
          </a:p>
        </p:txBody>
      </p:sp>
      <p:sp>
        <p:nvSpPr>
          <p:cNvPr id="26" name="TextBox 25"/>
          <p:cNvSpPr txBox="1"/>
          <p:nvPr/>
        </p:nvSpPr>
        <p:spPr>
          <a:xfrm>
            <a:off x="7653527" y="2066543"/>
            <a:ext cx="3849624" cy="713232"/>
          </a:xfrm>
          <a:prstGeom prst="rect">
            <a:avLst/>
          </a:prstGeom>
          <a:noFill/>
        </p:spPr>
        <p:txBody>
          <a:bodyPr wrap="square">
            <a:spAutoFit/>
          </a:bodyPr>
          <a:lstStyle/>
          <a:p>
            <a:pPr algn="l"/>
            <a:r>
              <a:rPr sz="750" b="0" i="0">
                <a:solidFill>
                  <a:srgbClr val="0C3570"/>
                </a:solidFill>
              </a:rPr>
              <a:t>継続率改善への集中投資が最も効率的な成長戦略であることを示しており、来期の予算配分の根拠となる重要なデータである。</a:t>
            </a:r>
          </a:p>
        </p:txBody>
      </p:sp>
      <p:sp>
        <p:nvSpPr>
          <p:cNvPr id="27" name="Rectangle 26"/>
          <p:cNvSpPr/>
          <p:nvPr/>
        </p:nvSpPr>
        <p:spPr>
          <a:xfrm>
            <a:off x="7543800" y="2926080"/>
            <a:ext cx="4069080" cy="201168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53527" y="3017520"/>
            <a:ext cx="3849624" cy="164592"/>
          </a:xfrm>
          <a:prstGeom prst="rect">
            <a:avLst/>
          </a:prstGeom>
          <a:noFill/>
        </p:spPr>
        <p:txBody>
          <a:bodyPr wrap="square">
            <a:spAutoFit/>
          </a:bodyPr>
          <a:lstStyle/>
          <a:p>
            <a:pPr algn="l"/>
            <a:r>
              <a:rPr sz="750" b="1" i="0">
                <a:solidFill>
                  <a:srgbClr val="1D51A3"/>
                </a:solidFill>
              </a:rPr>
              <a:t>データの読み方</a:t>
            </a:r>
          </a:p>
        </p:txBody>
      </p:sp>
      <p:sp>
        <p:nvSpPr>
          <p:cNvPr id="29" name="TextBox 28"/>
          <p:cNvSpPr txBox="1"/>
          <p:nvPr/>
        </p:nvSpPr>
        <p:spPr>
          <a:xfrm>
            <a:off x="7653527" y="3200400"/>
            <a:ext cx="3849624" cy="320040"/>
          </a:xfrm>
          <a:prstGeom prst="rect">
            <a:avLst/>
          </a:prstGeom>
          <a:noFill/>
        </p:spPr>
        <p:txBody>
          <a:bodyPr wrap="square">
            <a:spAutoFit/>
          </a:bodyPr>
          <a:lstStyle/>
          <a:p>
            <a:pPr algn="l"/>
            <a:r>
              <a:rPr sz="1000" b="1" i="0">
                <a:solidFill>
                  <a:srgbClr val="0C3570"/>
                </a:solidFill>
              </a:rPr>
              <a:t>グラフから読み取れる事実</a:t>
            </a:r>
          </a:p>
        </p:txBody>
      </p:sp>
      <p:sp>
        <p:nvSpPr>
          <p:cNvPr id="30" name="TextBox 29"/>
          <p:cNvSpPr txBox="1"/>
          <p:nvPr/>
        </p:nvSpPr>
        <p:spPr>
          <a:xfrm>
            <a:off x="7653527" y="3538728"/>
            <a:ext cx="3849624" cy="347472"/>
          </a:xfrm>
          <a:prstGeom prst="rect">
            <a:avLst/>
          </a:prstGeom>
          <a:noFill/>
        </p:spPr>
        <p:txBody>
          <a:bodyPr wrap="square">
            <a:spAutoFit/>
          </a:bodyPr>
          <a:lstStyle/>
          <a:p>
            <a:pPr algn="l"/>
            <a:r>
              <a:rPr sz="750" b="0" i="0">
                <a:solidFill>
                  <a:srgbClr val="444444"/>
                </a:solidFill>
              </a:rPr>
              <a:t>グラフのデータポイントを正確に読み取り、数値の変化・差異・傾向を客観的に記述する。</a:t>
            </a:r>
          </a:p>
        </p:txBody>
      </p:sp>
      <p:sp>
        <p:nvSpPr>
          <p:cNvPr id="31" name="TextBox 30"/>
          <p:cNvSpPr txBox="1"/>
          <p:nvPr/>
        </p:nvSpPr>
        <p:spPr>
          <a:xfrm>
            <a:off x="7680960" y="3931920"/>
            <a:ext cx="3794760" cy="502920"/>
          </a:xfrm>
          <a:prstGeom prst="rect">
            <a:avLst/>
          </a:prstGeom>
          <a:noFill/>
        </p:spPr>
        <p:txBody>
          <a:bodyPr wrap="square">
            <a:spAutoFit/>
          </a:bodyPr>
          <a:lstStyle/>
          <a:p>
            <a:pPr algn="l"/>
            <a:r>
              <a:rPr sz="700" b="0" i="0">
                <a:solidFill>
                  <a:srgbClr val="444444"/>
                </a:solidFill>
              </a:rPr>
              <a:t>▶ 重要性：このデータが企画書上でどのような意味を持つかを説明し、意思決定との関連性を明確にする。</a:t>
            </a:r>
          </a:p>
        </p:txBody>
      </p:sp>
      <p:sp>
        <p:nvSpPr>
          <p:cNvPr id="32" name="TextBox 31"/>
          <p:cNvSpPr txBox="1"/>
          <p:nvPr/>
        </p:nvSpPr>
        <p:spPr>
          <a:xfrm>
            <a:off x="7680960" y="4462272"/>
            <a:ext cx="3794760" cy="502920"/>
          </a:xfrm>
          <a:prstGeom prst="rect">
            <a:avLst/>
          </a:prstGeom>
          <a:noFill/>
        </p:spPr>
        <p:txBody>
          <a:bodyPr wrap="square">
            <a:spAutoFit/>
          </a:bodyPr>
          <a:lstStyle/>
          <a:p>
            <a:pPr algn="l"/>
            <a:r>
              <a:rPr sz="700" b="0" i="0">
                <a:solidFill>
                  <a:srgbClr val="444444"/>
                </a:solidFill>
              </a:rPr>
              <a:t>▶ 示唆：データから導かれる企画書上の示唆を記述し、次のアクションへの橋渡しを行う。</a:t>
            </a:r>
          </a:p>
        </p:txBody>
      </p:sp>
      <p:sp>
        <p:nvSpPr>
          <p:cNvPr id="33" name="TextBox 32"/>
          <p:cNvSpPr txBox="1"/>
          <p:nvPr/>
        </p:nvSpPr>
        <p:spPr>
          <a:xfrm>
            <a:off x="7543800" y="5029200"/>
            <a:ext cx="4069080" cy="201168"/>
          </a:xfrm>
          <a:prstGeom prst="rect">
            <a:avLst/>
          </a:prstGeom>
          <a:noFill/>
        </p:spPr>
        <p:txBody>
          <a:bodyPr wrap="square">
            <a:spAutoFit/>
          </a:bodyPr>
          <a:lstStyle/>
          <a:p>
            <a:pPr algn="l"/>
            <a:r>
              <a:rPr sz="750" b="0" i="0">
                <a:solidFill>
                  <a:srgbClr val="99A2AD"/>
                </a:solidFill>
              </a:rPr>
              <a:t>出典：社内財務データ（2026年）</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今期売上は前期比3.6億円増の21.6億円を達成：継続率改善が最大の増収要因である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waterfall ／ 用途: 増減要因の分解可視化 ／ 件数: 3〜7要因</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今期売上の増減要因を分解すると、継続率改善（1.6億円）が最大の増収要因であり、CS投資の効果が定量的に確認できる。</a:t>
            </a:r>
          </a:p>
        </p:txBody>
      </p:sp>
      <p:sp>
        <p:nvSpPr>
          <p:cNvPr id="10" name="Rectangle 9"/>
          <p:cNvSpPr/>
          <p:nvPr/>
        </p:nvSpPr>
        <p:spPr>
          <a:xfrm>
            <a:off x="548640" y="1828800"/>
            <a:ext cx="685800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1901952"/>
            <a:ext cx="1828800" cy="201168"/>
          </a:xfrm>
          <a:prstGeom prst="rect">
            <a:avLst/>
          </a:prstGeom>
          <a:noFill/>
        </p:spPr>
        <p:txBody>
          <a:bodyPr wrap="square">
            <a:spAutoFit/>
          </a:bodyPr>
          <a:lstStyle/>
          <a:p>
            <a:pPr algn="l"/>
            <a:r>
              <a:rPr sz="800" b="1" i="0">
                <a:solidFill>
                  <a:srgbClr val="1D51A3"/>
                </a:solidFill>
              </a:rPr>
              <a:t>■ グラフ</a:t>
            </a:r>
          </a:p>
        </p:txBody>
      </p:sp>
      <p:sp>
        <p:nvSpPr>
          <p:cNvPr id="12" name="Rectangle 11"/>
          <p:cNvSpPr/>
          <p:nvPr/>
        </p:nvSpPr>
        <p:spPr>
          <a:xfrm>
            <a:off x="685800" y="2773680"/>
            <a:ext cx="899160" cy="2895599"/>
          </a:xfrm>
          <a:prstGeom prst="rect">
            <a:avLst/>
          </a:prstGeom>
          <a:solidFill>
            <a:srgbClr val="1D1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545080"/>
            <a:ext cx="899160" cy="201168"/>
          </a:xfrm>
          <a:prstGeom prst="rect">
            <a:avLst/>
          </a:prstGeom>
          <a:noFill/>
        </p:spPr>
        <p:txBody>
          <a:bodyPr wrap="square">
            <a:spAutoFit/>
          </a:bodyPr>
          <a:lstStyle/>
          <a:p>
            <a:pPr algn="ctr"/>
            <a:r>
              <a:rPr sz="800" b="1" i="0">
                <a:solidFill>
                  <a:srgbClr val="0C3570"/>
                </a:solidFill>
              </a:rPr>
              <a:t>18.0</a:t>
            </a:r>
          </a:p>
        </p:txBody>
      </p:sp>
      <p:sp>
        <p:nvSpPr>
          <p:cNvPr id="14" name="TextBox 13"/>
          <p:cNvSpPr txBox="1"/>
          <p:nvPr/>
        </p:nvSpPr>
        <p:spPr>
          <a:xfrm>
            <a:off x="685800" y="5714999"/>
            <a:ext cx="899160" cy="274320"/>
          </a:xfrm>
          <a:prstGeom prst="rect">
            <a:avLst/>
          </a:prstGeom>
          <a:noFill/>
        </p:spPr>
        <p:txBody>
          <a:bodyPr wrap="square">
            <a:spAutoFit/>
          </a:bodyPr>
          <a:lstStyle/>
          <a:p>
            <a:pPr algn="ctr"/>
            <a:r>
              <a:rPr sz="700" b="0" i="0">
                <a:solidFill>
                  <a:srgbClr val="444444"/>
                </a:solidFill>
              </a:rPr>
              <a:t>前期売上</a:t>
            </a:r>
          </a:p>
        </p:txBody>
      </p:sp>
      <p:sp>
        <p:nvSpPr>
          <p:cNvPr id="15" name="Rectangle 14"/>
          <p:cNvSpPr/>
          <p:nvPr/>
        </p:nvSpPr>
        <p:spPr>
          <a:xfrm>
            <a:off x="1722120" y="5411893"/>
            <a:ext cx="899160" cy="257386"/>
          </a:xfrm>
          <a:prstGeom prst="rect">
            <a:avLst/>
          </a:prstGeom>
          <a:solidFill>
            <a:srgbClr val="1D34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722120" y="5183293"/>
            <a:ext cx="899160" cy="201168"/>
          </a:xfrm>
          <a:prstGeom prst="rect">
            <a:avLst/>
          </a:prstGeom>
          <a:noFill/>
        </p:spPr>
        <p:txBody>
          <a:bodyPr wrap="square">
            <a:spAutoFit/>
          </a:bodyPr>
          <a:lstStyle/>
          <a:p>
            <a:pPr algn="ctr"/>
            <a:r>
              <a:rPr sz="800" b="1" i="0">
                <a:solidFill>
                  <a:srgbClr val="0C3570"/>
                </a:solidFill>
              </a:rPr>
              <a:t>1.6</a:t>
            </a:r>
          </a:p>
        </p:txBody>
      </p:sp>
      <p:sp>
        <p:nvSpPr>
          <p:cNvPr id="17" name="TextBox 16"/>
          <p:cNvSpPr txBox="1"/>
          <p:nvPr/>
        </p:nvSpPr>
        <p:spPr>
          <a:xfrm>
            <a:off x="1722120" y="5714999"/>
            <a:ext cx="899160" cy="274320"/>
          </a:xfrm>
          <a:prstGeom prst="rect">
            <a:avLst/>
          </a:prstGeom>
          <a:noFill/>
        </p:spPr>
        <p:txBody>
          <a:bodyPr wrap="square">
            <a:spAutoFit/>
          </a:bodyPr>
          <a:lstStyle/>
          <a:p>
            <a:pPr algn="ctr"/>
            <a:r>
              <a:rPr sz="700" b="0" i="0">
                <a:solidFill>
                  <a:srgbClr val="444444"/>
                </a:solidFill>
              </a:rPr>
              <a:t>継続率改善</a:t>
            </a:r>
          </a:p>
        </p:txBody>
      </p:sp>
      <p:sp>
        <p:nvSpPr>
          <p:cNvPr id="18" name="Rectangle 17"/>
          <p:cNvSpPr/>
          <p:nvPr/>
        </p:nvSpPr>
        <p:spPr>
          <a:xfrm>
            <a:off x="2758440" y="5540586"/>
            <a:ext cx="899160" cy="128693"/>
          </a:xfrm>
          <a:prstGeom prst="rect">
            <a:avLst/>
          </a:prstGeom>
          <a:solidFill>
            <a:srgbClr val="1D4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58440" y="5311986"/>
            <a:ext cx="899160" cy="201168"/>
          </a:xfrm>
          <a:prstGeom prst="rect">
            <a:avLst/>
          </a:prstGeom>
          <a:noFill/>
        </p:spPr>
        <p:txBody>
          <a:bodyPr wrap="square">
            <a:spAutoFit/>
          </a:bodyPr>
          <a:lstStyle/>
          <a:p>
            <a:pPr algn="ctr"/>
            <a:r>
              <a:rPr sz="800" b="1" i="0">
                <a:solidFill>
                  <a:srgbClr val="0C3570"/>
                </a:solidFill>
              </a:rPr>
              <a:t>0.8</a:t>
            </a:r>
          </a:p>
        </p:txBody>
      </p:sp>
      <p:sp>
        <p:nvSpPr>
          <p:cNvPr id="20" name="TextBox 19"/>
          <p:cNvSpPr txBox="1"/>
          <p:nvPr/>
        </p:nvSpPr>
        <p:spPr>
          <a:xfrm>
            <a:off x="2758440" y="5714999"/>
            <a:ext cx="899160" cy="274320"/>
          </a:xfrm>
          <a:prstGeom prst="rect">
            <a:avLst/>
          </a:prstGeom>
          <a:noFill/>
        </p:spPr>
        <p:txBody>
          <a:bodyPr wrap="square">
            <a:spAutoFit/>
          </a:bodyPr>
          <a:lstStyle/>
          <a:p>
            <a:pPr algn="ctr"/>
            <a:r>
              <a:rPr sz="700" b="0" i="0">
                <a:solidFill>
                  <a:srgbClr val="444444"/>
                </a:solidFill>
              </a:rPr>
              <a:t>新規獲得</a:t>
            </a:r>
          </a:p>
        </p:txBody>
      </p:sp>
      <p:sp>
        <p:nvSpPr>
          <p:cNvPr id="21" name="Rectangle 20"/>
          <p:cNvSpPr/>
          <p:nvPr/>
        </p:nvSpPr>
        <p:spPr>
          <a:xfrm>
            <a:off x="3794760" y="5604933"/>
            <a:ext cx="899160" cy="64346"/>
          </a:xfrm>
          <a:prstGeom prst="rect">
            <a:avLst/>
          </a:prstGeom>
          <a:solidFill>
            <a:srgbClr val="1D63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94760" y="5376333"/>
            <a:ext cx="899160" cy="201168"/>
          </a:xfrm>
          <a:prstGeom prst="rect">
            <a:avLst/>
          </a:prstGeom>
          <a:noFill/>
        </p:spPr>
        <p:txBody>
          <a:bodyPr wrap="square">
            <a:spAutoFit/>
          </a:bodyPr>
          <a:lstStyle/>
          <a:p>
            <a:pPr algn="ctr"/>
            <a:r>
              <a:rPr sz="800" b="1" i="0">
                <a:solidFill>
                  <a:srgbClr val="0C3570"/>
                </a:solidFill>
              </a:rPr>
              <a:t>0.4</a:t>
            </a:r>
          </a:p>
        </p:txBody>
      </p:sp>
      <p:sp>
        <p:nvSpPr>
          <p:cNvPr id="23" name="TextBox 22"/>
          <p:cNvSpPr txBox="1"/>
          <p:nvPr/>
        </p:nvSpPr>
        <p:spPr>
          <a:xfrm>
            <a:off x="3794760" y="5714999"/>
            <a:ext cx="899160" cy="274320"/>
          </a:xfrm>
          <a:prstGeom prst="rect">
            <a:avLst/>
          </a:prstGeom>
          <a:noFill/>
        </p:spPr>
        <p:txBody>
          <a:bodyPr wrap="square">
            <a:spAutoFit/>
          </a:bodyPr>
          <a:lstStyle/>
          <a:p>
            <a:pPr algn="ctr"/>
            <a:r>
              <a:rPr sz="700" b="0" i="0">
                <a:solidFill>
                  <a:srgbClr val="444444"/>
                </a:solidFill>
              </a:rPr>
              <a:t>アップセル</a:t>
            </a:r>
          </a:p>
        </p:txBody>
      </p:sp>
      <p:sp>
        <p:nvSpPr>
          <p:cNvPr id="24" name="Rectangle 23"/>
          <p:cNvSpPr/>
          <p:nvPr/>
        </p:nvSpPr>
        <p:spPr>
          <a:xfrm>
            <a:off x="4831080" y="5540586"/>
            <a:ext cx="899160" cy="128693"/>
          </a:xfrm>
          <a:prstGeom prst="rect">
            <a:avLst/>
          </a:prstGeom>
          <a:solidFill>
            <a:srgbClr val="1D7B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31080" y="5311986"/>
            <a:ext cx="899160" cy="201168"/>
          </a:xfrm>
          <a:prstGeom prst="rect">
            <a:avLst/>
          </a:prstGeom>
          <a:noFill/>
        </p:spPr>
        <p:txBody>
          <a:bodyPr wrap="square">
            <a:spAutoFit/>
          </a:bodyPr>
          <a:lstStyle/>
          <a:p>
            <a:pPr algn="ctr"/>
            <a:r>
              <a:rPr sz="800" b="1" i="0">
                <a:solidFill>
                  <a:srgbClr val="0C3570"/>
                </a:solidFill>
              </a:rPr>
              <a:t>0.8</a:t>
            </a:r>
          </a:p>
        </p:txBody>
      </p:sp>
      <p:sp>
        <p:nvSpPr>
          <p:cNvPr id="26" name="TextBox 25"/>
          <p:cNvSpPr txBox="1"/>
          <p:nvPr/>
        </p:nvSpPr>
        <p:spPr>
          <a:xfrm>
            <a:off x="4831080" y="5714999"/>
            <a:ext cx="899160" cy="274320"/>
          </a:xfrm>
          <a:prstGeom prst="rect">
            <a:avLst/>
          </a:prstGeom>
          <a:noFill/>
        </p:spPr>
        <p:txBody>
          <a:bodyPr wrap="square">
            <a:spAutoFit/>
          </a:bodyPr>
          <a:lstStyle/>
          <a:p>
            <a:pPr algn="ctr"/>
            <a:r>
              <a:rPr sz="700" b="0" i="0">
                <a:solidFill>
                  <a:srgbClr val="444444"/>
                </a:solidFill>
              </a:rPr>
              <a:t>コスト削減</a:t>
            </a:r>
          </a:p>
        </p:txBody>
      </p:sp>
      <p:sp>
        <p:nvSpPr>
          <p:cNvPr id="27" name="Rectangle 26"/>
          <p:cNvSpPr/>
          <p:nvPr/>
        </p:nvSpPr>
        <p:spPr>
          <a:xfrm>
            <a:off x="5867399" y="2194559"/>
            <a:ext cx="899160" cy="3474720"/>
          </a:xfrm>
          <a:prstGeom prst="rect">
            <a:avLst/>
          </a:prstGeom>
          <a:solidFill>
            <a:srgbClr val="1D93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867399" y="1965959"/>
            <a:ext cx="899160" cy="201168"/>
          </a:xfrm>
          <a:prstGeom prst="rect">
            <a:avLst/>
          </a:prstGeom>
          <a:noFill/>
        </p:spPr>
        <p:txBody>
          <a:bodyPr wrap="square">
            <a:spAutoFit/>
          </a:bodyPr>
          <a:lstStyle/>
          <a:p>
            <a:pPr algn="ctr"/>
            <a:r>
              <a:rPr sz="800" b="1" i="0">
                <a:solidFill>
                  <a:srgbClr val="0C3570"/>
                </a:solidFill>
              </a:rPr>
              <a:t>21.6</a:t>
            </a:r>
          </a:p>
        </p:txBody>
      </p:sp>
      <p:sp>
        <p:nvSpPr>
          <p:cNvPr id="29" name="TextBox 28"/>
          <p:cNvSpPr txBox="1"/>
          <p:nvPr/>
        </p:nvSpPr>
        <p:spPr>
          <a:xfrm>
            <a:off x="5867399" y="5714999"/>
            <a:ext cx="899160" cy="274320"/>
          </a:xfrm>
          <a:prstGeom prst="rect">
            <a:avLst/>
          </a:prstGeom>
          <a:noFill/>
        </p:spPr>
        <p:txBody>
          <a:bodyPr wrap="square">
            <a:spAutoFit/>
          </a:bodyPr>
          <a:lstStyle/>
          <a:p>
            <a:pPr algn="ctr"/>
            <a:r>
              <a:rPr sz="700" b="0" i="0">
                <a:solidFill>
                  <a:srgbClr val="444444"/>
                </a:solidFill>
              </a:rPr>
              <a:t>今期売上</a:t>
            </a:r>
          </a:p>
        </p:txBody>
      </p:sp>
      <p:sp>
        <p:nvSpPr>
          <p:cNvPr id="30" name="Rectangle 29"/>
          <p:cNvSpPr/>
          <p:nvPr/>
        </p:nvSpPr>
        <p:spPr>
          <a:xfrm>
            <a:off x="7543800" y="1828800"/>
            <a:ext cx="4069080" cy="1005840"/>
          </a:xfrm>
          <a:prstGeom prst="rect">
            <a:avLst/>
          </a:prstGeom>
          <a:solidFill>
            <a:srgbClr val="E8EEF8"/>
          </a:solidFill>
          <a:ln w="6350">
            <a:solidFill>
              <a:srgbClr val="1D5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653527" y="1883664"/>
            <a:ext cx="3849624" cy="164592"/>
          </a:xfrm>
          <a:prstGeom prst="rect">
            <a:avLst/>
          </a:prstGeom>
          <a:noFill/>
        </p:spPr>
        <p:txBody>
          <a:bodyPr wrap="square">
            <a:spAutoFit/>
          </a:bodyPr>
          <a:lstStyle/>
          <a:p>
            <a:pPr algn="l"/>
            <a:r>
              <a:rPr sz="750" b="1" i="0">
                <a:solidFill>
                  <a:srgbClr val="1D51A3"/>
                </a:solidFill>
              </a:rPr>
              <a:t>INSIGHT</a:t>
            </a:r>
          </a:p>
        </p:txBody>
      </p:sp>
      <p:sp>
        <p:nvSpPr>
          <p:cNvPr id="32" name="TextBox 31"/>
          <p:cNvSpPr txBox="1"/>
          <p:nvPr/>
        </p:nvSpPr>
        <p:spPr>
          <a:xfrm>
            <a:off x="7653527" y="2066543"/>
            <a:ext cx="3849624" cy="713232"/>
          </a:xfrm>
          <a:prstGeom prst="rect">
            <a:avLst/>
          </a:prstGeom>
          <a:noFill/>
        </p:spPr>
        <p:txBody>
          <a:bodyPr wrap="square">
            <a:spAutoFit/>
          </a:bodyPr>
          <a:lstStyle/>
          <a:p>
            <a:pPr algn="l"/>
            <a:r>
              <a:rPr sz="750" b="0" i="0">
                <a:solidFill>
                  <a:srgbClr val="0C3570"/>
                </a:solidFill>
              </a:rPr>
              <a:t>増収要因の分解により、どの施策が最も効果的であったかが明確になり、来期の予算配分と施策優先順位の決定根拠となる。</a:t>
            </a:r>
          </a:p>
        </p:txBody>
      </p:sp>
      <p:sp>
        <p:nvSpPr>
          <p:cNvPr id="33" name="Rectangle 32"/>
          <p:cNvSpPr/>
          <p:nvPr/>
        </p:nvSpPr>
        <p:spPr>
          <a:xfrm>
            <a:off x="7543800" y="2926080"/>
            <a:ext cx="4069080" cy="201168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653527" y="3017520"/>
            <a:ext cx="3849624" cy="164592"/>
          </a:xfrm>
          <a:prstGeom prst="rect">
            <a:avLst/>
          </a:prstGeom>
          <a:noFill/>
        </p:spPr>
        <p:txBody>
          <a:bodyPr wrap="square">
            <a:spAutoFit/>
          </a:bodyPr>
          <a:lstStyle/>
          <a:p>
            <a:pPr algn="l"/>
            <a:r>
              <a:rPr sz="750" b="1" i="0">
                <a:solidFill>
                  <a:srgbClr val="1D51A3"/>
                </a:solidFill>
              </a:rPr>
              <a:t>データの読み方</a:t>
            </a:r>
          </a:p>
        </p:txBody>
      </p:sp>
      <p:sp>
        <p:nvSpPr>
          <p:cNvPr id="35" name="TextBox 34"/>
          <p:cNvSpPr txBox="1"/>
          <p:nvPr/>
        </p:nvSpPr>
        <p:spPr>
          <a:xfrm>
            <a:off x="7653527" y="3200400"/>
            <a:ext cx="3849624" cy="320040"/>
          </a:xfrm>
          <a:prstGeom prst="rect">
            <a:avLst/>
          </a:prstGeom>
          <a:noFill/>
        </p:spPr>
        <p:txBody>
          <a:bodyPr wrap="square">
            <a:spAutoFit/>
          </a:bodyPr>
          <a:lstStyle/>
          <a:p>
            <a:pPr algn="l"/>
            <a:r>
              <a:rPr sz="1000" b="1" i="0">
                <a:solidFill>
                  <a:srgbClr val="0C3570"/>
                </a:solidFill>
              </a:rPr>
              <a:t>グラフから読み取れる事実</a:t>
            </a:r>
          </a:p>
        </p:txBody>
      </p:sp>
      <p:sp>
        <p:nvSpPr>
          <p:cNvPr id="36" name="TextBox 35"/>
          <p:cNvSpPr txBox="1"/>
          <p:nvPr/>
        </p:nvSpPr>
        <p:spPr>
          <a:xfrm>
            <a:off x="7653527" y="3538728"/>
            <a:ext cx="3849624" cy="347472"/>
          </a:xfrm>
          <a:prstGeom prst="rect">
            <a:avLst/>
          </a:prstGeom>
          <a:noFill/>
        </p:spPr>
        <p:txBody>
          <a:bodyPr wrap="square">
            <a:spAutoFit/>
          </a:bodyPr>
          <a:lstStyle/>
          <a:p>
            <a:pPr algn="l"/>
            <a:r>
              <a:rPr sz="750" b="0" i="0">
                <a:solidFill>
                  <a:srgbClr val="444444"/>
                </a:solidFill>
              </a:rPr>
              <a:t>グラフのデータポイントを正確に読み取り、数値の変化・差異・傾向を客観的に記述する。</a:t>
            </a:r>
          </a:p>
        </p:txBody>
      </p:sp>
      <p:sp>
        <p:nvSpPr>
          <p:cNvPr id="37" name="TextBox 36"/>
          <p:cNvSpPr txBox="1"/>
          <p:nvPr/>
        </p:nvSpPr>
        <p:spPr>
          <a:xfrm>
            <a:off x="7680960" y="3931920"/>
            <a:ext cx="3794760" cy="502920"/>
          </a:xfrm>
          <a:prstGeom prst="rect">
            <a:avLst/>
          </a:prstGeom>
          <a:noFill/>
        </p:spPr>
        <p:txBody>
          <a:bodyPr wrap="square">
            <a:spAutoFit/>
          </a:bodyPr>
          <a:lstStyle/>
          <a:p>
            <a:pPr algn="l"/>
            <a:r>
              <a:rPr sz="700" b="0" i="0">
                <a:solidFill>
                  <a:srgbClr val="444444"/>
                </a:solidFill>
              </a:rPr>
              <a:t>▶ 重要性：このデータが企画書上でどのような意味を持つかを説明し、意思決定との関連性を明確にする。</a:t>
            </a:r>
          </a:p>
        </p:txBody>
      </p:sp>
      <p:sp>
        <p:nvSpPr>
          <p:cNvPr id="38" name="TextBox 37"/>
          <p:cNvSpPr txBox="1"/>
          <p:nvPr/>
        </p:nvSpPr>
        <p:spPr>
          <a:xfrm>
            <a:off x="7680960" y="4462272"/>
            <a:ext cx="3794760" cy="502920"/>
          </a:xfrm>
          <a:prstGeom prst="rect">
            <a:avLst/>
          </a:prstGeom>
          <a:noFill/>
        </p:spPr>
        <p:txBody>
          <a:bodyPr wrap="square">
            <a:spAutoFit/>
          </a:bodyPr>
          <a:lstStyle/>
          <a:p>
            <a:pPr algn="l"/>
            <a:r>
              <a:rPr sz="700" b="0" i="0">
                <a:solidFill>
                  <a:srgbClr val="444444"/>
                </a:solidFill>
              </a:rPr>
              <a:t>▶ 示唆：データから導かれる企画書上の示唆を記述し、次のアクションへの橋渡しを行う。</a:t>
            </a:r>
          </a:p>
        </p:txBody>
      </p:sp>
      <p:sp>
        <p:nvSpPr>
          <p:cNvPr id="39" name="TextBox 38"/>
          <p:cNvSpPr txBox="1"/>
          <p:nvPr/>
        </p:nvSpPr>
        <p:spPr>
          <a:xfrm>
            <a:off x="7543800" y="5029200"/>
            <a:ext cx="4069080" cy="201168"/>
          </a:xfrm>
          <a:prstGeom prst="rect">
            <a:avLst/>
          </a:prstGeom>
          <a:noFill/>
        </p:spPr>
        <p:txBody>
          <a:bodyPr wrap="square">
            <a:spAutoFit/>
          </a:bodyPr>
          <a:lstStyle/>
          <a:p>
            <a:pPr algn="l"/>
            <a:r>
              <a:rPr sz="750" b="0" i="0">
                <a:solidFill>
                  <a:srgbClr val="99A2AD"/>
                </a:solidFill>
              </a:rPr>
              <a:t>出典：社内財務データ（2026年）</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標準表：施策一覧を担当者・期限・成果物・ステータスで整理する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standard_table ／ 用途: 情報の一覧整理 ／ 件数: 複数行</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施策一覧を担当者・期限・成果物・ステータスの4軸で整理することで、進捗管理と責任の明確化を実現する。</a:t>
            </a:r>
          </a:p>
        </p:txBody>
      </p:sp>
      <p:sp>
        <p:nvSpPr>
          <p:cNvPr id="10" name="Rectangle 9"/>
          <p:cNvSpPr/>
          <p:nvPr/>
        </p:nvSpPr>
        <p:spPr>
          <a:xfrm>
            <a:off x="548640" y="1874519"/>
            <a:ext cx="201168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3" y="1947672"/>
            <a:ext cx="1901952" cy="329184"/>
          </a:xfrm>
          <a:prstGeom prst="rect">
            <a:avLst/>
          </a:prstGeom>
          <a:noFill/>
        </p:spPr>
        <p:txBody>
          <a:bodyPr wrap="square">
            <a:spAutoFit/>
          </a:bodyPr>
          <a:lstStyle/>
          <a:p>
            <a:pPr algn="l"/>
            <a:r>
              <a:rPr sz="850" b="1" i="0">
                <a:solidFill>
                  <a:srgbClr val="FFFFFF"/>
                </a:solidFill>
              </a:rPr>
              <a:t>施策名</a:t>
            </a:r>
          </a:p>
        </p:txBody>
      </p:sp>
      <p:sp>
        <p:nvSpPr>
          <p:cNvPr id="12" name="Rectangle 11"/>
          <p:cNvSpPr/>
          <p:nvPr/>
        </p:nvSpPr>
        <p:spPr>
          <a:xfrm>
            <a:off x="2578608" y="1874519"/>
            <a:ext cx="1097280" cy="457200"/>
          </a:xfrm>
          <a:prstGeom prst="rect">
            <a:avLst/>
          </a:prstGeom>
          <a:solidFill>
            <a:srgbClr val="08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33472" y="1947672"/>
            <a:ext cx="987552" cy="329184"/>
          </a:xfrm>
          <a:prstGeom prst="rect">
            <a:avLst/>
          </a:prstGeom>
          <a:noFill/>
        </p:spPr>
        <p:txBody>
          <a:bodyPr wrap="square">
            <a:spAutoFit/>
          </a:bodyPr>
          <a:lstStyle/>
          <a:p>
            <a:pPr algn="l"/>
            <a:r>
              <a:rPr sz="850" b="1" i="0">
                <a:solidFill>
                  <a:srgbClr val="FFFFFF"/>
                </a:solidFill>
              </a:rPr>
              <a:t>担当者</a:t>
            </a:r>
          </a:p>
        </p:txBody>
      </p:sp>
      <p:sp>
        <p:nvSpPr>
          <p:cNvPr id="14" name="Rectangle 13"/>
          <p:cNvSpPr/>
          <p:nvPr/>
        </p:nvSpPr>
        <p:spPr>
          <a:xfrm>
            <a:off x="3694176" y="1874519"/>
            <a:ext cx="109728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39" y="1947672"/>
            <a:ext cx="987552" cy="329184"/>
          </a:xfrm>
          <a:prstGeom prst="rect">
            <a:avLst/>
          </a:prstGeom>
          <a:noFill/>
        </p:spPr>
        <p:txBody>
          <a:bodyPr wrap="square">
            <a:spAutoFit/>
          </a:bodyPr>
          <a:lstStyle/>
          <a:p>
            <a:pPr algn="l"/>
            <a:r>
              <a:rPr sz="850" b="1" i="0">
                <a:solidFill>
                  <a:srgbClr val="FFFFFF"/>
                </a:solidFill>
              </a:rPr>
              <a:t>期限</a:t>
            </a:r>
          </a:p>
        </p:txBody>
      </p:sp>
      <p:sp>
        <p:nvSpPr>
          <p:cNvPr id="16" name="Rectangle 15"/>
          <p:cNvSpPr/>
          <p:nvPr/>
        </p:nvSpPr>
        <p:spPr>
          <a:xfrm>
            <a:off x="4809744" y="1874519"/>
            <a:ext cx="274320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64607" y="1947672"/>
            <a:ext cx="2633472" cy="329184"/>
          </a:xfrm>
          <a:prstGeom prst="rect">
            <a:avLst/>
          </a:prstGeom>
          <a:noFill/>
        </p:spPr>
        <p:txBody>
          <a:bodyPr wrap="square">
            <a:spAutoFit/>
          </a:bodyPr>
          <a:lstStyle/>
          <a:p>
            <a:pPr algn="l"/>
            <a:r>
              <a:rPr sz="850" b="1" i="0">
                <a:solidFill>
                  <a:srgbClr val="FFFFFF"/>
                </a:solidFill>
              </a:rPr>
              <a:t>成果物</a:t>
            </a:r>
          </a:p>
        </p:txBody>
      </p:sp>
      <p:sp>
        <p:nvSpPr>
          <p:cNvPr id="18" name="Rectangle 17"/>
          <p:cNvSpPr/>
          <p:nvPr/>
        </p:nvSpPr>
        <p:spPr>
          <a:xfrm>
            <a:off x="7571231" y="1874519"/>
            <a:ext cx="91440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26096" y="1947672"/>
            <a:ext cx="804672" cy="329184"/>
          </a:xfrm>
          <a:prstGeom prst="rect">
            <a:avLst/>
          </a:prstGeom>
          <a:noFill/>
        </p:spPr>
        <p:txBody>
          <a:bodyPr wrap="square">
            <a:spAutoFit/>
          </a:bodyPr>
          <a:lstStyle/>
          <a:p>
            <a:pPr algn="l"/>
            <a:r>
              <a:rPr sz="850" b="1" i="0">
                <a:solidFill>
                  <a:srgbClr val="FFFFFF"/>
                </a:solidFill>
              </a:rPr>
              <a:t>ステータス</a:t>
            </a:r>
          </a:p>
        </p:txBody>
      </p:sp>
      <p:sp>
        <p:nvSpPr>
          <p:cNvPr id="20" name="Rectangle 19"/>
          <p:cNvSpPr/>
          <p:nvPr/>
        </p:nvSpPr>
        <p:spPr>
          <a:xfrm>
            <a:off x="8503919" y="1874519"/>
            <a:ext cx="320040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58784" y="1947672"/>
            <a:ext cx="3090672" cy="329184"/>
          </a:xfrm>
          <a:prstGeom prst="rect">
            <a:avLst/>
          </a:prstGeom>
          <a:noFill/>
        </p:spPr>
        <p:txBody>
          <a:bodyPr wrap="square">
            <a:spAutoFit/>
          </a:bodyPr>
          <a:lstStyle/>
          <a:p>
            <a:pPr algn="l"/>
            <a:r>
              <a:rPr sz="850" b="1" i="0">
                <a:solidFill>
                  <a:srgbClr val="FFFFFF"/>
                </a:solidFill>
              </a:rPr>
              <a:t>備考・リスク</a:t>
            </a:r>
          </a:p>
        </p:txBody>
      </p:sp>
      <p:sp>
        <p:nvSpPr>
          <p:cNvPr id="22" name="Rectangle 21"/>
          <p:cNvSpPr/>
          <p:nvPr/>
        </p:nvSpPr>
        <p:spPr>
          <a:xfrm>
            <a:off x="548640" y="2350008"/>
            <a:ext cx="20116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03503" y="2395727"/>
            <a:ext cx="1901952" cy="566928"/>
          </a:xfrm>
          <a:prstGeom prst="rect">
            <a:avLst/>
          </a:prstGeom>
          <a:noFill/>
        </p:spPr>
        <p:txBody>
          <a:bodyPr wrap="square">
            <a:spAutoFit/>
          </a:bodyPr>
          <a:lstStyle/>
          <a:p>
            <a:pPr algn="l"/>
            <a:r>
              <a:rPr sz="750" b="1" i="0">
                <a:solidFill>
                  <a:srgbClr val="0C3570"/>
                </a:solidFill>
              </a:rPr>
              <a:t>CS体制強化</a:t>
            </a:r>
          </a:p>
        </p:txBody>
      </p:sp>
      <p:sp>
        <p:nvSpPr>
          <p:cNvPr id="24" name="Rectangle 23"/>
          <p:cNvSpPr/>
          <p:nvPr/>
        </p:nvSpPr>
        <p:spPr>
          <a:xfrm>
            <a:off x="2578608" y="2350008"/>
            <a:ext cx="109728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633472" y="2395727"/>
            <a:ext cx="987552" cy="566928"/>
          </a:xfrm>
          <a:prstGeom prst="rect">
            <a:avLst/>
          </a:prstGeom>
          <a:noFill/>
        </p:spPr>
        <p:txBody>
          <a:bodyPr wrap="square">
            <a:spAutoFit/>
          </a:bodyPr>
          <a:lstStyle/>
          <a:p>
            <a:pPr algn="l"/>
            <a:r>
              <a:rPr sz="750" b="0" i="0">
                <a:solidFill>
                  <a:srgbClr val="0C3570"/>
                </a:solidFill>
              </a:rPr>
              <a:t>CS部門長</a:t>
            </a:r>
          </a:p>
        </p:txBody>
      </p:sp>
      <p:sp>
        <p:nvSpPr>
          <p:cNvPr id="26" name="Rectangle 25"/>
          <p:cNvSpPr/>
          <p:nvPr/>
        </p:nvSpPr>
        <p:spPr>
          <a:xfrm>
            <a:off x="3694176" y="2350008"/>
            <a:ext cx="10972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749039" y="2395727"/>
            <a:ext cx="987552" cy="566928"/>
          </a:xfrm>
          <a:prstGeom prst="rect">
            <a:avLst/>
          </a:prstGeom>
          <a:noFill/>
        </p:spPr>
        <p:txBody>
          <a:bodyPr wrap="square">
            <a:spAutoFit/>
          </a:bodyPr>
          <a:lstStyle/>
          <a:p>
            <a:pPr algn="l"/>
            <a:r>
              <a:rPr sz="750" b="0" i="0">
                <a:solidFill>
                  <a:srgbClr val="444444"/>
                </a:solidFill>
              </a:rPr>
              <a:t>2026年3月末</a:t>
            </a:r>
          </a:p>
        </p:txBody>
      </p:sp>
      <p:sp>
        <p:nvSpPr>
          <p:cNvPr id="28" name="Rectangle 27"/>
          <p:cNvSpPr/>
          <p:nvPr/>
        </p:nvSpPr>
        <p:spPr>
          <a:xfrm>
            <a:off x="4809744" y="2350008"/>
            <a:ext cx="27432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864607" y="2395727"/>
            <a:ext cx="2633472" cy="566928"/>
          </a:xfrm>
          <a:prstGeom prst="rect">
            <a:avLst/>
          </a:prstGeom>
          <a:noFill/>
        </p:spPr>
        <p:txBody>
          <a:bodyPr wrap="square">
            <a:spAutoFit/>
          </a:bodyPr>
          <a:lstStyle/>
          <a:p>
            <a:pPr algn="l"/>
            <a:r>
              <a:rPr sz="750" b="0" i="0">
                <a:solidFill>
                  <a:srgbClr val="444444"/>
                </a:solidFill>
              </a:rPr>
              <a:t>CS担当者12名体制・運用マニュアル・研修プログラム</a:t>
            </a:r>
          </a:p>
        </p:txBody>
      </p:sp>
      <p:sp>
        <p:nvSpPr>
          <p:cNvPr id="30" name="Rectangle 29"/>
          <p:cNvSpPr/>
          <p:nvPr/>
        </p:nvSpPr>
        <p:spPr>
          <a:xfrm>
            <a:off x="7571231" y="2350008"/>
            <a:ext cx="9144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626096" y="2395727"/>
            <a:ext cx="804672" cy="566928"/>
          </a:xfrm>
          <a:prstGeom prst="rect">
            <a:avLst/>
          </a:prstGeom>
          <a:noFill/>
        </p:spPr>
        <p:txBody>
          <a:bodyPr wrap="square">
            <a:spAutoFit/>
          </a:bodyPr>
          <a:lstStyle/>
          <a:p>
            <a:pPr algn="l"/>
            <a:r>
              <a:rPr sz="750" b="0" i="0">
                <a:solidFill>
                  <a:srgbClr val="444444"/>
                </a:solidFill>
              </a:rPr>
              <a:t>進行中</a:t>
            </a:r>
          </a:p>
        </p:txBody>
      </p:sp>
      <p:sp>
        <p:nvSpPr>
          <p:cNvPr id="32" name="Rectangle 31"/>
          <p:cNvSpPr/>
          <p:nvPr/>
        </p:nvSpPr>
        <p:spPr>
          <a:xfrm>
            <a:off x="8503919" y="2350008"/>
            <a:ext cx="32004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558784" y="2395727"/>
            <a:ext cx="3090672" cy="566928"/>
          </a:xfrm>
          <a:prstGeom prst="rect">
            <a:avLst/>
          </a:prstGeom>
          <a:noFill/>
        </p:spPr>
        <p:txBody>
          <a:bodyPr wrap="square">
            <a:spAutoFit/>
          </a:bodyPr>
          <a:lstStyle/>
          <a:p>
            <a:pPr algn="l"/>
            <a:r>
              <a:rPr sz="750" b="0" i="0">
                <a:solidFill>
                  <a:srgbClr val="444444"/>
                </a:solidFill>
              </a:rPr>
              <a:t>採用2名遅延。外部委託で補完中。Q1中に完了予定。</a:t>
            </a:r>
          </a:p>
        </p:txBody>
      </p:sp>
      <p:sp>
        <p:nvSpPr>
          <p:cNvPr id="34" name="Rectangle 33"/>
          <p:cNvSpPr/>
          <p:nvPr/>
        </p:nvSpPr>
        <p:spPr>
          <a:xfrm>
            <a:off x="548640" y="3026664"/>
            <a:ext cx="201168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03503" y="3072384"/>
            <a:ext cx="1901952" cy="566928"/>
          </a:xfrm>
          <a:prstGeom prst="rect">
            <a:avLst/>
          </a:prstGeom>
          <a:noFill/>
        </p:spPr>
        <p:txBody>
          <a:bodyPr wrap="square">
            <a:spAutoFit/>
          </a:bodyPr>
          <a:lstStyle/>
          <a:p>
            <a:pPr algn="l"/>
            <a:r>
              <a:rPr sz="750" b="1" i="0">
                <a:solidFill>
                  <a:srgbClr val="0C3570"/>
                </a:solidFill>
              </a:rPr>
              <a:t>オンボーディング改善</a:t>
            </a:r>
          </a:p>
        </p:txBody>
      </p:sp>
      <p:sp>
        <p:nvSpPr>
          <p:cNvPr id="36" name="Rectangle 35"/>
          <p:cNvSpPr/>
          <p:nvPr/>
        </p:nvSpPr>
        <p:spPr>
          <a:xfrm>
            <a:off x="2578608" y="3026664"/>
            <a:ext cx="109728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633472" y="3072384"/>
            <a:ext cx="987552" cy="566928"/>
          </a:xfrm>
          <a:prstGeom prst="rect">
            <a:avLst/>
          </a:prstGeom>
          <a:noFill/>
        </p:spPr>
        <p:txBody>
          <a:bodyPr wrap="square">
            <a:spAutoFit/>
          </a:bodyPr>
          <a:lstStyle/>
          <a:p>
            <a:pPr algn="l"/>
            <a:r>
              <a:rPr sz="750" b="0" i="0">
                <a:solidFill>
                  <a:srgbClr val="0C3570"/>
                </a:solidFill>
              </a:rPr>
              <a:t>CS担当</a:t>
            </a:r>
          </a:p>
        </p:txBody>
      </p:sp>
      <p:sp>
        <p:nvSpPr>
          <p:cNvPr id="38" name="Rectangle 37"/>
          <p:cNvSpPr/>
          <p:nvPr/>
        </p:nvSpPr>
        <p:spPr>
          <a:xfrm>
            <a:off x="3694176" y="3026664"/>
            <a:ext cx="109728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749039" y="3072384"/>
            <a:ext cx="987552" cy="566928"/>
          </a:xfrm>
          <a:prstGeom prst="rect">
            <a:avLst/>
          </a:prstGeom>
          <a:noFill/>
        </p:spPr>
        <p:txBody>
          <a:bodyPr wrap="square">
            <a:spAutoFit/>
          </a:bodyPr>
          <a:lstStyle/>
          <a:p>
            <a:pPr algn="l"/>
            <a:r>
              <a:rPr sz="750" b="0" i="0">
                <a:solidFill>
                  <a:srgbClr val="444444"/>
                </a:solidFill>
              </a:rPr>
              <a:t>2026年2月末</a:t>
            </a:r>
          </a:p>
        </p:txBody>
      </p:sp>
      <p:sp>
        <p:nvSpPr>
          <p:cNvPr id="40" name="Rectangle 39"/>
          <p:cNvSpPr/>
          <p:nvPr/>
        </p:nvSpPr>
        <p:spPr>
          <a:xfrm>
            <a:off x="4809744" y="3026664"/>
            <a:ext cx="27432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864607" y="3072384"/>
            <a:ext cx="2633472" cy="566928"/>
          </a:xfrm>
          <a:prstGeom prst="rect">
            <a:avLst/>
          </a:prstGeom>
          <a:noFill/>
        </p:spPr>
        <p:txBody>
          <a:bodyPr wrap="square">
            <a:spAutoFit/>
          </a:bodyPr>
          <a:lstStyle/>
          <a:p>
            <a:pPr algn="l"/>
            <a:r>
              <a:rPr sz="750" b="0" i="0">
                <a:solidFill>
                  <a:srgbClr val="444444"/>
                </a:solidFill>
              </a:rPr>
              <a:t>構造化オンボーディングプログラム・30/60/90日チェックリスト</a:t>
            </a:r>
          </a:p>
        </p:txBody>
      </p:sp>
      <p:sp>
        <p:nvSpPr>
          <p:cNvPr id="42" name="Rectangle 41"/>
          <p:cNvSpPr/>
          <p:nvPr/>
        </p:nvSpPr>
        <p:spPr>
          <a:xfrm>
            <a:off x="7571231" y="3026664"/>
            <a:ext cx="914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626096" y="3072384"/>
            <a:ext cx="804672" cy="566928"/>
          </a:xfrm>
          <a:prstGeom prst="rect">
            <a:avLst/>
          </a:prstGeom>
          <a:noFill/>
        </p:spPr>
        <p:txBody>
          <a:bodyPr wrap="square">
            <a:spAutoFit/>
          </a:bodyPr>
          <a:lstStyle/>
          <a:p>
            <a:pPr algn="l"/>
            <a:r>
              <a:rPr sz="750" b="0" i="0">
                <a:solidFill>
                  <a:srgbClr val="444444"/>
                </a:solidFill>
              </a:rPr>
              <a:t>完了</a:t>
            </a:r>
          </a:p>
        </p:txBody>
      </p:sp>
      <p:sp>
        <p:nvSpPr>
          <p:cNvPr id="44" name="Rectangle 43"/>
          <p:cNvSpPr/>
          <p:nvPr/>
        </p:nvSpPr>
        <p:spPr>
          <a:xfrm>
            <a:off x="8503919" y="3026664"/>
            <a:ext cx="3200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558784" y="3072384"/>
            <a:ext cx="3090672" cy="566928"/>
          </a:xfrm>
          <a:prstGeom prst="rect">
            <a:avLst/>
          </a:prstGeom>
          <a:noFill/>
        </p:spPr>
        <p:txBody>
          <a:bodyPr wrap="square">
            <a:spAutoFit/>
          </a:bodyPr>
          <a:lstStyle/>
          <a:p>
            <a:pPr algn="l"/>
            <a:r>
              <a:rPr sz="750" b="0" i="0">
                <a:solidFill>
                  <a:srgbClr val="444444"/>
                </a:solidFill>
              </a:rPr>
              <a:t>パイロット20社で検証済み。継続率+5%の効果を確認。</a:t>
            </a:r>
          </a:p>
        </p:txBody>
      </p:sp>
      <p:sp>
        <p:nvSpPr>
          <p:cNvPr id="46" name="Rectangle 45"/>
          <p:cNvSpPr/>
          <p:nvPr/>
        </p:nvSpPr>
        <p:spPr>
          <a:xfrm>
            <a:off x="548640" y="3703319"/>
            <a:ext cx="20116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03503" y="3749039"/>
            <a:ext cx="1901952" cy="566928"/>
          </a:xfrm>
          <a:prstGeom prst="rect">
            <a:avLst/>
          </a:prstGeom>
          <a:noFill/>
        </p:spPr>
        <p:txBody>
          <a:bodyPr wrap="square">
            <a:spAutoFit/>
          </a:bodyPr>
          <a:lstStyle/>
          <a:p>
            <a:pPr algn="l"/>
            <a:r>
              <a:rPr sz="750" b="1" i="0">
                <a:solidFill>
                  <a:srgbClr val="0C3570"/>
                </a:solidFill>
              </a:rPr>
              <a:t>ヘルススコア導入</a:t>
            </a:r>
          </a:p>
        </p:txBody>
      </p:sp>
      <p:sp>
        <p:nvSpPr>
          <p:cNvPr id="48" name="Rectangle 47"/>
          <p:cNvSpPr/>
          <p:nvPr/>
        </p:nvSpPr>
        <p:spPr>
          <a:xfrm>
            <a:off x="2578608" y="3703319"/>
            <a:ext cx="109728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633472" y="3749039"/>
            <a:ext cx="987552" cy="566928"/>
          </a:xfrm>
          <a:prstGeom prst="rect">
            <a:avLst/>
          </a:prstGeom>
          <a:noFill/>
        </p:spPr>
        <p:txBody>
          <a:bodyPr wrap="square">
            <a:spAutoFit/>
          </a:bodyPr>
          <a:lstStyle/>
          <a:p>
            <a:pPr algn="l"/>
            <a:r>
              <a:rPr sz="750" b="0" i="0">
                <a:solidFill>
                  <a:srgbClr val="0C3570"/>
                </a:solidFill>
              </a:rPr>
              <a:t>データ分析</a:t>
            </a:r>
          </a:p>
        </p:txBody>
      </p:sp>
      <p:sp>
        <p:nvSpPr>
          <p:cNvPr id="50" name="Rectangle 49"/>
          <p:cNvSpPr/>
          <p:nvPr/>
        </p:nvSpPr>
        <p:spPr>
          <a:xfrm>
            <a:off x="3694176" y="3703319"/>
            <a:ext cx="10972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749039" y="3749039"/>
            <a:ext cx="987552" cy="566928"/>
          </a:xfrm>
          <a:prstGeom prst="rect">
            <a:avLst/>
          </a:prstGeom>
          <a:noFill/>
        </p:spPr>
        <p:txBody>
          <a:bodyPr wrap="square">
            <a:spAutoFit/>
          </a:bodyPr>
          <a:lstStyle/>
          <a:p>
            <a:pPr algn="l"/>
            <a:r>
              <a:rPr sz="750" b="0" i="0">
                <a:solidFill>
                  <a:srgbClr val="444444"/>
                </a:solidFill>
              </a:rPr>
              <a:t>2026年3月末</a:t>
            </a:r>
          </a:p>
        </p:txBody>
      </p:sp>
      <p:sp>
        <p:nvSpPr>
          <p:cNvPr id="52" name="Rectangle 51"/>
          <p:cNvSpPr/>
          <p:nvPr/>
        </p:nvSpPr>
        <p:spPr>
          <a:xfrm>
            <a:off x="4809744" y="3703319"/>
            <a:ext cx="27432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864607" y="3749039"/>
            <a:ext cx="2633472" cy="566928"/>
          </a:xfrm>
          <a:prstGeom prst="rect">
            <a:avLst/>
          </a:prstGeom>
          <a:noFill/>
        </p:spPr>
        <p:txBody>
          <a:bodyPr wrap="square">
            <a:spAutoFit/>
          </a:bodyPr>
          <a:lstStyle/>
          <a:p>
            <a:pPr algn="l"/>
            <a:r>
              <a:rPr sz="750" b="0" i="0">
                <a:solidFill>
                  <a:srgbClr val="444444"/>
                </a:solidFill>
              </a:rPr>
              <a:t>ヘルススコア定義書・監視ダッシュボード・アラート設定</a:t>
            </a:r>
          </a:p>
        </p:txBody>
      </p:sp>
      <p:sp>
        <p:nvSpPr>
          <p:cNvPr id="54" name="Rectangle 53"/>
          <p:cNvSpPr/>
          <p:nvPr/>
        </p:nvSpPr>
        <p:spPr>
          <a:xfrm>
            <a:off x="7571231" y="3703319"/>
            <a:ext cx="9144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626096" y="3749039"/>
            <a:ext cx="804672" cy="566928"/>
          </a:xfrm>
          <a:prstGeom prst="rect">
            <a:avLst/>
          </a:prstGeom>
          <a:noFill/>
        </p:spPr>
        <p:txBody>
          <a:bodyPr wrap="square">
            <a:spAutoFit/>
          </a:bodyPr>
          <a:lstStyle/>
          <a:p>
            <a:pPr algn="l"/>
            <a:r>
              <a:rPr sz="750" b="0" i="0">
                <a:solidFill>
                  <a:srgbClr val="444444"/>
                </a:solidFill>
              </a:rPr>
              <a:t>計画中</a:t>
            </a:r>
          </a:p>
        </p:txBody>
      </p:sp>
      <p:sp>
        <p:nvSpPr>
          <p:cNvPr id="56" name="Rectangle 55"/>
          <p:cNvSpPr/>
          <p:nvPr/>
        </p:nvSpPr>
        <p:spPr>
          <a:xfrm>
            <a:off x="8503919" y="3703319"/>
            <a:ext cx="32004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558784" y="3749039"/>
            <a:ext cx="3090672" cy="566928"/>
          </a:xfrm>
          <a:prstGeom prst="rect">
            <a:avLst/>
          </a:prstGeom>
          <a:noFill/>
        </p:spPr>
        <p:txBody>
          <a:bodyPr wrap="square">
            <a:spAutoFit/>
          </a:bodyPr>
          <a:lstStyle/>
          <a:p>
            <a:pPr algn="l"/>
            <a:r>
              <a:rPr sz="750" b="0" i="0">
                <a:solidFill>
                  <a:srgbClr val="444444"/>
                </a:solidFill>
              </a:rPr>
              <a:t>CRM導入完了後に着手。データ連携の設計が必要。</a:t>
            </a:r>
          </a:p>
        </p:txBody>
      </p:sp>
      <p:sp>
        <p:nvSpPr>
          <p:cNvPr id="58" name="Rectangle 57"/>
          <p:cNvSpPr/>
          <p:nvPr/>
        </p:nvSpPr>
        <p:spPr>
          <a:xfrm>
            <a:off x="548640" y="4379975"/>
            <a:ext cx="201168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03503" y="4425695"/>
            <a:ext cx="1901952" cy="566928"/>
          </a:xfrm>
          <a:prstGeom prst="rect">
            <a:avLst/>
          </a:prstGeom>
          <a:noFill/>
        </p:spPr>
        <p:txBody>
          <a:bodyPr wrap="square">
            <a:spAutoFit/>
          </a:bodyPr>
          <a:lstStyle/>
          <a:p>
            <a:pPr algn="l"/>
            <a:r>
              <a:rPr sz="750" b="1" i="0">
                <a:solidFill>
                  <a:srgbClr val="0C3570"/>
                </a:solidFill>
              </a:rPr>
              <a:t>リファラルプログラム</a:t>
            </a:r>
          </a:p>
        </p:txBody>
      </p:sp>
      <p:sp>
        <p:nvSpPr>
          <p:cNvPr id="60" name="Rectangle 59"/>
          <p:cNvSpPr/>
          <p:nvPr/>
        </p:nvSpPr>
        <p:spPr>
          <a:xfrm>
            <a:off x="2578608" y="4379975"/>
            <a:ext cx="109728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633472" y="4425695"/>
            <a:ext cx="987552" cy="566928"/>
          </a:xfrm>
          <a:prstGeom prst="rect">
            <a:avLst/>
          </a:prstGeom>
          <a:noFill/>
        </p:spPr>
        <p:txBody>
          <a:bodyPr wrap="square">
            <a:spAutoFit/>
          </a:bodyPr>
          <a:lstStyle/>
          <a:p>
            <a:pPr algn="l"/>
            <a:r>
              <a:rPr sz="750" b="0" i="0">
                <a:solidFill>
                  <a:srgbClr val="0C3570"/>
                </a:solidFill>
              </a:rPr>
              <a:t>マーケティング</a:t>
            </a:r>
          </a:p>
        </p:txBody>
      </p:sp>
      <p:sp>
        <p:nvSpPr>
          <p:cNvPr id="62" name="Rectangle 61"/>
          <p:cNvSpPr/>
          <p:nvPr/>
        </p:nvSpPr>
        <p:spPr>
          <a:xfrm>
            <a:off x="3694176" y="4379975"/>
            <a:ext cx="109728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749039" y="4425695"/>
            <a:ext cx="987552" cy="566928"/>
          </a:xfrm>
          <a:prstGeom prst="rect">
            <a:avLst/>
          </a:prstGeom>
          <a:noFill/>
        </p:spPr>
        <p:txBody>
          <a:bodyPr wrap="square">
            <a:spAutoFit/>
          </a:bodyPr>
          <a:lstStyle/>
          <a:p>
            <a:pPr algn="l"/>
            <a:r>
              <a:rPr sz="750" b="0" i="0">
                <a:solidFill>
                  <a:srgbClr val="444444"/>
                </a:solidFill>
              </a:rPr>
              <a:t>2026年6月末</a:t>
            </a:r>
          </a:p>
        </p:txBody>
      </p:sp>
      <p:sp>
        <p:nvSpPr>
          <p:cNvPr id="64" name="Rectangle 63"/>
          <p:cNvSpPr/>
          <p:nvPr/>
        </p:nvSpPr>
        <p:spPr>
          <a:xfrm>
            <a:off x="4809744" y="4379975"/>
            <a:ext cx="27432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864607" y="4425695"/>
            <a:ext cx="2633472" cy="566928"/>
          </a:xfrm>
          <a:prstGeom prst="rect">
            <a:avLst/>
          </a:prstGeom>
          <a:noFill/>
        </p:spPr>
        <p:txBody>
          <a:bodyPr wrap="square">
            <a:spAutoFit/>
          </a:bodyPr>
          <a:lstStyle/>
          <a:p>
            <a:pPr algn="l"/>
            <a:r>
              <a:rPr sz="750" b="0" i="0">
                <a:solidFill>
                  <a:srgbClr val="444444"/>
                </a:solidFill>
              </a:rPr>
              <a:t>プログラム設計書・特典設計・運用フロー</a:t>
            </a:r>
          </a:p>
        </p:txBody>
      </p:sp>
      <p:sp>
        <p:nvSpPr>
          <p:cNvPr id="66" name="Rectangle 65"/>
          <p:cNvSpPr/>
          <p:nvPr/>
        </p:nvSpPr>
        <p:spPr>
          <a:xfrm>
            <a:off x="7571231" y="4379975"/>
            <a:ext cx="914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626096" y="4425695"/>
            <a:ext cx="804672" cy="566928"/>
          </a:xfrm>
          <a:prstGeom prst="rect">
            <a:avLst/>
          </a:prstGeom>
          <a:noFill/>
        </p:spPr>
        <p:txBody>
          <a:bodyPr wrap="square">
            <a:spAutoFit/>
          </a:bodyPr>
          <a:lstStyle/>
          <a:p>
            <a:pPr algn="l"/>
            <a:r>
              <a:rPr sz="750" b="0" i="0">
                <a:solidFill>
                  <a:srgbClr val="444444"/>
                </a:solidFill>
              </a:rPr>
              <a:t>計画中</a:t>
            </a:r>
          </a:p>
        </p:txBody>
      </p:sp>
      <p:sp>
        <p:nvSpPr>
          <p:cNvPr id="68" name="Rectangle 67"/>
          <p:cNvSpPr/>
          <p:nvPr/>
        </p:nvSpPr>
        <p:spPr>
          <a:xfrm>
            <a:off x="8503919" y="4379975"/>
            <a:ext cx="3200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558784" y="4425695"/>
            <a:ext cx="3090672" cy="566928"/>
          </a:xfrm>
          <a:prstGeom prst="rect">
            <a:avLst/>
          </a:prstGeom>
          <a:noFill/>
        </p:spPr>
        <p:txBody>
          <a:bodyPr wrap="square">
            <a:spAutoFit/>
          </a:bodyPr>
          <a:lstStyle/>
          <a:p>
            <a:pPr algn="l"/>
            <a:r>
              <a:rPr sz="750" b="0" i="0">
                <a:solidFill>
                  <a:srgbClr val="444444"/>
                </a:solidFill>
              </a:rPr>
              <a:t>NPS+30達成後に開始。法務確認が必要。</a:t>
            </a:r>
          </a:p>
        </p:txBody>
      </p:sp>
      <p:sp>
        <p:nvSpPr>
          <p:cNvPr id="70" name="Rectangle 69"/>
          <p:cNvSpPr/>
          <p:nvPr/>
        </p:nvSpPr>
        <p:spPr>
          <a:xfrm>
            <a:off x="548640" y="5056631"/>
            <a:ext cx="20116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03503" y="5102351"/>
            <a:ext cx="1901952" cy="566928"/>
          </a:xfrm>
          <a:prstGeom prst="rect">
            <a:avLst/>
          </a:prstGeom>
          <a:noFill/>
        </p:spPr>
        <p:txBody>
          <a:bodyPr wrap="square">
            <a:spAutoFit/>
          </a:bodyPr>
          <a:lstStyle/>
          <a:p>
            <a:pPr algn="l"/>
            <a:r>
              <a:rPr sz="750" b="1" i="0">
                <a:solidFill>
                  <a:srgbClr val="0C3570"/>
                </a:solidFill>
              </a:rPr>
              <a:t>成功事例集作成</a:t>
            </a:r>
          </a:p>
        </p:txBody>
      </p:sp>
      <p:sp>
        <p:nvSpPr>
          <p:cNvPr id="72" name="Rectangle 71"/>
          <p:cNvSpPr/>
          <p:nvPr/>
        </p:nvSpPr>
        <p:spPr>
          <a:xfrm>
            <a:off x="2578608" y="5056631"/>
            <a:ext cx="109728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2633472" y="5102351"/>
            <a:ext cx="987552" cy="566928"/>
          </a:xfrm>
          <a:prstGeom prst="rect">
            <a:avLst/>
          </a:prstGeom>
          <a:noFill/>
        </p:spPr>
        <p:txBody>
          <a:bodyPr wrap="square">
            <a:spAutoFit/>
          </a:bodyPr>
          <a:lstStyle/>
          <a:p>
            <a:pPr algn="l"/>
            <a:r>
              <a:rPr sz="750" b="0" i="0">
                <a:solidFill>
                  <a:srgbClr val="0C3570"/>
                </a:solidFill>
              </a:rPr>
              <a:t>CS担当</a:t>
            </a:r>
          </a:p>
        </p:txBody>
      </p:sp>
      <p:sp>
        <p:nvSpPr>
          <p:cNvPr id="74" name="Rectangle 73"/>
          <p:cNvSpPr/>
          <p:nvPr/>
        </p:nvSpPr>
        <p:spPr>
          <a:xfrm>
            <a:off x="3694176" y="5056631"/>
            <a:ext cx="10972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3749039" y="5102351"/>
            <a:ext cx="987552" cy="566928"/>
          </a:xfrm>
          <a:prstGeom prst="rect">
            <a:avLst/>
          </a:prstGeom>
          <a:noFill/>
        </p:spPr>
        <p:txBody>
          <a:bodyPr wrap="square">
            <a:spAutoFit/>
          </a:bodyPr>
          <a:lstStyle/>
          <a:p>
            <a:pPr algn="l"/>
            <a:r>
              <a:rPr sz="750" b="0" i="0">
                <a:solidFill>
                  <a:srgbClr val="444444"/>
                </a:solidFill>
              </a:rPr>
              <a:t>2026年4月末</a:t>
            </a:r>
          </a:p>
        </p:txBody>
      </p:sp>
      <p:sp>
        <p:nvSpPr>
          <p:cNvPr id="76" name="Rectangle 75"/>
          <p:cNvSpPr/>
          <p:nvPr/>
        </p:nvSpPr>
        <p:spPr>
          <a:xfrm>
            <a:off x="4809744" y="5056631"/>
            <a:ext cx="27432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864607" y="5102351"/>
            <a:ext cx="2633472" cy="566928"/>
          </a:xfrm>
          <a:prstGeom prst="rect">
            <a:avLst/>
          </a:prstGeom>
          <a:noFill/>
        </p:spPr>
        <p:txBody>
          <a:bodyPr wrap="square">
            <a:spAutoFit/>
          </a:bodyPr>
          <a:lstStyle/>
          <a:p>
            <a:pPr algn="l"/>
            <a:r>
              <a:rPr sz="750" b="0" i="0">
                <a:solidFill>
                  <a:srgbClr val="444444"/>
                </a:solidFill>
              </a:rPr>
              <a:t>業界別成功事例10件・動画インタビュー3件</a:t>
            </a:r>
          </a:p>
        </p:txBody>
      </p:sp>
      <p:sp>
        <p:nvSpPr>
          <p:cNvPr id="78" name="Rectangle 77"/>
          <p:cNvSpPr/>
          <p:nvPr/>
        </p:nvSpPr>
        <p:spPr>
          <a:xfrm>
            <a:off x="7571231" y="5056631"/>
            <a:ext cx="9144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7626096" y="5102351"/>
            <a:ext cx="804672" cy="566928"/>
          </a:xfrm>
          <a:prstGeom prst="rect">
            <a:avLst/>
          </a:prstGeom>
          <a:noFill/>
        </p:spPr>
        <p:txBody>
          <a:bodyPr wrap="square">
            <a:spAutoFit/>
          </a:bodyPr>
          <a:lstStyle/>
          <a:p>
            <a:pPr algn="l"/>
            <a:r>
              <a:rPr sz="750" b="0" i="0">
                <a:solidFill>
                  <a:srgbClr val="444444"/>
                </a:solidFill>
              </a:rPr>
              <a:t>未着手</a:t>
            </a:r>
          </a:p>
        </p:txBody>
      </p:sp>
      <p:sp>
        <p:nvSpPr>
          <p:cNvPr id="80" name="Rectangle 79"/>
          <p:cNvSpPr/>
          <p:nvPr/>
        </p:nvSpPr>
        <p:spPr>
          <a:xfrm>
            <a:off x="8503919" y="5056631"/>
            <a:ext cx="32004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8558784" y="5102351"/>
            <a:ext cx="3090672" cy="566928"/>
          </a:xfrm>
          <a:prstGeom prst="rect">
            <a:avLst/>
          </a:prstGeom>
          <a:noFill/>
        </p:spPr>
        <p:txBody>
          <a:bodyPr wrap="square">
            <a:spAutoFit/>
          </a:bodyPr>
          <a:lstStyle/>
          <a:p>
            <a:pPr algn="l"/>
            <a:r>
              <a:rPr sz="750" b="0" i="0">
                <a:solidFill>
                  <a:srgbClr val="444444"/>
                </a:solidFill>
              </a:rPr>
              <a:t>オンボーディング改善の成果が出た顧客から優先的に取材する。</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評価表：5つの施策を4軸で評価し、優先順位を決定する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score_table ／ 用途: 評価・採点の一覧表示 ／ 件数: 複数行</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5つの施策を効果・実現性・コスト・スピードの4軸で評価した結果、CS体制強化とオンボーディング改善を最優先施策として推奨する。</a:t>
            </a:r>
          </a:p>
        </p:txBody>
      </p:sp>
      <p:sp>
        <p:nvSpPr>
          <p:cNvPr id="10" name="Rectangle 9"/>
          <p:cNvSpPr/>
          <p:nvPr/>
        </p:nvSpPr>
        <p:spPr>
          <a:xfrm>
            <a:off x="548640" y="1874519"/>
            <a:ext cx="228600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3" y="1947672"/>
            <a:ext cx="2176272" cy="329184"/>
          </a:xfrm>
          <a:prstGeom prst="rect">
            <a:avLst/>
          </a:prstGeom>
          <a:noFill/>
        </p:spPr>
        <p:txBody>
          <a:bodyPr wrap="square">
            <a:spAutoFit/>
          </a:bodyPr>
          <a:lstStyle/>
          <a:p>
            <a:pPr algn="l"/>
            <a:r>
              <a:rPr sz="850" b="1" i="0">
                <a:solidFill>
                  <a:srgbClr val="FFFFFF"/>
                </a:solidFill>
              </a:rPr>
              <a:t>施策名</a:t>
            </a:r>
          </a:p>
        </p:txBody>
      </p:sp>
      <p:sp>
        <p:nvSpPr>
          <p:cNvPr id="12" name="Rectangle 11"/>
          <p:cNvSpPr/>
          <p:nvPr/>
        </p:nvSpPr>
        <p:spPr>
          <a:xfrm>
            <a:off x="2852928" y="1874519"/>
            <a:ext cx="1005840" cy="457200"/>
          </a:xfrm>
          <a:prstGeom prst="rect">
            <a:avLst/>
          </a:prstGeom>
          <a:solidFill>
            <a:srgbClr val="08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07792" y="1947672"/>
            <a:ext cx="896112" cy="329184"/>
          </a:xfrm>
          <a:prstGeom prst="rect">
            <a:avLst/>
          </a:prstGeom>
          <a:noFill/>
        </p:spPr>
        <p:txBody>
          <a:bodyPr wrap="square">
            <a:spAutoFit/>
          </a:bodyPr>
          <a:lstStyle/>
          <a:p>
            <a:pPr algn="l"/>
            <a:r>
              <a:rPr sz="850" b="1" i="0">
                <a:solidFill>
                  <a:srgbClr val="FFFFFF"/>
                </a:solidFill>
              </a:rPr>
              <a:t>効果</a:t>
            </a:r>
          </a:p>
        </p:txBody>
      </p:sp>
      <p:sp>
        <p:nvSpPr>
          <p:cNvPr id="14" name="Rectangle 13"/>
          <p:cNvSpPr/>
          <p:nvPr/>
        </p:nvSpPr>
        <p:spPr>
          <a:xfrm>
            <a:off x="3877056" y="1874519"/>
            <a:ext cx="100584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931920" y="1947672"/>
            <a:ext cx="896112" cy="329184"/>
          </a:xfrm>
          <a:prstGeom prst="rect">
            <a:avLst/>
          </a:prstGeom>
          <a:noFill/>
        </p:spPr>
        <p:txBody>
          <a:bodyPr wrap="square">
            <a:spAutoFit/>
          </a:bodyPr>
          <a:lstStyle/>
          <a:p>
            <a:pPr algn="l"/>
            <a:r>
              <a:rPr sz="850" b="1" i="0">
                <a:solidFill>
                  <a:srgbClr val="FFFFFF"/>
                </a:solidFill>
              </a:rPr>
              <a:t>実現性</a:t>
            </a:r>
          </a:p>
        </p:txBody>
      </p:sp>
      <p:sp>
        <p:nvSpPr>
          <p:cNvPr id="16" name="Rectangle 15"/>
          <p:cNvSpPr/>
          <p:nvPr/>
        </p:nvSpPr>
        <p:spPr>
          <a:xfrm>
            <a:off x="4901183" y="1874519"/>
            <a:ext cx="109728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56047" y="1947672"/>
            <a:ext cx="987552" cy="329184"/>
          </a:xfrm>
          <a:prstGeom prst="rect">
            <a:avLst/>
          </a:prstGeom>
          <a:noFill/>
        </p:spPr>
        <p:txBody>
          <a:bodyPr wrap="square">
            <a:spAutoFit/>
          </a:bodyPr>
          <a:lstStyle/>
          <a:p>
            <a:pPr algn="l"/>
            <a:r>
              <a:rPr sz="850" b="1" i="0">
                <a:solidFill>
                  <a:srgbClr val="FFFFFF"/>
                </a:solidFill>
              </a:rPr>
              <a:t>コスト効率</a:t>
            </a:r>
          </a:p>
        </p:txBody>
      </p:sp>
      <p:sp>
        <p:nvSpPr>
          <p:cNvPr id="18" name="Rectangle 17"/>
          <p:cNvSpPr/>
          <p:nvPr/>
        </p:nvSpPr>
        <p:spPr>
          <a:xfrm>
            <a:off x="6016751" y="1874519"/>
            <a:ext cx="100584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071615" y="1947672"/>
            <a:ext cx="896112" cy="329184"/>
          </a:xfrm>
          <a:prstGeom prst="rect">
            <a:avLst/>
          </a:prstGeom>
          <a:noFill/>
        </p:spPr>
        <p:txBody>
          <a:bodyPr wrap="square">
            <a:spAutoFit/>
          </a:bodyPr>
          <a:lstStyle/>
          <a:p>
            <a:pPr algn="l"/>
            <a:r>
              <a:rPr sz="850" b="1" i="0">
                <a:solidFill>
                  <a:srgbClr val="FFFFFF"/>
                </a:solidFill>
              </a:rPr>
              <a:t>スピード</a:t>
            </a:r>
          </a:p>
        </p:txBody>
      </p:sp>
      <p:sp>
        <p:nvSpPr>
          <p:cNvPr id="20" name="Rectangle 19"/>
          <p:cNvSpPr/>
          <p:nvPr/>
        </p:nvSpPr>
        <p:spPr>
          <a:xfrm>
            <a:off x="7040879" y="1874519"/>
            <a:ext cx="82296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95743" y="1947672"/>
            <a:ext cx="713232" cy="329184"/>
          </a:xfrm>
          <a:prstGeom prst="rect">
            <a:avLst/>
          </a:prstGeom>
          <a:noFill/>
        </p:spPr>
        <p:txBody>
          <a:bodyPr wrap="square">
            <a:spAutoFit/>
          </a:bodyPr>
          <a:lstStyle/>
          <a:p>
            <a:pPr algn="l"/>
            <a:r>
              <a:rPr sz="850" b="1" i="0">
                <a:solidFill>
                  <a:srgbClr val="FFFFFF"/>
                </a:solidFill>
              </a:rPr>
              <a:t>総合</a:t>
            </a:r>
          </a:p>
        </p:txBody>
      </p:sp>
      <p:sp>
        <p:nvSpPr>
          <p:cNvPr id="22" name="Rectangle 21"/>
          <p:cNvSpPr/>
          <p:nvPr/>
        </p:nvSpPr>
        <p:spPr>
          <a:xfrm>
            <a:off x="7882127" y="1874519"/>
            <a:ext cx="292608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36992" y="1947672"/>
            <a:ext cx="2816352" cy="329184"/>
          </a:xfrm>
          <a:prstGeom prst="rect">
            <a:avLst/>
          </a:prstGeom>
          <a:noFill/>
        </p:spPr>
        <p:txBody>
          <a:bodyPr wrap="square">
            <a:spAutoFit/>
          </a:bodyPr>
          <a:lstStyle/>
          <a:p>
            <a:pPr algn="l"/>
            <a:r>
              <a:rPr sz="850" b="1" i="0">
                <a:solidFill>
                  <a:srgbClr val="FFFFFF"/>
                </a:solidFill>
              </a:rPr>
              <a:t>推奨度</a:t>
            </a:r>
          </a:p>
        </p:txBody>
      </p:sp>
      <p:sp>
        <p:nvSpPr>
          <p:cNvPr id="24" name="Rectangle 23"/>
          <p:cNvSpPr/>
          <p:nvPr/>
        </p:nvSpPr>
        <p:spPr>
          <a:xfrm>
            <a:off x="548640" y="2350008"/>
            <a:ext cx="22860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03503" y="2395727"/>
            <a:ext cx="2176272" cy="566928"/>
          </a:xfrm>
          <a:prstGeom prst="rect">
            <a:avLst/>
          </a:prstGeom>
          <a:noFill/>
        </p:spPr>
        <p:txBody>
          <a:bodyPr wrap="square">
            <a:spAutoFit/>
          </a:bodyPr>
          <a:lstStyle/>
          <a:p>
            <a:pPr algn="l"/>
            <a:r>
              <a:rPr sz="750" b="1" i="0">
                <a:solidFill>
                  <a:srgbClr val="0C3570"/>
                </a:solidFill>
              </a:rPr>
              <a:t>CS体制強化</a:t>
            </a:r>
          </a:p>
        </p:txBody>
      </p:sp>
      <p:sp>
        <p:nvSpPr>
          <p:cNvPr id="26" name="Rectangle 25"/>
          <p:cNvSpPr/>
          <p:nvPr/>
        </p:nvSpPr>
        <p:spPr>
          <a:xfrm>
            <a:off x="2852928" y="2350008"/>
            <a:ext cx="100584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907792" y="2395727"/>
            <a:ext cx="896112" cy="566928"/>
          </a:xfrm>
          <a:prstGeom prst="rect">
            <a:avLst/>
          </a:prstGeom>
          <a:noFill/>
        </p:spPr>
        <p:txBody>
          <a:bodyPr wrap="square">
            <a:spAutoFit/>
          </a:bodyPr>
          <a:lstStyle/>
          <a:p>
            <a:pPr algn="l"/>
            <a:r>
              <a:rPr sz="750" b="0" i="0">
                <a:solidFill>
                  <a:srgbClr val="0C3570"/>
                </a:solidFill>
              </a:rPr>
              <a:t>A</a:t>
            </a:r>
          </a:p>
        </p:txBody>
      </p:sp>
      <p:sp>
        <p:nvSpPr>
          <p:cNvPr id="28" name="Rectangle 27"/>
          <p:cNvSpPr/>
          <p:nvPr/>
        </p:nvSpPr>
        <p:spPr>
          <a:xfrm>
            <a:off x="3877056" y="2350008"/>
            <a:ext cx="100584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0" y="2395727"/>
            <a:ext cx="896112" cy="566928"/>
          </a:xfrm>
          <a:prstGeom prst="rect">
            <a:avLst/>
          </a:prstGeom>
          <a:noFill/>
        </p:spPr>
        <p:txBody>
          <a:bodyPr wrap="square">
            <a:spAutoFit/>
          </a:bodyPr>
          <a:lstStyle/>
          <a:p>
            <a:pPr algn="l"/>
            <a:r>
              <a:rPr sz="750" b="0" i="0">
                <a:solidFill>
                  <a:srgbClr val="444444"/>
                </a:solidFill>
              </a:rPr>
              <a:t>A</a:t>
            </a:r>
          </a:p>
        </p:txBody>
      </p:sp>
      <p:sp>
        <p:nvSpPr>
          <p:cNvPr id="30" name="Rectangle 29"/>
          <p:cNvSpPr/>
          <p:nvPr/>
        </p:nvSpPr>
        <p:spPr>
          <a:xfrm>
            <a:off x="4901183" y="2350008"/>
            <a:ext cx="10972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956047" y="2395727"/>
            <a:ext cx="987552" cy="566928"/>
          </a:xfrm>
          <a:prstGeom prst="rect">
            <a:avLst/>
          </a:prstGeom>
          <a:noFill/>
        </p:spPr>
        <p:txBody>
          <a:bodyPr wrap="square">
            <a:spAutoFit/>
          </a:bodyPr>
          <a:lstStyle/>
          <a:p>
            <a:pPr algn="l"/>
            <a:r>
              <a:rPr sz="750" b="0" i="0">
                <a:solidFill>
                  <a:srgbClr val="444444"/>
                </a:solidFill>
              </a:rPr>
              <a:t>B</a:t>
            </a:r>
          </a:p>
        </p:txBody>
      </p:sp>
      <p:sp>
        <p:nvSpPr>
          <p:cNvPr id="32" name="Rectangle 31"/>
          <p:cNvSpPr/>
          <p:nvPr/>
        </p:nvSpPr>
        <p:spPr>
          <a:xfrm>
            <a:off x="6016751" y="2350008"/>
            <a:ext cx="100584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071615" y="2395727"/>
            <a:ext cx="896112" cy="566928"/>
          </a:xfrm>
          <a:prstGeom prst="rect">
            <a:avLst/>
          </a:prstGeom>
          <a:noFill/>
        </p:spPr>
        <p:txBody>
          <a:bodyPr wrap="square">
            <a:spAutoFit/>
          </a:bodyPr>
          <a:lstStyle/>
          <a:p>
            <a:pPr algn="l"/>
            <a:r>
              <a:rPr sz="750" b="0" i="0">
                <a:solidFill>
                  <a:srgbClr val="444444"/>
                </a:solidFill>
              </a:rPr>
              <a:t>B</a:t>
            </a:r>
          </a:p>
        </p:txBody>
      </p:sp>
      <p:sp>
        <p:nvSpPr>
          <p:cNvPr id="34" name="Rectangle 33"/>
          <p:cNvSpPr/>
          <p:nvPr/>
        </p:nvSpPr>
        <p:spPr>
          <a:xfrm>
            <a:off x="7040879" y="2350008"/>
            <a:ext cx="82296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095743" y="2395727"/>
            <a:ext cx="713232" cy="566928"/>
          </a:xfrm>
          <a:prstGeom prst="rect">
            <a:avLst/>
          </a:prstGeom>
          <a:noFill/>
        </p:spPr>
        <p:txBody>
          <a:bodyPr wrap="square">
            <a:spAutoFit/>
          </a:bodyPr>
          <a:lstStyle/>
          <a:p>
            <a:pPr algn="l"/>
            <a:r>
              <a:rPr sz="750" b="0" i="0">
                <a:solidFill>
                  <a:srgbClr val="444444"/>
                </a:solidFill>
              </a:rPr>
              <a:t>A</a:t>
            </a:r>
          </a:p>
        </p:txBody>
      </p:sp>
      <p:sp>
        <p:nvSpPr>
          <p:cNvPr id="36" name="Rectangle 35"/>
          <p:cNvSpPr/>
          <p:nvPr/>
        </p:nvSpPr>
        <p:spPr>
          <a:xfrm>
            <a:off x="7882127" y="2350008"/>
            <a:ext cx="29260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936992" y="2395727"/>
            <a:ext cx="2816352" cy="566928"/>
          </a:xfrm>
          <a:prstGeom prst="rect">
            <a:avLst/>
          </a:prstGeom>
          <a:noFill/>
        </p:spPr>
        <p:txBody>
          <a:bodyPr wrap="square">
            <a:spAutoFit/>
          </a:bodyPr>
          <a:lstStyle/>
          <a:p>
            <a:pPr algn="l"/>
            <a:r>
              <a:rPr sz="750" b="0" i="0">
                <a:solidFill>
                  <a:srgbClr val="444444"/>
                </a:solidFill>
              </a:rPr>
              <a:t>最優先</a:t>
            </a:r>
          </a:p>
        </p:txBody>
      </p:sp>
      <p:sp>
        <p:nvSpPr>
          <p:cNvPr id="38" name="Rectangle 37"/>
          <p:cNvSpPr/>
          <p:nvPr/>
        </p:nvSpPr>
        <p:spPr>
          <a:xfrm>
            <a:off x="548640" y="3026664"/>
            <a:ext cx="2286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03503" y="3072384"/>
            <a:ext cx="2176272" cy="566928"/>
          </a:xfrm>
          <a:prstGeom prst="rect">
            <a:avLst/>
          </a:prstGeom>
          <a:noFill/>
        </p:spPr>
        <p:txBody>
          <a:bodyPr wrap="square">
            <a:spAutoFit/>
          </a:bodyPr>
          <a:lstStyle/>
          <a:p>
            <a:pPr algn="l"/>
            <a:r>
              <a:rPr sz="750" b="1" i="0">
                <a:solidFill>
                  <a:srgbClr val="0C3570"/>
                </a:solidFill>
              </a:rPr>
              <a:t>オンボーディング改善</a:t>
            </a:r>
          </a:p>
        </p:txBody>
      </p:sp>
      <p:sp>
        <p:nvSpPr>
          <p:cNvPr id="40" name="Rectangle 39"/>
          <p:cNvSpPr/>
          <p:nvPr/>
        </p:nvSpPr>
        <p:spPr>
          <a:xfrm>
            <a:off x="2852928" y="3026664"/>
            <a:ext cx="100584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907792" y="3072384"/>
            <a:ext cx="896112" cy="566928"/>
          </a:xfrm>
          <a:prstGeom prst="rect">
            <a:avLst/>
          </a:prstGeom>
          <a:noFill/>
        </p:spPr>
        <p:txBody>
          <a:bodyPr wrap="square">
            <a:spAutoFit/>
          </a:bodyPr>
          <a:lstStyle/>
          <a:p>
            <a:pPr algn="l"/>
            <a:r>
              <a:rPr sz="750" b="0" i="0">
                <a:solidFill>
                  <a:srgbClr val="0C3570"/>
                </a:solidFill>
              </a:rPr>
              <a:t>A</a:t>
            </a:r>
          </a:p>
        </p:txBody>
      </p:sp>
      <p:sp>
        <p:nvSpPr>
          <p:cNvPr id="42" name="Rectangle 41"/>
          <p:cNvSpPr/>
          <p:nvPr/>
        </p:nvSpPr>
        <p:spPr>
          <a:xfrm>
            <a:off x="3877056" y="3026664"/>
            <a:ext cx="100584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931920" y="3072384"/>
            <a:ext cx="896112" cy="566928"/>
          </a:xfrm>
          <a:prstGeom prst="rect">
            <a:avLst/>
          </a:prstGeom>
          <a:noFill/>
        </p:spPr>
        <p:txBody>
          <a:bodyPr wrap="square">
            <a:spAutoFit/>
          </a:bodyPr>
          <a:lstStyle/>
          <a:p>
            <a:pPr algn="l"/>
            <a:r>
              <a:rPr sz="750" b="0" i="0">
                <a:solidFill>
                  <a:srgbClr val="444444"/>
                </a:solidFill>
              </a:rPr>
              <a:t>A</a:t>
            </a:r>
          </a:p>
        </p:txBody>
      </p:sp>
      <p:sp>
        <p:nvSpPr>
          <p:cNvPr id="44" name="Rectangle 43"/>
          <p:cNvSpPr/>
          <p:nvPr/>
        </p:nvSpPr>
        <p:spPr>
          <a:xfrm>
            <a:off x="4901183" y="3026664"/>
            <a:ext cx="109728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956047" y="3072384"/>
            <a:ext cx="987552" cy="566928"/>
          </a:xfrm>
          <a:prstGeom prst="rect">
            <a:avLst/>
          </a:prstGeom>
          <a:noFill/>
        </p:spPr>
        <p:txBody>
          <a:bodyPr wrap="square">
            <a:spAutoFit/>
          </a:bodyPr>
          <a:lstStyle/>
          <a:p>
            <a:pPr algn="l"/>
            <a:r>
              <a:rPr sz="750" b="0" i="0">
                <a:solidFill>
                  <a:srgbClr val="444444"/>
                </a:solidFill>
              </a:rPr>
              <a:t>A</a:t>
            </a:r>
          </a:p>
        </p:txBody>
      </p:sp>
      <p:sp>
        <p:nvSpPr>
          <p:cNvPr id="46" name="Rectangle 45"/>
          <p:cNvSpPr/>
          <p:nvPr/>
        </p:nvSpPr>
        <p:spPr>
          <a:xfrm>
            <a:off x="6016751" y="3026664"/>
            <a:ext cx="100584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071615" y="3072384"/>
            <a:ext cx="896112" cy="566928"/>
          </a:xfrm>
          <a:prstGeom prst="rect">
            <a:avLst/>
          </a:prstGeom>
          <a:noFill/>
        </p:spPr>
        <p:txBody>
          <a:bodyPr wrap="square">
            <a:spAutoFit/>
          </a:bodyPr>
          <a:lstStyle/>
          <a:p>
            <a:pPr algn="l"/>
            <a:r>
              <a:rPr sz="750" b="0" i="0">
                <a:solidFill>
                  <a:srgbClr val="444444"/>
                </a:solidFill>
              </a:rPr>
              <a:t>A</a:t>
            </a:r>
          </a:p>
        </p:txBody>
      </p:sp>
      <p:sp>
        <p:nvSpPr>
          <p:cNvPr id="48" name="Rectangle 47"/>
          <p:cNvSpPr/>
          <p:nvPr/>
        </p:nvSpPr>
        <p:spPr>
          <a:xfrm>
            <a:off x="7040879" y="3026664"/>
            <a:ext cx="82296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095743" y="3072384"/>
            <a:ext cx="713232" cy="566928"/>
          </a:xfrm>
          <a:prstGeom prst="rect">
            <a:avLst/>
          </a:prstGeom>
          <a:noFill/>
        </p:spPr>
        <p:txBody>
          <a:bodyPr wrap="square">
            <a:spAutoFit/>
          </a:bodyPr>
          <a:lstStyle/>
          <a:p>
            <a:pPr algn="l"/>
            <a:r>
              <a:rPr sz="750" b="0" i="0">
                <a:solidFill>
                  <a:srgbClr val="444444"/>
                </a:solidFill>
              </a:rPr>
              <a:t>A+</a:t>
            </a:r>
          </a:p>
        </p:txBody>
      </p:sp>
      <p:sp>
        <p:nvSpPr>
          <p:cNvPr id="50" name="Rectangle 49"/>
          <p:cNvSpPr/>
          <p:nvPr/>
        </p:nvSpPr>
        <p:spPr>
          <a:xfrm>
            <a:off x="7882127" y="3026664"/>
            <a:ext cx="292608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936992" y="3072384"/>
            <a:ext cx="2816352" cy="566928"/>
          </a:xfrm>
          <a:prstGeom prst="rect">
            <a:avLst/>
          </a:prstGeom>
          <a:noFill/>
        </p:spPr>
        <p:txBody>
          <a:bodyPr wrap="square">
            <a:spAutoFit/>
          </a:bodyPr>
          <a:lstStyle/>
          <a:p>
            <a:pPr algn="l"/>
            <a:r>
              <a:rPr sz="750" b="0" i="0">
                <a:solidFill>
                  <a:srgbClr val="444444"/>
                </a:solidFill>
              </a:rPr>
              <a:t>最優先</a:t>
            </a:r>
          </a:p>
        </p:txBody>
      </p:sp>
      <p:sp>
        <p:nvSpPr>
          <p:cNvPr id="52" name="Rectangle 51"/>
          <p:cNvSpPr/>
          <p:nvPr/>
        </p:nvSpPr>
        <p:spPr>
          <a:xfrm>
            <a:off x="548640" y="3703319"/>
            <a:ext cx="22860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03503" y="3749039"/>
            <a:ext cx="2176272" cy="566928"/>
          </a:xfrm>
          <a:prstGeom prst="rect">
            <a:avLst/>
          </a:prstGeom>
          <a:noFill/>
        </p:spPr>
        <p:txBody>
          <a:bodyPr wrap="square">
            <a:spAutoFit/>
          </a:bodyPr>
          <a:lstStyle/>
          <a:p>
            <a:pPr algn="l"/>
            <a:r>
              <a:rPr sz="750" b="1" i="0">
                <a:solidFill>
                  <a:srgbClr val="0C3570"/>
                </a:solidFill>
              </a:rPr>
              <a:t>ヘルススコア導入</a:t>
            </a:r>
          </a:p>
        </p:txBody>
      </p:sp>
      <p:sp>
        <p:nvSpPr>
          <p:cNvPr id="54" name="Rectangle 53"/>
          <p:cNvSpPr/>
          <p:nvPr/>
        </p:nvSpPr>
        <p:spPr>
          <a:xfrm>
            <a:off x="2852928" y="3703319"/>
            <a:ext cx="100584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907792" y="3749039"/>
            <a:ext cx="896112" cy="566928"/>
          </a:xfrm>
          <a:prstGeom prst="rect">
            <a:avLst/>
          </a:prstGeom>
          <a:noFill/>
        </p:spPr>
        <p:txBody>
          <a:bodyPr wrap="square">
            <a:spAutoFit/>
          </a:bodyPr>
          <a:lstStyle/>
          <a:p>
            <a:pPr algn="l"/>
            <a:r>
              <a:rPr sz="750" b="0" i="0">
                <a:solidFill>
                  <a:srgbClr val="0C3570"/>
                </a:solidFill>
              </a:rPr>
              <a:t>A</a:t>
            </a:r>
          </a:p>
        </p:txBody>
      </p:sp>
      <p:sp>
        <p:nvSpPr>
          <p:cNvPr id="56" name="Rectangle 55"/>
          <p:cNvSpPr/>
          <p:nvPr/>
        </p:nvSpPr>
        <p:spPr>
          <a:xfrm>
            <a:off x="3877056" y="3703319"/>
            <a:ext cx="100584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931920" y="3749039"/>
            <a:ext cx="896112" cy="566928"/>
          </a:xfrm>
          <a:prstGeom prst="rect">
            <a:avLst/>
          </a:prstGeom>
          <a:noFill/>
        </p:spPr>
        <p:txBody>
          <a:bodyPr wrap="square">
            <a:spAutoFit/>
          </a:bodyPr>
          <a:lstStyle/>
          <a:p>
            <a:pPr algn="l"/>
            <a:r>
              <a:rPr sz="750" b="0" i="0">
                <a:solidFill>
                  <a:srgbClr val="444444"/>
                </a:solidFill>
              </a:rPr>
              <a:t>B</a:t>
            </a:r>
          </a:p>
        </p:txBody>
      </p:sp>
      <p:sp>
        <p:nvSpPr>
          <p:cNvPr id="58" name="Rectangle 57"/>
          <p:cNvSpPr/>
          <p:nvPr/>
        </p:nvSpPr>
        <p:spPr>
          <a:xfrm>
            <a:off x="4901183" y="3703319"/>
            <a:ext cx="10972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956047" y="3749039"/>
            <a:ext cx="987552" cy="566928"/>
          </a:xfrm>
          <a:prstGeom prst="rect">
            <a:avLst/>
          </a:prstGeom>
          <a:noFill/>
        </p:spPr>
        <p:txBody>
          <a:bodyPr wrap="square">
            <a:spAutoFit/>
          </a:bodyPr>
          <a:lstStyle/>
          <a:p>
            <a:pPr algn="l"/>
            <a:r>
              <a:rPr sz="750" b="0" i="0">
                <a:solidFill>
                  <a:srgbClr val="444444"/>
                </a:solidFill>
              </a:rPr>
              <a:t>B</a:t>
            </a:r>
          </a:p>
        </p:txBody>
      </p:sp>
      <p:sp>
        <p:nvSpPr>
          <p:cNvPr id="60" name="Rectangle 59"/>
          <p:cNvSpPr/>
          <p:nvPr/>
        </p:nvSpPr>
        <p:spPr>
          <a:xfrm>
            <a:off x="6016751" y="3703319"/>
            <a:ext cx="100584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071615" y="3749039"/>
            <a:ext cx="896112" cy="566928"/>
          </a:xfrm>
          <a:prstGeom prst="rect">
            <a:avLst/>
          </a:prstGeom>
          <a:noFill/>
        </p:spPr>
        <p:txBody>
          <a:bodyPr wrap="square">
            <a:spAutoFit/>
          </a:bodyPr>
          <a:lstStyle/>
          <a:p>
            <a:pPr algn="l"/>
            <a:r>
              <a:rPr sz="750" b="0" i="0">
                <a:solidFill>
                  <a:srgbClr val="444444"/>
                </a:solidFill>
              </a:rPr>
              <a:t>B</a:t>
            </a:r>
          </a:p>
        </p:txBody>
      </p:sp>
      <p:sp>
        <p:nvSpPr>
          <p:cNvPr id="62" name="Rectangle 61"/>
          <p:cNvSpPr/>
          <p:nvPr/>
        </p:nvSpPr>
        <p:spPr>
          <a:xfrm>
            <a:off x="7040879" y="3703319"/>
            <a:ext cx="82296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095743" y="3749039"/>
            <a:ext cx="713232" cy="566928"/>
          </a:xfrm>
          <a:prstGeom prst="rect">
            <a:avLst/>
          </a:prstGeom>
          <a:noFill/>
        </p:spPr>
        <p:txBody>
          <a:bodyPr wrap="square">
            <a:spAutoFit/>
          </a:bodyPr>
          <a:lstStyle/>
          <a:p>
            <a:pPr algn="l"/>
            <a:r>
              <a:rPr sz="750" b="0" i="0">
                <a:solidFill>
                  <a:srgbClr val="444444"/>
                </a:solidFill>
              </a:rPr>
              <a:t>B+</a:t>
            </a:r>
          </a:p>
        </p:txBody>
      </p:sp>
      <p:sp>
        <p:nvSpPr>
          <p:cNvPr id="64" name="Rectangle 63"/>
          <p:cNvSpPr/>
          <p:nvPr/>
        </p:nvSpPr>
        <p:spPr>
          <a:xfrm>
            <a:off x="7882127" y="3703319"/>
            <a:ext cx="29260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936992" y="3749039"/>
            <a:ext cx="2816352" cy="566928"/>
          </a:xfrm>
          <a:prstGeom prst="rect">
            <a:avLst/>
          </a:prstGeom>
          <a:noFill/>
        </p:spPr>
        <p:txBody>
          <a:bodyPr wrap="square">
            <a:spAutoFit/>
          </a:bodyPr>
          <a:lstStyle/>
          <a:p>
            <a:pPr algn="l"/>
            <a:r>
              <a:rPr sz="750" b="0" i="0">
                <a:solidFill>
                  <a:srgbClr val="444444"/>
                </a:solidFill>
              </a:rPr>
              <a:t>優先</a:t>
            </a:r>
          </a:p>
        </p:txBody>
      </p:sp>
      <p:sp>
        <p:nvSpPr>
          <p:cNvPr id="66" name="Rectangle 65"/>
          <p:cNvSpPr/>
          <p:nvPr/>
        </p:nvSpPr>
        <p:spPr>
          <a:xfrm>
            <a:off x="548640" y="4379975"/>
            <a:ext cx="2286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03503" y="4425695"/>
            <a:ext cx="2176272" cy="566928"/>
          </a:xfrm>
          <a:prstGeom prst="rect">
            <a:avLst/>
          </a:prstGeom>
          <a:noFill/>
        </p:spPr>
        <p:txBody>
          <a:bodyPr wrap="square">
            <a:spAutoFit/>
          </a:bodyPr>
          <a:lstStyle/>
          <a:p>
            <a:pPr algn="l"/>
            <a:r>
              <a:rPr sz="750" b="1" i="0">
                <a:solidFill>
                  <a:srgbClr val="0C3570"/>
                </a:solidFill>
              </a:rPr>
              <a:t>リファラルプログラム</a:t>
            </a:r>
          </a:p>
        </p:txBody>
      </p:sp>
      <p:sp>
        <p:nvSpPr>
          <p:cNvPr id="68" name="Rectangle 67"/>
          <p:cNvSpPr/>
          <p:nvPr/>
        </p:nvSpPr>
        <p:spPr>
          <a:xfrm>
            <a:off x="2852928" y="4379975"/>
            <a:ext cx="100584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2907792" y="4425695"/>
            <a:ext cx="896112" cy="566928"/>
          </a:xfrm>
          <a:prstGeom prst="rect">
            <a:avLst/>
          </a:prstGeom>
          <a:noFill/>
        </p:spPr>
        <p:txBody>
          <a:bodyPr wrap="square">
            <a:spAutoFit/>
          </a:bodyPr>
          <a:lstStyle/>
          <a:p>
            <a:pPr algn="l"/>
            <a:r>
              <a:rPr sz="750" b="0" i="0">
                <a:solidFill>
                  <a:srgbClr val="0C3570"/>
                </a:solidFill>
              </a:rPr>
              <a:t>B</a:t>
            </a:r>
          </a:p>
        </p:txBody>
      </p:sp>
      <p:sp>
        <p:nvSpPr>
          <p:cNvPr id="70" name="Rectangle 69"/>
          <p:cNvSpPr/>
          <p:nvPr/>
        </p:nvSpPr>
        <p:spPr>
          <a:xfrm>
            <a:off x="3877056" y="4379975"/>
            <a:ext cx="100584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931920" y="4425695"/>
            <a:ext cx="896112" cy="566928"/>
          </a:xfrm>
          <a:prstGeom prst="rect">
            <a:avLst/>
          </a:prstGeom>
          <a:noFill/>
        </p:spPr>
        <p:txBody>
          <a:bodyPr wrap="square">
            <a:spAutoFit/>
          </a:bodyPr>
          <a:lstStyle/>
          <a:p>
            <a:pPr algn="l"/>
            <a:r>
              <a:rPr sz="750" b="0" i="0">
                <a:solidFill>
                  <a:srgbClr val="444444"/>
                </a:solidFill>
              </a:rPr>
              <a:t>B</a:t>
            </a:r>
          </a:p>
        </p:txBody>
      </p:sp>
      <p:sp>
        <p:nvSpPr>
          <p:cNvPr id="72" name="Rectangle 71"/>
          <p:cNvSpPr/>
          <p:nvPr/>
        </p:nvSpPr>
        <p:spPr>
          <a:xfrm>
            <a:off x="4901183" y="4379975"/>
            <a:ext cx="109728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4956047" y="4425695"/>
            <a:ext cx="987552" cy="566928"/>
          </a:xfrm>
          <a:prstGeom prst="rect">
            <a:avLst/>
          </a:prstGeom>
          <a:noFill/>
        </p:spPr>
        <p:txBody>
          <a:bodyPr wrap="square">
            <a:spAutoFit/>
          </a:bodyPr>
          <a:lstStyle/>
          <a:p>
            <a:pPr algn="l"/>
            <a:r>
              <a:rPr sz="750" b="0" i="0">
                <a:solidFill>
                  <a:srgbClr val="444444"/>
                </a:solidFill>
              </a:rPr>
              <a:t>A</a:t>
            </a:r>
          </a:p>
        </p:txBody>
      </p:sp>
      <p:sp>
        <p:nvSpPr>
          <p:cNvPr id="74" name="Rectangle 73"/>
          <p:cNvSpPr/>
          <p:nvPr/>
        </p:nvSpPr>
        <p:spPr>
          <a:xfrm>
            <a:off x="6016751" y="4379975"/>
            <a:ext cx="100584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071615" y="4425695"/>
            <a:ext cx="896112" cy="566928"/>
          </a:xfrm>
          <a:prstGeom prst="rect">
            <a:avLst/>
          </a:prstGeom>
          <a:noFill/>
        </p:spPr>
        <p:txBody>
          <a:bodyPr wrap="square">
            <a:spAutoFit/>
          </a:bodyPr>
          <a:lstStyle/>
          <a:p>
            <a:pPr algn="l"/>
            <a:r>
              <a:rPr sz="750" b="0" i="0">
                <a:solidFill>
                  <a:srgbClr val="444444"/>
                </a:solidFill>
              </a:rPr>
              <a:t>C</a:t>
            </a:r>
          </a:p>
        </p:txBody>
      </p:sp>
      <p:sp>
        <p:nvSpPr>
          <p:cNvPr id="76" name="Rectangle 75"/>
          <p:cNvSpPr/>
          <p:nvPr/>
        </p:nvSpPr>
        <p:spPr>
          <a:xfrm>
            <a:off x="7040879" y="4379975"/>
            <a:ext cx="82296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7095743" y="4425695"/>
            <a:ext cx="713232" cy="566928"/>
          </a:xfrm>
          <a:prstGeom prst="rect">
            <a:avLst/>
          </a:prstGeom>
          <a:noFill/>
        </p:spPr>
        <p:txBody>
          <a:bodyPr wrap="square">
            <a:spAutoFit/>
          </a:bodyPr>
          <a:lstStyle/>
          <a:p>
            <a:pPr algn="l"/>
            <a:r>
              <a:rPr sz="750" b="0" i="0">
                <a:solidFill>
                  <a:srgbClr val="444444"/>
                </a:solidFill>
              </a:rPr>
              <a:t>B</a:t>
            </a:r>
          </a:p>
        </p:txBody>
      </p:sp>
      <p:sp>
        <p:nvSpPr>
          <p:cNvPr id="78" name="Rectangle 77"/>
          <p:cNvSpPr/>
          <p:nvPr/>
        </p:nvSpPr>
        <p:spPr>
          <a:xfrm>
            <a:off x="7882127" y="4379975"/>
            <a:ext cx="292608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7936992" y="4425695"/>
            <a:ext cx="2816352" cy="566928"/>
          </a:xfrm>
          <a:prstGeom prst="rect">
            <a:avLst/>
          </a:prstGeom>
          <a:noFill/>
        </p:spPr>
        <p:txBody>
          <a:bodyPr wrap="square">
            <a:spAutoFit/>
          </a:bodyPr>
          <a:lstStyle/>
          <a:p>
            <a:pPr algn="l"/>
            <a:r>
              <a:rPr sz="750" b="0" i="0">
                <a:solidFill>
                  <a:srgbClr val="444444"/>
                </a:solidFill>
              </a:rPr>
              <a:t>中期</a:t>
            </a:r>
          </a:p>
        </p:txBody>
      </p:sp>
      <p:sp>
        <p:nvSpPr>
          <p:cNvPr id="80" name="Rectangle 79"/>
          <p:cNvSpPr/>
          <p:nvPr/>
        </p:nvSpPr>
        <p:spPr>
          <a:xfrm>
            <a:off x="548640" y="5056631"/>
            <a:ext cx="22860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603503" y="5102351"/>
            <a:ext cx="2176272" cy="566928"/>
          </a:xfrm>
          <a:prstGeom prst="rect">
            <a:avLst/>
          </a:prstGeom>
          <a:noFill/>
        </p:spPr>
        <p:txBody>
          <a:bodyPr wrap="square">
            <a:spAutoFit/>
          </a:bodyPr>
          <a:lstStyle/>
          <a:p>
            <a:pPr algn="l"/>
            <a:r>
              <a:rPr sz="750" b="1" i="0">
                <a:solidFill>
                  <a:srgbClr val="0C3570"/>
                </a:solidFill>
              </a:rPr>
              <a:t>成功事例集作成</a:t>
            </a:r>
          </a:p>
        </p:txBody>
      </p:sp>
      <p:sp>
        <p:nvSpPr>
          <p:cNvPr id="82" name="Rectangle 81"/>
          <p:cNvSpPr/>
          <p:nvPr/>
        </p:nvSpPr>
        <p:spPr>
          <a:xfrm>
            <a:off x="2852928" y="5056631"/>
            <a:ext cx="100584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2907792" y="5102351"/>
            <a:ext cx="896112" cy="566928"/>
          </a:xfrm>
          <a:prstGeom prst="rect">
            <a:avLst/>
          </a:prstGeom>
          <a:noFill/>
        </p:spPr>
        <p:txBody>
          <a:bodyPr wrap="square">
            <a:spAutoFit/>
          </a:bodyPr>
          <a:lstStyle/>
          <a:p>
            <a:pPr algn="l"/>
            <a:r>
              <a:rPr sz="750" b="0" i="0">
                <a:solidFill>
                  <a:srgbClr val="0C3570"/>
                </a:solidFill>
              </a:rPr>
              <a:t>B</a:t>
            </a:r>
          </a:p>
        </p:txBody>
      </p:sp>
      <p:sp>
        <p:nvSpPr>
          <p:cNvPr id="84" name="Rectangle 83"/>
          <p:cNvSpPr/>
          <p:nvPr/>
        </p:nvSpPr>
        <p:spPr>
          <a:xfrm>
            <a:off x="3877056" y="5056631"/>
            <a:ext cx="100584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3931920" y="5102351"/>
            <a:ext cx="896112" cy="566928"/>
          </a:xfrm>
          <a:prstGeom prst="rect">
            <a:avLst/>
          </a:prstGeom>
          <a:noFill/>
        </p:spPr>
        <p:txBody>
          <a:bodyPr wrap="square">
            <a:spAutoFit/>
          </a:bodyPr>
          <a:lstStyle/>
          <a:p>
            <a:pPr algn="l"/>
            <a:r>
              <a:rPr sz="750" b="0" i="0">
                <a:solidFill>
                  <a:srgbClr val="444444"/>
                </a:solidFill>
              </a:rPr>
              <a:t>A</a:t>
            </a:r>
          </a:p>
        </p:txBody>
      </p:sp>
      <p:sp>
        <p:nvSpPr>
          <p:cNvPr id="86" name="Rectangle 85"/>
          <p:cNvSpPr/>
          <p:nvPr/>
        </p:nvSpPr>
        <p:spPr>
          <a:xfrm>
            <a:off x="4901183" y="5056631"/>
            <a:ext cx="10972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4956047" y="5102351"/>
            <a:ext cx="987552" cy="566928"/>
          </a:xfrm>
          <a:prstGeom prst="rect">
            <a:avLst/>
          </a:prstGeom>
          <a:noFill/>
        </p:spPr>
        <p:txBody>
          <a:bodyPr wrap="square">
            <a:spAutoFit/>
          </a:bodyPr>
          <a:lstStyle/>
          <a:p>
            <a:pPr algn="l"/>
            <a:r>
              <a:rPr sz="750" b="0" i="0">
                <a:solidFill>
                  <a:srgbClr val="444444"/>
                </a:solidFill>
              </a:rPr>
              <a:t>A</a:t>
            </a:r>
          </a:p>
        </p:txBody>
      </p:sp>
      <p:sp>
        <p:nvSpPr>
          <p:cNvPr id="88" name="Rectangle 87"/>
          <p:cNvSpPr/>
          <p:nvPr/>
        </p:nvSpPr>
        <p:spPr>
          <a:xfrm>
            <a:off x="6016751" y="5056631"/>
            <a:ext cx="100584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6071615" y="5102351"/>
            <a:ext cx="896112" cy="566928"/>
          </a:xfrm>
          <a:prstGeom prst="rect">
            <a:avLst/>
          </a:prstGeom>
          <a:noFill/>
        </p:spPr>
        <p:txBody>
          <a:bodyPr wrap="square">
            <a:spAutoFit/>
          </a:bodyPr>
          <a:lstStyle/>
          <a:p>
            <a:pPr algn="l"/>
            <a:r>
              <a:rPr sz="750" b="0" i="0">
                <a:solidFill>
                  <a:srgbClr val="444444"/>
                </a:solidFill>
              </a:rPr>
              <a:t>B</a:t>
            </a:r>
          </a:p>
        </p:txBody>
      </p:sp>
      <p:sp>
        <p:nvSpPr>
          <p:cNvPr id="90" name="Rectangle 89"/>
          <p:cNvSpPr/>
          <p:nvPr/>
        </p:nvSpPr>
        <p:spPr>
          <a:xfrm>
            <a:off x="7040879" y="5056631"/>
            <a:ext cx="82296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7095743" y="5102351"/>
            <a:ext cx="713232" cy="566928"/>
          </a:xfrm>
          <a:prstGeom prst="rect">
            <a:avLst/>
          </a:prstGeom>
          <a:noFill/>
        </p:spPr>
        <p:txBody>
          <a:bodyPr wrap="square">
            <a:spAutoFit/>
          </a:bodyPr>
          <a:lstStyle/>
          <a:p>
            <a:pPr algn="l"/>
            <a:r>
              <a:rPr sz="750" b="0" i="0">
                <a:solidFill>
                  <a:srgbClr val="444444"/>
                </a:solidFill>
              </a:rPr>
              <a:t>B+</a:t>
            </a:r>
          </a:p>
        </p:txBody>
      </p:sp>
      <p:sp>
        <p:nvSpPr>
          <p:cNvPr id="92" name="Rectangle 91"/>
          <p:cNvSpPr/>
          <p:nvPr/>
        </p:nvSpPr>
        <p:spPr>
          <a:xfrm>
            <a:off x="7882127" y="5056631"/>
            <a:ext cx="29260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7936992" y="5102351"/>
            <a:ext cx="2816352" cy="566928"/>
          </a:xfrm>
          <a:prstGeom prst="rect">
            <a:avLst/>
          </a:prstGeom>
          <a:noFill/>
        </p:spPr>
        <p:txBody>
          <a:bodyPr wrap="square">
            <a:spAutoFit/>
          </a:bodyPr>
          <a:lstStyle/>
          <a:p>
            <a:pPr algn="l"/>
            <a:r>
              <a:rPr sz="750" b="0" i="0">
                <a:solidFill>
                  <a:srgbClr val="444444"/>
                </a:solidFill>
              </a:rPr>
              <a:t>中期</a:t>
            </a:r>
          </a:p>
        </p:txBody>
      </p:sp>
      <p:sp>
        <p:nvSpPr>
          <p:cNvPr id="94" name="Rectangle 93"/>
          <p:cNvSpPr/>
          <p:nvPr/>
        </p:nvSpPr>
        <p:spPr>
          <a:xfrm>
            <a:off x="548640" y="5806440"/>
            <a:ext cx="11064240" cy="502920"/>
          </a:xfrm>
          <a:prstGeom prst="rect">
            <a:avLst/>
          </a:prstGeom>
          <a:solidFill>
            <a:srgbClr val="E8EEF8"/>
          </a:solidFill>
          <a:ln w="6350">
            <a:solidFill>
              <a:srgbClr val="1D5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58368" y="5861303"/>
            <a:ext cx="10844784" cy="164592"/>
          </a:xfrm>
          <a:prstGeom prst="rect">
            <a:avLst/>
          </a:prstGeom>
          <a:noFill/>
        </p:spPr>
        <p:txBody>
          <a:bodyPr wrap="square">
            <a:spAutoFit/>
          </a:bodyPr>
          <a:lstStyle/>
          <a:p>
            <a:pPr algn="l"/>
            <a:r>
              <a:rPr sz="750" b="1" i="0">
                <a:solidFill>
                  <a:srgbClr val="1D51A3"/>
                </a:solidFill>
              </a:rPr>
              <a:t>示唆</a:t>
            </a:r>
          </a:p>
        </p:txBody>
      </p:sp>
      <p:sp>
        <p:nvSpPr>
          <p:cNvPr id="96" name="TextBox 95"/>
          <p:cNvSpPr txBox="1"/>
          <p:nvPr/>
        </p:nvSpPr>
        <p:spPr>
          <a:xfrm>
            <a:off x="658368" y="6044183"/>
            <a:ext cx="10844784" cy="210312"/>
          </a:xfrm>
          <a:prstGeom prst="rect">
            <a:avLst/>
          </a:prstGeom>
          <a:noFill/>
        </p:spPr>
        <p:txBody>
          <a:bodyPr wrap="square">
            <a:spAutoFit/>
          </a:bodyPr>
          <a:lstStyle/>
          <a:p>
            <a:pPr algn="l"/>
            <a:r>
              <a:rPr sz="750" b="0" i="0">
                <a:solidFill>
                  <a:srgbClr val="0C3570"/>
                </a:solidFill>
              </a:rPr>
              <a:t>A：業界最高水準 ／ B：業界平均以上 ／ C：改善余地あり ／ 評価軸：効果・実現性・コスト効率・スピード</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機能比較表：自社製品は競合他社を上回る機能網羅性と価格競争力を持つ</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feature_table ／ 用途: 機能・特徴の比較一覧 ／ 件数: 複数行</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主要機能を自社・競合A・競合Bで比較した結果、自社は機能網羅性・価格・サポートの3軸すべてで優位性を持つことが確認できた。</a:t>
            </a:r>
          </a:p>
        </p:txBody>
      </p:sp>
      <p:sp>
        <p:nvSpPr>
          <p:cNvPr id="10" name="Rectangle 9"/>
          <p:cNvSpPr/>
          <p:nvPr/>
        </p:nvSpPr>
        <p:spPr>
          <a:xfrm>
            <a:off x="548640" y="1874519"/>
            <a:ext cx="219456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3" y="1947672"/>
            <a:ext cx="2084831" cy="329184"/>
          </a:xfrm>
          <a:prstGeom prst="rect">
            <a:avLst/>
          </a:prstGeom>
          <a:noFill/>
        </p:spPr>
        <p:txBody>
          <a:bodyPr wrap="square">
            <a:spAutoFit/>
          </a:bodyPr>
          <a:lstStyle/>
          <a:p>
            <a:pPr algn="l"/>
            <a:r>
              <a:rPr sz="850" b="1" i="0">
                <a:solidFill>
                  <a:srgbClr val="FFFFFF"/>
                </a:solidFill>
              </a:rPr>
              <a:t>機能カテゴリ</a:t>
            </a:r>
          </a:p>
        </p:txBody>
      </p:sp>
      <p:sp>
        <p:nvSpPr>
          <p:cNvPr id="12" name="Rectangle 11"/>
          <p:cNvSpPr/>
          <p:nvPr/>
        </p:nvSpPr>
        <p:spPr>
          <a:xfrm>
            <a:off x="2761488" y="1874519"/>
            <a:ext cx="3017520" cy="457200"/>
          </a:xfrm>
          <a:prstGeom prst="rect">
            <a:avLst/>
          </a:prstGeom>
          <a:solidFill>
            <a:srgbClr val="08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16352" y="1947672"/>
            <a:ext cx="2907791" cy="329184"/>
          </a:xfrm>
          <a:prstGeom prst="rect">
            <a:avLst/>
          </a:prstGeom>
          <a:noFill/>
        </p:spPr>
        <p:txBody>
          <a:bodyPr wrap="square">
            <a:spAutoFit/>
          </a:bodyPr>
          <a:lstStyle/>
          <a:p>
            <a:pPr algn="l"/>
            <a:r>
              <a:rPr sz="850" b="1" i="0">
                <a:solidFill>
                  <a:srgbClr val="FFFFFF"/>
                </a:solidFill>
              </a:rPr>
              <a:t>自社製品（推奨）</a:t>
            </a:r>
          </a:p>
        </p:txBody>
      </p:sp>
      <p:sp>
        <p:nvSpPr>
          <p:cNvPr id="14" name="Rectangle 13"/>
          <p:cNvSpPr/>
          <p:nvPr/>
        </p:nvSpPr>
        <p:spPr>
          <a:xfrm>
            <a:off x="5797296" y="1874519"/>
            <a:ext cx="292608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59" y="1947672"/>
            <a:ext cx="2816352" cy="329184"/>
          </a:xfrm>
          <a:prstGeom prst="rect">
            <a:avLst/>
          </a:prstGeom>
          <a:noFill/>
        </p:spPr>
        <p:txBody>
          <a:bodyPr wrap="square">
            <a:spAutoFit/>
          </a:bodyPr>
          <a:lstStyle/>
          <a:p>
            <a:pPr algn="l"/>
            <a:r>
              <a:rPr sz="850" b="1" i="0">
                <a:solidFill>
                  <a:srgbClr val="FFFFFF"/>
                </a:solidFill>
              </a:rPr>
              <a:t>競合 A</a:t>
            </a:r>
          </a:p>
        </p:txBody>
      </p:sp>
      <p:sp>
        <p:nvSpPr>
          <p:cNvPr id="16" name="Rectangle 15"/>
          <p:cNvSpPr/>
          <p:nvPr/>
        </p:nvSpPr>
        <p:spPr>
          <a:xfrm>
            <a:off x="8741663" y="1874519"/>
            <a:ext cx="292608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796528" y="1947672"/>
            <a:ext cx="2816352" cy="329184"/>
          </a:xfrm>
          <a:prstGeom prst="rect">
            <a:avLst/>
          </a:prstGeom>
          <a:noFill/>
        </p:spPr>
        <p:txBody>
          <a:bodyPr wrap="square">
            <a:spAutoFit/>
          </a:bodyPr>
          <a:lstStyle/>
          <a:p>
            <a:pPr algn="l"/>
            <a:r>
              <a:rPr sz="850" b="1" i="0">
                <a:solidFill>
                  <a:srgbClr val="FFFFFF"/>
                </a:solidFill>
              </a:rPr>
              <a:t>競合 B</a:t>
            </a:r>
          </a:p>
        </p:txBody>
      </p:sp>
      <p:sp>
        <p:nvSpPr>
          <p:cNvPr id="18" name="Rectangle 17"/>
          <p:cNvSpPr/>
          <p:nvPr/>
        </p:nvSpPr>
        <p:spPr>
          <a:xfrm>
            <a:off x="548640" y="2350008"/>
            <a:ext cx="219456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03503" y="2395727"/>
            <a:ext cx="2084831" cy="566928"/>
          </a:xfrm>
          <a:prstGeom prst="rect">
            <a:avLst/>
          </a:prstGeom>
          <a:noFill/>
        </p:spPr>
        <p:txBody>
          <a:bodyPr wrap="square">
            <a:spAutoFit/>
          </a:bodyPr>
          <a:lstStyle/>
          <a:p>
            <a:pPr algn="l"/>
            <a:r>
              <a:rPr sz="750" b="1" i="0">
                <a:solidFill>
                  <a:srgbClr val="0C3570"/>
                </a:solidFill>
              </a:rPr>
              <a:t>オンボーディング支援</a:t>
            </a:r>
          </a:p>
        </p:txBody>
      </p:sp>
      <p:sp>
        <p:nvSpPr>
          <p:cNvPr id="20" name="Rectangle 19"/>
          <p:cNvSpPr/>
          <p:nvPr/>
        </p:nvSpPr>
        <p:spPr>
          <a:xfrm>
            <a:off x="2761488" y="2350008"/>
            <a:ext cx="301752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816352" y="2395727"/>
            <a:ext cx="2907791" cy="566928"/>
          </a:xfrm>
          <a:prstGeom prst="rect">
            <a:avLst/>
          </a:prstGeom>
          <a:noFill/>
        </p:spPr>
        <p:txBody>
          <a:bodyPr wrap="square">
            <a:spAutoFit/>
          </a:bodyPr>
          <a:lstStyle/>
          <a:p>
            <a:pPr algn="l"/>
            <a:r>
              <a:rPr sz="750" b="0" i="0">
                <a:solidFill>
                  <a:srgbClr val="0C3570"/>
                </a:solidFill>
              </a:rPr>
              <a:t>構造化プログラム＋専任担当者による30/60/90日サポート</a:t>
            </a:r>
          </a:p>
        </p:txBody>
      </p:sp>
      <p:sp>
        <p:nvSpPr>
          <p:cNvPr id="22" name="Rectangle 21"/>
          <p:cNvSpPr/>
          <p:nvPr/>
        </p:nvSpPr>
        <p:spPr>
          <a:xfrm>
            <a:off x="5797296" y="2350008"/>
            <a:ext cx="29260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852159" y="2395727"/>
            <a:ext cx="2816352" cy="566928"/>
          </a:xfrm>
          <a:prstGeom prst="rect">
            <a:avLst/>
          </a:prstGeom>
          <a:noFill/>
        </p:spPr>
        <p:txBody>
          <a:bodyPr wrap="square">
            <a:spAutoFit/>
          </a:bodyPr>
          <a:lstStyle/>
          <a:p>
            <a:pPr algn="l"/>
            <a:r>
              <a:rPr sz="750" b="0" i="0">
                <a:solidFill>
                  <a:srgbClr val="444444"/>
                </a:solidFill>
              </a:rPr>
              <a:t>標準マニュアルのみ。担当者なし</a:t>
            </a:r>
          </a:p>
        </p:txBody>
      </p:sp>
      <p:sp>
        <p:nvSpPr>
          <p:cNvPr id="24" name="Rectangle 23"/>
          <p:cNvSpPr/>
          <p:nvPr/>
        </p:nvSpPr>
        <p:spPr>
          <a:xfrm>
            <a:off x="8741663" y="2350008"/>
            <a:ext cx="29260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796528" y="2395727"/>
            <a:ext cx="2816352" cy="566928"/>
          </a:xfrm>
          <a:prstGeom prst="rect">
            <a:avLst/>
          </a:prstGeom>
          <a:noFill/>
        </p:spPr>
        <p:txBody>
          <a:bodyPr wrap="square">
            <a:spAutoFit/>
          </a:bodyPr>
          <a:lstStyle/>
          <a:p>
            <a:pPr algn="l"/>
            <a:r>
              <a:rPr sz="750" b="0" i="0">
                <a:solidFill>
                  <a:srgbClr val="444444"/>
                </a:solidFill>
              </a:rPr>
              <a:t>オンライン研修のみ。個別対応なし</a:t>
            </a:r>
          </a:p>
        </p:txBody>
      </p:sp>
      <p:sp>
        <p:nvSpPr>
          <p:cNvPr id="26" name="Rectangle 25"/>
          <p:cNvSpPr/>
          <p:nvPr/>
        </p:nvSpPr>
        <p:spPr>
          <a:xfrm>
            <a:off x="548640" y="3026664"/>
            <a:ext cx="219456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03503" y="3072384"/>
            <a:ext cx="2084831" cy="566928"/>
          </a:xfrm>
          <a:prstGeom prst="rect">
            <a:avLst/>
          </a:prstGeom>
          <a:noFill/>
        </p:spPr>
        <p:txBody>
          <a:bodyPr wrap="square">
            <a:spAutoFit/>
          </a:bodyPr>
          <a:lstStyle/>
          <a:p>
            <a:pPr algn="l"/>
            <a:r>
              <a:rPr sz="750" b="1" i="0">
                <a:solidFill>
                  <a:srgbClr val="0C3570"/>
                </a:solidFill>
              </a:rPr>
              <a:t>ヘルススコア管理</a:t>
            </a:r>
          </a:p>
        </p:txBody>
      </p:sp>
      <p:sp>
        <p:nvSpPr>
          <p:cNvPr id="28" name="Rectangle 27"/>
          <p:cNvSpPr/>
          <p:nvPr/>
        </p:nvSpPr>
        <p:spPr>
          <a:xfrm>
            <a:off x="2761488" y="3026664"/>
            <a:ext cx="301752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816352" y="3072384"/>
            <a:ext cx="2907791" cy="566928"/>
          </a:xfrm>
          <a:prstGeom prst="rect">
            <a:avLst/>
          </a:prstGeom>
          <a:noFill/>
        </p:spPr>
        <p:txBody>
          <a:bodyPr wrap="square">
            <a:spAutoFit/>
          </a:bodyPr>
          <a:lstStyle/>
          <a:p>
            <a:pPr algn="l"/>
            <a:r>
              <a:rPr sz="750" b="0" i="0">
                <a:solidFill>
                  <a:srgbClr val="0C3570"/>
                </a:solidFill>
              </a:rPr>
              <a:t>リアルタイム監視＋自動アラート＋解約リスク予測AI</a:t>
            </a:r>
          </a:p>
        </p:txBody>
      </p:sp>
      <p:sp>
        <p:nvSpPr>
          <p:cNvPr id="30" name="Rectangle 29"/>
          <p:cNvSpPr/>
          <p:nvPr/>
        </p:nvSpPr>
        <p:spPr>
          <a:xfrm>
            <a:off x="5797296" y="3026664"/>
            <a:ext cx="292608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852159" y="3072384"/>
            <a:ext cx="2816352" cy="566928"/>
          </a:xfrm>
          <a:prstGeom prst="rect">
            <a:avLst/>
          </a:prstGeom>
          <a:noFill/>
        </p:spPr>
        <p:txBody>
          <a:bodyPr wrap="square">
            <a:spAutoFit/>
          </a:bodyPr>
          <a:lstStyle/>
          <a:p>
            <a:pPr algn="l"/>
            <a:r>
              <a:rPr sz="750" b="0" i="0">
                <a:solidFill>
                  <a:srgbClr val="444444"/>
                </a:solidFill>
              </a:rPr>
              <a:t>月次レポートのみ。リアルタイム非対応</a:t>
            </a:r>
          </a:p>
        </p:txBody>
      </p:sp>
      <p:sp>
        <p:nvSpPr>
          <p:cNvPr id="32" name="Rectangle 31"/>
          <p:cNvSpPr/>
          <p:nvPr/>
        </p:nvSpPr>
        <p:spPr>
          <a:xfrm>
            <a:off x="8741663" y="3026664"/>
            <a:ext cx="292608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796528" y="3072384"/>
            <a:ext cx="2816352" cy="566928"/>
          </a:xfrm>
          <a:prstGeom prst="rect">
            <a:avLst/>
          </a:prstGeom>
          <a:noFill/>
        </p:spPr>
        <p:txBody>
          <a:bodyPr wrap="square">
            <a:spAutoFit/>
          </a:bodyPr>
          <a:lstStyle/>
          <a:p>
            <a:pPr algn="l"/>
            <a:r>
              <a:rPr sz="750" b="0" i="0">
                <a:solidFill>
                  <a:srgbClr val="444444"/>
                </a:solidFill>
              </a:rPr>
              <a:t>基本的な活用率モニタリングのみ</a:t>
            </a:r>
          </a:p>
        </p:txBody>
      </p:sp>
      <p:sp>
        <p:nvSpPr>
          <p:cNvPr id="34" name="Rectangle 33"/>
          <p:cNvSpPr/>
          <p:nvPr/>
        </p:nvSpPr>
        <p:spPr>
          <a:xfrm>
            <a:off x="548640" y="3703319"/>
            <a:ext cx="219456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03503" y="3749039"/>
            <a:ext cx="2084831" cy="566928"/>
          </a:xfrm>
          <a:prstGeom prst="rect">
            <a:avLst/>
          </a:prstGeom>
          <a:noFill/>
        </p:spPr>
        <p:txBody>
          <a:bodyPr wrap="square">
            <a:spAutoFit/>
          </a:bodyPr>
          <a:lstStyle/>
          <a:p>
            <a:pPr algn="l"/>
            <a:r>
              <a:rPr sz="750" b="1" i="0">
                <a:solidFill>
                  <a:srgbClr val="0C3570"/>
                </a:solidFill>
              </a:rPr>
              <a:t>カスタマイズ対応</a:t>
            </a:r>
          </a:p>
        </p:txBody>
      </p:sp>
      <p:sp>
        <p:nvSpPr>
          <p:cNvPr id="36" name="Rectangle 35"/>
          <p:cNvSpPr/>
          <p:nvPr/>
        </p:nvSpPr>
        <p:spPr>
          <a:xfrm>
            <a:off x="2761488" y="3703319"/>
            <a:ext cx="301752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816352" y="3749039"/>
            <a:ext cx="2907791" cy="566928"/>
          </a:xfrm>
          <a:prstGeom prst="rect">
            <a:avLst/>
          </a:prstGeom>
          <a:noFill/>
        </p:spPr>
        <p:txBody>
          <a:bodyPr wrap="square">
            <a:spAutoFit/>
          </a:bodyPr>
          <a:lstStyle/>
          <a:p>
            <a:pPr algn="l"/>
            <a:r>
              <a:rPr sz="750" b="0" i="0">
                <a:solidFill>
                  <a:srgbClr val="0C3570"/>
                </a:solidFill>
              </a:rPr>
              <a:t>要件定義に基づくフルカスタム対応。追加費用なし</a:t>
            </a:r>
          </a:p>
        </p:txBody>
      </p:sp>
      <p:sp>
        <p:nvSpPr>
          <p:cNvPr id="38" name="Rectangle 37"/>
          <p:cNvSpPr/>
          <p:nvPr/>
        </p:nvSpPr>
        <p:spPr>
          <a:xfrm>
            <a:off x="5797296" y="3703319"/>
            <a:ext cx="29260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852159" y="3749039"/>
            <a:ext cx="2816352" cy="566928"/>
          </a:xfrm>
          <a:prstGeom prst="rect">
            <a:avLst/>
          </a:prstGeom>
          <a:noFill/>
        </p:spPr>
        <p:txBody>
          <a:bodyPr wrap="square">
            <a:spAutoFit/>
          </a:bodyPr>
          <a:lstStyle/>
          <a:p>
            <a:pPr algn="l"/>
            <a:r>
              <a:rPr sz="750" b="0" i="0">
                <a:solidFill>
                  <a:srgbClr val="444444"/>
                </a:solidFill>
              </a:rPr>
              <a:t>標準テンプレートから選択。カスタム不可</a:t>
            </a:r>
          </a:p>
        </p:txBody>
      </p:sp>
      <p:sp>
        <p:nvSpPr>
          <p:cNvPr id="40" name="Rectangle 39"/>
          <p:cNvSpPr/>
          <p:nvPr/>
        </p:nvSpPr>
        <p:spPr>
          <a:xfrm>
            <a:off x="8741663" y="3703319"/>
            <a:ext cx="29260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796528" y="3749039"/>
            <a:ext cx="2816352" cy="566928"/>
          </a:xfrm>
          <a:prstGeom prst="rect">
            <a:avLst/>
          </a:prstGeom>
          <a:noFill/>
        </p:spPr>
        <p:txBody>
          <a:bodyPr wrap="square">
            <a:spAutoFit/>
          </a:bodyPr>
          <a:lstStyle/>
          <a:p>
            <a:pPr algn="l"/>
            <a:r>
              <a:rPr sz="750" b="0" i="0">
                <a:solidFill>
                  <a:srgbClr val="444444"/>
                </a:solidFill>
              </a:rPr>
              <a:t>APIで一部拡張可能。専門知識が必要</a:t>
            </a:r>
          </a:p>
        </p:txBody>
      </p:sp>
      <p:sp>
        <p:nvSpPr>
          <p:cNvPr id="42" name="Rectangle 41"/>
          <p:cNvSpPr/>
          <p:nvPr/>
        </p:nvSpPr>
        <p:spPr>
          <a:xfrm>
            <a:off x="548640" y="4379975"/>
            <a:ext cx="219456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03503" y="4425695"/>
            <a:ext cx="2084831" cy="566928"/>
          </a:xfrm>
          <a:prstGeom prst="rect">
            <a:avLst/>
          </a:prstGeom>
          <a:noFill/>
        </p:spPr>
        <p:txBody>
          <a:bodyPr wrap="square">
            <a:spAutoFit/>
          </a:bodyPr>
          <a:lstStyle/>
          <a:p>
            <a:pPr algn="l"/>
            <a:r>
              <a:rPr sz="750" b="1" i="0">
                <a:solidFill>
                  <a:srgbClr val="0C3570"/>
                </a:solidFill>
              </a:rPr>
              <a:t>サポート体制</a:t>
            </a:r>
          </a:p>
        </p:txBody>
      </p:sp>
      <p:sp>
        <p:nvSpPr>
          <p:cNvPr id="44" name="Rectangle 43"/>
          <p:cNvSpPr/>
          <p:nvPr/>
        </p:nvSpPr>
        <p:spPr>
          <a:xfrm>
            <a:off x="2761488" y="4379975"/>
            <a:ext cx="301752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816352" y="4425695"/>
            <a:ext cx="2907791" cy="566928"/>
          </a:xfrm>
          <a:prstGeom prst="rect">
            <a:avLst/>
          </a:prstGeom>
          <a:noFill/>
        </p:spPr>
        <p:txBody>
          <a:bodyPr wrap="square">
            <a:spAutoFit/>
          </a:bodyPr>
          <a:lstStyle/>
          <a:p>
            <a:pPr algn="l"/>
            <a:r>
              <a:rPr sz="750" b="0" i="0">
                <a:solidFill>
                  <a:srgbClr val="0C3570"/>
                </a:solidFill>
              </a:rPr>
              <a:t>24時間365日の電話＋専任担当者による個別対応</a:t>
            </a:r>
          </a:p>
        </p:txBody>
      </p:sp>
      <p:sp>
        <p:nvSpPr>
          <p:cNvPr id="46" name="Rectangle 45"/>
          <p:cNvSpPr/>
          <p:nvPr/>
        </p:nvSpPr>
        <p:spPr>
          <a:xfrm>
            <a:off x="5797296" y="4379975"/>
            <a:ext cx="292608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852159" y="4425695"/>
            <a:ext cx="2816352" cy="566928"/>
          </a:xfrm>
          <a:prstGeom prst="rect">
            <a:avLst/>
          </a:prstGeom>
          <a:noFill/>
        </p:spPr>
        <p:txBody>
          <a:bodyPr wrap="square">
            <a:spAutoFit/>
          </a:bodyPr>
          <a:lstStyle/>
          <a:p>
            <a:pPr algn="l"/>
            <a:r>
              <a:rPr sz="750" b="0" i="0">
                <a:solidFill>
                  <a:srgbClr val="444444"/>
                </a:solidFill>
              </a:rPr>
              <a:t>平日日中のメール・チャットのみ</a:t>
            </a:r>
          </a:p>
        </p:txBody>
      </p:sp>
      <p:sp>
        <p:nvSpPr>
          <p:cNvPr id="48" name="Rectangle 47"/>
          <p:cNvSpPr/>
          <p:nvPr/>
        </p:nvSpPr>
        <p:spPr>
          <a:xfrm>
            <a:off x="8741663" y="4379975"/>
            <a:ext cx="292608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796528" y="4425695"/>
            <a:ext cx="2816352" cy="566928"/>
          </a:xfrm>
          <a:prstGeom prst="rect">
            <a:avLst/>
          </a:prstGeom>
          <a:noFill/>
        </p:spPr>
        <p:txBody>
          <a:bodyPr wrap="square">
            <a:spAutoFit/>
          </a:bodyPr>
          <a:lstStyle/>
          <a:p>
            <a:pPr algn="l"/>
            <a:r>
              <a:rPr sz="750" b="0" i="0">
                <a:solidFill>
                  <a:srgbClr val="444444"/>
                </a:solidFill>
              </a:rPr>
              <a:t>平日9〜18時の電話対応</a:t>
            </a:r>
          </a:p>
        </p:txBody>
      </p:sp>
      <p:sp>
        <p:nvSpPr>
          <p:cNvPr id="50" name="Rectangle 49"/>
          <p:cNvSpPr/>
          <p:nvPr/>
        </p:nvSpPr>
        <p:spPr>
          <a:xfrm>
            <a:off x="548640" y="5056631"/>
            <a:ext cx="219456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03503" y="5102351"/>
            <a:ext cx="2084831" cy="566928"/>
          </a:xfrm>
          <a:prstGeom prst="rect">
            <a:avLst/>
          </a:prstGeom>
          <a:noFill/>
        </p:spPr>
        <p:txBody>
          <a:bodyPr wrap="square">
            <a:spAutoFit/>
          </a:bodyPr>
          <a:lstStyle/>
          <a:p>
            <a:pPr algn="l"/>
            <a:r>
              <a:rPr sz="750" b="1" i="0">
                <a:solidFill>
                  <a:srgbClr val="0C3570"/>
                </a:solidFill>
              </a:rPr>
              <a:t>価格体系</a:t>
            </a:r>
          </a:p>
        </p:txBody>
      </p:sp>
      <p:sp>
        <p:nvSpPr>
          <p:cNvPr id="52" name="Rectangle 51"/>
          <p:cNvSpPr/>
          <p:nvPr/>
        </p:nvSpPr>
        <p:spPr>
          <a:xfrm>
            <a:off x="2761488" y="5056631"/>
            <a:ext cx="301752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816352" y="5102351"/>
            <a:ext cx="2907791" cy="566928"/>
          </a:xfrm>
          <a:prstGeom prst="rect">
            <a:avLst/>
          </a:prstGeom>
          <a:noFill/>
        </p:spPr>
        <p:txBody>
          <a:bodyPr wrap="square">
            <a:spAutoFit/>
          </a:bodyPr>
          <a:lstStyle/>
          <a:p>
            <a:pPr algn="l"/>
            <a:r>
              <a:rPr sz="750" b="0" i="0">
                <a:solidFill>
                  <a:srgbClr val="0C3570"/>
                </a:solidFill>
              </a:rPr>
              <a:t>月額制で初期費用ゼロ。利用量に応じたスケーリング</a:t>
            </a:r>
          </a:p>
        </p:txBody>
      </p:sp>
      <p:sp>
        <p:nvSpPr>
          <p:cNvPr id="54" name="Rectangle 53"/>
          <p:cNvSpPr/>
          <p:nvPr/>
        </p:nvSpPr>
        <p:spPr>
          <a:xfrm>
            <a:off x="5797296" y="5056631"/>
            <a:ext cx="29260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852159" y="5102351"/>
            <a:ext cx="2816352" cy="566928"/>
          </a:xfrm>
          <a:prstGeom prst="rect">
            <a:avLst/>
          </a:prstGeom>
          <a:noFill/>
        </p:spPr>
        <p:txBody>
          <a:bodyPr wrap="square">
            <a:spAutoFit/>
          </a:bodyPr>
          <a:lstStyle/>
          <a:p>
            <a:pPr algn="l"/>
            <a:r>
              <a:rPr sz="750" b="0" i="0">
                <a:solidFill>
                  <a:srgbClr val="444444"/>
                </a:solidFill>
              </a:rPr>
              <a:t>年間契約必須。初期費用あり</a:t>
            </a:r>
          </a:p>
        </p:txBody>
      </p:sp>
      <p:sp>
        <p:nvSpPr>
          <p:cNvPr id="56" name="Rectangle 55"/>
          <p:cNvSpPr/>
          <p:nvPr/>
        </p:nvSpPr>
        <p:spPr>
          <a:xfrm>
            <a:off x="8741663" y="5056631"/>
            <a:ext cx="29260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796528" y="5102351"/>
            <a:ext cx="2816352" cy="566928"/>
          </a:xfrm>
          <a:prstGeom prst="rect">
            <a:avLst/>
          </a:prstGeom>
          <a:noFill/>
        </p:spPr>
        <p:txBody>
          <a:bodyPr wrap="square">
            <a:spAutoFit/>
          </a:bodyPr>
          <a:lstStyle/>
          <a:p>
            <a:pPr algn="l"/>
            <a:r>
              <a:rPr sz="750" b="0" i="0">
                <a:solidFill>
                  <a:srgbClr val="444444"/>
                </a:solidFill>
              </a:rPr>
              <a:t>月額制だが機能制限あり。フル機能は高額</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リスク管理表：5つの主要リスクを影響度・発生確率・対応策で整理する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risk_table ／ 用途: リスクの一覧管理 ／ 件数: 複数行</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5つの主要リスクを影響度・発生確率・対応策の3軸で整理し、リスク管理の優先順位と対応責任者を明確にする。</a:t>
            </a:r>
          </a:p>
        </p:txBody>
      </p:sp>
      <p:sp>
        <p:nvSpPr>
          <p:cNvPr id="10" name="Rectangle 9"/>
          <p:cNvSpPr/>
          <p:nvPr/>
        </p:nvSpPr>
        <p:spPr>
          <a:xfrm>
            <a:off x="548640" y="1874519"/>
            <a:ext cx="201168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3" y="1947672"/>
            <a:ext cx="1901952" cy="329184"/>
          </a:xfrm>
          <a:prstGeom prst="rect">
            <a:avLst/>
          </a:prstGeom>
          <a:noFill/>
        </p:spPr>
        <p:txBody>
          <a:bodyPr wrap="square">
            <a:spAutoFit/>
          </a:bodyPr>
          <a:lstStyle/>
          <a:p>
            <a:pPr algn="l"/>
            <a:r>
              <a:rPr sz="850" b="1" i="0">
                <a:solidFill>
                  <a:srgbClr val="FFFFFF"/>
                </a:solidFill>
              </a:rPr>
              <a:t>リスク名</a:t>
            </a:r>
          </a:p>
        </p:txBody>
      </p:sp>
      <p:sp>
        <p:nvSpPr>
          <p:cNvPr id="12" name="Rectangle 11"/>
          <p:cNvSpPr/>
          <p:nvPr/>
        </p:nvSpPr>
        <p:spPr>
          <a:xfrm>
            <a:off x="2578608" y="1874519"/>
            <a:ext cx="822960" cy="457200"/>
          </a:xfrm>
          <a:prstGeom prst="rect">
            <a:avLst/>
          </a:prstGeom>
          <a:solidFill>
            <a:srgbClr val="08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33472" y="1947672"/>
            <a:ext cx="713232" cy="329184"/>
          </a:xfrm>
          <a:prstGeom prst="rect">
            <a:avLst/>
          </a:prstGeom>
          <a:noFill/>
        </p:spPr>
        <p:txBody>
          <a:bodyPr wrap="square">
            <a:spAutoFit/>
          </a:bodyPr>
          <a:lstStyle/>
          <a:p>
            <a:pPr algn="l"/>
            <a:r>
              <a:rPr sz="850" b="1" i="0">
                <a:solidFill>
                  <a:srgbClr val="FFFFFF"/>
                </a:solidFill>
              </a:rPr>
              <a:t>影響度</a:t>
            </a:r>
          </a:p>
        </p:txBody>
      </p:sp>
      <p:sp>
        <p:nvSpPr>
          <p:cNvPr id="14" name="Rectangle 13"/>
          <p:cNvSpPr/>
          <p:nvPr/>
        </p:nvSpPr>
        <p:spPr>
          <a:xfrm>
            <a:off x="3419856" y="1874519"/>
            <a:ext cx="91440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74720" y="1947672"/>
            <a:ext cx="804672" cy="329184"/>
          </a:xfrm>
          <a:prstGeom prst="rect">
            <a:avLst/>
          </a:prstGeom>
          <a:noFill/>
        </p:spPr>
        <p:txBody>
          <a:bodyPr wrap="square">
            <a:spAutoFit/>
          </a:bodyPr>
          <a:lstStyle/>
          <a:p>
            <a:pPr algn="l"/>
            <a:r>
              <a:rPr sz="850" b="1" i="0">
                <a:solidFill>
                  <a:srgbClr val="FFFFFF"/>
                </a:solidFill>
              </a:rPr>
              <a:t>発生確率</a:t>
            </a:r>
          </a:p>
        </p:txBody>
      </p:sp>
      <p:sp>
        <p:nvSpPr>
          <p:cNvPr id="16" name="Rectangle 15"/>
          <p:cNvSpPr/>
          <p:nvPr/>
        </p:nvSpPr>
        <p:spPr>
          <a:xfrm>
            <a:off x="4352544" y="1874519"/>
            <a:ext cx="82296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07407" y="1947672"/>
            <a:ext cx="713232" cy="329184"/>
          </a:xfrm>
          <a:prstGeom prst="rect">
            <a:avLst/>
          </a:prstGeom>
          <a:noFill/>
        </p:spPr>
        <p:txBody>
          <a:bodyPr wrap="square">
            <a:spAutoFit/>
          </a:bodyPr>
          <a:lstStyle/>
          <a:p>
            <a:pPr algn="l"/>
            <a:r>
              <a:rPr sz="850" b="1" i="0">
                <a:solidFill>
                  <a:srgbClr val="FFFFFF"/>
                </a:solidFill>
              </a:rPr>
              <a:t>優先度</a:t>
            </a:r>
          </a:p>
        </p:txBody>
      </p:sp>
      <p:sp>
        <p:nvSpPr>
          <p:cNvPr id="18" name="Rectangle 17"/>
          <p:cNvSpPr/>
          <p:nvPr/>
        </p:nvSpPr>
        <p:spPr>
          <a:xfrm>
            <a:off x="5193792" y="1874519"/>
            <a:ext cx="320040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248655" y="1947672"/>
            <a:ext cx="3090672" cy="329184"/>
          </a:xfrm>
          <a:prstGeom prst="rect">
            <a:avLst/>
          </a:prstGeom>
          <a:noFill/>
        </p:spPr>
        <p:txBody>
          <a:bodyPr wrap="square">
            <a:spAutoFit/>
          </a:bodyPr>
          <a:lstStyle/>
          <a:p>
            <a:pPr algn="l"/>
            <a:r>
              <a:rPr sz="850" b="1" i="0">
                <a:solidFill>
                  <a:srgbClr val="FFFFFF"/>
                </a:solidFill>
              </a:rPr>
              <a:t>対応策</a:t>
            </a:r>
          </a:p>
        </p:txBody>
      </p:sp>
      <p:sp>
        <p:nvSpPr>
          <p:cNvPr id="20" name="Rectangle 19"/>
          <p:cNvSpPr/>
          <p:nvPr/>
        </p:nvSpPr>
        <p:spPr>
          <a:xfrm>
            <a:off x="8412480" y="1874519"/>
            <a:ext cx="100584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67344" y="1947672"/>
            <a:ext cx="896112" cy="329184"/>
          </a:xfrm>
          <a:prstGeom prst="rect">
            <a:avLst/>
          </a:prstGeom>
          <a:noFill/>
        </p:spPr>
        <p:txBody>
          <a:bodyPr wrap="square">
            <a:spAutoFit/>
          </a:bodyPr>
          <a:lstStyle/>
          <a:p>
            <a:pPr algn="l"/>
            <a:r>
              <a:rPr sz="850" b="1" i="0">
                <a:solidFill>
                  <a:srgbClr val="FFFFFF"/>
                </a:solidFill>
              </a:rPr>
              <a:t>担当者</a:t>
            </a:r>
          </a:p>
        </p:txBody>
      </p:sp>
      <p:sp>
        <p:nvSpPr>
          <p:cNvPr id="22" name="Rectangle 21"/>
          <p:cNvSpPr/>
          <p:nvPr/>
        </p:nvSpPr>
        <p:spPr>
          <a:xfrm>
            <a:off x="9436607" y="1874519"/>
            <a:ext cx="91440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91472" y="1947672"/>
            <a:ext cx="804672" cy="329184"/>
          </a:xfrm>
          <a:prstGeom prst="rect">
            <a:avLst/>
          </a:prstGeom>
          <a:noFill/>
        </p:spPr>
        <p:txBody>
          <a:bodyPr wrap="square">
            <a:spAutoFit/>
          </a:bodyPr>
          <a:lstStyle/>
          <a:p>
            <a:pPr algn="l"/>
            <a:r>
              <a:rPr sz="850" b="1" i="0">
                <a:solidFill>
                  <a:srgbClr val="FFFFFF"/>
                </a:solidFill>
              </a:rPr>
              <a:t>期限</a:t>
            </a:r>
          </a:p>
        </p:txBody>
      </p:sp>
      <p:sp>
        <p:nvSpPr>
          <p:cNvPr id="24" name="Rectangle 23"/>
          <p:cNvSpPr/>
          <p:nvPr/>
        </p:nvSpPr>
        <p:spPr>
          <a:xfrm>
            <a:off x="548640" y="2350008"/>
            <a:ext cx="20116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03503" y="2395727"/>
            <a:ext cx="1901952" cy="566928"/>
          </a:xfrm>
          <a:prstGeom prst="rect">
            <a:avLst/>
          </a:prstGeom>
          <a:noFill/>
        </p:spPr>
        <p:txBody>
          <a:bodyPr wrap="square">
            <a:spAutoFit/>
          </a:bodyPr>
          <a:lstStyle/>
          <a:p>
            <a:pPr algn="l"/>
            <a:r>
              <a:rPr sz="750" b="1" i="0">
                <a:solidFill>
                  <a:srgbClr val="0C3570"/>
                </a:solidFill>
              </a:rPr>
              <a:t>CS担当者採用遅延</a:t>
            </a:r>
          </a:p>
        </p:txBody>
      </p:sp>
      <p:sp>
        <p:nvSpPr>
          <p:cNvPr id="26" name="Rectangle 25"/>
          <p:cNvSpPr/>
          <p:nvPr/>
        </p:nvSpPr>
        <p:spPr>
          <a:xfrm>
            <a:off x="2578608" y="2350008"/>
            <a:ext cx="82296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633472" y="2395727"/>
            <a:ext cx="713232" cy="566928"/>
          </a:xfrm>
          <a:prstGeom prst="rect">
            <a:avLst/>
          </a:prstGeom>
          <a:noFill/>
        </p:spPr>
        <p:txBody>
          <a:bodyPr wrap="square">
            <a:spAutoFit/>
          </a:bodyPr>
          <a:lstStyle/>
          <a:p>
            <a:pPr algn="l"/>
            <a:r>
              <a:rPr sz="750" b="0" i="0">
                <a:solidFill>
                  <a:srgbClr val="0C3570"/>
                </a:solidFill>
              </a:rPr>
              <a:t>中</a:t>
            </a:r>
          </a:p>
        </p:txBody>
      </p:sp>
      <p:sp>
        <p:nvSpPr>
          <p:cNvPr id="28" name="Rectangle 27"/>
          <p:cNvSpPr/>
          <p:nvPr/>
        </p:nvSpPr>
        <p:spPr>
          <a:xfrm>
            <a:off x="3419856" y="2350008"/>
            <a:ext cx="9144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474720" y="2395727"/>
            <a:ext cx="804672" cy="566928"/>
          </a:xfrm>
          <a:prstGeom prst="rect">
            <a:avLst/>
          </a:prstGeom>
          <a:noFill/>
        </p:spPr>
        <p:txBody>
          <a:bodyPr wrap="square">
            <a:spAutoFit/>
          </a:bodyPr>
          <a:lstStyle/>
          <a:p>
            <a:pPr algn="l"/>
            <a:r>
              <a:rPr sz="750" b="0" i="0">
                <a:solidFill>
                  <a:srgbClr val="444444"/>
                </a:solidFill>
              </a:rPr>
              <a:t>中</a:t>
            </a:r>
          </a:p>
        </p:txBody>
      </p:sp>
      <p:sp>
        <p:nvSpPr>
          <p:cNvPr id="30" name="Rectangle 29"/>
          <p:cNvSpPr/>
          <p:nvPr/>
        </p:nvSpPr>
        <p:spPr>
          <a:xfrm>
            <a:off x="4352544" y="2350008"/>
            <a:ext cx="82296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07407" y="2395727"/>
            <a:ext cx="713232" cy="566928"/>
          </a:xfrm>
          <a:prstGeom prst="rect">
            <a:avLst/>
          </a:prstGeom>
          <a:noFill/>
        </p:spPr>
        <p:txBody>
          <a:bodyPr wrap="square">
            <a:spAutoFit/>
          </a:bodyPr>
          <a:lstStyle/>
          <a:p>
            <a:pPr algn="l"/>
            <a:r>
              <a:rPr sz="750" b="0" i="0">
                <a:solidFill>
                  <a:srgbClr val="444444"/>
                </a:solidFill>
              </a:rPr>
              <a:t>中</a:t>
            </a:r>
          </a:p>
        </p:txBody>
      </p:sp>
      <p:sp>
        <p:nvSpPr>
          <p:cNvPr id="32" name="Rectangle 31"/>
          <p:cNvSpPr/>
          <p:nvPr/>
        </p:nvSpPr>
        <p:spPr>
          <a:xfrm>
            <a:off x="5193792" y="2350008"/>
            <a:ext cx="32004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248655" y="2395727"/>
            <a:ext cx="3090672" cy="566928"/>
          </a:xfrm>
          <a:prstGeom prst="rect">
            <a:avLst/>
          </a:prstGeom>
          <a:noFill/>
        </p:spPr>
        <p:txBody>
          <a:bodyPr wrap="square">
            <a:spAutoFit/>
          </a:bodyPr>
          <a:lstStyle/>
          <a:p>
            <a:pPr algn="l"/>
            <a:r>
              <a:rPr sz="750" b="0" i="0">
                <a:solidFill>
                  <a:srgbClr val="444444"/>
                </a:solidFill>
              </a:rPr>
              <a:t>外部委託で補完しながら採用を継続。採用基準を見直し、候補者プールを拡大する。</a:t>
            </a:r>
          </a:p>
        </p:txBody>
      </p:sp>
      <p:sp>
        <p:nvSpPr>
          <p:cNvPr id="34" name="Rectangle 33"/>
          <p:cNvSpPr/>
          <p:nvPr/>
        </p:nvSpPr>
        <p:spPr>
          <a:xfrm>
            <a:off x="8412480" y="2350008"/>
            <a:ext cx="100584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467344" y="2395727"/>
            <a:ext cx="896112" cy="566928"/>
          </a:xfrm>
          <a:prstGeom prst="rect">
            <a:avLst/>
          </a:prstGeom>
          <a:noFill/>
        </p:spPr>
        <p:txBody>
          <a:bodyPr wrap="square">
            <a:spAutoFit/>
          </a:bodyPr>
          <a:lstStyle/>
          <a:p>
            <a:pPr algn="l"/>
            <a:r>
              <a:rPr sz="750" b="0" i="0">
                <a:solidFill>
                  <a:srgbClr val="444444"/>
                </a:solidFill>
              </a:rPr>
              <a:t>人事部長</a:t>
            </a:r>
          </a:p>
        </p:txBody>
      </p:sp>
      <p:sp>
        <p:nvSpPr>
          <p:cNvPr id="36" name="Rectangle 35"/>
          <p:cNvSpPr/>
          <p:nvPr/>
        </p:nvSpPr>
        <p:spPr>
          <a:xfrm>
            <a:off x="9436607" y="2350008"/>
            <a:ext cx="9144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491472" y="2395727"/>
            <a:ext cx="804672" cy="566928"/>
          </a:xfrm>
          <a:prstGeom prst="rect">
            <a:avLst/>
          </a:prstGeom>
          <a:noFill/>
        </p:spPr>
        <p:txBody>
          <a:bodyPr wrap="square">
            <a:spAutoFit/>
          </a:bodyPr>
          <a:lstStyle/>
          <a:p>
            <a:pPr algn="l"/>
            <a:r>
              <a:rPr sz="750" b="0" i="0">
                <a:solidFill>
                  <a:srgbClr val="444444"/>
                </a:solidFill>
              </a:rPr>
              <a:t>Q1末</a:t>
            </a:r>
          </a:p>
        </p:txBody>
      </p:sp>
      <p:sp>
        <p:nvSpPr>
          <p:cNvPr id="38" name="Rectangle 37"/>
          <p:cNvSpPr/>
          <p:nvPr/>
        </p:nvSpPr>
        <p:spPr>
          <a:xfrm>
            <a:off x="548640" y="3026664"/>
            <a:ext cx="201168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03503" y="3072384"/>
            <a:ext cx="1901952" cy="566928"/>
          </a:xfrm>
          <a:prstGeom prst="rect">
            <a:avLst/>
          </a:prstGeom>
          <a:noFill/>
        </p:spPr>
        <p:txBody>
          <a:bodyPr wrap="square">
            <a:spAutoFit/>
          </a:bodyPr>
          <a:lstStyle/>
          <a:p>
            <a:pPr algn="l"/>
            <a:r>
              <a:rPr sz="750" b="1" i="0">
                <a:solidFill>
                  <a:srgbClr val="0C3570"/>
                </a:solidFill>
              </a:rPr>
              <a:t>施策効果の遅延</a:t>
            </a:r>
          </a:p>
        </p:txBody>
      </p:sp>
      <p:sp>
        <p:nvSpPr>
          <p:cNvPr id="40" name="Rectangle 39"/>
          <p:cNvSpPr/>
          <p:nvPr/>
        </p:nvSpPr>
        <p:spPr>
          <a:xfrm>
            <a:off x="2578608" y="3026664"/>
            <a:ext cx="82296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633472" y="3072384"/>
            <a:ext cx="713232" cy="566928"/>
          </a:xfrm>
          <a:prstGeom prst="rect">
            <a:avLst/>
          </a:prstGeom>
          <a:noFill/>
        </p:spPr>
        <p:txBody>
          <a:bodyPr wrap="square">
            <a:spAutoFit/>
          </a:bodyPr>
          <a:lstStyle/>
          <a:p>
            <a:pPr algn="l"/>
            <a:r>
              <a:rPr sz="750" b="0" i="0">
                <a:solidFill>
                  <a:srgbClr val="0C3570"/>
                </a:solidFill>
              </a:rPr>
              <a:t>高</a:t>
            </a:r>
          </a:p>
        </p:txBody>
      </p:sp>
      <p:sp>
        <p:nvSpPr>
          <p:cNvPr id="42" name="Rectangle 41"/>
          <p:cNvSpPr/>
          <p:nvPr/>
        </p:nvSpPr>
        <p:spPr>
          <a:xfrm>
            <a:off x="3419856" y="3026664"/>
            <a:ext cx="914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474720" y="3072384"/>
            <a:ext cx="804672" cy="566928"/>
          </a:xfrm>
          <a:prstGeom prst="rect">
            <a:avLst/>
          </a:prstGeom>
          <a:noFill/>
        </p:spPr>
        <p:txBody>
          <a:bodyPr wrap="square">
            <a:spAutoFit/>
          </a:bodyPr>
          <a:lstStyle/>
          <a:p>
            <a:pPr algn="l"/>
            <a:r>
              <a:rPr sz="750" b="0" i="0">
                <a:solidFill>
                  <a:srgbClr val="444444"/>
                </a:solidFill>
              </a:rPr>
              <a:t>中</a:t>
            </a:r>
          </a:p>
        </p:txBody>
      </p:sp>
      <p:sp>
        <p:nvSpPr>
          <p:cNvPr id="44" name="Rectangle 43"/>
          <p:cNvSpPr/>
          <p:nvPr/>
        </p:nvSpPr>
        <p:spPr>
          <a:xfrm>
            <a:off x="4352544" y="3026664"/>
            <a:ext cx="82296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407407" y="3072384"/>
            <a:ext cx="713232" cy="566928"/>
          </a:xfrm>
          <a:prstGeom prst="rect">
            <a:avLst/>
          </a:prstGeom>
          <a:noFill/>
        </p:spPr>
        <p:txBody>
          <a:bodyPr wrap="square">
            <a:spAutoFit/>
          </a:bodyPr>
          <a:lstStyle/>
          <a:p>
            <a:pPr algn="l"/>
            <a:r>
              <a:rPr sz="750" b="0" i="0">
                <a:solidFill>
                  <a:srgbClr val="444444"/>
                </a:solidFill>
              </a:rPr>
              <a:t>高</a:t>
            </a:r>
          </a:p>
        </p:txBody>
      </p:sp>
      <p:sp>
        <p:nvSpPr>
          <p:cNvPr id="46" name="Rectangle 45"/>
          <p:cNvSpPr/>
          <p:nvPr/>
        </p:nvSpPr>
        <p:spPr>
          <a:xfrm>
            <a:off x="5193792" y="3026664"/>
            <a:ext cx="3200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248655" y="3072384"/>
            <a:ext cx="3090672" cy="566928"/>
          </a:xfrm>
          <a:prstGeom prst="rect">
            <a:avLst/>
          </a:prstGeom>
          <a:noFill/>
        </p:spPr>
        <p:txBody>
          <a:bodyPr wrap="square">
            <a:spAutoFit/>
          </a:bodyPr>
          <a:lstStyle/>
          <a:p>
            <a:pPr algn="l"/>
            <a:r>
              <a:rPr sz="750" b="0" i="0">
                <a:solidFill>
                  <a:srgbClr val="444444"/>
                </a:solidFill>
              </a:rPr>
              <a:t>月次KPIモニタリングで早期検知し、効果が出ない施策は即座に見直す。代替施策を事前に準備する。</a:t>
            </a:r>
          </a:p>
        </p:txBody>
      </p:sp>
      <p:sp>
        <p:nvSpPr>
          <p:cNvPr id="48" name="Rectangle 47"/>
          <p:cNvSpPr/>
          <p:nvPr/>
        </p:nvSpPr>
        <p:spPr>
          <a:xfrm>
            <a:off x="8412480" y="3026664"/>
            <a:ext cx="100584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467344" y="3072384"/>
            <a:ext cx="896112" cy="566928"/>
          </a:xfrm>
          <a:prstGeom prst="rect">
            <a:avLst/>
          </a:prstGeom>
          <a:noFill/>
        </p:spPr>
        <p:txBody>
          <a:bodyPr wrap="square">
            <a:spAutoFit/>
          </a:bodyPr>
          <a:lstStyle/>
          <a:p>
            <a:pPr algn="l"/>
            <a:r>
              <a:rPr sz="750" b="0" i="0">
                <a:solidFill>
                  <a:srgbClr val="444444"/>
                </a:solidFill>
              </a:rPr>
              <a:t>CS部門長</a:t>
            </a:r>
          </a:p>
        </p:txBody>
      </p:sp>
      <p:sp>
        <p:nvSpPr>
          <p:cNvPr id="50" name="Rectangle 49"/>
          <p:cNvSpPr/>
          <p:nvPr/>
        </p:nvSpPr>
        <p:spPr>
          <a:xfrm>
            <a:off x="9436607" y="3026664"/>
            <a:ext cx="914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491472" y="3072384"/>
            <a:ext cx="804672" cy="566928"/>
          </a:xfrm>
          <a:prstGeom prst="rect">
            <a:avLst/>
          </a:prstGeom>
          <a:noFill/>
        </p:spPr>
        <p:txBody>
          <a:bodyPr wrap="square">
            <a:spAutoFit/>
          </a:bodyPr>
          <a:lstStyle/>
          <a:p>
            <a:pPr algn="l"/>
            <a:r>
              <a:rPr sz="750" b="0" i="0">
                <a:solidFill>
                  <a:srgbClr val="444444"/>
                </a:solidFill>
              </a:rPr>
              <a:t>継続</a:t>
            </a:r>
          </a:p>
        </p:txBody>
      </p:sp>
      <p:sp>
        <p:nvSpPr>
          <p:cNvPr id="52" name="Rectangle 51"/>
          <p:cNvSpPr/>
          <p:nvPr/>
        </p:nvSpPr>
        <p:spPr>
          <a:xfrm>
            <a:off x="548640" y="3703319"/>
            <a:ext cx="20116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03503" y="3749039"/>
            <a:ext cx="1901952" cy="566928"/>
          </a:xfrm>
          <a:prstGeom prst="rect">
            <a:avLst/>
          </a:prstGeom>
          <a:noFill/>
        </p:spPr>
        <p:txBody>
          <a:bodyPr wrap="square">
            <a:spAutoFit/>
          </a:bodyPr>
          <a:lstStyle/>
          <a:p>
            <a:pPr algn="l"/>
            <a:r>
              <a:rPr sz="750" b="1" i="0">
                <a:solidFill>
                  <a:srgbClr val="0C3570"/>
                </a:solidFill>
              </a:rPr>
              <a:t>競合の追随</a:t>
            </a:r>
          </a:p>
        </p:txBody>
      </p:sp>
      <p:sp>
        <p:nvSpPr>
          <p:cNvPr id="54" name="Rectangle 53"/>
          <p:cNvSpPr/>
          <p:nvPr/>
        </p:nvSpPr>
        <p:spPr>
          <a:xfrm>
            <a:off x="2578608" y="3703319"/>
            <a:ext cx="82296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633472" y="3749039"/>
            <a:ext cx="713232" cy="566928"/>
          </a:xfrm>
          <a:prstGeom prst="rect">
            <a:avLst/>
          </a:prstGeom>
          <a:noFill/>
        </p:spPr>
        <p:txBody>
          <a:bodyPr wrap="square">
            <a:spAutoFit/>
          </a:bodyPr>
          <a:lstStyle/>
          <a:p>
            <a:pPr algn="l"/>
            <a:r>
              <a:rPr sz="750" b="0" i="0">
                <a:solidFill>
                  <a:srgbClr val="0C3570"/>
                </a:solidFill>
              </a:rPr>
              <a:t>中</a:t>
            </a:r>
          </a:p>
        </p:txBody>
      </p:sp>
      <p:sp>
        <p:nvSpPr>
          <p:cNvPr id="56" name="Rectangle 55"/>
          <p:cNvSpPr/>
          <p:nvPr/>
        </p:nvSpPr>
        <p:spPr>
          <a:xfrm>
            <a:off x="3419856" y="3703319"/>
            <a:ext cx="9144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474720" y="3749039"/>
            <a:ext cx="804672" cy="566928"/>
          </a:xfrm>
          <a:prstGeom prst="rect">
            <a:avLst/>
          </a:prstGeom>
          <a:noFill/>
        </p:spPr>
        <p:txBody>
          <a:bodyPr wrap="square">
            <a:spAutoFit/>
          </a:bodyPr>
          <a:lstStyle/>
          <a:p>
            <a:pPr algn="l"/>
            <a:r>
              <a:rPr sz="750" b="0" i="0">
                <a:solidFill>
                  <a:srgbClr val="444444"/>
                </a:solidFill>
              </a:rPr>
              <a:t>低</a:t>
            </a:r>
          </a:p>
        </p:txBody>
      </p:sp>
      <p:sp>
        <p:nvSpPr>
          <p:cNvPr id="58" name="Rectangle 57"/>
          <p:cNvSpPr/>
          <p:nvPr/>
        </p:nvSpPr>
        <p:spPr>
          <a:xfrm>
            <a:off x="4352544" y="3703319"/>
            <a:ext cx="82296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407407" y="3749039"/>
            <a:ext cx="713232" cy="566928"/>
          </a:xfrm>
          <a:prstGeom prst="rect">
            <a:avLst/>
          </a:prstGeom>
          <a:noFill/>
        </p:spPr>
        <p:txBody>
          <a:bodyPr wrap="square">
            <a:spAutoFit/>
          </a:bodyPr>
          <a:lstStyle/>
          <a:p>
            <a:pPr algn="l"/>
            <a:r>
              <a:rPr sz="750" b="0" i="0">
                <a:solidFill>
                  <a:srgbClr val="444444"/>
                </a:solidFill>
              </a:rPr>
              <a:t>中</a:t>
            </a:r>
          </a:p>
        </p:txBody>
      </p:sp>
      <p:sp>
        <p:nvSpPr>
          <p:cNvPr id="60" name="Rectangle 59"/>
          <p:cNvSpPr/>
          <p:nvPr/>
        </p:nvSpPr>
        <p:spPr>
          <a:xfrm>
            <a:off x="5193792" y="3703319"/>
            <a:ext cx="32004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248655" y="3749039"/>
            <a:ext cx="3090672" cy="566928"/>
          </a:xfrm>
          <a:prstGeom prst="rect">
            <a:avLst/>
          </a:prstGeom>
          <a:noFill/>
        </p:spPr>
        <p:txBody>
          <a:bodyPr wrap="square">
            <a:spAutoFit/>
          </a:bodyPr>
          <a:lstStyle/>
          <a:p>
            <a:pPr algn="l"/>
            <a:r>
              <a:rPr sz="750" b="0" i="0">
                <a:solidFill>
                  <a:srgbClr val="444444"/>
                </a:solidFill>
              </a:rPr>
              <a:t>差別化要因の強化と顧客との関係深化により、スイッチングコストを高める。</a:t>
            </a:r>
          </a:p>
        </p:txBody>
      </p:sp>
      <p:sp>
        <p:nvSpPr>
          <p:cNvPr id="62" name="Rectangle 61"/>
          <p:cNvSpPr/>
          <p:nvPr/>
        </p:nvSpPr>
        <p:spPr>
          <a:xfrm>
            <a:off x="8412480" y="3703319"/>
            <a:ext cx="100584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467344" y="3749039"/>
            <a:ext cx="896112" cy="566928"/>
          </a:xfrm>
          <a:prstGeom prst="rect">
            <a:avLst/>
          </a:prstGeom>
          <a:noFill/>
        </p:spPr>
        <p:txBody>
          <a:bodyPr wrap="square">
            <a:spAutoFit/>
          </a:bodyPr>
          <a:lstStyle/>
          <a:p>
            <a:pPr algn="l"/>
            <a:r>
              <a:rPr sz="750" b="0" i="0">
                <a:solidFill>
                  <a:srgbClr val="444444"/>
                </a:solidFill>
              </a:rPr>
              <a:t>製品部門長</a:t>
            </a:r>
          </a:p>
        </p:txBody>
      </p:sp>
      <p:sp>
        <p:nvSpPr>
          <p:cNvPr id="64" name="Rectangle 63"/>
          <p:cNvSpPr/>
          <p:nvPr/>
        </p:nvSpPr>
        <p:spPr>
          <a:xfrm>
            <a:off x="9436607" y="3703319"/>
            <a:ext cx="9144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491472" y="3749039"/>
            <a:ext cx="804672" cy="566928"/>
          </a:xfrm>
          <a:prstGeom prst="rect">
            <a:avLst/>
          </a:prstGeom>
          <a:noFill/>
        </p:spPr>
        <p:txBody>
          <a:bodyPr wrap="square">
            <a:spAutoFit/>
          </a:bodyPr>
          <a:lstStyle/>
          <a:p>
            <a:pPr algn="l"/>
            <a:r>
              <a:rPr sz="750" b="0" i="0">
                <a:solidFill>
                  <a:srgbClr val="444444"/>
                </a:solidFill>
              </a:rPr>
              <a:t>Q2末</a:t>
            </a:r>
          </a:p>
        </p:txBody>
      </p:sp>
      <p:sp>
        <p:nvSpPr>
          <p:cNvPr id="66" name="Rectangle 65"/>
          <p:cNvSpPr/>
          <p:nvPr/>
        </p:nvSpPr>
        <p:spPr>
          <a:xfrm>
            <a:off x="548640" y="4379975"/>
            <a:ext cx="201168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03503" y="4425695"/>
            <a:ext cx="1901952" cy="566928"/>
          </a:xfrm>
          <a:prstGeom prst="rect">
            <a:avLst/>
          </a:prstGeom>
          <a:noFill/>
        </p:spPr>
        <p:txBody>
          <a:bodyPr wrap="square">
            <a:spAutoFit/>
          </a:bodyPr>
          <a:lstStyle/>
          <a:p>
            <a:pPr algn="l"/>
            <a:r>
              <a:rPr sz="750" b="1" i="0">
                <a:solidFill>
                  <a:srgbClr val="0C3570"/>
                </a:solidFill>
              </a:rPr>
              <a:t>予算超過</a:t>
            </a:r>
          </a:p>
        </p:txBody>
      </p:sp>
      <p:sp>
        <p:nvSpPr>
          <p:cNvPr id="68" name="Rectangle 67"/>
          <p:cNvSpPr/>
          <p:nvPr/>
        </p:nvSpPr>
        <p:spPr>
          <a:xfrm>
            <a:off x="2578608" y="4379975"/>
            <a:ext cx="82296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2633472" y="4425695"/>
            <a:ext cx="713232" cy="566928"/>
          </a:xfrm>
          <a:prstGeom prst="rect">
            <a:avLst/>
          </a:prstGeom>
          <a:noFill/>
        </p:spPr>
        <p:txBody>
          <a:bodyPr wrap="square">
            <a:spAutoFit/>
          </a:bodyPr>
          <a:lstStyle/>
          <a:p>
            <a:pPr algn="l"/>
            <a:r>
              <a:rPr sz="750" b="0" i="0">
                <a:solidFill>
                  <a:srgbClr val="0C3570"/>
                </a:solidFill>
              </a:rPr>
              <a:t>中</a:t>
            </a:r>
          </a:p>
        </p:txBody>
      </p:sp>
      <p:sp>
        <p:nvSpPr>
          <p:cNvPr id="70" name="Rectangle 69"/>
          <p:cNvSpPr/>
          <p:nvPr/>
        </p:nvSpPr>
        <p:spPr>
          <a:xfrm>
            <a:off x="3419856" y="4379975"/>
            <a:ext cx="914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474720" y="4425695"/>
            <a:ext cx="804672" cy="566928"/>
          </a:xfrm>
          <a:prstGeom prst="rect">
            <a:avLst/>
          </a:prstGeom>
          <a:noFill/>
        </p:spPr>
        <p:txBody>
          <a:bodyPr wrap="square">
            <a:spAutoFit/>
          </a:bodyPr>
          <a:lstStyle/>
          <a:p>
            <a:pPr algn="l"/>
            <a:r>
              <a:rPr sz="750" b="0" i="0">
                <a:solidFill>
                  <a:srgbClr val="444444"/>
                </a:solidFill>
              </a:rPr>
              <a:t>低</a:t>
            </a:r>
          </a:p>
        </p:txBody>
      </p:sp>
      <p:sp>
        <p:nvSpPr>
          <p:cNvPr id="72" name="Rectangle 71"/>
          <p:cNvSpPr/>
          <p:nvPr/>
        </p:nvSpPr>
        <p:spPr>
          <a:xfrm>
            <a:off x="4352544" y="4379975"/>
            <a:ext cx="82296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4407407" y="4425695"/>
            <a:ext cx="713232" cy="566928"/>
          </a:xfrm>
          <a:prstGeom prst="rect">
            <a:avLst/>
          </a:prstGeom>
          <a:noFill/>
        </p:spPr>
        <p:txBody>
          <a:bodyPr wrap="square">
            <a:spAutoFit/>
          </a:bodyPr>
          <a:lstStyle/>
          <a:p>
            <a:pPr algn="l"/>
            <a:r>
              <a:rPr sz="750" b="0" i="0">
                <a:solidFill>
                  <a:srgbClr val="444444"/>
                </a:solidFill>
              </a:rPr>
              <a:t>低</a:t>
            </a:r>
          </a:p>
        </p:txBody>
      </p:sp>
      <p:sp>
        <p:nvSpPr>
          <p:cNvPr id="74" name="Rectangle 73"/>
          <p:cNvSpPr/>
          <p:nvPr/>
        </p:nvSpPr>
        <p:spPr>
          <a:xfrm>
            <a:off x="5193792" y="4379975"/>
            <a:ext cx="3200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248655" y="4425695"/>
            <a:ext cx="3090672" cy="566928"/>
          </a:xfrm>
          <a:prstGeom prst="rect">
            <a:avLst/>
          </a:prstGeom>
          <a:noFill/>
        </p:spPr>
        <p:txBody>
          <a:bodyPr wrap="square">
            <a:spAutoFit/>
          </a:bodyPr>
          <a:lstStyle/>
          <a:p>
            <a:pPr algn="l"/>
            <a:r>
              <a:rPr sz="750" b="0" i="0">
                <a:solidFill>
                  <a:srgbClr val="444444"/>
                </a:solidFill>
              </a:rPr>
              <a:t>月次予算モニタリングと、超過時の即時報告・承認プロセスを整備する。予備費10%を確保する。</a:t>
            </a:r>
          </a:p>
        </p:txBody>
      </p:sp>
      <p:sp>
        <p:nvSpPr>
          <p:cNvPr id="76" name="Rectangle 75"/>
          <p:cNvSpPr/>
          <p:nvPr/>
        </p:nvSpPr>
        <p:spPr>
          <a:xfrm>
            <a:off x="8412480" y="4379975"/>
            <a:ext cx="100584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8467344" y="4425695"/>
            <a:ext cx="896112" cy="566928"/>
          </a:xfrm>
          <a:prstGeom prst="rect">
            <a:avLst/>
          </a:prstGeom>
          <a:noFill/>
        </p:spPr>
        <p:txBody>
          <a:bodyPr wrap="square">
            <a:spAutoFit/>
          </a:bodyPr>
          <a:lstStyle/>
          <a:p>
            <a:pPr algn="l"/>
            <a:r>
              <a:rPr sz="750" b="0" i="0">
                <a:solidFill>
                  <a:srgbClr val="444444"/>
                </a:solidFill>
              </a:rPr>
              <a:t>CFO</a:t>
            </a:r>
          </a:p>
        </p:txBody>
      </p:sp>
      <p:sp>
        <p:nvSpPr>
          <p:cNvPr id="78" name="Rectangle 77"/>
          <p:cNvSpPr/>
          <p:nvPr/>
        </p:nvSpPr>
        <p:spPr>
          <a:xfrm>
            <a:off x="9436607" y="4379975"/>
            <a:ext cx="914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9491472" y="4425695"/>
            <a:ext cx="804672" cy="566928"/>
          </a:xfrm>
          <a:prstGeom prst="rect">
            <a:avLst/>
          </a:prstGeom>
          <a:noFill/>
        </p:spPr>
        <p:txBody>
          <a:bodyPr wrap="square">
            <a:spAutoFit/>
          </a:bodyPr>
          <a:lstStyle/>
          <a:p>
            <a:pPr algn="l"/>
            <a:r>
              <a:rPr sz="750" b="0" i="0">
                <a:solidFill>
                  <a:srgbClr val="444444"/>
                </a:solidFill>
              </a:rPr>
              <a:t>継続</a:t>
            </a:r>
          </a:p>
        </p:txBody>
      </p:sp>
      <p:sp>
        <p:nvSpPr>
          <p:cNvPr id="80" name="Rectangle 79"/>
          <p:cNvSpPr/>
          <p:nvPr/>
        </p:nvSpPr>
        <p:spPr>
          <a:xfrm>
            <a:off x="548640" y="5056631"/>
            <a:ext cx="20116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603503" y="5102351"/>
            <a:ext cx="1901952" cy="566928"/>
          </a:xfrm>
          <a:prstGeom prst="rect">
            <a:avLst/>
          </a:prstGeom>
          <a:noFill/>
        </p:spPr>
        <p:txBody>
          <a:bodyPr wrap="square">
            <a:spAutoFit/>
          </a:bodyPr>
          <a:lstStyle/>
          <a:p>
            <a:pPr algn="l"/>
            <a:r>
              <a:rPr sz="750" b="1" i="0">
                <a:solidFill>
                  <a:srgbClr val="0C3570"/>
                </a:solidFill>
              </a:rPr>
              <a:t>顧客データ漏洩</a:t>
            </a:r>
          </a:p>
        </p:txBody>
      </p:sp>
      <p:sp>
        <p:nvSpPr>
          <p:cNvPr id="82" name="Rectangle 81"/>
          <p:cNvSpPr/>
          <p:nvPr/>
        </p:nvSpPr>
        <p:spPr>
          <a:xfrm>
            <a:off x="2578608" y="5056631"/>
            <a:ext cx="82296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2633472" y="5102351"/>
            <a:ext cx="713232" cy="566928"/>
          </a:xfrm>
          <a:prstGeom prst="rect">
            <a:avLst/>
          </a:prstGeom>
          <a:noFill/>
        </p:spPr>
        <p:txBody>
          <a:bodyPr wrap="square">
            <a:spAutoFit/>
          </a:bodyPr>
          <a:lstStyle/>
          <a:p>
            <a:pPr algn="l"/>
            <a:r>
              <a:rPr sz="750" b="0" i="0">
                <a:solidFill>
                  <a:srgbClr val="0C3570"/>
                </a:solidFill>
              </a:rPr>
              <a:t>高</a:t>
            </a:r>
          </a:p>
        </p:txBody>
      </p:sp>
      <p:sp>
        <p:nvSpPr>
          <p:cNvPr id="84" name="Rectangle 83"/>
          <p:cNvSpPr/>
          <p:nvPr/>
        </p:nvSpPr>
        <p:spPr>
          <a:xfrm>
            <a:off x="3419856" y="5056631"/>
            <a:ext cx="9144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3474720" y="5102351"/>
            <a:ext cx="804672" cy="566928"/>
          </a:xfrm>
          <a:prstGeom prst="rect">
            <a:avLst/>
          </a:prstGeom>
          <a:noFill/>
        </p:spPr>
        <p:txBody>
          <a:bodyPr wrap="square">
            <a:spAutoFit/>
          </a:bodyPr>
          <a:lstStyle/>
          <a:p>
            <a:pPr algn="l"/>
            <a:r>
              <a:rPr sz="750" b="0" i="0">
                <a:solidFill>
                  <a:srgbClr val="444444"/>
                </a:solidFill>
              </a:rPr>
              <a:t>低</a:t>
            </a:r>
          </a:p>
        </p:txBody>
      </p:sp>
      <p:sp>
        <p:nvSpPr>
          <p:cNvPr id="86" name="Rectangle 85"/>
          <p:cNvSpPr/>
          <p:nvPr/>
        </p:nvSpPr>
        <p:spPr>
          <a:xfrm>
            <a:off x="4352544" y="5056631"/>
            <a:ext cx="82296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4407407" y="5102351"/>
            <a:ext cx="713232" cy="566928"/>
          </a:xfrm>
          <a:prstGeom prst="rect">
            <a:avLst/>
          </a:prstGeom>
          <a:noFill/>
        </p:spPr>
        <p:txBody>
          <a:bodyPr wrap="square">
            <a:spAutoFit/>
          </a:bodyPr>
          <a:lstStyle/>
          <a:p>
            <a:pPr algn="l"/>
            <a:r>
              <a:rPr sz="750" b="0" i="0">
                <a:solidFill>
                  <a:srgbClr val="444444"/>
                </a:solidFill>
              </a:rPr>
              <a:t>中</a:t>
            </a:r>
          </a:p>
        </p:txBody>
      </p:sp>
      <p:sp>
        <p:nvSpPr>
          <p:cNvPr id="88" name="Rectangle 87"/>
          <p:cNvSpPr/>
          <p:nvPr/>
        </p:nvSpPr>
        <p:spPr>
          <a:xfrm>
            <a:off x="5193792" y="5056631"/>
            <a:ext cx="32004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5248655" y="5102351"/>
            <a:ext cx="3090672" cy="566928"/>
          </a:xfrm>
          <a:prstGeom prst="rect">
            <a:avLst/>
          </a:prstGeom>
          <a:noFill/>
        </p:spPr>
        <p:txBody>
          <a:bodyPr wrap="square">
            <a:spAutoFit/>
          </a:bodyPr>
          <a:lstStyle/>
          <a:p>
            <a:pPr algn="l"/>
            <a:r>
              <a:rPr sz="750" b="0" i="0">
                <a:solidFill>
                  <a:srgbClr val="444444"/>
                </a:solidFill>
              </a:rPr>
              <a:t>セキュリティ監査の定期実施と、インシデント対応手順の整備・訓練を行う。</a:t>
            </a:r>
          </a:p>
        </p:txBody>
      </p:sp>
      <p:sp>
        <p:nvSpPr>
          <p:cNvPr id="90" name="Rectangle 89"/>
          <p:cNvSpPr/>
          <p:nvPr/>
        </p:nvSpPr>
        <p:spPr>
          <a:xfrm>
            <a:off x="8412480" y="5056631"/>
            <a:ext cx="100584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8467344" y="5102351"/>
            <a:ext cx="896112" cy="566928"/>
          </a:xfrm>
          <a:prstGeom prst="rect">
            <a:avLst/>
          </a:prstGeom>
          <a:noFill/>
        </p:spPr>
        <p:txBody>
          <a:bodyPr wrap="square">
            <a:spAutoFit/>
          </a:bodyPr>
          <a:lstStyle/>
          <a:p>
            <a:pPr algn="l"/>
            <a:r>
              <a:rPr sz="750" b="0" i="0">
                <a:solidFill>
                  <a:srgbClr val="444444"/>
                </a:solidFill>
              </a:rPr>
              <a:t>CISO</a:t>
            </a:r>
          </a:p>
        </p:txBody>
      </p:sp>
      <p:sp>
        <p:nvSpPr>
          <p:cNvPr id="92" name="Rectangle 91"/>
          <p:cNvSpPr/>
          <p:nvPr/>
        </p:nvSpPr>
        <p:spPr>
          <a:xfrm>
            <a:off x="9436607" y="5056631"/>
            <a:ext cx="9144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9491472" y="5102351"/>
            <a:ext cx="804672" cy="566928"/>
          </a:xfrm>
          <a:prstGeom prst="rect">
            <a:avLst/>
          </a:prstGeom>
          <a:noFill/>
        </p:spPr>
        <p:txBody>
          <a:bodyPr wrap="square">
            <a:spAutoFit/>
          </a:bodyPr>
          <a:lstStyle/>
          <a:p>
            <a:pPr algn="l"/>
            <a:r>
              <a:rPr sz="750" b="0" i="0">
                <a:solidFill>
                  <a:srgbClr val="444444"/>
                </a:solidFill>
              </a:rPr>
              <a:t>Q1末</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アクションプラン：6つの施策を担当者・期限・成果物・KPIで管理する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action_plan_table ／ 用途: 実行計画の一覧管理 ／ 件数: 複数行</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6つの施策を担当者・期限・成果物・KPIの4軸で整理し、実行責任と成果基準を明確にすることで、確実な実行を担保する。</a:t>
            </a:r>
          </a:p>
        </p:txBody>
      </p:sp>
      <p:sp>
        <p:nvSpPr>
          <p:cNvPr id="10" name="Rectangle 9"/>
          <p:cNvSpPr/>
          <p:nvPr/>
        </p:nvSpPr>
        <p:spPr>
          <a:xfrm>
            <a:off x="548640" y="1874519"/>
            <a:ext cx="182880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3" y="1947672"/>
            <a:ext cx="1719072" cy="329184"/>
          </a:xfrm>
          <a:prstGeom prst="rect">
            <a:avLst/>
          </a:prstGeom>
          <a:noFill/>
        </p:spPr>
        <p:txBody>
          <a:bodyPr wrap="square">
            <a:spAutoFit/>
          </a:bodyPr>
          <a:lstStyle/>
          <a:p>
            <a:pPr algn="l"/>
            <a:r>
              <a:rPr sz="850" b="1" i="0">
                <a:solidFill>
                  <a:srgbClr val="FFFFFF"/>
                </a:solidFill>
              </a:rPr>
              <a:t>施策名</a:t>
            </a:r>
          </a:p>
        </p:txBody>
      </p:sp>
      <p:sp>
        <p:nvSpPr>
          <p:cNvPr id="12" name="Rectangle 11"/>
          <p:cNvSpPr/>
          <p:nvPr/>
        </p:nvSpPr>
        <p:spPr>
          <a:xfrm>
            <a:off x="2395728" y="1874519"/>
            <a:ext cx="1097280" cy="457200"/>
          </a:xfrm>
          <a:prstGeom prst="rect">
            <a:avLst/>
          </a:prstGeom>
          <a:solidFill>
            <a:srgbClr val="08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450592" y="1947672"/>
            <a:ext cx="987552" cy="329184"/>
          </a:xfrm>
          <a:prstGeom prst="rect">
            <a:avLst/>
          </a:prstGeom>
          <a:noFill/>
        </p:spPr>
        <p:txBody>
          <a:bodyPr wrap="square">
            <a:spAutoFit/>
          </a:bodyPr>
          <a:lstStyle/>
          <a:p>
            <a:pPr algn="l"/>
            <a:r>
              <a:rPr sz="850" b="1" i="0">
                <a:solidFill>
                  <a:srgbClr val="FFFFFF"/>
                </a:solidFill>
              </a:rPr>
              <a:t>担当者</a:t>
            </a:r>
          </a:p>
        </p:txBody>
      </p:sp>
      <p:sp>
        <p:nvSpPr>
          <p:cNvPr id="14" name="Rectangle 13"/>
          <p:cNvSpPr/>
          <p:nvPr/>
        </p:nvSpPr>
        <p:spPr>
          <a:xfrm>
            <a:off x="3511296" y="1874519"/>
            <a:ext cx="118872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66160" y="1947672"/>
            <a:ext cx="1078992" cy="329184"/>
          </a:xfrm>
          <a:prstGeom prst="rect">
            <a:avLst/>
          </a:prstGeom>
          <a:noFill/>
        </p:spPr>
        <p:txBody>
          <a:bodyPr wrap="square">
            <a:spAutoFit/>
          </a:bodyPr>
          <a:lstStyle/>
          <a:p>
            <a:pPr algn="l"/>
            <a:r>
              <a:rPr sz="850" b="1" i="0">
                <a:solidFill>
                  <a:srgbClr val="FFFFFF"/>
                </a:solidFill>
              </a:rPr>
              <a:t>期限</a:t>
            </a:r>
          </a:p>
        </p:txBody>
      </p:sp>
      <p:sp>
        <p:nvSpPr>
          <p:cNvPr id="16" name="Rectangle 15"/>
          <p:cNvSpPr/>
          <p:nvPr/>
        </p:nvSpPr>
        <p:spPr>
          <a:xfrm>
            <a:off x="4718304" y="1874519"/>
            <a:ext cx="292608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773168" y="1947672"/>
            <a:ext cx="2816352" cy="329184"/>
          </a:xfrm>
          <a:prstGeom prst="rect">
            <a:avLst/>
          </a:prstGeom>
          <a:noFill/>
        </p:spPr>
        <p:txBody>
          <a:bodyPr wrap="square">
            <a:spAutoFit/>
          </a:bodyPr>
          <a:lstStyle/>
          <a:p>
            <a:pPr algn="l"/>
            <a:r>
              <a:rPr sz="850" b="1" i="0">
                <a:solidFill>
                  <a:srgbClr val="FFFFFF"/>
                </a:solidFill>
              </a:rPr>
              <a:t>成果物</a:t>
            </a:r>
          </a:p>
        </p:txBody>
      </p:sp>
      <p:sp>
        <p:nvSpPr>
          <p:cNvPr id="18" name="Rectangle 17"/>
          <p:cNvSpPr/>
          <p:nvPr/>
        </p:nvSpPr>
        <p:spPr>
          <a:xfrm>
            <a:off x="7662671" y="1874519"/>
            <a:ext cx="182880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17536" y="1947672"/>
            <a:ext cx="1719072" cy="329184"/>
          </a:xfrm>
          <a:prstGeom prst="rect">
            <a:avLst/>
          </a:prstGeom>
          <a:noFill/>
        </p:spPr>
        <p:txBody>
          <a:bodyPr wrap="square">
            <a:spAutoFit/>
          </a:bodyPr>
          <a:lstStyle/>
          <a:p>
            <a:pPr algn="l"/>
            <a:r>
              <a:rPr sz="850" b="1" i="0">
                <a:solidFill>
                  <a:srgbClr val="FFFFFF"/>
                </a:solidFill>
              </a:rPr>
              <a:t>KPI目標</a:t>
            </a:r>
          </a:p>
        </p:txBody>
      </p:sp>
      <p:sp>
        <p:nvSpPr>
          <p:cNvPr id="20" name="Rectangle 19"/>
          <p:cNvSpPr/>
          <p:nvPr/>
        </p:nvSpPr>
        <p:spPr>
          <a:xfrm>
            <a:off x="9509759" y="1874519"/>
            <a:ext cx="219456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564624" y="1947672"/>
            <a:ext cx="2084831" cy="329184"/>
          </a:xfrm>
          <a:prstGeom prst="rect">
            <a:avLst/>
          </a:prstGeom>
          <a:noFill/>
        </p:spPr>
        <p:txBody>
          <a:bodyPr wrap="square">
            <a:spAutoFit/>
          </a:bodyPr>
          <a:lstStyle/>
          <a:p>
            <a:pPr algn="l"/>
            <a:r>
              <a:rPr sz="850" b="1" i="0">
                <a:solidFill>
                  <a:srgbClr val="FFFFFF"/>
                </a:solidFill>
              </a:rPr>
              <a:t>ステータス</a:t>
            </a:r>
          </a:p>
        </p:txBody>
      </p:sp>
      <p:sp>
        <p:nvSpPr>
          <p:cNvPr id="22" name="Rectangle 21"/>
          <p:cNvSpPr/>
          <p:nvPr/>
        </p:nvSpPr>
        <p:spPr>
          <a:xfrm>
            <a:off x="548640" y="2350008"/>
            <a:ext cx="18288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03503" y="2395727"/>
            <a:ext cx="1719072" cy="566928"/>
          </a:xfrm>
          <a:prstGeom prst="rect">
            <a:avLst/>
          </a:prstGeom>
          <a:noFill/>
        </p:spPr>
        <p:txBody>
          <a:bodyPr wrap="square">
            <a:spAutoFit/>
          </a:bodyPr>
          <a:lstStyle/>
          <a:p>
            <a:pPr algn="l"/>
            <a:r>
              <a:rPr sz="750" b="1" i="0">
                <a:solidFill>
                  <a:srgbClr val="0C3570"/>
                </a:solidFill>
              </a:rPr>
              <a:t>CS担当者採用</a:t>
            </a:r>
          </a:p>
        </p:txBody>
      </p:sp>
      <p:sp>
        <p:nvSpPr>
          <p:cNvPr id="24" name="Rectangle 23"/>
          <p:cNvSpPr/>
          <p:nvPr/>
        </p:nvSpPr>
        <p:spPr>
          <a:xfrm>
            <a:off x="2395728" y="2350008"/>
            <a:ext cx="109728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50592" y="2395727"/>
            <a:ext cx="987552" cy="566928"/>
          </a:xfrm>
          <a:prstGeom prst="rect">
            <a:avLst/>
          </a:prstGeom>
          <a:noFill/>
        </p:spPr>
        <p:txBody>
          <a:bodyPr wrap="square">
            <a:spAutoFit/>
          </a:bodyPr>
          <a:lstStyle/>
          <a:p>
            <a:pPr algn="l"/>
            <a:r>
              <a:rPr sz="750" b="0" i="0">
                <a:solidFill>
                  <a:srgbClr val="0C3570"/>
                </a:solidFill>
              </a:rPr>
              <a:t>人事部長</a:t>
            </a:r>
          </a:p>
        </p:txBody>
      </p:sp>
      <p:sp>
        <p:nvSpPr>
          <p:cNvPr id="26" name="Rectangle 25"/>
          <p:cNvSpPr/>
          <p:nvPr/>
        </p:nvSpPr>
        <p:spPr>
          <a:xfrm>
            <a:off x="3511296" y="2350008"/>
            <a:ext cx="118872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566160" y="2395727"/>
            <a:ext cx="1078992" cy="566928"/>
          </a:xfrm>
          <a:prstGeom prst="rect">
            <a:avLst/>
          </a:prstGeom>
          <a:noFill/>
        </p:spPr>
        <p:txBody>
          <a:bodyPr wrap="square">
            <a:spAutoFit/>
          </a:bodyPr>
          <a:lstStyle/>
          <a:p>
            <a:pPr algn="l"/>
            <a:r>
              <a:rPr sz="750" b="0" i="0">
                <a:solidFill>
                  <a:srgbClr val="444444"/>
                </a:solidFill>
              </a:rPr>
              <a:t>2026年3月末</a:t>
            </a:r>
          </a:p>
        </p:txBody>
      </p:sp>
      <p:sp>
        <p:nvSpPr>
          <p:cNvPr id="28" name="Rectangle 27"/>
          <p:cNvSpPr/>
          <p:nvPr/>
        </p:nvSpPr>
        <p:spPr>
          <a:xfrm>
            <a:off x="4718304" y="2350008"/>
            <a:ext cx="29260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773168" y="2395727"/>
            <a:ext cx="2816352" cy="566928"/>
          </a:xfrm>
          <a:prstGeom prst="rect">
            <a:avLst/>
          </a:prstGeom>
          <a:noFill/>
        </p:spPr>
        <p:txBody>
          <a:bodyPr wrap="square">
            <a:spAutoFit/>
          </a:bodyPr>
          <a:lstStyle/>
          <a:p>
            <a:pPr algn="l"/>
            <a:r>
              <a:rPr sz="750" b="0" i="0">
                <a:solidFill>
                  <a:srgbClr val="444444"/>
                </a:solidFill>
              </a:rPr>
              <a:t>採用完了報告書・オンボーディング計画・担当顧客割り当て表</a:t>
            </a:r>
          </a:p>
        </p:txBody>
      </p:sp>
      <p:sp>
        <p:nvSpPr>
          <p:cNvPr id="30" name="Rectangle 29"/>
          <p:cNvSpPr/>
          <p:nvPr/>
        </p:nvSpPr>
        <p:spPr>
          <a:xfrm>
            <a:off x="7662671" y="2350008"/>
            <a:ext cx="18288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17536" y="2395727"/>
            <a:ext cx="1719072" cy="566928"/>
          </a:xfrm>
          <a:prstGeom prst="rect">
            <a:avLst/>
          </a:prstGeom>
          <a:noFill/>
        </p:spPr>
        <p:txBody>
          <a:bodyPr wrap="square">
            <a:spAutoFit/>
          </a:bodyPr>
          <a:lstStyle/>
          <a:p>
            <a:pPr algn="l"/>
            <a:r>
              <a:rPr sz="750" b="0" i="0">
                <a:solidFill>
                  <a:srgbClr val="444444"/>
                </a:solidFill>
              </a:rPr>
              <a:t>12名体制達成・担当顧客50社以下</a:t>
            </a:r>
          </a:p>
        </p:txBody>
      </p:sp>
      <p:sp>
        <p:nvSpPr>
          <p:cNvPr id="32" name="Rectangle 31"/>
          <p:cNvSpPr/>
          <p:nvPr/>
        </p:nvSpPr>
        <p:spPr>
          <a:xfrm>
            <a:off x="9509759" y="2350008"/>
            <a:ext cx="219456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564624" y="2395727"/>
            <a:ext cx="2084831" cy="566928"/>
          </a:xfrm>
          <a:prstGeom prst="rect">
            <a:avLst/>
          </a:prstGeom>
          <a:noFill/>
        </p:spPr>
        <p:txBody>
          <a:bodyPr wrap="square">
            <a:spAutoFit/>
          </a:bodyPr>
          <a:lstStyle/>
          <a:p>
            <a:pPr algn="l"/>
            <a:r>
              <a:rPr sz="750" b="0" i="0">
                <a:solidFill>
                  <a:srgbClr val="444444"/>
                </a:solidFill>
              </a:rPr>
              <a:t>進行中（10/12名）</a:t>
            </a:r>
          </a:p>
        </p:txBody>
      </p:sp>
      <p:sp>
        <p:nvSpPr>
          <p:cNvPr id="34" name="Rectangle 33"/>
          <p:cNvSpPr/>
          <p:nvPr/>
        </p:nvSpPr>
        <p:spPr>
          <a:xfrm>
            <a:off x="548640" y="3026664"/>
            <a:ext cx="18288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03503" y="3072384"/>
            <a:ext cx="1719072" cy="566928"/>
          </a:xfrm>
          <a:prstGeom prst="rect">
            <a:avLst/>
          </a:prstGeom>
          <a:noFill/>
        </p:spPr>
        <p:txBody>
          <a:bodyPr wrap="square">
            <a:spAutoFit/>
          </a:bodyPr>
          <a:lstStyle/>
          <a:p>
            <a:pPr algn="l"/>
            <a:r>
              <a:rPr sz="750" b="1" i="0">
                <a:solidFill>
                  <a:srgbClr val="0C3570"/>
                </a:solidFill>
              </a:rPr>
              <a:t>オンボーディング改善</a:t>
            </a:r>
          </a:p>
        </p:txBody>
      </p:sp>
      <p:sp>
        <p:nvSpPr>
          <p:cNvPr id="36" name="Rectangle 35"/>
          <p:cNvSpPr/>
          <p:nvPr/>
        </p:nvSpPr>
        <p:spPr>
          <a:xfrm>
            <a:off x="2395728" y="3026664"/>
            <a:ext cx="109728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450592" y="3072384"/>
            <a:ext cx="987552" cy="566928"/>
          </a:xfrm>
          <a:prstGeom prst="rect">
            <a:avLst/>
          </a:prstGeom>
          <a:noFill/>
        </p:spPr>
        <p:txBody>
          <a:bodyPr wrap="square">
            <a:spAutoFit/>
          </a:bodyPr>
          <a:lstStyle/>
          <a:p>
            <a:pPr algn="l"/>
            <a:r>
              <a:rPr sz="750" b="0" i="0">
                <a:solidFill>
                  <a:srgbClr val="0C3570"/>
                </a:solidFill>
              </a:rPr>
              <a:t>CS担当</a:t>
            </a:r>
          </a:p>
        </p:txBody>
      </p:sp>
      <p:sp>
        <p:nvSpPr>
          <p:cNvPr id="38" name="Rectangle 37"/>
          <p:cNvSpPr/>
          <p:nvPr/>
        </p:nvSpPr>
        <p:spPr>
          <a:xfrm>
            <a:off x="3511296" y="3026664"/>
            <a:ext cx="11887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566160" y="3072384"/>
            <a:ext cx="1078992" cy="566928"/>
          </a:xfrm>
          <a:prstGeom prst="rect">
            <a:avLst/>
          </a:prstGeom>
          <a:noFill/>
        </p:spPr>
        <p:txBody>
          <a:bodyPr wrap="square">
            <a:spAutoFit/>
          </a:bodyPr>
          <a:lstStyle/>
          <a:p>
            <a:pPr algn="l"/>
            <a:r>
              <a:rPr sz="750" b="0" i="0">
                <a:solidFill>
                  <a:srgbClr val="444444"/>
                </a:solidFill>
              </a:rPr>
              <a:t>2026年2月末</a:t>
            </a:r>
          </a:p>
        </p:txBody>
      </p:sp>
      <p:sp>
        <p:nvSpPr>
          <p:cNvPr id="40" name="Rectangle 39"/>
          <p:cNvSpPr/>
          <p:nvPr/>
        </p:nvSpPr>
        <p:spPr>
          <a:xfrm>
            <a:off x="4718304" y="3026664"/>
            <a:ext cx="292608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773168" y="3072384"/>
            <a:ext cx="2816352" cy="566928"/>
          </a:xfrm>
          <a:prstGeom prst="rect">
            <a:avLst/>
          </a:prstGeom>
          <a:noFill/>
        </p:spPr>
        <p:txBody>
          <a:bodyPr wrap="square">
            <a:spAutoFit/>
          </a:bodyPr>
          <a:lstStyle/>
          <a:p>
            <a:pPr algn="l"/>
            <a:r>
              <a:rPr sz="750" b="0" i="0">
                <a:solidFill>
                  <a:srgbClr val="444444"/>
                </a:solidFill>
              </a:rPr>
              <a:t>構造化プログラム・30/60/90日チェックリスト・研修資料</a:t>
            </a:r>
          </a:p>
        </p:txBody>
      </p:sp>
      <p:sp>
        <p:nvSpPr>
          <p:cNvPr id="42" name="Rectangle 41"/>
          <p:cNvSpPr/>
          <p:nvPr/>
        </p:nvSpPr>
        <p:spPr>
          <a:xfrm>
            <a:off x="7662671" y="3026664"/>
            <a:ext cx="18288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717536" y="3072384"/>
            <a:ext cx="1719072" cy="566928"/>
          </a:xfrm>
          <a:prstGeom prst="rect">
            <a:avLst/>
          </a:prstGeom>
          <a:noFill/>
        </p:spPr>
        <p:txBody>
          <a:bodyPr wrap="square">
            <a:spAutoFit/>
          </a:bodyPr>
          <a:lstStyle/>
          <a:p>
            <a:pPr algn="l"/>
            <a:r>
              <a:rPr sz="750" b="0" i="0">
                <a:solidFill>
                  <a:srgbClr val="444444"/>
                </a:solidFill>
              </a:rPr>
              <a:t>30日活用率80%以上</a:t>
            </a:r>
          </a:p>
        </p:txBody>
      </p:sp>
      <p:sp>
        <p:nvSpPr>
          <p:cNvPr id="44" name="Rectangle 43"/>
          <p:cNvSpPr/>
          <p:nvPr/>
        </p:nvSpPr>
        <p:spPr>
          <a:xfrm>
            <a:off x="9509759" y="3026664"/>
            <a:ext cx="219456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564624" y="3072384"/>
            <a:ext cx="2084831" cy="566928"/>
          </a:xfrm>
          <a:prstGeom prst="rect">
            <a:avLst/>
          </a:prstGeom>
          <a:noFill/>
        </p:spPr>
        <p:txBody>
          <a:bodyPr wrap="square">
            <a:spAutoFit/>
          </a:bodyPr>
          <a:lstStyle/>
          <a:p>
            <a:pPr algn="l"/>
            <a:r>
              <a:rPr sz="750" b="0" i="0">
                <a:solidFill>
                  <a:srgbClr val="444444"/>
                </a:solidFill>
              </a:rPr>
              <a:t>完了</a:t>
            </a:r>
          </a:p>
        </p:txBody>
      </p:sp>
      <p:sp>
        <p:nvSpPr>
          <p:cNvPr id="46" name="Rectangle 45"/>
          <p:cNvSpPr/>
          <p:nvPr/>
        </p:nvSpPr>
        <p:spPr>
          <a:xfrm>
            <a:off x="548640" y="3703319"/>
            <a:ext cx="18288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03503" y="3749039"/>
            <a:ext cx="1719072" cy="566928"/>
          </a:xfrm>
          <a:prstGeom prst="rect">
            <a:avLst/>
          </a:prstGeom>
          <a:noFill/>
        </p:spPr>
        <p:txBody>
          <a:bodyPr wrap="square">
            <a:spAutoFit/>
          </a:bodyPr>
          <a:lstStyle/>
          <a:p>
            <a:pPr algn="l"/>
            <a:r>
              <a:rPr sz="750" b="1" i="0">
                <a:solidFill>
                  <a:srgbClr val="0C3570"/>
                </a:solidFill>
              </a:rPr>
              <a:t>CRM導入</a:t>
            </a:r>
          </a:p>
        </p:txBody>
      </p:sp>
      <p:sp>
        <p:nvSpPr>
          <p:cNvPr id="48" name="Rectangle 47"/>
          <p:cNvSpPr/>
          <p:nvPr/>
        </p:nvSpPr>
        <p:spPr>
          <a:xfrm>
            <a:off x="2395728" y="3703319"/>
            <a:ext cx="109728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450592" y="3749039"/>
            <a:ext cx="987552" cy="566928"/>
          </a:xfrm>
          <a:prstGeom prst="rect">
            <a:avLst/>
          </a:prstGeom>
          <a:noFill/>
        </p:spPr>
        <p:txBody>
          <a:bodyPr wrap="square">
            <a:spAutoFit/>
          </a:bodyPr>
          <a:lstStyle/>
          <a:p>
            <a:pPr algn="l"/>
            <a:r>
              <a:rPr sz="750" b="0" i="0">
                <a:solidFill>
                  <a:srgbClr val="0C3570"/>
                </a:solidFill>
              </a:rPr>
              <a:t>IT部門長</a:t>
            </a:r>
          </a:p>
        </p:txBody>
      </p:sp>
      <p:sp>
        <p:nvSpPr>
          <p:cNvPr id="50" name="Rectangle 49"/>
          <p:cNvSpPr/>
          <p:nvPr/>
        </p:nvSpPr>
        <p:spPr>
          <a:xfrm>
            <a:off x="3511296" y="3703319"/>
            <a:ext cx="118872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566160" y="3749039"/>
            <a:ext cx="1078992" cy="566928"/>
          </a:xfrm>
          <a:prstGeom prst="rect">
            <a:avLst/>
          </a:prstGeom>
          <a:noFill/>
        </p:spPr>
        <p:txBody>
          <a:bodyPr wrap="square">
            <a:spAutoFit/>
          </a:bodyPr>
          <a:lstStyle/>
          <a:p>
            <a:pPr algn="l"/>
            <a:r>
              <a:rPr sz="750" b="0" i="0">
                <a:solidFill>
                  <a:srgbClr val="444444"/>
                </a:solidFill>
              </a:rPr>
              <a:t>2026年3月末</a:t>
            </a:r>
          </a:p>
        </p:txBody>
      </p:sp>
      <p:sp>
        <p:nvSpPr>
          <p:cNvPr id="52" name="Rectangle 51"/>
          <p:cNvSpPr/>
          <p:nvPr/>
        </p:nvSpPr>
        <p:spPr>
          <a:xfrm>
            <a:off x="4718304" y="3703319"/>
            <a:ext cx="29260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773168" y="3749039"/>
            <a:ext cx="2816352" cy="566928"/>
          </a:xfrm>
          <a:prstGeom prst="rect">
            <a:avLst/>
          </a:prstGeom>
          <a:noFill/>
        </p:spPr>
        <p:txBody>
          <a:bodyPr wrap="square">
            <a:spAutoFit/>
          </a:bodyPr>
          <a:lstStyle/>
          <a:p>
            <a:pPr algn="l"/>
            <a:r>
              <a:rPr sz="750" b="0" i="0">
                <a:solidFill>
                  <a:srgbClr val="444444"/>
                </a:solidFill>
              </a:rPr>
              <a:t>CRM稼働確認報告書・データ移行完了報告・運用マニュアル</a:t>
            </a:r>
          </a:p>
        </p:txBody>
      </p:sp>
      <p:sp>
        <p:nvSpPr>
          <p:cNvPr id="54" name="Rectangle 53"/>
          <p:cNvSpPr/>
          <p:nvPr/>
        </p:nvSpPr>
        <p:spPr>
          <a:xfrm>
            <a:off x="7662671" y="3703319"/>
            <a:ext cx="18288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717536" y="3749039"/>
            <a:ext cx="1719072" cy="566928"/>
          </a:xfrm>
          <a:prstGeom prst="rect">
            <a:avLst/>
          </a:prstGeom>
          <a:noFill/>
        </p:spPr>
        <p:txBody>
          <a:bodyPr wrap="square">
            <a:spAutoFit/>
          </a:bodyPr>
          <a:lstStyle/>
          <a:p>
            <a:pPr algn="l"/>
            <a:r>
              <a:rPr sz="750" b="0" i="0">
                <a:solidFill>
                  <a:srgbClr val="444444"/>
                </a:solidFill>
              </a:rPr>
              <a:t>全顧客データ移行完了・活用率100%</a:t>
            </a:r>
          </a:p>
        </p:txBody>
      </p:sp>
      <p:sp>
        <p:nvSpPr>
          <p:cNvPr id="56" name="Rectangle 55"/>
          <p:cNvSpPr/>
          <p:nvPr/>
        </p:nvSpPr>
        <p:spPr>
          <a:xfrm>
            <a:off x="9509759" y="3703319"/>
            <a:ext cx="219456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564624" y="3749039"/>
            <a:ext cx="2084831" cy="566928"/>
          </a:xfrm>
          <a:prstGeom prst="rect">
            <a:avLst/>
          </a:prstGeom>
          <a:noFill/>
        </p:spPr>
        <p:txBody>
          <a:bodyPr wrap="square">
            <a:spAutoFit/>
          </a:bodyPr>
          <a:lstStyle/>
          <a:p>
            <a:pPr algn="l"/>
            <a:r>
              <a:rPr sz="750" b="0" i="0">
                <a:solidFill>
                  <a:srgbClr val="444444"/>
                </a:solidFill>
              </a:rPr>
              <a:t>進行中（80%完了）</a:t>
            </a:r>
          </a:p>
        </p:txBody>
      </p:sp>
      <p:sp>
        <p:nvSpPr>
          <p:cNvPr id="58" name="Rectangle 57"/>
          <p:cNvSpPr/>
          <p:nvPr/>
        </p:nvSpPr>
        <p:spPr>
          <a:xfrm>
            <a:off x="548640" y="4379975"/>
            <a:ext cx="18288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03503" y="4425695"/>
            <a:ext cx="1719072" cy="566928"/>
          </a:xfrm>
          <a:prstGeom prst="rect">
            <a:avLst/>
          </a:prstGeom>
          <a:noFill/>
        </p:spPr>
        <p:txBody>
          <a:bodyPr wrap="square">
            <a:spAutoFit/>
          </a:bodyPr>
          <a:lstStyle/>
          <a:p>
            <a:pPr algn="l"/>
            <a:r>
              <a:rPr sz="750" b="1" i="0">
                <a:solidFill>
                  <a:srgbClr val="0C3570"/>
                </a:solidFill>
              </a:rPr>
              <a:t>ヘルススコア設計</a:t>
            </a:r>
          </a:p>
        </p:txBody>
      </p:sp>
      <p:sp>
        <p:nvSpPr>
          <p:cNvPr id="60" name="Rectangle 59"/>
          <p:cNvSpPr/>
          <p:nvPr/>
        </p:nvSpPr>
        <p:spPr>
          <a:xfrm>
            <a:off x="2395728" y="4379975"/>
            <a:ext cx="109728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450592" y="4425695"/>
            <a:ext cx="987552" cy="566928"/>
          </a:xfrm>
          <a:prstGeom prst="rect">
            <a:avLst/>
          </a:prstGeom>
          <a:noFill/>
        </p:spPr>
        <p:txBody>
          <a:bodyPr wrap="square">
            <a:spAutoFit/>
          </a:bodyPr>
          <a:lstStyle/>
          <a:p>
            <a:pPr algn="l"/>
            <a:r>
              <a:rPr sz="750" b="0" i="0">
                <a:solidFill>
                  <a:srgbClr val="0C3570"/>
                </a:solidFill>
              </a:rPr>
              <a:t>データ分析</a:t>
            </a:r>
          </a:p>
        </p:txBody>
      </p:sp>
      <p:sp>
        <p:nvSpPr>
          <p:cNvPr id="62" name="Rectangle 61"/>
          <p:cNvSpPr/>
          <p:nvPr/>
        </p:nvSpPr>
        <p:spPr>
          <a:xfrm>
            <a:off x="3511296" y="4379975"/>
            <a:ext cx="11887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566160" y="4425695"/>
            <a:ext cx="1078992" cy="566928"/>
          </a:xfrm>
          <a:prstGeom prst="rect">
            <a:avLst/>
          </a:prstGeom>
          <a:noFill/>
        </p:spPr>
        <p:txBody>
          <a:bodyPr wrap="square">
            <a:spAutoFit/>
          </a:bodyPr>
          <a:lstStyle/>
          <a:p>
            <a:pPr algn="l"/>
            <a:r>
              <a:rPr sz="750" b="0" i="0">
                <a:solidFill>
                  <a:srgbClr val="444444"/>
                </a:solidFill>
              </a:rPr>
              <a:t>2026年4月末</a:t>
            </a:r>
          </a:p>
        </p:txBody>
      </p:sp>
      <p:sp>
        <p:nvSpPr>
          <p:cNvPr id="64" name="Rectangle 63"/>
          <p:cNvSpPr/>
          <p:nvPr/>
        </p:nvSpPr>
        <p:spPr>
          <a:xfrm>
            <a:off x="4718304" y="4379975"/>
            <a:ext cx="292608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773168" y="4425695"/>
            <a:ext cx="2816352" cy="566928"/>
          </a:xfrm>
          <a:prstGeom prst="rect">
            <a:avLst/>
          </a:prstGeom>
          <a:noFill/>
        </p:spPr>
        <p:txBody>
          <a:bodyPr wrap="square">
            <a:spAutoFit/>
          </a:bodyPr>
          <a:lstStyle/>
          <a:p>
            <a:pPr algn="l"/>
            <a:r>
              <a:rPr sz="750" b="0" i="0">
                <a:solidFill>
                  <a:srgbClr val="444444"/>
                </a:solidFill>
              </a:rPr>
              <a:t>ヘルススコア定義書・監視ダッシュボード・アラート設定</a:t>
            </a:r>
          </a:p>
        </p:txBody>
      </p:sp>
      <p:sp>
        <p:nvSpPr>
          <p:cNvPr id="66" name="Rectangle 65"/>
          <p:cNvSpPr/>
          <p:nvPr/>
        </p:nvSpPr>
        <p:spPr>
          <a:xfrm>
            <a:off x="7662671" y="4379975"/>
            <a:ext cx="18288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717536" y="4425695"/>
            <a:ext cx="1719072" cy="566928"/>
          </a:xfrm>
          <a:prstGeom prst="rect">
            <a:avLst/>
          </a:prstGeom>
          <a:noFill/>
        </p:spPr>
        <p:txBody>
          <a:bodyPr wrap="square">
            <a:spAutoFit/>
          </a:bodyPr>
          <a:lstStyle/>
          <a:p>
            <a:pPr algn="l"/>
            <a:r>
              <a:rPr sz="750" b="0" i="0">
                <a:solidFill>
                  <a:srgbClr val="444444"/>
                </a:solidFill>
              </a:rPr>
              <a:t>解約リスク検知率90%以上</a:t>
            </a:r>
          </a:p>
        </p:txBody>
      </p:sp>
      <p:sp>
        <p:nvSpPr>
          <p:cNvPr id="68" name="Rectangle 67"/>
          <p:cNvSpPr/>
          <p:nvPr/>
        </p:nvSpPr>
        <p:spPr>
          <a:xfrm>
            <a:off x="9509759" y="4379975"/>
            <a:ext cx="219456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9564624" y="4425695"/>
            <a:ext cx="2084831" cy="566928"/>
          </a:xfrm>
          <a:prstGeom prst="rect">
            <a:avLst/>
          </a:prstGeom>
          <a:noFill/>
        </p:spPr>
        <p:txBody>
          <a:bodyPr wrap="square">
            <a:spAutoFit/>
          </a:bodyPr>
          <a:lstStyle/>
          <a:p>
            <a:pPr algn="l"/>
            <a:r>
              <a:rPr sz="750" b="0" i="0">
                <a:solidFill>
                  <a:srgbClr val="444444"/>
                </a:solidFill>
              </a:rPr>
              <a:t>未着手</a:t>
            </a:r>
          </a:p>
        </p:txBody>
      </p:sp>
      <p:sp>
        <p:nvSpPr>
          <p:cNvPr id="70" name="Rectangle 69"/>
          <p:cNvSpPr/>
          <p:nvPr/>
        </p:nvSpPr>
        <p:spPr>
          <a:xfrm>
            <a:off x="548640" y="5056631"/>
            <a:ext cx="18288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03503" y="5102351"/>
            <a:ext cx="1719072" cy="566928"/>
          </a:xfrm>
          <a:prstGeom prst="rect">
            <a:avLst/>
          </a:prstGeom>
          <a:noFill/>
        </p:spPr>
        <p:txBody>
          <a:bodyPr wrap="square">
            <a:spAutoFit/>
          </a:bodyPr>
          <a:lstStyle/>
          <a:p>
            <a:pPr algn="l"/>
            <a:r>
              <a:rPr sz="750" b="1" i="0">
                <a:solidFill>
                  <a:srgbClr val="0C3570"/>
                </a:solidFill>
              </a:rPr>
              <a:t>リファラルプログラム</a:t>
            </a:r>
          </a:p>
        </p:txBody>
      </p:sp>
      <p:sp>
        <p:nvSpPr>
          <p:cNvPr id="72" name="Rectangle 71"/>
          <p:cNvSpPr/>
          <p:nvPr/>
        </p:nvSpPr>
        <p:spPr>
          <a:xfrm>
            <a:off x="2395728" y="5056631"/>
            <a:ext cx="109728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2450592" y="5102351"/>
            <a:ext cx="987552" cy="566928"/>
          </a:xfrm>
          <a:prstGeom prst="rect">
            <a:avLst/>
          </a:prstGeom>
          <a:noFill/>
        </p:spPr>
        <p:txBody>
          <a:bodyPr wrap="square">
            <a:spAutoFit/>
          </a:bodyPr>
          <a:lstStyle/>
          <a:p>
            <a:pPr algn="l"/>
            <a:r>
              <a:rPr sz="750" b="0" i="0">
                <a:solidFill>
                  <a:srgbClr val="0C3570"/>
                </a:solidFill>
              </a:rPr>
              <a:t>マーケティング</a:t>
            </a:r>
          </a:p>
        </p:txBody>
      </p:sp>
      <p:sp>
        <p:nvSpPr>
          <p:cNvPr id="74" name="Rectangle 73"/>
          <p:cNvSpPr/>
          <p:nvPr/>
        </p:nvSpPr>
        <p:spPr>
          <a:xfrm>
            <a:off x="3511296" y="5056631"/>
            <a:ext cx="118872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3566160" y="5102351"/>
            <a:ext cx="1078992" cy="566928"/>
          </a:xfrm>
          <a:prstGeom prst="rect">
            <a:avLst/>
          </a:prstGeom>
          <a:noFill/>
        </p:spPr>
        <p:txBody>
          <a:bodyPr wrap="square">
            <a:spAutoFit/>
          </a:bodyPr>
          <a:lstStyle/>
          <a:p>
            <a:pPr algn="l"/>
            <a:r>
              <a:rPr sz="750" b="0" i="0">
                <a:solidFill>
                  <a:srgbClr val="444444"/>
                </a:solidFill>
              </a:rPr>
              <a:t>2026年6月末</a:t>
            </a:r>
          </a:p>
        </p:txBody>
      </p:sp>
      <p:sp>
        <p:nvSpPr>
          <p:cNvPr id="76" name="Rectangle 75"/>
          <p:cNvSpPr/>
          <p:nvPr/>
        </p:nvSpPr>
        <p:spPr>
          <a:xfrm>
            <a:off x="4718304" y="5056631"/>
            <a:ext cx="29260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773168" y="5102351"/>
            <a:ext cx="2816352" cy="566928"/>
          </a:xfrm>
          <a:prstGeom prst="rect">
            <a:avLst/>
          </a:prstGeom>
          <a:noFill/>
        </p:spPr>
        <p:txBody>
          <a:bodyPr wrap="square">
            <a:spAutoFit/>
          </a:bodyPr>
          <a:lstStyle/>
          <a:p>
            <a:pPr algn="l"/>
            <a:r>
              <a:rPr sz="750" b="0" i="0">
                <a:solidFill>
                  <a:srgbClr val="444444"/>
                </a:solidFill>
              </a:rPr>
              <a:t>プログラム設計書・特典設計・運用フロー・法務確認書</a:t>
            </a:r>
          </a:p>
        </p:txBody>
      </p:sp>
      <p:sp>
        <p:nvSpPr>
          <p:cNvPr id="78" name="Rectangle 77"/>
          <p:cNvSpPr/>
          <p:nvPr/>
        </p:nvSpPr>
        <p:spPr>
          <a:xfrm>
            <a:off x="7662671" y="5056631"/>
            <a:ext cx="18288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7717536" y="5102351"/>
            <a:ext cx="1719072" cy="566928"/>
          </a:xfrm>
          <a:prstGeom prst="rect">
            <a:avLst/>
          </a:prstGeom>
          <a:noFill/>
        </p:spPr>
        <p:txBody>
          <a:bodyPr wrap="square">
            <a:spAutoFit/>
          </a:bodyPr>
          <a:lstStyle/>
          <a:p>
            <a:pPr algn="l"/>
            <a:r>
              <a:rPr sz="750" b="0" i="0">
                <a:solidFill>
                  <a:srgbClr val="444444"/>
                </a:solidFill>
              </a:rPr>
              <a:t>月間紹介件数20件以上</a:t>
            </a:r>
          </a:p>
        </p:txBody>
      </p:sp>
      <p:sp>
        <p:nvSpPr>
          <p:cNvPr id="80" name="Rectangle 79"/>
          <p:cNvSpPr/>
          <p:nvPr/>
        </p:nvSpPr>
        <p:spPr>
          <a:xfrm>
            <a:off x="9509759" y="5056631"/>
            <a:ext cx="219456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9564624" y="5102351"/>
            <a:ext cx="2084831" cy="566928"/>
          </a:xfrm>
          <a:prstGeom prst="rect">
            <a:avLst/>
          </a:prstGeom>
          <a:noFill/>
        </p:spPr>
        <p:txBody>
          <a:bodyPr wrap="square">
            <a:spAutoFit/>
          </a:bodyPr>
          <a:lstStyle/>
          <a:p>
            <a:pPr algn="l"/>
            <a:r>
              <a:rPr sz="750" b="0" i="0">
                <a:solidFill>
                  <a:srgbClr val="444444"/>
                </a:solidFill>
              </a:rPr>
              <a:t>計画中</a:t>
            </a:r>
          </a:p>
        </p:txBody>
      </p:sp>
      <p:sp>
        <p:nvSpPr>
          <p:cNvPr id="82" name="Rectangle 81"/>
          <p:cNvSpPr/>
          <p:nvPr/>
        </p:nvSpPr>
        <p:spPr>
          <a:xfrm>
            <a:off x="548640" y="5733288"/>
            <a:ext cx="18288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603503" y="5779007"/>
            <a:ext cx="1719072" cy="566928"/>
          </a:xfrm>
          <a:prstGeom prst="rect">
            <a:avLst/>
          </a:prstGeom>
          <a:noFill/>
        </p:spPr>
        <p:txBody>
          <a:bodyPr wrap="square">
            <a:spAutoFit/>
          </a:bodyPr>
          <a:lstStyle/>
          <a:p>
            <a:pPr algn="l"/>
            <a:r>
              <a:rPr sz="750" b="1" i="0">
                <a:solidFill>
                  <a:srgbClr val="0C3570"/>
                </a:solidFill>
              </a:rPr>
              <a:t>成功事例集作成</a:t>
            </a:r>
          </a:p>
        </p:txBody>
      </p:sp>
      <p:sp>
        <p:nvSpPr>
          <p:cNvPr id="84" name="Rectangle 83"/>
          <p:cNvSpPr/>
          <p:nvPr/>
        </p:nvSpPr>
        <p:spPr>
          <a:xfrm>
            <a:off x="2395728" y="5733288"/>
            <a:ext cx="109728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450592" y="5779007"/>
            <a:ext cx="987552" cy="566928"/>
          </a:xfrm>
          <a:prstGeom prst="rect">
            <a:avLst/>
          </a:prstGeom>
          <a:noFill/>
        </p:spPr>
        <p:txBody>
          <a:bodyPr wrap="square">
            <a:spAutoFit/>
          </a:bodyPr>
          <a:lstStyle/>
          <a:p>
            <a:pPr algn="l"/>
            <a:r>
              <a:rPr sz="750" b="0" i="0">
                <a:solidFill>
                  <a:srgbClr val="0C3570"/>
                </a:solidFill>
              </a:rPr>
              <a:t>CS担当</a:t>
            </a:r>
          </a:p>
        </p:txBody>
      </p:sp>
      <p:sp>
        <p:nvSpPr>
          <p:cNvPr id="86" name="Rectangle 85"/>
          <p:cNvSpPr/>
          <p:nvPr/>
        </p:nvSpPr>
        <p:spPr>
          <a:xfrm>
            <a:off x="3511296" y="5733288"/>
            <a:ext cx="11887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3566160" y="5779007"/>
            <a:ext cx="1078992" cy="566928"/>
          </a:xfrm>
          <a:prstGeom prst="rect">
            <a:avLst/>
          </a:prstGeom>
          <a:noFill/>
        </p:spPr>
        <p:txBody>
          <a:bodyPr wrap="square">
            <a:spAutoFit/>
          </a:bodyPr>
          <a:lstStyle/>
          <a:p>
            <a:pPr algn="l"/>
            <a:r>
              <a:rPr sz="750" b="0" i="0">
                <a:solidFill>
                  <a:srgbClr val="444444"/>
                </a:solidFill>
              </a:rPr>
              <a:t>2026年4月末</a:t>
            </a:r>
          </a:p>
        </p:txBody>
      </p:sp>
      <p:sp>
        <p:nvSpPr>
          <p:cNvPr id="88" name="Rectangle 87"/>
          <p:cNvSpPr/>
          <p:nvPr/>
        </p:nvSpPr>
        <p:spPr>
          <a:xfrm>
            <a:off x="4718304" y="5733288"/>
            <a:ext cx="292608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4773168" y="5779007"/>
            <a:ext cx="2816352" cy="566928"/>
          </a:xfrm>
          <a:prstGeom prst="rect">
            <a:avLst/>
          </a:prstGeom>
          <a:noFill/>
        </p:spPr>
        <p:txBody>
          <a:bodyPr wrap="square">
            <a:spAutoFit/>
          </a:bodyPr>
          <a:lstStyle/>
          <a:p>
            <a:pPr algn="l"/>
            <a:r>
              <a:rPr sz="750" b="0" i="0">
                <a:solidFill>
                  <a:srgbClr val="444444"/>
                </a:solidFill>
              </a:rPr>
              <a:t>業界別成功事例10件・動画インタビュー3件・営業資料</a:t>
            </a:r>
          </a:p>
        </p:txBody>
      </p:sp>
      <p:sp>
        <p:nvSpPr>
          <p:cNvPr id="90" name="Rectangle 89"/>
          <p:cNvSpPr/>
          <p:nvPr/>
        </p:nvSpPr>
        <p:spPr>
          <a:xfrm>
            <a:off x="7662671" y="5733288"/>
            <a:ext cx="18288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7717536" y="5779007"/>
            <a:ext cx="1719072" cy="566928"/>
          </a:xfrm>
          <a:prstGeom prst="rect">
            <a:avLst/>
          </a:prstGeom>
          <a:noFill/>
        </p:spPr>
        <p:txBody>
          <a:bodyPr wrap="square">
            <a:spAutoFit/>
          </a:bodyPr>
          <a:lstStyle/>
          <a:p>
            <a:pPr algn="l"/>
            <a:r>
              <a:rPr sz="750" b="0" i="0">
                <a:solidFill>
                  <a:srgbClr val="444444"/>
                </a:solidFill>
              </a:rPr>
              <a:t>事例活用による成約率+5%</a:t>
            </a:r>
          </a:p>
        </p:txBody>
      </p:sp>
      <p:sp>
        <p:nvSpPr>
          <p:cNvPr id="92" name="Rectangle 91"/>
          <p:cNvSpPr/>
          <p:nvPr/>
        </p:nvSpPr>
        <p:spPr>
          <a:xfrm>
            <a:off x="9509759" y="5733288"/>
            <a:ext cx="219456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9564624" y="5779007"/>
            <a:ext cx="2084831" cy="566928"/>
          </a:xfrm>
          <a:prstGeom prst="rect">
            <a:avLst/>
          </a:prstGeom>
          <a:noFill/>
        </p:spPr>
        <p:txBody>
          <a:bodyPr wrap="square">
            <a:spAutoFit/>
          </a:bodyPr>
          <a:lstStyle/>
          <a:p>
            <a:pPr algn="l"/>
            <a:r>
              <a:rPr sz="750" b="0" i="0">
                <a:solidFill>
                  <a:srgbClr val="444444"/>
                </a:solidFill>
              </a:rPr>
              <a:t>未着手</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根拠・エビデンス表：主要な主張を裏付けるデータと出典を一覧で整理する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evidence_table ／ 用途: 根拠・出典の一覧管理 ／ 件数: 複数行</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本提案の主要な主張を裏付けるデータと出典を一覧で整理し、提案の信頼性と再現性を担保する。</a:t>
            </a:r>
          </a:p>
        </p:txBody>
      </p:sp>
      <p:sp>
        <p:nvSpPr>
          <p:cNvPr id="10" name="Rectangle 9"/>
          <p:cNvSpPr/>
          <p:nvPr/>
        </p:nvSpPr>
        <p:spPr>
          <a:xfrm>
            <a:off x="548640" y="1874519"/>
            <a:ext cx="256032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3" y="1947672"/>
            <a:ext cx="2450591" cy="329184"/>
          </a:xfrm>
          <a:prstGeom prst="rect">
            <a:avLst/>
          </a:prstGeom>
          <a:noFill/>
        </p:spPr>
        <p:txBody>
          <a:bodyPr wrap="square">
            <a:spAutoFit/>
          </a:bodyPr>
          <a:lstStyle/>
          <a:p>
            <a:pPr algn="l"/>
            <a:r>
              <a:rPr sz="850" b="1" i="0">
                <a:solidFill>
                  <a:srgbClr val="FFFFFF"/>
                </a:solidFill>
              </a:rPr>
              <a:t>主張</a:t>
            </a:r>
          </a:p>
        </p:txBody>
      </p:sp>
      <p:sp>
        <p:nvSpPr>
          <p:cNvPr id="12" name="Rectangle 11"/>
          <p:cNvSpPr/>
          <p:nvPr/>
        </p:nvSpPr>
        <p:spPr>
          <a:xfrm>
            <a:off x="3127248" y="1874519"/>
            <a:ext cx="2011680" cy="457200"/>
          </a:xfrm>
          <a:prstGeom prst="rect">
            <a:avLst/>
          </a:prstGeom>
          <a:solidFill>
            <a:srgbClr val="08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182112" y="1947672"/>
            <a:ext cx="1901952" cy="329184"/>
          </a:xfrm>
          <a:prstGeom prst="rect">
            <a:avLst/>
          </a:prstGeom>
          <a:noFill/>
        </p:spPr>
        <p:txBody>
          <a:bodyPr wrap="square">
            <a:spAutoFit/>
          </a:bodyPr>
          <a:lstStyle/>
          <a:p>
            <a:pPr algn="l"/>
            <a:r>
              <a:rPr sz="850" b="1" i="0">
                <a:solidFill>
                  <a:srgbClr val="FFFFFF"/>
                </a:solidFill>
              </a:rPr>
              <a:t>根拠データ</a:t>
            </a:r>
          </a:p>
        </p:txBody>
      </p:sp>
      <p:sp>
        <p:nvSpPr>
          <p:cNvPr id="14" name="Rectangle 13"/>
          <p:cNvSpPr/>
          <p:nvPr/>
        </p:nvSpPr>
        <p:spPr>
          <a:xfrm>
            <a:off x="5157216" y="1874519"/>
            <a:ext cx="201168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212079" y="1947672"/>
            <a:ext cx="1901952" cy="329184"/>
          </a:xfrm>
          <a:prstGeom prst="rect">
            <a:avLst/>
          </a:prstGeom>
          <a:noFill/>
        </p:spPr>
        <p:txBody>
          <a:bodyPr wrap="square">
            <a:spAutoFit/>
          </a:bodyPr>
          <a:lstStyle/>
          <a:p>
            <a:pPr algn="l"/>
            <a:r>
              <a:rPr sz="850" b="1" i="0">
                <a:solidFill>
                  <a:srgbClr val="FFFFFF"/>
                </a:solidFill>
              </a:rPr>
              <a:t>出典</a:t>
            </a:r>
          </a:p>
        </p:txBody>
      </p:sp>
      <p:sp>
        <p:nvSpPr>
          <p:cNvPr id="16" name="Rectangle 15"/>
          <p:cNvSpPr/>
          <p:nvPr/>
        </p:nvSpPr>
        <p:spPr>
          <a:xfrm>
            <a:off x="7187183" y="1874519"/>
            <a:ext cx="91440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42047" y="1947672"/>
            <a:ext cx="804672" cy="329184"/>
          </a:xfrm>
          <a:prstGeom prst="rect">
            <a:avLst/>
          </a:prstGeom>
          <a:noFill/>
        </p:spPr>
        <p:txBody>
          <a:bodyPr wrap="square">
            <a:spAutoFit/>
          </a:bodyPr>
          <a:lstStyle/>
          <a:p>
            <a:pPr algn="l"/>
            <a:r>
              <a:rPr sz="850" b="1" i="0">
                <a:solidFill>
                  <a:srgbClr val="FFFFFF"/>
                </a:solidFill>
              </a:rPr>
              <a:t>調査日</a:t>
            </a:r>
          </a:p>
        </p:txBody>
      </p:sp>
      <p:sp>
        <p:nvSpPr>
          <p:cNvPr id="18" name="Rectangle 17"/>
          <p:cNvSpPr/>
          <p:nvPr/>
        </p:nvSpPr>
        <p:spPr>
          <a:xfrm>
            <a:off x="8119871" y="1874519"/>
            <a:ext cx="3566160" cy="45720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74736" y="1947672"/>
            <a:ext cx="3456432" cy="329184"/>
          </a:xfrm>
          <a:prstGeom prst="rect">
            <a:avLst/>
          </a:prstGeom>
          <a:noFill/>
        </p:spPr>
        <p:txBody>
          <a:bodyPr wrap="square">
            <a:spAutoFit/>
          </a:bodyPr>
          <a:lstStyle/>
          <a:p>
            <a:pPr algn="l"/>
            <a:r>
              <a:rPr sz="850" b="1" i="0">
                <a:solidFill>
                  <a:srgbClr val="FFFFFF"/>
                </a:solidFill>
              </a:rPr>
              <a:t>補足・注意事項</a:t>
            </a:r>
          </a:p>
        </p:txBody>
      </p:sp>
      <p:sp>
        <p:nvSpPr>
          <p:cNvPr id="20" name="Rectangle 19"/>
          <p:cNvSpPr/>
          <p:nvPr/>
        </p:nvSpPr>
        <p:spPr>
          <a:xfrm>
            <a:off x="548640" y="2350008"/>
            <a:ext cx="256032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3503" y="2395727"/>
            <a:ext cx="2450591" cy="566928"/>
          </a:xfrm>
          <a:prstGeom prst="rect">
            <a:avLst/>
          </a:prstGeom>
          <a:noFill/>
        </p:spPr>
        <p:txBody>
          <a:bodyPr wrap="square">
            <a:spAutoFit/>
          </a:bodyPr>
          <a:lstStyle/>
          <a:p>
            <a:pPr algn="l"/>
            <a:r>
              <a:rPr sz="750" b="1" i="0">
                <a:solidFill>
                  <a:srgbClr val="0C3570"/>
                </a:solidFill>
              </a:rPr>
              <a:t>継続率15%改善で年間2.4億円の増収</a:t>
            </a:r>
          </a:p>
        </p:txBody>
      </p:sp>
      <p:sp>
        <p:nvSpPr>
          <p:cNvPr id="22" name="Rectangle 21"/>
          <p:cNvSpPr/>
          <p:nvPr/>
        </p:nvSpPr>
        <p:spPr>
          <a:xfrm>
            <a:off x="3127248" y="2350008"/>
            <a:ext cx="201168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182112" y="2395727"/>
            <a:ext cx="1901952" cy="566928"/>
          </a:xfrm>
          <a:prstGeom prst="rect">
            <a:avLst/>
          </a:prstGeom>
          <a:noFill/>
        </p:spPr>
        <p:txBody>
          <a:bodyPr wrap="square">
            <a:spAutoFit/>
          </a:bodyPr>
          <a:lstStyle/>
          <a:p>
            <a:pPr algn="l"/>
            <a:r>
              <a:rPr sz="750" b="0" i="0">
                <a:solidFill>
                  <a:srgbClr val="0C3570"/>
                </a:solidFill>
              </a:rPr>
              <a:t>継続率1%改善＝年間1,067万円の収益改善</a:t>
            </a:r>
          </a:p>
        </p:txBody>
      </p:sp>
      <p:sp>
        <p:nvSpPr>
          <p:cNvPr id="24" name="Rectangle 23"/>
          <p:cNvSpPr/>
          <p:nvPr/>
        </p:nvSpPr>
        <p:spPr>
          <a:xfrm>
            <a:off x="5157216" y="2350008"/>
            <a:ext cx="20116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212079" y="2395727"/>
            <a:ext cx="1901952" cy="566928"/>
          </a:xfrm>
          <a:prstGeom prst="rect">
            <a:avLst/>
          </a:prstGeom>
          <a:noFill/>
        </p:spPr>
        <p:txBody>
          <a:bodyPr wrap="square">
            <a:spAutoFit/>
          </a:bodyPr>
          <a:lstStyle/>
          <a:p>
            <a:pPr algn="l"/>
            <a:r>
              <a:rPr sz="750" b="0" i="0">
                <a:solidFill>
                  <a:srgbClr val="444444"/>
                </a:solidFill>
              </a:rPr>
              <a:t>社内財務データ（2025年度）</a:t>
            </a:r>
          </a:p>
        </p:txBody>
      </p:sp>
      <p:sp>
        <p:nvSpPr>
          <p:cNvPr id="26" name="Rectangle 25"/>
          <p:cNvSpPr/>
          <p:nvPr/>
        </p:nvSpPr>
        <p:spPr>
          <a:xfrm>
            <a:off x="7187183" y="2350008"/>
            <a:ext cx="9144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242047" y="2395727"/>
            <a:ext cx="804672" cy="566928"/>
          </a:xfrm>
          <a:prstGeom prst="rect">
            <a:avLst/>
          </a:prstGeom>
          <a:noFill/>
        </p:spPr>
        <p:txBody>
          <a:bodyPr wrap="square">
            <a:spAutoFit/>
          </a:bodyPr>
          <a:lstStyle/>
          <a:p>
            <a:pPr algn="l"/>
            <a:r>
              <a:rPr sz="750" b="0" i="0">
                <a:solidFill>
                  <a:srgbClr val="444444"/>
                </a:solidFill>
              </a:rPr>
              <a:t>2026年1月</a:t>
            </a:r>
          </a:p>
        </p:txBody>
      </p:sp>
      <p:sp>
        <p:nvSpPr>
          <p:cNvPr id="28" name="Rectangle 27"/>
          <p:cNvSpPr/>
          <p:nvPr/>
        </p:nvSpPr>
        <p:spPr>
          <a:xfrm>
            <a:off x="8119871" y="2350008"/>
            <a:ext cx="356616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74736" y="2395727"/>
            <a:ext cx="3456432" cy="566928"/>
          </a:xfrm>
          <a:prstGeom prst="rect">
            <a:avLst/>
          </a:prstGeom>
          <a:noFill/>
        </p:spPr>
        <p:txBody>
          <a:bodyPr wrap="square">
            <a:spAutoFit/>
          </a:bodyPr>
          <a:lstStyle/>
          <a:p>
            <a:pPr algn="l"/>
            <a:r>
              <a:rPr sz="750" b="0" i="0">
                <a:solidFill>
                  <a:srgbClr val="444444"/>
                </a:solidFill>
              </a:rPr>
              <a:t>現在の顧客単価・解約率を前提とした試算。市場環境の変化により変動する可能性がある。</a:t>
            </a:r>
          </a:p>
        </p:txBody>
      </p:sp>
      <p:sp>
        <p:nvSpPr>
          <p:cNvPr id="30" name="Rectangle 29"/>
          <p:cNvSpPr/>
          <p:nvPr/>
        </p:nvSpPr>
        <p:spPr>
          <a:xfrm>
            <a:off x="548640" y="3026664"/>
            <a:ext cx="25603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03503" y="3072384"/>
            <a:ext cx="2450591" cy="566928"/>
          </a:xfrm>
          <a:prstGeom prst="rect">
            <a:avLst/>
          </a:prstGeom>
          <a:noFill/>
        </p:spPr>
        <p:txBody>
          <a:bodyPr wrap="square">
            <a:spAutoFit/>
          </a:bodyPr>
          <a:lstStyle/>
          <a:p>
            <a:pPr algn="l"/>
            <a:r>
              <a:rPr sz="750" b="1" i="0">
                <a:solidFill>
                  <a:srgbClr val="0C3570"/>
                </a:solidFill>
              </a:rPr>
              <a:t>業界平均継続率は78%</a:t>
            </a:r>
          </a:p>
        </p:txBody>
      </p:sp>
      <p:sp>
        <p:nvSpPr>
          <p:cNvPr id="32" name="Rectangle 31"/>
          <p:cNvSpPr/>
          <p:nvPr/>
        </p:nvSpPr>
        <p:spPr>
          <a:xfrm>
            <a:off x="3127248" y="3026664"/>
            <a:ext cx="201168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82112" y="3072384"/>
            <a:ext cx="1901952" cy="566928"/>
          </a:xfrm>
          <a:prstGeom prst="rect">
            <a:avLst/>
          </a:prstGeom>
          <a:noFill/>
        </p:spPr>
        <p:txBody>
          <a:bodyPr wrap="square">
            <a:spAutoFit/>
          </a:bodyPr>
          <a:lstStyle/>
          <a:p>
            <a:pPr algn="l"/>
            <a:r>
              <a:rPr sz="750" b="0" i="0">
                <a:solidFill>
                  <a:srgbClr val="0C3570"/>
                </a:solidFill>
              </a:rPr>
              <a:t>業界調査レポートの集計値</a:t>
            </a:r>
          </a:p>
        </p:txBody>
      </p:sp>
      <p:sp>
        <p:nvSpPr>
          <p:cNvPr id="34" name="Rectangle 33"/>
          <p:cNvSpPr/>
          <p:nvPr/>
        </p:nvSpPr>
        <p:spPr>
          <a:xfrm>
            <a:off x="5157216" y="3026664"/>
            <a:ext cx="201168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212079" y="3072384"/>
            <a:ext cx="1901952" cy="566928"/>
          </a:xfrm>
          <a:prstGeom prst="rect">
            <a:avLst/>
          </a:prstGeom>
          <a:noFill/>
        </p:spPr>
        <p:txBody>
          <a:bodyPr wrap="square">
            <a:spAutoFit/>
          </a:bodyPr>
          <a:lstStyle/>
          <a:p>
            <a:pPr algn="l"/>
            <a:r>
              <a:rPr sz="750" b="0" i="0">
                <a:solidFill>
                  <a:srgbClr val="444444"/>
                </a:solidFill>
              </a:rPr>
              <a:t>SaaS業界白書2025（調査機関名）</a:t>
            </a:r>
          </a:p>
        </p:txBody>
      </p:sp>
      <p:sp>
        <p:nvSpPr>
          <p:cNvPr id="36" name="Rectangle 35"/>
          <p:cNvSpPr/>
          <p:nvPr/>
        </p:nvSpPr>
        <p:spPr>
          <a:xfrm>
            <a:off x="7187183" y="3026664"/>
            <a:ext cx="914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242047" y="3072384"/>
            <a:ext cx="804672" cy="566928"/>
          </a:xfrm>
          <a:prstGeom prst="rect">
            <a:avLst/>
          </a:prstGeom>
          <a:noFill/>
        </p:spPr>
        <p:txBody>
          <a:bodyPr wrap="square">
            <a:spAutoFit/>
          </a:bodyPr>
          <a:lstStyle/>
          <a:p>
            <a:pPr algn="l"/>
            <a:r>
              <a:rPr sz="750" b="0" i="0">
                <a:solidFill>
                  <a:srgbClr val="444444"/>
                </a:solidFill>
              </a:rPr>
              <a:t>2025年12月</a:t>
            </a:r>
          </a:p>
        </p:txBody>
      </p:sp>
      <p:sp>
        <p:nvSpPr>
          <p:cNvPr id="38" name="Rectangle 37"/>
          <p:cNvSpPr/>
          <p:nvPr/>
        </p:nvSpPr>
        <p:spPr>
          <a:xfrm>
            <a:off x="8119871" y="3026664"/>
            <a:ext cx="356616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174736" y="3072384"/>
            <a:ext cx="3456432" cy="566928"/>
          </a:xfrm>
          <a:prstGeom prst="rect">
            <a:avLst/>
          </a:prstGeom>
          <a:noFill/>
        </p:spPr>
        <p:txBody>
          <a:bodyPr wrap="square">
            <a:spAutoFit/>
          </a:bodyPr>
          <a:lstStyle/>
          <a:p>
            <a:pPr algn="l"/>
            <a:r>
              <a:rPr sz="750" b="0" i="0">
                <a:solidFill>
                  <a:srgbClr val="444444"/>
                </a:solidFill>
              </a:rPr>
              <a:t>国内SaaS企業200社の平均値。業種・規模により差異がある。</a:t>
            </a:r>
          </a:p>
        </p:txBody>
      </p:sp>
      <p:sp>
        <p:nvSpPr>
          <p:cNvPr id="40" name="Rectangle 39"/>
          <p:cNvSpPr/>
          <p:nvPr/>
        </p:nvSpPr>
        <p:spPr>
          <a:xfrm>
            <a:off x="548640" y="3703319"/>
            <a:ext cx="256032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03503" y="3749039"/>
            <a:ext cx="2450591" cy="566928"/>
          </a:xfrm>
          <a:prstGeom prst="rect">
            <a:avLst/>
          </a:prstGeom>
          <a:noFill/>
        </p:spPr>
        <p:txBody>
          <a:bodyPr wrap="square">
            <a:spAutoFit/>
          </a:bodyPr>
          <a:lstStyle/>
          <a:p>
            <a:pPr algn="l"/>
            <a:r>
              <a:rPr sz="750" b="1" i="0">
                <a:solidFill>
                  <a:srgbClr val="0C3570"/>
                </a:solidFill>
              </a:rPr>
              <a:t>CS担当者1人あたり50社が適正水準</a:t>
            </a:r>
          </a:p>
        </p:txBody>
      </p:sp>
      <p:sp>
        <p:nvSpPr>
          <p:cNvPr id="42" name="Rectangle 41"/>
          <p:cNvSpPr/>
          <p:nvPr/>
        </p:nvSpPr>
        <p:spPr>
          <a:xfrm>
            <a:off x="3127248" y="3703319"/>
            <a:ext cx="201168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182112" y="3749039"/>
            <a:ext cx="1901952" cy="566928"/>
          </a:xfrm>
          <a:prstGeom prst="rect">
            <a:avLst/>
          </a:prstGeom>
          <a:noFill/>
        </p:spPr>
        <p:txBody>
          <a:bodyPr wrap="square">
            <a:spAutoFit/>
          </a:bodyPr>
          <a:lstStyle/>
          <a:p>
            <a:pPr algn="l"/>
            <a:r>
              <a:rPr sz="750" b="0" i="0">
                <a:solidFill>
                  <a:srgbClr val="0C3570"/>
                </a:solidFill>
              </a:rPr>
              <a:t>業界ベンチマーク調査</a:t>
            </a:r>
          </a:p>
        </p:txBody>
      </p:sp>
      <p:sp>
        <p:nvSpPr>
          <p:cNvPr id="44" name="Rectangle 43"/>
          <p:cNvSpPr/>
          <p:nvPr/>
        </p:nvSpPr>
        <p:spPr>
          <a:xfrm>
            <a:off x="5157216" y="3703319"/>
            <a:ext cx="20116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212079" y="3749039"/>
            <a:ext cx="1901952" cy="566928"/>
          </a:xfrm>
          <a:prstGeom prst="rect">
            <a:avLst/>
          </a:prstGeom>
          <a:noFill/>
        </p:spPr>
        <p:txBody>
          <a:bodyPr wrap="square">
            <a:spAutoFit/>
          </a:bodyPr>
          <a:lstStyle/>
          <a:p>
            <a:pPr algn="l"/>
            <a:r>
              <a:rPr sz="750" b="0" i="0">
                <a:solidFill>
                  <a:srgbClr val="444444"/>
                </a:solidFill>
              </a:rPr>
              <a:t>Customer Success Benchmark 2025</a:t>
            </a:r>
          </a:p>
        </p:txBody>
      </p:sp>
      <p:sp>
        <p:nvSpPr>
          <p:cNvPr id="46" name="Rectangle 45"/>
          <p:cNvSpPr/>
          <p:nvPr/>
        </p:nvSpPr>
        <p:spPr>
          <a:xfrm>
            <a:off x="7187183" y="3703319"/>
            <a:ext cx="9144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242047" y="3749039"/>
            <a:ext cx="804672" cy="566928"/>
          </a:xfrm>
          <a:prstGeom prst="rect">
            <a:avLst/>
          </a:prstGeom>
          <a:noFill/>
        </p:spPr>
        <p:txBody>
          <a:bodyPr wrap="square">
            <a:spAutoFit/>
          </a:bodyPr>
          <a:lstStyle/>
          <a:p>
            <a:pPr algn="l"/>
            <a:r>
              <a:rPr sz="750" b="0" i="0">
                <a:solidFill>
                  <a:srgbClr val="444444"/>
                </a:solidFill>
              </a:rPr>
              <a:t>2025年11月</a:t>
            </a:r>
          </a:p>
        </p:txBody>
      </p:sp>
      <p:sp>
        <p:nvSpPr>
          <p:cNvPr id="48" name="Rectangle 47"/>
          <p:cNvSpPr/>
          <p:nvPr/>
        </p:nvSpPr>
        <p:spPr>
          <a:xfrm>
            <a:off x="8119871" y="3703319"/>
            <a:ext cx="356616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174736" y="3749039"/>
            <a:ext cx="3456432" cy="566928"/>
          </a:xfrm>
          <a:prstGeom prst="rect">
            <a:avLst/>
          </a:prstGeom>
          <a:noFill/>
        </p:spPr>
        <p:txBody>
          <a:bodyPr wrap="square">
            <a:spAutoFit/>
          </a:bodyPr>
          <a:lstStyle/>
          <a:p>
            <a:pPr algn="l"/>
            <a:r>
              <a:rPr sz="750" b="0" i="0">
                <a:solidFill>
                  <a:srgbClr val="444444"/>
                </a:solidFill>
              </a:rPr>
              <a:t>ARR1億円以上のSaaS企業の中央値。自社の顧客複雑度により調整が必要。</a:t>
            </a:r>
          </a:p>
        </p:txBody>
      </p:sp>
      <p:sp>
        <p:nvSpPr>
          <p:cNvPr id="50" name="Rectangle 49"/>
          <p:cNvSpPr/>
          <p:nvPr/>
        </p:nvSpPr>
        <p:spPr>
          <a:xfrm>
            <a:off x="548640" y="4379975"/>
            <a:ext cx="25603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03503" y="4425695"/>
            <a:ext cx="2450591" cy="566928"/>
          </a:xfrm>
          <a:prstGeom prst="rect">
            <a:avLst/>
          </a:prstGeom>
          <a:noFill/>
        </p:spPr>
        <p:txBody>
          <a:bodyPr wrap="square">
            <a:spAutoFit/>
          </a:bodyPr>
          <a:lstStyle/>
          <a:p>
            <a:pPr algn="l"/>
            <a:r>
              <a:rPr sz="750" b="1" i="0">
                <a:solidFill>
                  <a:srgbClr val="0C3570"/>
                </a:solidFill>
              </a:rPr>
              <a:t>NPS+10ptで新規獲得コスト15%削減</a:t>
            </a:r>
          </a:p>
        </p:txBody>
      </p:sp>
      <p:sp>
        <p:nvSpPr>
          <p:cNvPr id="52" name="Rectangle 51"/>
          <p:cNvSpPr/>
          <p:nvPr/>
        </p:nvSpPr>
        <p:spPr>
          <a:xfrm>
            <a:off x="3127248" y="4379975"/>
            <a:ext cx="201168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182112" y="4425695"/>
            <a:ext cx="1901952" cy="566928"/>
          </a:xfrm>
          <a:prstGeom prst="rect">
            <a:avLst/>
          </a:prstGeom>
          <a:noFill/>
        </p:spPr>
        <p:txBody>
          <a:bodyPr wrap="square">
            <a:spAutoFit/>
          </a:bodyPr>
          <a:lstStyle/>
          <a:p>
            <a:pPr algn="l"/>
            <a:r>
              <a:rPr sz="750" b="0" i="0">
                <a:solidFill>
                  <a:srgbClr val="0C3570"/>
                </a:solidFill>
              </a:rPr>
              <a:t>NPS向上と獲得コストの相関分析</a:t>
            </a:r>
          </a:p>
        </p:txBody>
      </p:sp>
      <p:sp>
        <p:nvSpPr>
          <p:cNvPr id="54" name="Rectangle 53"/>
          <p:cNvSpPr/>
          <p:nvPr/>
        </p:nvSpPr>
        <p:spPr>
          <a:xfrm>
            <a:off x="5157216" y="4379975"/>
            <a:ext cx="201168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212079" y="4425695"/>
            <a:ext cx="1901952" cy="566928"/>
          </a:xfrm>
          <a:prstGeom prst="rect">
            <a:avLst/>
          </a:prstGeom>
          <a:noFill/>
        </p:spPr>
        <p:txBody>
          <a:bodyPr wrap="square">
            <a:spAutoFit/>
          </a:bodyPr>
          <a:lstStyle/>
          <a:p>
            <a:pPr algn="l"/>
            <a:r>
              <a:rPr sz="750" b="0" i="0">
                <a:solidFill>
                  <a:srgbClr val="444444"/>
                </a:solidFill>
              </a:rPr>
              <a:t>社内マーケティングデータ（2024〜2025年）</a:t>
            </a:r>
          </a:p>
        </p:txBody>
      </p:sp>
      <p:sp>
        <p:nvSpPr>
          <p:cNvPr id="56" name="Rectangle 55"/>
          <p:cNvSpPr/>
          <p:nvPr/>
        </p:nvSpPr>
        <p:spPr>
          <a:xfrm>
            <a:off x="7187183" y="4379975"/>
            <a:ext cx="914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242047" y="4425695"/>
            <a:ext cx="804672" cy="566928"/>
          </a:xfrm>
          <a:prstGeom prst="rect">
            <a:avLst/>
          </a:prstGeom>
          <a:noFill/>
        </p:spPr>
        <p:txBody>
          <a:bodyPr wrap="square">
            <a:spAutoFit/>
          </a:bodyPr>
          <a:lstStyle/>
          <a:p>
            <a:pPr algn="l"/>
            <a:r>
              <a:rPr sz="750" b="0" i="0">
                <a:solidFill>
                  <a:srgbClr val="444444"/>
                </a:solidFill>
              </a:rPr>
              <a:t>2026年1月</a:t>
            </a:r>
          </a:p>
        </p:txBody>
      </p:sp>
      <p:sp>
        <p:nvSpPr>
          <p:cNvPr id="58" name="Rectangle 57"/>
          <p:cNvSpPr/>
          <p:nvPr/>
        </p:nvSpPr>
        <p:spPr>
          <a:xfrm>
            <a:off x="8119871" y="4379975"/>
            <a:ext cx="356616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174736" y="4425695"/>
            <a:ext cx="3456432" cy="566928"/>
          </a:xfrm>
          <a:prstGeom prst="rect">
            <a:avLst/>
          </a:prstGeom>
          <a:noFill/>
        </p:spPr>
        <p:txBody>
          <a:bodyPr wrap="square">
            <a:spAutoFit/>
          </a:bodyPr>
          <a:lstStyle/>
          <a:p>
            <a:pPr algn="l"/>
            <a:r>
              <a:rPr sz="750" b="0" i="0">
                <a:solidFill>
                  <a:srgbClr val="444444"/>
                </a:solidFill>
              </a:rPr>
              <a:t>過去2年間の自社データに基づく分析。統計的有意性は95%信頼区間で確認済み。</a:t>
            </a:r>
          </a:p>
        </p:txBody>
      </p:sp>
      <p:sp>
        <p:nvSpPr>
          <p:cNvPr id="60" name="Rectangle 59"/>
          <p:cNvSpPr/>
          <p:nvPr/>
        </p:nvSpPr>
        <p:spPr>
          <a:xfrm>
            <a:off x="548640" y="5056631"/>
            <a:ext cx="256032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03503" y="5102351"/>
            <a:ext cx="2450591" cy="566928"/>
          </a:xfrm>
          <a:prstGeom prst="rect">
            <a:avLst/>
          </a:prstGeom>
          <a:noFill/>
        </p:spPr>
        <p:txBody>
          <a:bodyPr wrap="square">
            <a:spAutoFit/>
          </a:bodyPr>
          <a:lstStyle/>
          <a:p>
            <a:pPr algn="l"/>
            <a:r>
              <a:rPr sz="750" b="1" i="0">
                <a:solidFill>
                  <a:srgbClr val="0C3570"/>
                </a:solidFill>
              </a:rPr>
              <a:t>投資回収期間8ヶ月</a:t>
            </a:r>
          </a:p>
        </p:txBody>
      </p:sp>
      <p:sp>
        <p:nvSpPr>
          <p:cNvPr id="62" name="Rectangle 61"/>
          <p:cNvSpPr/>
          <p:nvPr/>
        </p:nvSpPr>
        <p:spPr>
          <a:xfrm>
            <a:off x="3127248" y="5056631"/>
            <a:ext cx="2011680" cy="658368"/>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182112" y="5102351"/>
            <a:ext cx="1901952" cy="566928"/>
          </a:xfrm>
          <a:prstGeom prst="rect">
            <a:avLst/>
          </a:prstGeom>
          <a:noFill/>
        </p:spPr>
        <p:txBody>
          <a:bodyPr wrap="square">
            <a:spAutoFit/>
          </a:bodyPr>
          <a:lstStyle/>
          <a:p>
            <a:pPr algn="l"/>
            <a:r>
              <a:rPr sz="750" b="0" i="0">
                <a:solidFill>
                  <a:srgbClr val="0C3570"/>
                </a:solidFill>
              </a:rPr>
              <a:t>投資額8,000万円÷月次効果1,000万円</a:t>
            </a:r>
          </a:p>
        </p:txBody>
      </p:sp>
      <p:sp>
        <p:nvSpPr>
          <p:cNvPr id="64" name="Rectangle 63"/>
          <p:cNvSpPr/>
          <p:nvPr/>
        </p:nvSpPr>
        <p:spPr>
          <a:xfrm>
            <a:off x="5157216" y="5056631"/>
            <a:ext cx="201168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212079" y="5102351"/>
            <a:ext cx="1901952" cy="566928"/>
          </a:xfrm>
          <a:prstGeom prst="rect">
            <a:avLst/>
          </a:prstGeom>
          <a:noFill/>
        </p:spPr>
        <p:txBody>
          <a:bodyPr wrap="square">
            <a:spAutoFit/>
          </a:bodyPr>
          <a:lstStyle/>
          <a:p>
            <a:pPr algn="l"/>
            <a:r>
              <a:rPr sz="750" b="0" i="0">
                <a:solidFill>
                  <a:srgbClr val="444444"/>
                </a:solidFill>
              </a:rPr>
              <a:t>社内財務試算（2026年1月）</a:t>
            </a:r>
          </a:p>
        </p:txBody>
      </p:sp>
      <p:sp>
        <p:nvSpPr>
          <p:cNvPr id="66" name="Rectangle 65"/>
          <p:cNvSpPr/>
          <p:nvPr/>
        </p:nvSpPr>
        <p:spPr>
          <a:xfrm>
            <a:off x="7187183" y="5056631"/>
            <a:ext cx="91440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242047" y="5102351"/>
            <a:ext cx="804672" cy="566928"/>
          </a:xfrm>
          <a:prstGeom prst="rect">
            <a:avLst/>
          </a:prstGeom>
          <a:noFill/>
        </p:spPr>
        <p:txBody>
          <a:bodyPr wrap="square">
            <a:spAutoFit/>
          </a:bodyPr>
          <a:lstStyle/>
          <a:p>
            <a:pPr algn="l"/>
            <a:r>
              <a:rPr sz="750" b="0" i="0">
                <a:solidFill>
                  <a:srgbClr val="444444"/>
                </a:solidFill>
              </a:rPr>
              <a:t>2026年1月</a:t>
            </a:r>
          </a:p>
        </p:txBody>
      </p:sp>
      <p:sp>
        <p:nvSpPr>
          <p:cNvPr id="68" name="Rectangle 67"/>
          <p:cNvSpPr/>
          <p:nvPr/>
        </p:nvSpPr>
        <p:spPr>
          <a:xfrm>
            <a:off x="8119871" y="5056631"/>
            <a:ext cx="3566160" cy="65836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174736" y="5102351"/>
            <a:ext cx="3456432" cy="566928"/>
          </a:xfrm>
          <a:prstGeom prst="rect">
            <a:avLst/>
          </a:prstGeom>
          <a:noFill/>
        </p:spPr>
        <p:txBody>
          <a:bodyPr wrap="square">
            <a:spAutoFit/>
          </a:bodyPr>
          <a:lstStyle/>
          <a:p>
            <a:pPr algn="l"/>
            <a:r>
              <a:rPr sz="750" b="0" i="0">
                <a:solidFill>
                  <a:srgbClr val="444444"/>
                </a:solidFill>
              </a:rPr>
              <a:t>施策効果が線形に発現することを前提とした試算。実際は段階的に効果が出る可能性がある。</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2×2マトリクス：施策を重要度と緊急度で分類し、優先順位を決定する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matrix_2x2 ／ 用途: 2軸による分類・優先順位付け ／ 件数: 4〜12項目</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施策を重要度（縦軸）と緊急度（横軸）の2軸で分類した結果、CS体制強化とオンボーディング改善を最優先施策として推奨する。</a:t>
            </a:r>
          </a:p>
        </p:txBody>
      </p:sp>
      <p:sp>
        <p:nvSpPr>
          <p:cNvPr id="10" name="Rectangle 9"/>
          <p:cNvSpPr/>
          <p:nvPr/>
        </p:nvSpPr>
        <p:spPr>
          <a:xfrm>
            <a:off x="548640" y="1828800"/>
            <a:ext cx="3401568" cy="2395728"/>
          </a:xfrm>
          <a:prstGeom prst="rect">
            <a:avLst/>
          </a:prstGeom>
          <a:solidFill>
            <a:srgbClr val="E0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20240"/>
            <a:ext cx="3182112" cy="201168"/>
          </a:xfrm>
          <a:prstGeom prst="rect">
            <a:avLst/>
          </a:prstGeom>
          <a:noFill/>
        </p:spPr>
        <p:txBody>
          <a:bodyPr wrap="square">
            <a:spAutoFit/>
          </a:bodyPr>
          <a:lstStyle/>
          <a:p>
            <a:pPr algn="l"/>
            <a:r>
              <a:rPr sz="750" b="1" i="0">
                <a:solidFill>
                  <a:srgbClr val="1D51A3"/>
                </a:solidFill>
              </a:rPr>
              <a:t>第1象限：最優先（高重要度×高緊急度）</a:t>
            </a:r>
          </a:p>
        </p:txBody>
      </p:sp>
      <p:sp>
        <p:nvSpPr>
          <p:cNvPr id="12" name="Rectangle 11"/>
          <p:cNvSpPr/>
          <p:nvPr/>
        </p:nvSpPr>
        <p:spPr>
          <a:xfrm>
            <a:off x="658368" y="2176272"/>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3232" y="2212848"/>
            <a:ext cx="3072384" cy="201168"/>
          </a:xfrm>
          <a:prstGeom prst="rect">
            <a:avLst/>
          </a:prstGeom>
          <a:noFill/>
        </p:spPr>
        <p:txBody>
          <a:bodyPr wrap="square">
            <a:spAutoFit/>
          </a:bodyPr>
          <a:lstStyle/>
          <a:p>
            <a:pPr algn="l"/>
            <a:r>
              <a:rPr sz="800" b="1" i="0">
                <a:solidFill>
                  <a:srgbClr val="FFFFFF"/>
                </a:solidFill>
              </a:rPr>
              <a:t>CS体制強化</a:t>
            </a:r>
          </a:p>
        </p:txBody>
      </p:sp>
      <p:sp>
        <p:nvSpPr>
          <p:cNvPr id="14" name="Rectangle 13"/>
          <p:cNvSpPr/>
          <p:nvPr/>
        </p:nvSpPr>
        <p:spPr>
          <a:xfrm>
            <a:off x="658368" y="2523744"/>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3232" y="2560320"/>
            <a:ext cx="3072384" cy="201168"/>
          </a:xfrm>
          <a:prstGeom prst="rect">
            <a:avLst/>
          </a:prstGeom>
          <a:noFill/>
        </p:spPr>
        <p:txBody>
          <a:bodyPr wrap="square">
            <a:spAutoFit/>
          </a:bodyPr>
          <a:lstStyle/>
          <a:p>
            <a:pPr algn="l"/>
            <a:r>
              <a:rPr sz="800" b="1" i="0">
                <a:solidFill>
                  <a:srgbClr val="FFFFFF"/>
                </a:solidFill>
              </a:rPr>
              <a:t>オンボーディング改善</a:t>
            </a:r>
          </a:p>
        </p:txBody>
      </p:sp>
      <p:sp>
        <p:nvSpPr>
          <p:cNvPr id="16" name="Rectangle 15"/>
          <p:cNvSpPr/>
          <p:nvPr/>
        </p:nvSpPr>
        <p:spPr>
          <a:xfrm>
            <a:off x="4005072" y="1828800"/>
            <a:ext cx="3401568" cy="239572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800" y="1920240"/>
            <a:ext cx="3182112" cy="201168"/>
          </a:xfrm>
          <a:prstGeom prst="rect">
            <a:avLst/>
          </a:prstGeom>
          <a:noFill/>
        </p:spPr>
        <p:txBody>
          <a:bodyPr wrap="square">
            <a:spAutoFit/>
          </a:bodyPr>
          <a:lstStyle/>
          <a:p>
            <a:pPr algn="l"/>
            <a:r>
              <a:rPr sz="750" b="1" i="0">
                <a:solidFill>
                  <a:srgbClr val="1D51A3"/>
                </a:solidFill>
              </a:rPr>
              <a:t>第2象限：計画的実行（高重要度×低緊急度）</a:t>
            </a:r>
          </a:p>
        </p:txBody>
      </p:sp>
      <p:sp>
        <p:nvSpPr>
          <p:cNvPr id="18" name="Rectangle 17"/>
          <p:cNvSpPr/>
          <p:nvPr/>
        </p:nvSpPr>
        <p:spPr>
          <a:xfrm>
            <a:off x="4114800" y="2176272"/>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69663" y="2212848"/>
            <a:ext cx="3072384" cy="201168"/>
          </a:xfrm>
          <a:prstGeom prst="rect">
            <a:avLst/>
          </a:prstGeom>
          <a:noFill/>
        </p:spPr>
        <p:txBody>
          <a:bodyPr wrap="square">
            <a:spAutoFit/>
          </a:bodyPr>
          <a:lstStyle/>
          <a:p>
            <a:pPr algn="l"/>
            <a:r>
              <a:rPr sz="800" b="1" i="0">
                <a:solidFill>
                  <a:srgbClr val="FFFFFF"/>
                </a:solidFill>
              </a:rPr>
              <a:t>ヘルススコア導入</a:t>
            </a:r>
          </a:p>
        </p:txBody>
      </p:sp>
      <p:sp>
        <p:nvSpPr>
          <p:cNvPr id="20" name="Rectangle 19"/>
          <p:cNvSpPr/>
          <p:nvPr/>
        </p:nvSpPr>
        <p:spPr>
          <a:xfrm>
            <a:off x="4114800" y="2523744"/>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69663" y="2560320"/>
            <a:ext cx="3072384" cy="201168"/>
          </a:xfrm>
          <a:prstGeom prst="rect">
            <a:avLst/>
          </a:prstGeom>
          <a:noFill/>
        </p:spPr>
        <p:txBody>
          <a:bodyPr wrap="square">
            <a:spAutoFit/>
          </a:bodyPr>
          <a:lstStyle/>
          <a:p>
            <a:pPr algn="l"/>
            <a:r>
              <a:rPr sz="800" b="1" i="0">
                <a:solidFill>
                  <a:srgbClr val="FFFFFF"/>
                </a:solidFill>
              </a:rPr>
              <a:t>成功事例集作成</a:t>
            </a:r>
          </a:p>
        </p:txBody>
      </p:sp>
      <p:sp>
        <p:nvSpPr>
          <p:cNvPr id="22" name="Rectangle 21"/>
          <p:cNvSpPr/>
          <p:nvPr/>
        </p:nvSpPr>
        <p:spPr>
          <a:xfrm>
            <a:off x="548640" y="4279392"/>
            <a:ext cx="3401568" cy="239572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 y="4370831"/>
            <a:ext cx="3182112" cy="201168"/>
          </a:xfrm>
          <a:prstGeom prst="rect">
            <a:avLst/>
          </a:prstGeom>
          <a:noFill/>
        </p:spPr>
        <p:txBody>
          <a:bodyPr wrap="square">
            <a:spAutoFit/>
          </a:bodyPr>
          <a:lstStyle/>
          <a:p>
            <a:pPr algn="l"/>
            <a:r>
              <a:rPr sz="750" b="1" i="0">
                <a:solidFill>
                  <a:srgbClr val="1D51A3"/>
                </a:solidFill>
              </a:rPr>
              <a:t>第3象限：委任（低重要度×高緊急度）</a:t>
            </a:r>
          </a:p>
        </p:txBody>
      </p:sp>
      <p:sp>
        <p:nvSpPr>
          <p:cNvPr id="24" name="Rectangle 23"/>
          <p:cNvSpPr/>
          <p:nvPr/>
        </p:nvSpPr>
        <p:spPr>
          <a:xfrm>
            <a:off x="658368" y="4626864"/>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3232" y="4663440"/>
            <a:ext cx="3072384" cy="201168"/>
          </a:xfrm>
          <a:prstGeom prst="rect">
            <a:avLst/>
          </a:prstGeom>
          <a:noFill/>
        </p:spPr>
        <p:txBody>
          <a:bodyPr wrap="square">
            <a:spAutoFit/>
          </a:bodyPr>
          <a:lstStyle/>
          <a:p>
            <a:pPr algn="l"/>
            <a:r>
              <a:rPr sz="800" b="1" i="0">
                <a:solidFill>
                  <a:srgbClr val="FFFFFF"/>
                </a:solidFill>
              </a:rPr>
              <a:t>定期レポート自動化</a:t>
            </a:r>
          </a:p>
        </p:txBody>
      </p:sp>
      <p:sp>
        <p:nvSpPr>
          <p:cNvPr id="26" name="Rectangle 25"/>
          <p:cNvSpPr/>
          <p:nvPr/>
        </p:nvSpPr>
        <p:spPr>
          <a:xfrm>
            <a:off x="658368" y="4974336"/>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3232" y="5010912"/>
            <a:ext cx="3072384" cy="201168"/>
          </a:xfrm>
          <a:prstGeom prst="rect">
            <a:avLst/>
          </a:prstGeom>
          <a:noFill/>
        </p:spPr>
        <p:txBody>
          <a:bodyPr wrap="square">
            <a:spAutoFit/>
          </a:bodyPr>
          <a:lstStyle/>
          <a:p>
            <a:pPr algn="l"/>
            <a:r>
              <a:rPr sz="800" b="1" i="0">
                <a:solidFill>
                  <a:srgbClr val="FFFFFF"/>
                </a:solidFill>
              </a:rPr>
              <a:t>FAQ整備</a:t>
            </a:r>
          </a:p>
        </p:txBody>
      </p:sp>
      <p:sp>
        <p:nvSpPr>
          <p:cNvPr id="28" name="Rectangle 27"/>
          <p:cNvSpPr/>
          <p:nvPr/>
        </p:nvSpPr>
        <p:spPr>
          <a:xfrm>
            <a:off x="4005072" y="4279392"/>
            <a:ext cx="3401568" cy="239572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114800" y="4370831"/>
            <a:ext cx="3182112" cy="201168"/>
          </a:xfrm>
          <a:prstGeom prst="rect">
            <a:avLst/>
          </a:prstGeom>
          <a:noFill/>
        </p:spPr>
        <p:txBody>
          <a:bodyPr wrap="square">
            <a:spAutoFit/>
          </a:bodyPr>
          <a:lstStyle/>
          <a:p>
            <a:pPr algn="l"/>
            <a:r>
              <a:rPr sz="750" b="1" i="0">
                <a:solidFill>
                  <a:srgbClr val="1D51A3"/>
                </a:solidFill>
              </a:rPr>
              <a:t>第4象限：保留（低重要度×低緊急度）</a:t>
            </a:r>
          </a:p>
        </p:txBody>
      </p:sp>
      <p:sp>
        <p:nvSpPr>
          <p:cNvPr id="30" name="Rectangle 29"/>
          <p:cNvSpPr/>
          <p:nvPr/>
        </p:nvSpPr>
        <p:spPr>
          <a:xfrm>
            <a:off x="4114800" y="4626864"/>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69663" y="4663440"/>
            <a:ext cx="3072384" cy="201168"/>
          </a:xfrm>
          <a:prstGeom prst="rect">
            <a:avLst/>
          </a:prstGeom>
          <a:noFill/>
        </p:spPr>
        <p:txBody>
          <a:bodyPr wrap="square">
            <a:spAutoFit/>
          </a:bodyPr>
          <a:lstStyle/>
          <a:p>
            <a:pPr algn="l"/>
            <a:r>
              <a:rPr sz="800" b="1" i="0">
                <a:solidFill>
                  <a:srgbClr val="FFFFFF"/>
                </a:solidFill>
              </a:rPr>
              <a:t>SNS運用</a:t>
            </a:r>
          </a:p>
        </p:txBody>
      </p:sp>
      <p:sp>
        <p:nvSpPr>
          <p:cNvPr id="32" name="Rectangle 31"/>
          <p:cNvSpPr/>
          <p:nvPr/>
        </p:nvSpPr>
        <p:spPr>
          <a:xfrm>
            <a:off x="4114800" y="4974336"/>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69663" y="5010912"/>
            <a:ext cx="3072384" cy="201168"/>
          </a:xfrm>
          <a:prstGeom prst="rect">
            <a:avLst/>
          </a:prstGeom>
          <a:noFill/>
        </p:spPr>
        <p:txBody>
          <a:bodyPr wrap="square">
            <a:spAutoFit/>
          </a:bodyPr>
          <a:lstStyle/>
          <a:p>
            <a:pPr algn="l"/>
            <a:r>
              <a:rPr sz="800" b="1" i="0">
                <a:solidFill>
                  <a:srgbClr val="FFFFFF"/>
                </a:solidFill>
              </a:rPr>
              <a:t>ブログ更新</a:t>
            </a:r>
          </a:p>
        </p:txBody>
      </p:sp>
      <p:sp>
        <p:nvSpPr>
          <p:cNvPr id="34" name="TextBox 33"/>
          <p:cNvSpPr txBox="1"/>
          <p:nvPr/>
        </p:nvSpPr>
        <p:spPr>
          <a:xfrm>
            <a:off x="2606039" y="6720840"/>
            <a:ext cx="2743200" cy="228600"/>
          </a:xfrm>
          <a:prstGeom prst="rect">
            <a:avLst/>
          </a:prstGeom>
          <a:noFill/>
        </p:spPr>
        <p:txBody>
          <a:bodyPr wrap="square">
            <a:spAutoFit/>
          </a:bodyPr>
          <a:lstStyle/>
          <a:p>
            <a:pPr algn="ctr"/>
            <a:r>
              <a:rPr sz="800" b="1" i="0">
                <a:solidFill>
                  <a:srgbClr val="688BC2"/>
                </a:solidFill>
              </a:rPr>
              <a:t>← 緊急度 →</a:t>
            </a:r>
          </a:p>
        </p:txBody>
      </p:sp>
      <p:sp>
        <p:nvSpPr>
          <p:cNvPr id="35" name="TextBox 34"/>
          <p:cNvSpPr txBox="1"/>
          <p:nvPr/>
        </p:nvSpPr>
        <p:spPr>
          <a:xfrm>
            <a:off x="45719" y="3794760"/>
            <a:ext cx="457200" cy="914400"/>
          </a:xfrm>
          <a:prstGeom prst="rect">
            <a:avLst/>
          </a:prstGeom>
          <a:noFill/>
        </p:spPr>
        <p:txBody>
          <a:bodyPr wrap="square">
            <a:spAutoFit/>
          </a:bodyPr>
          <a:lstStyle/>
          <a:p>
            <a:pPr algn="l"/>
            <a:r>
              <a:rPr sz="800" b="1" i="0">
                <a:solidFill>
                  <a:srgbClr val="688BC2"/>
                </a:solidFill>
              </a:rPr>
              <a:t>↑ 重要度</a:t>
            </a:r>
          </a:p>
        </p:txBody>
      </p:sp>
      <p:sp>
        <p:nvSpPr>
          <p:cNvPr id="36" name="Rectangle 35"/>
          <p:cNvSpPr/>
          <p:nvPr/>
        </p:nvSpPr>
        <p:spPr>
          <a:xfrm>
            <a:off x="548640" y="4251960"/>
            <a:ext cx="685800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3977640" y="1828800"/>
            <a:ext cx="18288" cy="4846320"/>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543800" y="1828800"/>
            <a:ext cx="4069080" cy="914400"/>
          </a:xfrm>
          <a:prstGeom prst="rect">
            <a:avLst/>
          </a:prstGeom>
          <a:solidFill>
            <a:srgbClr val="E8EEF8"/>
          </a:solidFill>
          <a:ln w="6350">
            <a:solidFill>
              <a:srgbClr val="1D5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53527" y="1883664"/>
            <a:ext cx="3849624" cy="164592"/>
          </a:xfrm>
          <a:prstGeom prst="rect">
            <a:avLst/>
          </a:prstGeom>
          <a:noFill/>
        </p:spPr>
        <p:txBody>
          <a:bodyPr wrap="square">
            <a:spAutoFit/>
          </a:bodyPr>
          <a:lstStyle/>
          <a:p>
            <a:pPr algn="l"/>
            <a:r>
              <a:rPr sz="750" b="1" i="0">
                <a:solidFill>
                  <a:srgbClr val="1D51A3"/>
                </a:solidFill>
              </a:rPr>
              <a:t>INSIGHT</a:t>
            </a:r>
          </a:p>
        </p:txBody>
      </p:sp>
      <p:sp>
        <p:nvSpPr>
          <p:cNvPr id="40" name="TextBox 39"/>
          <p:cNvSpPr txBox="1"/>
          <p:nvPr/>
        </p:nvSpPr>
        <p:spPr>
          <a:xfrm>
            <a:off x="7653527" y="2066543"/>
            <a:ext cx="3849624" cy="621792"/>
          </a:xfrm>
          <a:prstGeom prst="rect">
            <a:avLst/>
          </a:prstGeom>
          <a:noFill/>
        </p:spPr>
        <p:txBody>
          <a:bodyPr wrap="square">
            <a:spAutoFit/>
          </a:bodyPr>
          <a:lstStyle/>
          <a:p>
            <a:pPr algn="l"/>
            <a:r>
              <a:rPr sz="750" b="0" i="0">
                <a:solidFill>
                  <a:srgbClr val="0C3570"/>
                </a:solidFill>
              </a:rPr>
              <a:t>第1象限の施策（CS体制強化・オンボーディング改善）に全リソースを集中させることで、最短期間で最大の成果を得られる。</a:t>
            </a:r>
          </a:p>
        </p:txBody>
      </p:sp>
      <p:sp>
        <p:nvSpPr>
          <p:cNvPr id="41" name="Rectangle 40"/>
          <p:cNvSpPr/>
          <p:nvPr/>
        </p:nvSpPr>
        <p:spPr>
          <a:xfrm>
            <a:off x="7543800" y="2834640"/>
            <a:ext cx="4069080"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653527" y="2907792"/>
            <a:ext cx="3849624" cy="182880"/>
          </a:xfrm>
          <a:prstGeom prst="rect">
            <a:avLst/>
          </a:prstGeom>
          <a:noFill/>
        </p:spPr>
        <p:txBody>
          <a:bodyPr wrap="square">
            <a:spAutoFit/>
          </a:bodyPr>
          <a:lstStyle/>
          <a:p>
            <a:pPr algn="l"/>
            <a:r>
              <a:rPr sz="750" b="1" i="0">
                <a:solidFill>
                  <a:srgbClr val="1D51A3"/>
                </a:solidFill>
              </a:rPr>
              <a:t>第1象限：最優先（高重要度×高緊急度）</a:t>
            </a:r>
          </a:p>
        </p:txBody>
      </p:sp>
      <p:sp>
        <p:nvSpPr>
          <p:cNvPr id="43" name="TextBox 42"/>
          <p:cNvSpPr txBox="1"/>
          <p:nvPr/>
        </p:nvSpPr>
        <p:spPr>
          <a:xfrm>
            <a:off x="7653527" y="3108960"/>
            <a:ext cx="3849624" cy="502920"/>
          </a:xfrm>
          <a:prstGeom prst="rect">
            <a:avLst/>
          </a:prstGeom>
          <a:noFill/>
        </p:spPr>
        <p:txBody>
          <a:bodyPr wrap="square">
            <a:spAutoFit/>
          </a:bodyPr>
          <a:lstStyle/>
          <a:p>
            <a:pPr algn="l"/>
            <a:r>
              <a:rPr sz="750" b="0" i="0">
                <a:solidFill>
                  <a:srgbClr val="444444"/>
                </a:solidFill>
              </a:rPr>
              <a:t>今すぐ実行すべき施策。リソースを集中投下し、Q1中に完了させる。</a:t>
            </a:r>
          </a:p>
        </p:txBody>
      </p:sp>
      <p:sp>
        <p:nvSpPr>
          <p:cNvPr id="44" name="Rectangle 43"/>
          <p:cNvSpPr/>
          <p:nvPr/>
        </p:nvSpPr>
        <p:spPr>
          <a:xfrm>
            <a:off x="7543800" y="3703320"/>
            <a:ext cx="4069080"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653527" y="3776472"/>
            <a:ext cx="3849624" cy="182880"/>
          </a:xfrm>
          <a:prstGeom prst="rect">
            <a:avLst/>
          </a:prstGeom>
          <a:noFill/>
        </p:spPr>
        <p:txBody>
          <a:bodyPr wrap="square">
            <a:spAutoFit/>
          </a:bodyPr>
          <a:lstStyle/>
          <a:p>
            <a:pPr algn="l"/>
            <a:r>
              <a:rPr sz="750" b="1" i="0">
                <a:solidFill>
                  <a:srgbClr val="1D51A3"/>
                </a:solidFill>
              </a:rPr>
              <a:t>第2象限：計画的実行（高重要度×低緊急度）</a:t>
            </a:r>
          </a:p>
        </p:txBody>
      </p:sp>
      <p:sp>
        <p:nvSpPr>
          <p:cNvPr id="46" name="TextBox 45"/>
          <p:cNvSpPr txBox="1"/>
          <p:nvPr/>
        </p:nvSpPr>
        <p:spPr>
          <a:xfrm>
            <a:off x="7653527" y="3977639"/>
            <a:ext cx="3849624" cy="502920"/>
          </a:xfrm>
          <a:prstGeom prst="rect">
            <a:avLst/>
          </a:prstGeom>
          <a:noFill/>
        </p:spPr>
        <p:txBody>
          <a:bodyPr wrap="square">
            <a:spAutoFit/>
          </a:bodyPr>
          <a:lstStyle/>
          <a:p>
            <a:pPr algn="l"/>
            <a:r>
              <a:rPr sz="750" b="0" i="0">
                <a:solidFill>
                  <a:srgbClr val="444444"/>
                </a:solidFill>
              </a:rPr>
              <a:t>重要だが緊急ではない施策。計画的にリソースを確保し、Q2〜Q3に実行する。</a:t>
            </a:r>
          </a:p>
        </p:txBody>
      </p:sp>
      <p:sp>
        <p:nvSpPr>
          <p:cNvPr id="47" name="Rectangle 46"/>
          <p:cNvSpPr/>
          <p:nvPr/>
        </p:nvSpPr>
        <p:spPr>
          <a:xfrm>
            <a:off x="7543800" y="4572000"/>
            <a:ext cx="4069080"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653527" y="4645152"/>
            <a:ext cx="3849624" cy="182880"/>
          </a:xfrm>
          <a:prstGeom prst="rect">
            <a:avLst/>
          </a:prstGeom>
          <a:noFill/>
        </p:spPr>
        <p:txBody>
          <a:bodyPr wrap="square">
            <a:spAutoFit/>
          </a:bodyPr>
          <a:lstStyle/>
          <a:p>
            <a:pPr algn="l"/>
            <a:r>
              <a:rPr sz="750" b="1" i="0">
                <a:solidFill>
                  <a:srgbClr val="1D51A3"/>
                </a:solidFill>
              </a:rPr>
              <a:t>第3象限：委任（低重要度×高緊急度）</a:t>
            </a:r>
          </a:p>
        </p:txBody>
      </p:sp>
      <p:sp>
        <p:nvSpPr>
          <p:cNvPr id="49" name="TextBox 48"/>
          <p:cNvSpPr txBox="1"/>
          <p:nvPr/>
        </p:nvSpPr>
        <p:spPr>
          <a:xfrm>
            <a:off x="7653527" y="4846320"/>
            <a:ext cx="3849624" cy="502920"/>
          </a:xfrm>
          <a:prstGeom prst="rect">
            <a:avLst/>
          </a:prstGeom>
          <a:noFill/>
        </p:spPr>
        <p:txBody>
          <a:bodyPr wrap="square">
            <a:spAutoFit/>
          </a:bodyPr>
          <a:lstStyle/>
          <a:p>
            <a:pPr algn="l"/>
            <a:r>
              <a:rPr sz="750" b="0" i="0">
                <a:solidFill>
                  <a:srgbClr val="444444"/>
                </a:solidFill>
              </a:rPr>
              <a:t>緊急だが重要度が低い施策。可能な限り自動化・委任し、担当者の工数を最小化する。</a:t>
            </a:r>
          </a:p>
        </p:txBody>
      </p:sp>
      <p:sp>
        <p:nvSpPr>
          <p:cNvPr id="50" name="Rectangle 49"/>
          <p:cNvSpPr/>
          <p:nvPr/>
        </p:nvSpPr>
        <p:spPr>
          <a:xfrm>
            <a:off x="7543800" y="5440680"/>
            <a:ext cx="4069080"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653527" y="5513832"/>
            <a:ext cx="3849624" cy="182880"/>
          </a:xfrm>
          <a:prstGeom prst="rect">
            <a:avLst/>
          </a:prstGeom>
          <a:noFill/>
        </p:spPr>
        <p:txBody>
          <a:bodyPr wrap="square">
            <a:spAutoFit/>
          </a:bodyPr>
          <a:lstStyle/>
          <a:p>
            <a:pPr algn="l"/>
            <a:r>
              <a:rPr sz="750" b="1" i="0">
                <a:solidFill>
                  <a:srgbClr val="1D51A3"/>
                </a:solidFill>
              </a:rPr>
              <a:t>第4象限：保留（低重要度×低緊急度）</a:t>
            </a:r>
          </a:p>
        </p:txBody>
      </p:sp>
      <p:sp>
        <p:nvSpPr>
          <p:cNvPr id="52" name="TextBox 51"/>
          <p:cNvSpPr txBox="1"/>
          <p:nvPr/>
        </p:nvSpPr>
        <p:spPr>
          <a:xfrm>
            <a:off x="7653527" y="5715000"/>
            <a:ext cx="3849624" cy="502920"/>
          </a:xfrm>
          <a:prstGeom prst="rect">
            <a:avLst/>
          </a:prstGeom>
          <a:noFill/>
        </p:spPr>
        <p:txBody>
          <a:bodyPr wrap="square">
            <a:spAutoFit/>
          </a:bodyPr>
          <a:lstStyle/>
          <a:p>
            <a:pPr algn="l"/>
            <a:r>
              <a:rPr sz="750" b="0" i="0">
                <a:solidFill>
                  <a:srgbClr val="444444"/>
                </a:solidFill>
              </a:rPr>
              <a:t>重要度・緊急度ともに低い施策。現時点では実行せず、リソースを優先施策に集中させる。</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優先度マトリクス：施策を効果とコストで分類し、投資対効果の高い施策を特定する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priority_matrix ／ 用途: 効果×コストによる優先順位付け ／ 件数: 4〜12項目</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施策を期待効果（縦軸）と実施コスト（横軸）の2軸で分類した結果、オンボーディング改善が最も投資対効果の高い施策であることが判明した。</a:t>
            </a:r>
          </a:p>
        </p:txBody>
      </p:sp>
      <p:sp>
        <p:nvSpPr>
          <p:cNvPr id="10" name="Rectangle 9"/>
          <p:cNvSpPr/>
          <p:nvPr/>
        </p:nvSpPr>
        <p:spPr>
          <a:xfrm>
            <a:off x="548640" y="1828800"/>
            <a:ext cx="3401568" cy="2395728"/>
          </a:xfrm>
          <a:prstGeom prst="rect">
            <a:avLst/>
          </a:prstGeom>
          <a:solidFill>
            <a:srgbClr val="E0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20240"/>
            <a:ext cx="3182112" cy="201168"/>
          </a:xfrm>
          <a:prstGeom prst="rect">
            <a:avLst/>
          </a:prstGeom>
          <a:noFill/>
        </p:spPr>
        <p:txBody>
          <a:bodyPr wrap="square">
            <a:spAutoFit/>
          </a:bodyPr>
          <a:lstStyle/>
          <a:p>
            <a:pPr algn="l"/>
            <a:r>
              <a:rPr sz="750" b="1" i="0">
                <a:solidFill>
                  <a:srgbClr val="1D51A3"/>
                </a:solidFill>
              </a:rPr>
              <a:t>Quick Win（高効果×低コスト）</a:t>
            </a:r>
          </a:p>
        </p:txBody>
      </p:sp>
      <p:sp>
        <p:nvSpPr>
          <p:cNvPr id="12" name="Rectangle 11"/>
          <p:cNvSpPr/>
          <p:nvPr/>
        </p:nvSpPr>
        <p:spPr>
          <a:xfrm>
            <a:off x="658368" y="2176272"/>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3232" y="2212848"/>
            <a:ext cx="3072384" cy="201168"/>
          </a:xfrm>
          <a:prstGeom prst="rect">
            <a:avLst/>
          </a:prstGeom>
          <a:noFill/>
        </p:spPr>
        <p:txBody>
          <a:bodyPr wrap="square">
            <a:spAutoFit/>
          </a:bodyPr>
          <a:lstStyle/>
          <a:p>
            <a:pPr algn="l"/>
            <a:r>
              <a:rPr sz="800" b="1" i="0">
                <a:solidFill>
                  <a:srgbClr val="FFFFFF"/>
                </a:solidFill>
              </a:rPr>
              <a:t>オンボーディング改善</a:t>
            </a:r>
          </a:p>
        </p:txBody>
      </p:sp>
      <p:sp>
        <p:nvSpPr>
          <p:cNvPr id="14" name="Rectangle 13"/>
          <p:cNvSpPr/>
          <p:nvPr/>
        </p:nvSpPr>
        <p:spPr>
          <a:xfrm>
            <a:off x="658368" y="2523744"/>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3232" y="2560320"/>
            <a:ext cx="3072384" cy="201168"/>
          </a:xfrm>
          <a:prstGeom prst="rect">
            <a:avLst/>
          </a:prstGeom>
          <a:noFill/>
        </p:spPr>
        <p:txBody>
          <a:bodyPr wrap="square">
            <a:spAutoFit/>
          </a:bodyPr>
          <a:lstStyle/>
          <a:p>
            <a:pPr algn="l"/>
            <a:r>
              <a:rPr sz="800" b="1" i="0">
                <a:solidFill>
                  <a:srgbClr val="FFFFFF"/>
                </a:solidFill>
              </a:rPr>
              <a:t>FAQ整備</a:t>
            </a:r>
          </a:p>
        </p:txBody>
      </p:sp>
      <p:sp>
        <p:nvSpPr>
          <p:cNvPr id="16" name="Rectangle 15"/>
          <p:cNvSpPr/>
          <p:nvPr/>
        </p:nvSpPr>
        <p:spPr>
          <a:xfrm>
            <a:off x="4005072" y="1828800"/>
            <a:ext cx="3401568" cy="239572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800" y="1920240"/>
            <a:ext cx="3182112" cy="201168"/>
          </a:xfrm>
          <a:prstGeom prst="rect">
            <a:avLst/>
          </a:prstGeom>
          <a:noFill/>
        </p:spPr>
        <p:txBody>
          <a:bodyPr wrap="square">
            <a:spAutoFit/>
          </a:bodyPr>
          <a:lstStyle/>
          <a:p>
            <a:pPr algn="l"/>
            <a:r>
              <a:rPr sz="750" b="1" i="0">
                <a:solidFill>
                  <a:srgbClr val="1D51A3"/>
                </a:solidFill>
              </a:rPr>
              <a:t>戦略投資（高効果×高コスト）</a:t>
            </a:r>
          </a:p>
        </p:txBody>
      </p:sp>
      <p:sp>
        <p:nvSpPr>
          <p:cNvPr id="18" name="Rectangle 17"/>
          <p:cNvSpPr/>
          <p:nvPr/>
        </p:nvSpPr>
        <p:spPr>
          <a:xfrm>
            <a:off x="4114800" y="2176272"/>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69663" y="2212848"/>
            <a:ext cx="3072384" cy="201168"/>
          </a:xfrm>
          <a:prstGeom prst="rect">
            <a:avLst/>
          </a:prstGeom>
          <a:noFill/>
        </p:spPr>
        <p:txBody>
          <a:bodyPr wrap="square">
            <a:spAutoFit/>
          </a:bodyPr>
          <a:lstStyle/>
          <a:p>
            <a:pPr algn="l"/>
            <a:r>
              <a:rPr sz="800" b="1" i="0">
                <a:solidFill>
                  <a:srgbClr val="FFFFFF"/>
                </a:solidFill>
              </a:rPr>
              <a:t>CS体制強化</a:t>
            </a:r>
          </a:p>
        </p:txBody>
      </p:sp>
      <p:sp>
        <p:nvSpPr>
          <p:cNvPr id="20" name="Rectangle 19"/>
          <p:cNvSpPr/>
          <p:nvPr/>
        </p:nvSpPr>
        <p:spPr>
          <a:xfrm>
            <a:off x="4114800" y="2523744"/>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69663" y="2560320"/>
            <a:ext cx="3072384" cy="201168"/>
          </a:xfrm>
          <a:prstGeom prst="rect">
            <a:avLst/>
          </a:prstGeom>
          <a:noFill/>
        </p:spPr>
        <p:txBody>
          <a:bodyPr wrap="square">
            <a:spAutoFit/>
          </a:bodyPr>
          <a:lstStyle/>
          <a:p>
            <a:pPr algn="l"/>
            <a:r>
              <a:rPr sz="800" b="1" i="0">
                <a:solidFill>
                  <a:srgbClr val="FFFFFF"/>
                </a:solidFill>
              </a:rPr>
              <a:t>ヘルススコア導入</a:t>
            </a:r>
          </a:p>
        </p:txBody>
      </p:sp>
      <p:sp>
        <p:nvSpPr>
          <p:cNvPr id="22" name="Rectangle 21"/>
          <p:cNvSpPr/>
          <p:nvPr/>
        </p:nvSpPr>
        <p:spPr>
          <a:xfrm>
            <a:off x="548640" y="4279392"/>
            <a:ext cx="3401568" cy="239572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 y="4370831"/>
            <a:ext cx="3182112" cy="201168"/>
          </a:xfrm>
          <a:prstGeom prst="rect">
            <a:avLst/>
          </a:prstGeom>
          <a:noFill/>
        </p:spPr>
        <p:txBody>
          <a:bodyPr wrap="square">
            <a:spAutoFit/>
          </a:bodyPr>
          <a:lstStyle/>
          <a:p>
            <a:pPr algn="l"/>
            <a:r>
              <a:rPr sz="750" b="1" i="0">
                <a:solidFill>
                  <a:srgbClr val="1D51A3"/>
                </a:solidFill>
              </a:rPr>
              <a:t>低優先（低効果×低コスト）</a:t>
            </a:r>
          </a:p>
        </p:txBody>
      </p:sp>
      <p:sp>
        <p:nvSpPr>
          <p:cNvPr id="24" name="Rectangle 23"/>
          <p:cNvSpPr/>
          <p:nvPr/>
        </p:nvSpPr>
        <p:spPr>
          <a:xfrm>
            <a:off x="658368" y="4626864"/>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3232" y="4663440"/>
            <a:ext cx="3072384" cy="201168"/>
          </a:xfrm>
          <a:prstGeom prst="rect">
            <a:avLst/>
          </a:prstGeom>
          <a:noFill/>
        </p:spPr>
        <p:txBody>
          <a:bodyPr wrap="square">
            <a:spAutoFit/>
          </a:bodyPr>
          <a:lstStyle/>
          <a:p>
            <a:pPr algn="l"/>
            <a:r>
              <a:rPr sz="800" b="1" i="0">
                <a:solidFill>
                  <a:srgbClr val="FFFFFF"/>
                </a:solidFill>
              </a:rPr>
              <a:t>SNS運用</a:t>
            </a:r>
          </a:p>
        </p:txBody>
      </p:sp>
      <p:sp>
        <p:nvSpPr>
          <p:cNvPr id="26" name="Rectangle 25"/>
          <p:cNvSpPr/>
          <p:nvPr/>
        </p:nvSpPr>
        <p:spPr>
          <a:xfrm>
            <a:off x="658368" y="4974336"/>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3232" y="5010912"/>
            <a:ext cx="3072384" cy="201168"/>
          </a:xfrm>
          <a:prstGeom prst="rect">
            <a:avLst/>
          </a:prstGeom>
          <a:noFill/>
        </p:spPr>
        <p:txBody>
          <a:bodyPr wrap="square">
            <a:spAutoFit/>
          </a:bodyPr>
          <a:lstStyle/>
          <a:p>
            <a:pPr algn="l"/>
            <a:r>
              <a:rPr sz="800" b="1" i="0">
                <a:solidFill>
                  <a:srgbClr val="FFFFFF"/>
                </a:solidFill>
              </a:rPr>
              <a:t>ブログ更新</a:t>
            </a:r>
          </a:p>
        </p:txBody>
      </p:sp>
      <p:sp>
        <p:nvSpPr>
          <p:cNvPr id="28" name="Rectangle 27"/>
          <p:cNvSpPr/>
          <p:nvPr/>
        </p:nvSpPr>
        <p:spPr>
          <a:xfrm>
            <a:off x="4005072" y="4279392"/>
            <a:ext cx="3401568" cy="239572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114800" y="4370831"/>
            <a:ext cx="3182112" cy="201168"/>
          </a:xfrm>
          <a:prstGeom prst="rect">
            <a:avLst/>
          </a:prstGeom>
          <a:noFill/>
        </p:spPr>
        <p:txBody>
          <a:bodyPr wrap="square">
            <a:spAutoFit/>
          </a:bodyPr>
          <a:lstStyle/>
          <a:p>
            <a:pPr algn="l"/>
            <a:r>
              <a:rPr sz="750" b="1" i="0">
                <a:solidFill>
                  <a:srgbClr val="1D51A3"/>
                </a:solidFill>
              </a:rPr>
              <a:t>見直し（低効果×高コスト）</a:t>
            </a:r>
          </a:p>
        </p:txBody>
      </p:sp>
      <p:sp>
        <p:nvSpPr>
          <p:cNvPr id="30" name="Rectangle 29"/>
          <p:cNvSpPr/>
          <p:nvPr/>
        </p:nvSpPr>
        <p:spPr>
          <a:xfrm>
            <a:off x="4114800" y="4626864"/>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69663" y="4663440"/>
            <a:ext cx="3072384" cy="201168"/>
          </a:xfrm>
          <a:prstGeom prst="rect">
            <a:avLst/>
          </a:prstGeom>
          <a:noFill/>
        </p:spPr>
        <p:txBody>
          <a:bodyPr wrap="square">
            <a:spAutoFit/>
          </a:bodyPr>
          <a:lstStyle/>
          <a:p>
            <a:pPr algn="l"/>
            <a:r>
              <a:rPr sz="800" b="1" i="0">
                <a:solidFill>
                  <a:srgbClr val="FFFFFF"/>
                </a:solidFill>
              </a:rPr>
              <a:t>大規模システム刷新</a:t>
            </a:r>
          </a:p>
        </p:txBody>
      </p:sp>
      <p:sp>
        <p:nvSpPr>
          <p:cNvPr id="32" name="TextBox 31"/>
          <p:cNvSpPr txBox="1"/>
          <p:nvPr/>
        </p:nvSpPr>
        <p:spPr>
          <a:xfrm>
            <a:off x="2496312" y="6470720"/>
            <a:ext cx="2743200" cy="228600"/>
          </a:xfrm>
          <a:prstGeom prst="rect">
            <a:avLst/>
          </a:prstGeom>
          <a:noFill/>
        </p:spPr>
        <p:txBody>
          <a:bodyPr wrap="square">
            <a:spAutoFit/>
          </a:bodyPr>
          <a:lstStyle/>
          <a:p>
            <a:pPr algn="ctr"/>
            <a:r>
              <a:rPr sz="800" b="1" i="0" dirty="0">
                <a:solidFill>
                  <a:srgbClr val="688BC2"/>
                </a:solidFill>
              </a:rPr>
              <a:t>← </a:t>
            </a:r>
            <a:r>
              <a:rPr sz="800" b="1" i="0" dirty="0" err="1">
                <a:solidFill>
                  <a:srgbClr val="688BC2"/>
                </a:solidFill>
              </a:rPr>
              <a:t>実施コスト（低→高</a:t>
            </a:r>
            <a:r>
              <a:rPr sz="800" b="1" i="0" dirty="0">
                <a:solidFill>
                  <a:srgbClr val="688BC2"/>
                </a:solidFill>
              </a:rPr>
              <a:t>） →</a:t>
            </a:r>
          </a:p>
        </p:txBody>
      </p:sp>
      <p:sp>
        <p:nvSpPr>
          <p:cNvPr id="33" name="TextBox 32"/>
          <p:cNvSpPr txBox="1"/>
          <p:nvPr/>
        </p:nvSpPr>
        <p:spPr>
          <a:xfrm>
            <a:off x="45719" y="3794760"/>
            <a:ext cx="457200" cy="914400"/>
          </a:xfrm>
          <a:prstGeom prst="rect">
            <a:avLst/>
          </a:prstGeom>
          <a:noFill/>
        </p:spPr>
        <p:txBody>
          <a:bodyPr wrap="square">
            <a:spAutoFit/>
          </a:bodyPr>
          <a:lstStyle/>
          <a:p>
            <a:pPr algn="l"/>
            <a:r>
              <a:rPr sz="800" b="1" i="0">
                <a:solidFill>
                  <a:srgbClr val="688BC2"/>
                </a:solidFill>
              </a:rPr>
              <a:t>↑ 期待効果（低→高）</a:t>
            </a:r>
          </a:p>
        </p:txBody>
      </p:sp>
      <p:sp>
        <p:nvSpPr>
          <p:cNvPr id="34" name="Rectangle 33"/>
          <p:cNvSpPr/>
          <p:nvPr/>
        </p:nvSpPr>
        <p:spPr>
          <a:xfrm>
            <a:off x="548640" y="4251960"/>
            <a:ext cx="685800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977640" y="1828800"/>
            <a:ext cx="18288" cy="4846320"/>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543800" y="1828800"/>
            <a:ext cx="4069080" cy="914400"/>
          </a:xfrm>
          <a:prstGeom prst="rect">
            <a:avLst/>
          </a:prstGeom>
          <a:solidFill>
            <a:srgbClr val="E8EEF8"/>
          </a:solidFill>
          <a:ln w="6350">
            <a:solidFill>
              <a:srgbClr val="1D5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653527" y="1883664"/>
            <a:ext cx="3849624" cy="164592"/>
          </a:xfrm>
          <a:prstGeom prst="rect">
            <a:avLst/>
          </a:prstGeom>
          <a:noFill/>
        </p:spPr>
        <p:txBody>
          <a:bodyPr wrap="square">
            <a:spAutoFit/>
          </a:bodyPr>
          <a:lstStyle/>
          <a:p>
            <a:pPr algn="l"/>
            <a:r>
              <a:rPr sz="750" b="1" i="0">
                <a:solidFill>
                  <a:srgbClr val="1D51A3"/>
                </a:solidFill>
              </a:rPr>
              <a:t>INSIGHT</a:t>
            </a:r>
          </a:p>
        </p:txBody>
      </p:sp>
      <p:sp>
        <p:nvSpPr>
          <p:cNvPr id="38" name="TextBox 37"/>
          <p:cNvSpPr txBox="1"/>
          <p:nvPr/>
        </p:nvSpPr>
        <p:spPr>
          <a:xfrm>
            <a:off x="7653527" y="2066543"/>
            <a:ext cx="3849624" cy="621792"/>
          </a:xfrm>
          <a:prstGeom prst="rect">
            <a:avLst/>
          </a:prstGeom>
          <a:noFill/>
        </p:spPr>
        <p:txBody>
          <a:bodyPr wrap="square">
            <a:spAutoFit/>
          </a:bodyPr>
          <a:lstStyle/>
          <a:p>
            <a:pPr algn="l"/>
            <a:r>
              <a:rPr sz="750" b="0" i="0">
                <a:solidFill>
                  <a:srgbClr val="0C3570"/>
                </a:solidFill>
              </a:rPr>
              <a:t>Quick Win象限の施策（オンボーディング改善・FAQ整備）を最優先で実行し、早期成果を創出することで、戦略投資施策への予算確保を正当化する。</a:t>
            </a:r>
          </a:p>
        </p:txBody>
      </p:sp>
      <p:sp>
        <p:nvSpPr>
          <p:cNvPr id="39" name="Rectangle 38"/>
          <p:cNvSpPr/>
          <p:nvPr/>
        </p:nvSpPr>
        <p:spPr>
          <a:xfrm>
            <a:off x="7543800" y="2834640"/>
            <a:ext cx="4069080"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653527" y="2907792"/>
            <a:ext cx="3849624" cy="182880"/>
          </a:xfrm>
          <a:prstGeom prst="rect">
            <a:avLst/>
          </a:prstGeom>
          <a:noFill/>
        </p:spPr>
        <p:txBody>
          <a:bodyPr wrap="square">
            <a:spAutoFit/>
          </a:bodyPr>
          <a:lstStyle/>
          <a:p>
            <a:pPr algn="l"/>
            <a:r>
              <a:rPr sz="750" b="1" i="0">
                <a:solidFill>
                  <a:srgbClr val="1D51A3"/>
                </a:solidFill>
              </a:rPr>
              <a:t>Quick Win（高効果×低コスト）</a:t>
            </a:r>
          </a:p>
        </p:txBody>
      </p:sp>
      <p:sp>
        <p:nvSpPr>
          <p:cNvPr id="41" name="TextBox 40"/>
          <p:cNvSpPr txBox="1"/>
          <p:nvPr/>
        </p:nvSpPr>
        <p:spPr>
          <a:xfrm>
            <a:off x="7653527" y="3108960"/>
            <a:ext cx="3849624" cy="502920"/>
          </a:xfrm>
          <a:prstGeom prst="rect">
            <a:avLst/>
          </a:prstGeom>
          <a:noFill/>
        </p:spPr>
        <p:txBody>
          <a:bodyPr wrap="square">
            <a:spAutoFit/>
          </a:bodyPr>
          <a:lstStyle/>
          <a:p>
            <a:pPr algn="l"/>
            <a:r>
              <a:rPr sz="750" b="0" i="0">
                <a:solidFill>
                  <a:srgbClr val="444444"/>
                </a:solidFill>
              </a:rPr>
              <a:t>最優先で実行すべき施策。低コストで高い効果が期待でき、早期成果の創出に貢献する。</a:t>
            </a:r>
          </a:p>
        </p:txBody>
      </p:sp>
      <p:sp>
        <p:nvSpPr>
          <p:cNvPr id="42" name="Rectangle 41"/>
          <p:cNvSpPr/>
          <p:nvPr/>
        </p:nvSpPr>
        <p:spPr>
          <a:xfrm>
            <a:off x="7543800" y="3703320"/>
            <a:ext cx="4069080"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653527" y="3776472"/>
            <a:ext cx="3849624" cy="182880"/>
          </a:xfrm>
          <a:prstGeom prst="rect">
            <a:avLst/>
          </a:prstGeom>
          <a:noFill/>
        </p:spPr>
        <p:txBody>
          <a:bodyPr wrap="square">
            <a:spAutoFit/>
          </a:bodyPr>
          <a:lstStyle/>
          <a:p>
            <a:pPr algn="l"/>
            <a:r>
              <a:rPr sz="750" b="1" i="0">
                <a:solidFill>
                  <a:srgbClr val="1D51A3"/>
                </a:solidFill>
              </a:rPr>
              <a:t>戦略投資（高効果×高コスト）</a:t>
            </a:r>
          </a:p>
        </p:txBody>
      </p:sp>
      <p:sp>
        <p:nvSpPr>
          <p:cNvPr id="44" name="TextBox 43"/>
          <p:cNvSpPr txBox="1"/>
          <p:nvPr/>
        </p:nvSpPr>
        <p:spPr>
          <a:xfrm>
            <a:off x="7653527" y="3977639"/>
            <a:ext cx="3849624" cy="502920"/>
          </a:xfrm>
          <a:prstGeom prst="rect">
            <a:avLst/>
          </a:prstGeom>
          <a:noFill/>
        </p:spPr>
        <p:txBody>
          <a:bodyPr wrap="square">
            <a:spAutoFit/>
          </a:bodyPr>
          <a:lstStyle/>
          <a:p>
            <a:pPr algn="l"/>
            <a:r>
              <a:rPr sz="750" b="0" i="0">
                <a:solidFill>
                  <a:srgbClr val="444444"/>
                </a:solidFill>
              </a:rPr>
              <a:t>効果は高いが投資が必要な施策。ROIを確認しながら段階的に実行する。</a:t>
            </a:r>
          </a:p>
        </p:txBody>
      </p:sp>
      <p:sp>
        <p:nvSpPr>
          <p:cNvPr id="45" name="Rectangle 44"/>
          <p:cNvSpPr/>
          <p:nvPr/>
        </p:nvSpPr>
        <p:spPr>
          <a:xfrm>
            <a:off x="7543800" y="4572000"/>
            <a:ext cx="4069080"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653527" y="4645152"/>
            <a:ext cx="3849624" cy="182880"/>
          </a:xfrm>
          <a:prstGeom prst="rect">
            <a:avLst/>
          </a:prstGeom>
          <a:noFill/>
        </p:spPr>
        <p:txBody>
          <a:bodyPr wrap="square">
            <a:spAutoFit/>
          </a:bodyPr>
          <a:lstStyle/>
          <a:p>
            <a:pPr algn="l"/>
            <a:r>
              <a:rPr sz="750" b="1" i="0">
                <a:solidFill>
                  <a:srgbClr val="1D51A3"/>
                </a:solidFill>
              </a:rPr>
              <a:t>低優先（低効果×低コスト）</a:t>
            </a:r>
          </a:p>
        </p:txBody>
      </p:sp>
      <p:sp>
        <p:nvSpPr>
          <p:cNvPr id="47" name="TextBox 46"/>
          <p:cNvSpPr txBox="1"/>
          <p:nvPr/>
        </p:nvSpPr>
        <p:spPr>
          <a:xfrm>
            <a:off x="7653527" y="4846320"/>
            <a:ext cx="3849624" cy="502920"/>
          </a:xfrm>
          <a:prstGeom prst="rect">
            <a:avLst/>
          </a:prstGeom>
          <a:noFill/>
        </p:spPr>
        <p:txBody>
          <a:bodyPr wrap="square">
            <a:spAutoFit/>
          </a:bodyPr>
          <a:lstStyle/>
          <a:p>
            <a:pPr algn="l"/>
            <a:r>
              <a:rPr sz="750" b="0" i="0">
                <a:solidFill>
                  <a:srgbClr val="444444"/>
                </a:solidFill>
              </a:rPr>
              <a:t>効果・コストともに低い施策。リソースに余裕がある場合のみ実行する。</a:t>
            </a:r>
          </a:p>
        </p:txBody>
      </p:sp>
      <p:sp>
        <p:nvSpPr>
          <p:cNvPr id="48" name="Rectangle 47"/>
          <p:cNvSpPr/>
          <p:nvPr/>
        </p:nvSpPr>
        <p:spPr>
          <a:xfrm>
            <a:off x="7543800" y="5440680"/>
            <a:ext cx="4069080"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653527" y="5513832"/>
            <a:ext cx="3849624" cy="182880"/>
          </a:xfrm>
          <a:prstGeom prst="rect">
            <a:avLst/>
          </a:prstGeom>
          <a:noFill/>
        </p:spPr>
        <p:txBody>
          <a:bodyPr wrap="square">
            <a:spAutoFit/>
          </a:bodyPr>
          <a:lstStyle/>
          <a:p>
            <a:pPr algn="l"/>
            <a:r>
              <a:rPr sz="750" b="1" i="0">
                <a:solidFill>
                  <a:srgbClr val="1D51A3"/>
                </a:solidFill>
              </a:rPr>
              <a:t>見直し（低効果×高コスト）</a:t>
            </a:r>
          </a:p>
        </p:txBody>
      </p:sp>
      <p:sp>
        <p:nvSpPr>
          <p:cNvPr id="50" name="TextBox 49"/>
          <p:cNvSpPr txBox="1"/>
          <p:nvPr/>
        </p:nvSpPr>
        <p:spPr>
          <a:xfrm>
            <a:off x="7653527" y="5715000"/>
            <a:ext cx="3849624" cy="502920"/>
          </a:xfrm>
          <a:prstGeom prst="rect">
            <a:avLst/>
          </a:prstGeom>
          <a:noFill/>
        </p:spPr>
        <p:txBody>
          <a:bodyPr wrap="square">
            <a:spAutoFit/>
          </a:bodyPr>
          <a:lstStyle/>
          <a:p>
            <a:pPr algn="l"/>
            <a:r>
              <a:rPr sz="750" b="0" i="0">
                <a:solidFill>
                  <a:srgbClr val="444444"/>
                </a:solidFill>
              </a:rPr>
              <a:t>コストに見合う効果が期待できない施策。実行前に効果の再検証が必要。</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ポートフォリオマトリクス：製品ラインを市場成長率と市場シェアで分類し、投資戦略を決定する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portfolio_matrix ／ 用途: 製品・事業のポートフォリオ分析 ／ 件数: 4〜8項目</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製品ラインを市場成長率（縦軸）と市場シェア（横軸）の2軸で分類した結果、製品Aへの集中投資と製品Cの撤退を推奨する。</a:t>
            </a:r>
          </a:p>
        </p:txBody>
      </p:sp>
      <p:sp>
        <p:nvSpPr>
          <p:cNvPr id="10" name="Rectangle 9"/>
          <p:cNvSpPr/>
          <p:nvPr/>
        </p:nvSpPr>
        <p:spPr>
          <a:xfrm>
            <a:off x="548640" y="1828800"/>
            <a:ext cx="3401568" cy="2395728"/>
          </a:xfrm>
          <a:prstGeom prst="rect">
            <a:avLst/>
          </a:prstGeom>
          <a:solidFill>
            <a:srgbClr val="E0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20240"/>
            <a:ext cx="3182112" cy="201168"/>
          </a:xfrm>
          <a:prstGeom prst="rect">
            <a:avLst/>
          </a:prstGeom>
          <a:noFill/>
        </p:spPr>
        <p:txBody>
          <a:bodyPr wrap="square">
            <a:spAutoFit/>
          </a:bodyPr>
          <a:lstStyle/>
          <a:p>
            <a:pPr algn="l"/>
            <a:r>
              <a:rPr sz="750" b="1" i="0">
                <a:solidFill>
                  <a:srgbClr val="1D51A3"/>
                </a:solidFill>
              </a:rPr>
              <a:t>スター（高成長×高シェア）</a:t>
            </a:r>
          </a:p>
        </p:txBody>
      </p:sp>
      <p:sp>
        <p:nvSpPr>
          <p:cNvPr id="12" name="Rectangle 11"/>
          <p:cNvSpPr/>
          <p:nvPr/>
        </p:nvSpPr>
        <p:spPr>
          <a:xfrm>
            <a:off x="658368" y="2176272"/>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3232" y="2212848"/>
            <a:ext cx="3072384" cy="201168"/>
          </a:xfrm>
          <a:prstGeom prst="rect">
            <a:avLst/>
          </a:prstGeom>
          <a:noFill/>
        </p:spPr>
        <p:txBody>
          <a:bodyPr wrap="square">
            <a:spAutoFit/>
          </a:bodyPr>
          <a:lstStyle/>
          <a:p>
            <a:pPr algn="l"/>
            <a:r>
              <a:rPr sz="800" b="1" i="0">
                <a:solidFill>
                  <a:srgbClr val="FFFFFF"/>
                </a:solidFill>
              </a:rPr>
              <a:t>製品A：クラウド型SaaS</a:t>
            </a:r>
          </a:p>
        </p:txBody>
      </p:sp>
      <p:sp>
        <p:nvSpPr>
          <p:cNvPr id="14" name="Rectangle 13"/>
          <p:cNvSpPr/>
          <p:nvPr/>
        </p:nvSpPr>
        <p:spPr>
          <a:xfrm>
            <a:off x="4005072" y="1828800"/>
            <a:ext cx="3401568" cy="239572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0" y="1920240"/>
            <a:ext cx="3182112" cy="201168"/>
          </a:xfrm>
          <a:prstGeom prst="rect">
            <a:avLst/>
          </a:prstGeom>
          <a:noFill/>
        </p:spPr>
        <p:txBody>
          <a:bodyPr wrap="square">
            <a:spAutoFit/>
          </a:bodyPr>
          <a:lstStyle/>
          <a:p>
            <a:pPr algn="l"/>
            <a:r>
              <a:rPr sz="750" b="1" i="0">
                <a:solidFill>
                  <a:srgbClr val="1D51A3"/>
                </a:solidFill>
              </a:rPr>
              <a:t>問題児（高成長×低シェア）</a:t>
            </a:r>
          </a:p>
        </p:txBody>
      </p:sp>
      <p:sp>
        <p:nvSpPr>
          <p:cNvPr id="16" name="Rectangle 15"/>
          <p:cNvSpPr/>
          <p:nvPr/>
        </p:nvSpPr>
        <p:spPr>
          <a:xfrm>
            <a:off x="4114800" y="2176272"/>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69663" y="2212848"/>
            <a:ext cx="3072384" cy="201168"/>
          </a:xfrm>
          <a:prstGeom prst="rect">
            <a:avLst/>
          </a:prstGeom>
          <a:noFill/>
        </p:spPr>
        <p:txBody>
          <a:bodyPr wrap="square">
            <a:spAutoFit/>
          </a:bodyPr>
          <a:lstStyle/>
          <a:p>
            <a:pPr algn="l"/>
            <a:r>
              <a:rPr sz="800" b="1" i="0">
                <a:solidFill>
                  <a:srgbClr val="FFFFFF"/>
                </a:solidFill>
              </a:rPr>
              <a:t>製品B：AI分析ツール</a:t>
            </a:r>
          </a:p>
        </p:txBody>
      </p:sp>
      <p:sp>
        <p:nvSpPr>
          <p:cNvPr id="18" name="Rectangle 17"/>
          <p:cNvSpPr/>
          <p:nvPr/>
        </p:nvSpPr>
        <p:spPr>
          <a:xfrm>
            <a:off x="548640" y="4279392"/>
            <a:ext cx="3401568" cy="239572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8368" y="4370831"/>
            <a:ext cx="3182112" cy="201168"/>
          </a:xfrm>
          <a:prstGeom prst="rect">
            <a:avLst/>
          </a:prstGeom>
          <a:noFill/>
        </p:spPr>
        <p:txBody>
          <a:bodyPr wrap="square">
            <a:spAutoFit/>
          </a:bodyPr>
          <a:lstStyle/>
          <a:p>
            <a:pPr algn="l"/>
            <a:r>
              <a:rPr sz="750" b="1" i="0">
                <a:solidFill>
                  <a:srgbClr val="1D51A3"/>
                </a:solidFill>
              </a:rPr>
              <a:t>金のなる木（低成長×高シェア）</a:t>
            </a:r>
          </a:p>
        </p:txBody>
      </p:sp>
      <p:sp>
        <p:nvSpPr>
          <p:cNvPr id="20" name="Rectangle 19"/>
          <p:cNvSpPr/>
          <p:nvPr/>
        </p:nvSpPr>
        <p:spPr>
          <a:xfrm>
            <a:off x="658368" y="4626864"/>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13232" y="4663440"/>
            <a:ext cx="3072384" cy="201168"/>
          </a:xfrm>
          <a:prstGeom prst="rect">
            <a:avLst/>
          </a:prstGeom>
          <a:noFill/>
        </p:spPr>
        <p:txBody>
          <a:bodyPr wrap="square">
            <a:spAutoFit/>
          </a:bodyPr>
          <a:lstStyle/>
          <a:p>
            <a:pPr algn="l"/>
            <a:r>
              <a:rPr sz="800" b="1" i="0">
                <a:solidFill>
                  <a:srgbClr val="FFFFFF"/>
                </a:solidFill>
              </a:rPr>
              <a:t>製品D：レガシーシステム</a:t>
            </a:r>
          </a:p>
        </p:txBody>
      </p:sp>
      <p:sp>
        <p:nvSpPr>
          <p:cNvPr id="22" name="Rectangle 21"/>
          <p:cNvSpPr/>
          <p:nvPr/>
        </p:nvSpPr>
        <p:spPr>
          <a:xfrm>
            <a:off x="4005072" y="4279392"/>
            <a:ext cx="3401568" cy="239572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0" y="4370831"/>
            <a:ext cx="3182112" cy="201168"/>
          </a:xfrm>
          <a:prstGeom prst="rect">
            <a:avLst/>
          </a:prstGeom>
          <a:noFill/>
        </p:spPr>
        <p:txBody>
          <a:bodyPr wrap="square">
            <a:spAutoFit/>
          </a:bodyPr>
          <a:lstStyle/>
          <a:p>
            <a:pPr algn="l"/>
            <a:r>
              <a:rPr sz="750" b="1" i="0">
                <a:solidFill>
                  <a:srgbClr val="1D51A3"/>
                </a:solidFill>
              </a:rPr>
              <a:t>負け犬（低成長×低シェア）</a:t>
            </a:r>
          </a:p>
        </p:txBody>
      </p:sp>
      <p:sp>
        <p:nvSpPr>
          <p:cNvPr id="24" name="Rectangle 23"/>
          <p:cNvSpPr/>
          <p:nvPr/>
        </p:nvSpPr>
        <p:spPr>
          <a:xfrm>
            <a:off x="4114800" y="4626864"/>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69663" y="4663440"/>
            <a:ext cx="3072384" cy="201168"/>
          </a:xfrm>
          <a:prstGeom prst="rect">
            <a:avLst/>
          </a:prstGeom>
          <a:noFill/>
        </p:spPr>
        <p:txBody>
          <a:bodyPr wrap="square">
            <a:spAutoFit/>
          </a:bodyPr>
          <a:lstStyle/>
          <a:p>
            <a:pPr algn="l"/>
            <a:r>
              <a:rPr sz="800" b="1" i="0">
                <a:solidFill>
                  <a:srgbClr val="FFFFFF"/>
                </a:solidFill>
              </a:rPr>
              <a:t>製品C：旧型ツール</a:t>
            </a:r>
          </a:p>
        </p:txBody>
      </p:sp>
      <p:sp>
        <p:nvSpPr>
          <p:cNvPr id="26" name="TextBox 25"/>
          <p:cNvSpPr txBox="1"/>
          <p:nvPr/>
        </p:nvSpPr>
        <p:spPr>
          <a:xfrm>
            <a:off x="2606039" y="6720840"/>
            <a:ext cx="2743200" cy="228600"/>
          </a:xfrm>
          <a:prstGeom prst="rect">
            <a:avLst/>
          </a:prstGeom>
          <a:noFill/>
        </p:spPr>
        <p:txBody>
          <a:bodyPr wrap="square">
            <a:spAutoFit/>
          </a:bodyPr>
          <a:lstStyle/>
          <a:p>
            <a:pPr algn="ctr"/>
            <a:r>
              <a:rPr sz="800" b="1" i="0">
                <a:solidFill>
                  <a:srgbClr val="688BC2"/>
                </a:solidFill>
              </a:rPr>
              <a:t>← 市場シェア（低→高） →</a:t>
            </a:r>
          </a:p>
        </p:txBody>
      </p:sp>
      <p:sp>
        <p:nvSpPr>
          <p:cNvPr id="27" name="TextBox 26"/>
          <p:cNvSpPr txBox="1"/>
          <p:nvPr/>
        </p:nvSpPr>
        <p:spPr>
          <a:xfrm>
            <a:off x="45719" y="3794760"/>
            <a:ext cx="457200" cy="914400"/>
          </a:xfrm>
          <a:prstGeom prst="rect">
            <a:avLst/>
          </a:prstGeom>
          <a:noFill/>
        </p:spPr>
        <p:txBody>
          <a:bodyPr wrap="square">
            <a:spAutoFit/>
          </a:bodyPr>
          <a:lstStyle/>
          <a:p>
            <a:pPr algn="l"/>
            <a:r>
              <a:rPr sz="800" b="1" i="0">
                <a:solidFill>
                  <a:srgbClr val="688BC2"/>
                </a:solidFill>
              </a:rPr>
              <a:t>↑ 市場成長率（低→高）</a:t>
            </a:r>
          </a:p>
        </p:txBody>
      </p:sp>
      <p:sp>
        <p:nvSpPr>
          <p:cNvPr id="28" name="Rectangle 27"/>
          <p:cNvSpPr/>
          <p:nvPr/>
        </p:nvSpPr>
        <p:spPr>
          <a:xfrm>
            <a:off x="548640" y="4251960"/>
            <a:ext cx="685800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977640" y="1828800"/>
            <a:ext cx="18288" cy="4846320"/>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543800" y="1828800"/>
            <a:ext cx="4069080" cy="914400"/>
          </a:xfrm>
          <a:prstGeom prst="rect">
            <a:avLst/>
          </a:prstGeom>
          <a:solidFill>
            <a:srgbClr val="E8EEF8"/>
          </a:solidFill>
          <a:ln w="6350">
            <a:solidFill>
              <a:srgbClr val="1D5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653527" y="1883664"/>
            <a:ext cx="3849624" cy="164592"/>
          </a:xfrm>
          <a:prstGeom prst="rect">
            <a:avLst/>
          </a:prstGeom>
          <a:noFill/>
        </p:spPr>
        <p:txBody>
          <a:bodyPr wrap="square">
            <a:spAutoFit/>
          </a:bodyPr>
          <a:lstStyle/>
          <a:p>
            <a:pPr algn="l"/>
            <a:r>
              <a:rPr sz="750" b="1" i="0">
                <a:solidFill>
                  <a:srgbClr val="1D51A3"/>
                </a:solidFill>
              </a:rPr>
              <a:t>INSIGHT</a:t>
            </a:r>
          </a:p>
        </p:txBody>
      </p:sp>
      <p:sp>
        <p:nvSpPr>
          <p:cNvPr id="32" name="TextBox 31"/>
          <p:cNvSpPr txBox="1"/>
          <p:nvPr/>
        </p:nvSpPr>
        <p:spPr>
          <a:xfrm>
            <a:off x="7653527" y="2066543"/>
            <a:ext cx="3849624" cy="621792"/>
          </a:xfrm>
          <a:prstGeom prst="rect">
            <a:avLst/>
          </a:prstGeom>
          <a:noFill/>
        </p:spPr>
        <p:txBody>
          <a:bodyPr wrap="square">
            <a:spAutoFit/>
          </a:bodyPr>
          <a:lstStyle/>
          <a:p>
            <a:pPr algn="l"/>
            <a:r>
              <a:rPr sz="750" b="0" i="0">
                <a:solidFill>
                  <a:srgbClr val="0C3570"/>
                </a:solidFill>
              </a:rPr>
              <a:t>スター製品（製品A）への集中投資と、負け犬製品（製品C）からの撤退により、ポートフォリオ全体の収益性と成長性を最大化できる。</a:t>
            </a:r>
          </a:p>
        </p:txBody>
      </p:sp>
      <p:sp>
        <p:nvSpPr>
          <p:cNvPr id="33" name="Rectangle 32"/>
          <p:cNvSpPr/>
          <p:nvPr/>
        </p:nvSpPr>
        <p:spPr>
          <a:xfrm>
            <a:off x="7543800" y="2834640"/>
            <a:ext cx="4069080"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653527" y="2907792"/>
            <a:ext cx="3849624" cy="182880"/>
          </a:xfrm>
          <a:prstGeom prst="rect">
            <a:avLst/>
          </a:prstGeom>
          <a:noFill/>
        </p:spPr>
        <p:txBody>
          <a:bodyPr wrap="square">
            <a:spAutoFit/>
          </a:bodyPr>
          <a:lstStyle/>
          <a:p>
            <a:pPr algn="l"/>
            <a:r>
              <a:rPr sz="750" b="1" i="0">
                <a:solidFill>
                  <a:srgbClr val="1D51A3"/>
                </a:solidFill>
              </a:rPr>
              <a:t>スター（高成長×高シェア）</a:t>
            </a:r>
          </a:p>
        </p:txBody>
      </p:sp>
      <p:sp>
        <p:nvSpPr>
          <p:cNvPr id="35" name="TextBox 34"/>
          <p:cNvSpPr txBox="1"/>
          <p:nvPr/>
        </p:nvSpPr>
        <p:spPr>
          <a:xfrm>
            <a:off x="7653527" y="3108960"/>
            <a:ext cx="3849624" cy="502920"/>
          </a:xfrm>
          <a:prstGeom prst="rect">
            <a:avLst/>
          </a:prstGeom>
          <a:noFill/>
        </p:spPr>
        <p:txBody>
          <a:bodyPr wrap="square">
            <a:spAutoFit/>
          </a:bodyPr>
          <a:lstStyle/>
          <a:p>
            <a:pPr algn="l"/>
            <a:r>
              <a:rPr sz="750" b="0" i="0">
                <a:solidFill>
                  <a:srgbClr val="444444"/>
                </a:solidFill>
              </a:rPr>
              <a:t>積極投資すべき製品。市場リーダーとしての地位を維持・強化するために継続的な投資が必要。</a:t>
            </a:r>
          </a:p>
        </p:txBody>
      </p:sp>
      <p:sp>
        <p:nvSpPr>
          <p:cNvPr id="36" name="Rectangle 35"/>
          <p:cNvSpPr/>
          <p:nvPr/>
        </p:nvSpPr>
        <p:spPr>
          <a:xfrm>
            <a:off x="7543800" y="3703320"/>
            <a:ext cx="4069080"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653527" y="3776472"/>
            <a:ext cx="3849624" cy="182880"/>
          </a:xfrm>
          <a:prstGeom prst="rect">
            <a:avLst/>
          </a:prstGeom>
          <a:noFill/>
        </p:spPr>
        <p:txBody>
          <a:bodyPr wrap="square">
            <a:spAutoFit/>
          </a:bodyPr>
          <a:lstStyle/>
          <a:p>
            <a:pPr algn="l"/>
            <a:r>
              <a:rPr sz="750" b="1" i="0">
                <a:solidFill>
                  <a:srgbClr val="1D51A3"/>
                </a:solidFill>
              </a:rPr>
              <a:t>問題児（高成長×低シェア）</a:t>
            </a:r>
          </a:p>
        </p:txBody>
      </p:sp>
      <p:sp>
        <p:nvSpPr>
          <p:cNvPr id="38" name="TextBox 37"/>
          <p:cNvSpPr txBox="1"/>
          <p:nvPr/>
        </p:nvSpPr>
        <p:spPr>
          <a:xfrm>
            <a:off x="7653527" y="3977639"/>
            <a:ext cx="3849624" cy="502920"/>
          </a:xfrm>
          <a:prstGeom prst="rect">
            <a:avLst/>
          </a:prstGeom>
          <a:noFill/>
        </p:spPr>
        <p:txBody>
          <a:bodyPr wrap="square">
            <a:spAutoFit/>
          </a:bodyPr>
          <a:lstStyle/>
          <a:p>
            <a:pPr algn="l"/>
            <a:r>
              <a:rPr sz="750" b="0" i="0">
                <a:solidFill>
                  <a:srgbClr val="444444"/>
                </a:solidFill>
              </a:rPr>
              <a:t>成長市場だがシェアが低い製品。集中投資でスターに育てるか、撤退かを判断する必要がある。</a:t>
            </a:r>
          </a:p>
        </p:txBody>
      </p:sp>
      <p:sp>
        <p:nvSpPr>
          <p:cNvPr id="39" name="Rectangle 38"/>
          <p:cNvSpPr/>
          <p:nvPr/>
        </p:nvSpPr>
        <p:spPr>
          <a:xfrm>
            <a:off x="7543800" y="4572000"/>
            <a:ext cx="4069080"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653527" y="4645152"/>
            <a:ext cx="3849624" cy="182880"/>
          </a:xfrm>
          <a:prstGeom prst="rect">
            <a:avLst/>
          </a:prstGeom>
          <a:noFill/>
        </p:spPr>
        <p:txBody>
          <a:bodyPr wrap="square">
            <a:spAutoFit/>
          </a:bodyPr>
          <a:lstStyle/>
          <a:p>
            <a:pPr algn="l"/>
            <a:r>
              <a:rPr sz="750" b="1" i="0">
                <a:solidFill>
                  <a:srgbClr val="1D51A3"/>
                </a:solidFill>
              </a:rPr>
              <a:t>金のなる木（低成長×高シェア）</a:t>
            </a:r>
          </a:p>
        </p:txBody>
      </p:sp>
      <p:sp>
        <p:nvSpPr>
          <p:cNvPr id="41" name="TextBox 40"/>
          <p:cNvSpPr txBox="1"/>
          <p:nvPr/>
        </p:nvSpPr>
        <p:spPr>
          <a:xfrm>
            <a:off x="7653527" y="4846320"/>
            <a:ext cx="3849624" cy="502920"/>
          </a:xfrm>
          <a:prstGeom prst="rect">
            <a:avLst/>
          </a:prstGeom>
          <a:noFill/>
        </p:spPr>
        <p:txBody>
          <a:bodyPr wrap="square">
            <a:spAutoFit/>
          </a:bodyPr>
          <a:lstStyle/>
          <a:p>
            <a:pPr algn="l"/>
            <a:r>
              <a:rPr sz="750" b="0" i="0">
                <a:solidFill>
                  <a:srgbClr val="444444"/>
                </a:solidFill>
              </a:rPr>
              <a:t>安定した収益源。大きな投資は不要だが、既存顧客の維持に必要な最低限の投資は継続する。</a:t>
            </a:r>
          </a:p>
        </p:txBody>
      </p:sp>
      <p:sp>
        <p:nvSpPr>
          <p:cNvPr id="42" name="Rectangle 41"/>
          <p:cNvSpPr/>
          <p:nvPr/>
        </p:nvSpPr>
        <p:spPr>
          <a:xfrm>
            <a:off x="7543800" y="5440680"/>
            <a:ext cx="4069080"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653527" y="5513832"/>
            <a:ext cx="3849624" cy="182880"/>
          </a:xfrm>
          <a:prstGeom prst="rect">
            <a:avLst/>
          </a:prstGeom>
          <a:noFill/>
        </p:spPr>
        <p:txBody>
          <a:bodyPr wrap="square">
            <a:spAutoFit/>
          </a:bodyPr>
          <a:lstStyle/>
          <a:p>
            <a:pPr algn="l"/>
            <a:r>
              <a:rPr sz="750" b="1" i="0">
                <a:solidFill>
                  <a:srgbClr val="1D51A3"/>
                </a:solidFill>
              </a:rPr>
              <a:t>負け犬（低成長×低シェア）</a:t>
            </a:r>
          </a:p>
        </p:txBody>
      </p:sp>
      <p:sp>
        <p:nvSpPr>
          <p:cNvPr id="44" name="TextBox 43"/>
          <p:cNvSpPr txBox="1"/>
          <p:nvPr/>
        </p:nvSpPr>
        <p:spPr>
          <a:xfrm>
            <a:off x="7653527" y="5715000"/>
            <a:ext cx="3849624" cy="502920"/>
          </a:xfrm>
          <a:prstGeom prst="rect">
            <a:avLst/>
          </a:prstGeom>
          <a:noFill/>
        </p:spPr>
        <p:txBody>
          <a:bodyPr wrap="square">
            <a:spAutoFit/>
          </a:bodyPr>
          <a:lstStyle/>
          <a:p>
            <a:pPr algn="l"/>
            <a:r>
              <a:rPr sz="750" b="0" i="0">
                <a:solidFill>
                  <a:srgbClr val="444444"/>
                </a:solidFill>
              </a:rPr>
              <a:t>成長性・シェアともに低い製品。段階的な撤退を検討し、リソースを成長製品に再配分する。</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セグメンテーションマトリクス：顧客を企業規模と業種で分類し、最優先ターゲットを特定する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segmentation_matrix ／ 用途: 顧客・市場のセグメント分類 ／ 件数: 4〜9セグメント</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顧客を企業規模（縦軸）と業種（横軸）の2軸で分類した結果、中堅IT企業と大手製造業が最優先ターゲットセグメントであることが判明した。</a:t>
            </a:r>
          </a:p>
        </p:txBody>
      </p:sp>
      <p:sp>
        <p:nvSpPr>
          <p:cNvPr id="10" name="Rectangle 9"/>
          <p:cNvSpPr/>
          <p:nvPr/>
        </p:nvSpPr>
        <p:spPr>
          <a:xfrm>
            <a:off x="548640" y="1828800"/>
            <a:ext cx="3401568" cy="2395728"/>
          </a:xfrm>
          <a:prstGeom prst="rect">
            <a:avLst/>
          </a:prstGeom>
          <a:solidFill>
            <a:srgbClr val="E0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920240"/>
            <a:ext cx="3182112" cy="201168"/>
          </a:xfrm>
          <a:prstGeom prst="rect">
            <a:avLst/>
          </a:prstGeom>
          <a:noFill/>
        </p:spPr>
        <p:txBody>
          <a:bodyPr wrap="square">
            <a:spAutoFit/>
          </a:bodyPr>
          <a:lstStyle/>
          <a:p>
            <a:pPr algn="l"/>
            <a:r>
              <a:rPr sz="750" b="1" i="0">
                <a:solidFill>
                  <a:srgbClr val="1D51A3"/>
                </a:solidFill>
              </a:rPr>
              <a:t>最優先：大手製造業</a:t>
            </a:r>
          </a:p>
        </p:txBody>
      </p:sp>
      <p:sp>
        <p:nvSpPr>
          <p:cNvPr id="12" name="Rectangle 11"/>
          <p:cNvSpPr/>
          <p:nvPr/>
        </p:nvSpPr>
        <p:spPr>
          <a:xfrm>
            <a:off x="658368" y="2176272"/>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3232" y="2212848"/>
            <a:ext cx="3072384" cy="201168"/>
          </a:xfrm>
          <a:prstGeom prst="rect">
            <a:avLst/>
          </a:prstGeom>
          <a:noFill/>
        </p:spPr>
        <p:txBody>
          <a:bodyPr wrap="square">
            <a:spAutoFit/>
          </a:bodyPr>
          <a:lstStyle/>
          <a:p>
            <a:pPr algn="l"/>
            <a:r>
              <a:rPr sz="800" b="1" i="0">
                <a:solidFill>
                  <a:srgbClr val="FFFFFF"/>
                </a:solidFill>
              </a:rPr>
              <a:t>継続率92%</a:t>
            </a:r>
          </a:p>
        </p:txBody>
      </p:sp>
      <p:sp>
        <p:nvSpPr>
          <p:cNvPr id="14" name="Rectangle 13"/>
          <p:cNvSpPr/>
          <p:nvPr/>
        </p:nvSpPr>
        <p:spPr>
          <a:xfrm>
            <a:off x="658368" y="2523744"/>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3232" y="2560320"/>
            <a:ext cx="3072384" cy="201168"/>
          </a:xfrm>
          <a:prstGeom prst="rect">
            <a:avLst/>
          </a:prstGeom>
          <a:noFill/>
        </p:spPr>
        <p:txBody>
          <a:bodyPr wrap="square">
            <a:spAutoFit/>
          </a:bodyPr>
          <a:lstStyle/>
          <a:p>
            <a:pPr algn="l"/>
            <a:r>
              <a:rPr sz="800" b="1" i="0">
                <a:solidFill>
                  <a:srgbClr val="FFFFFF"/>
                </a:solidFill>
              </a:rPr>
              <a:t>LTV高</a:t>
            </a:r>
          </a:p>
        </p:txBody>
      </p:sp>
      <p:sp>
        <p:nvSpPr>
          <p:cNvPr id="16" name="Rectangle 15"/>
          <p:cNvSpPr/>
          <p:nvPr/>
        </p:nvSpPr>
        <p:spPr>
          <a:xfrm>
            <a:off x="4005072" y="1828800"/>
            <a:ext cx="3401568" cy="239572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800" y="1920240"/>
            <a:ext cx="3182112" cy="201168"/>
          </a:xfrm>
          <a:prstGeom prst="rect">
            <a:avLst/>
          </a:prstGeom>
          <a:noFill/>
        </p:spPr>
        <p:txBody>
          <a:bodyPr wrap="square">
            <a:spAutoFit/>
          </a:bodyPr>
          <a:lstStyle/>
          <a:p>
            <a:pPr algn="l"/>
            <a:r>
              <a:rPr sz="750" b="1" i="0">
                <a:solidFill>
                  <a:srgbClr val="1D51A3"/>
                </a:solidFill>
              </a:rPr>
              <a:t>優先：中堅IT企業</a:t>
            </a:r>
          </a:p>
        </p:txBody>
      </p:sp>
      <p:sp>
        <p:nvSpPr>
          <p:cNvPr id="18" name="Rectangle 17"/>
          <p:cNvSpPr/>
          <p:nvPr/>
        </p:nvSpPr>
        <p:spPr>
          <a:xfrm>
            <a:off x="4114800" y="2176272"/>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69663" y="2212848"/>
            <a:ext cx="3072384" cy="201168"/>
          </a:xfrm>
          <a:prstGeom prst="rect">
            <a:avLst/>
          </a:prstGeom>
          <a:noFill/>
        </p:spPr>
        <p:txBody>
          <a:bodyPr wrap="square">
            <a:spAutoFit/>
          </a:bodyPr>
          <a:lstStyle/>
          <a:p>
            <a:pPr algn="l"/>
            <a:r>
              <a:rPr sz="800" b="1" i="0">
                <a:solidFill>
                  <a:srgbClr val="FFFFFF"/>
                </a:solidFill>
              </a:rPr>
              <a:t>成長率高</a:t>
            </a:r>
          </a:p>
        </p:txBody>
      </p:sp>
      <p:sp>
        <p:nvSpPr>
          <p:cNvPr id="20" name="Rectangle 19"/>
          <p:cNvSpPr/>
          <p:nvPr/>
        </p:nvSpPr>
        <p:spPr>
          <a:xfrm>
            <a:off x="4114800" y="2523744"/>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69663" y="2560320"/>
            <a:ext cx="3072384" cy="201168"/>
          </a:xfrm>
          <a:prstGeom prst="rect">
            <a:avLst/>
          </a:prstGeom>
          <a:noFill/>
        </p:spPr>
        <p:txBody>
          <a:bodyPr wrap="square">
            <a:spAutoFit/>
          </a:bodyPr>
          <a:lstStyle/>
          <a:p>
            <a:pPr algn="l"/>
            <a:r>
              <a:rPr sz="800" b="1" i="0">
                <a:solidFill>
                  <a:srgbClr val="FFFFFF"/>
                </a:solidFill>
              </a:rPr>
              <a:t>紹介多</a:t>
            </a:r>
          </a:p>
        </p:txBody>
      </p:sp>
      <p:sp>
        <p:nvSpPr>
          <p:cNvPr id="22" name="Rectangle 21"/>
          <p:cNvSpPr/>
          <p:nvPr/>
        </p:nvSpPr>
        <p:spPr>
          <a:xfrm>
            <a:off x="548640" y="4279392"/>
            <a:ext cx="3401568" cy="239572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 y="4370831"/>
            <a:ext cx="3182112" cy="201168"/>
          </a:xfrm>
          <a:prstGeom prst="rect">
            <a:avLst/>
          </a:prstGeom>
          <a:noFill/>
        </p:spPr>
        <p:txBody>
          <a:bodyPr wrap="square">
            <a:spAutoFit/>
          </a:bodyPr>
          <a:lstStyle/>
          <a:p>
            <a:pPr algn="l"/>
            <a:r>
              <a:rPr sz="750" b="1" i="0">
                <a:solidFill>
                  <a:srgbClr val="1D51A3"/>
                </a:solidFill>
              </a:rPr>
              <a:t>育成：中小IT企業</a:t>
            </a:r>
          </a:p>
        </p:txBody>
      </p:sp>
      <p:sp>
        <p:nvSpPr>
          <p:cNvPr id="24" name="Rectangle 23"/>
          <p:cNvSpPr/>
          <p:nvPr/>
        </p:nvSpPr>
        <p:spPr>
          <a:xfrm>
            <a:off x="658368" y="4626864"/>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3232" y="4663440"/>
            <a:ext cx="3072384" cy="201168"/>
          </a:xfrm>
          <a:prstGeom prst="rect">
            <a:avLst/>
          </a:prstGeom>
          <a:noFill/>
        </p:spPr>
        <p:txBody>
          <a:bodyPr wrap="square">
            <a:spAutoFit/>
          </a:bodyPr>
          <a:lstStyle/>
          <a:p>
            <a:pPr algn="l"/>
            <a:r>
              <a:rPr sz="800" b="1" i="0">
                <a:solidFill>
                  <a:srgbClr val="FFFFFF"/>
                </a:solidFill>
              </a:rPr>
              <a:t>件数多</a:t>
            </a:r>
          </a:p>
        </p:txBody>
      </p:sp>
      <p:sp>
        <p:nvSpPr>
          <p:cNvPr id="26" name="Rectangle 25"/>
          <p:cNvSpPr/>
          <p:nvPr/>
        </p:nvSpPr>
        <p:spPr>
          <a:xfrm>
            <a:off x="658368" y="4974336"/>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3232" y="5010912"/>
            <a:ext cx="3072384" cy="201168"/>
          </a:xfrm>
          <a:prstGeom prst="rect">
            <a:avLst/>
          </a:prstGeom>
          <a:noFill/>
        </p:spPr>
        <p:txBody>
          <a:bodyPr wrap="square">
            <a:spAutoFit/>
          </a:bodyPr>
          <a:lstStyle/>
          <a:p>
            <a:pPr algn="l"/>
            <a:r>
              <a:rPr sz="800" b="1" i="0">
                <a:solidFill>
                  <a:srgbClr val="FFFFFF"/>
                </a:solidFill>
              </a:rPr>
              <a:t>単価低</a:t>
            </a:r>
          </a:p>
        </p:txBody>
      </p:sp>
      <p:sp>
        <p:nvSpPr>
          <p:cNvPr id="28" name="Rectangle 27"/>
          <p:cNvSpPr/>
          <p:nvPr/>
        </p:nvSpPr>
        <p:spPr>
          <a:xfrm>
            <a:off x="4005072" y="4279392"/>
            <a:ext cx="3401568" cy="239572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114800" y="4370831"/>
            <a:ext cx="3182112" cy="201168"/>
          </a:xfrm>
          <a:prstGeom prst="rect">
            <a:avLst/>
          </a:prstGeom>
          <a:noFill/>
        </p:spPr>
        <p:txBody>
          <a:bodyPr wrap="square">
            <a:spAutoFit/>
          </a:bodyPr>
          <a:lstStyle/>
          <a:p>
            <a:pPr algn="l"/>
            <a:r>
              <a:rPr sz="750" b="1" i="0">
                <a:solidFill>
                  <a:srgbClr val="1D51A3"/>
                </a:solidFill>
              </a:rPr>
              <a:t>検討：大手金融</a:t>
            </a:r>
          </a:p>
        </p:txBody>
      </p:sp>
      <p:sp>
        <p:nvSpPr>
          <p:cNvPr id="30" name="Rectangle 29"/>
          <p:cNvSpPr/>
          <p:nvPr/>
        </p:nvSpPr>
        <p:spPr>
          <a:xfrm>
            <a:off x="4114800" y="4626864"/>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69663" y="4663440"/>
            <a:ext cx="3072384" cy="201168"/>
          </a:xfrm>
          <a:prstGeom prst="rect">
            <a:avLst/>
          </a:prstGeom>
          <a:noFill/>
        </p:spPr>
        <p:txBody>
          <a:bodyPr wrap="square">
            <a:spAutoFit/>
          </a:bodyPr>
          <a:lstStyle/>
          <a:p>
            <a:pPr algn="l"/>
            <a:r>
              <a:rPr sz="800" b="1" i="0">
                <a:solidFill>
                  <a:srgbClr val="FFFFFF"/>
                </a:solidFill>
              </a:rPr>
              <a:t>規制対応必要</a:t>
            </a:r>
          </a:p>
        </p:txBody>
      </p:sp>
      <p:sp>
        <p:nvSpPr>
          <p:cNvPr id="32" name="Rectangle 31"/>
          <p:cNvSpPr/>
          <p:nvPr/>
        </p:nvSpPr>
        <p:spPr>
          <a:xfrm>
            <a:off x="4114800" y="4974336"/>
            <a:ext cx="3182112" cy="274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69663" y="5010912"/>
            <a:ext cx="3072384" cy="201168"/>
          </a:xfrm>
          <a:prstGeom prst="rect">
            <a:avLst/>
          </a:prstGeom>
          <a:noFill/>
        </p:spPr>
        <p:txBody>
          <a:bodyPr wrap="square">
            <a:spAutoFit/>
          </a:bodyPr>
          <a:lstStyle/>
          <a:p>
            <a:pPr algn="l"/>
            <a:r>
              <a:rPr sz="800" b="1" i="0">
                <a:solidFill>
                  <a:srgbClr val="FFFFFF"/>
                </a:solidFill>
              </a:rPr>
              <a:t>長期化</a:t>
            </a:r>
          </a:p>
        </p:txBody>
      </p:sp>
      <p:sp>
        <p:nvSpPr>
          <p:cNvPr id="34" name="TextBox 33"/>
          <p:cNvSpPr txBox="1"/>
          <p:nvPr/>
        </p:nvSpPr>
        <p:spPr>
          <a:xfrm>
            <a:off x="2606039" y="6720840"/>
            <a:ext cx="2743200" cy="228600"/>
          </a:xfrm>
          <a:prstGeom prst="rect">
            <a:avLst/>
          </a:prstGeom>
          <a:noFill/>
        </p:spPr>
        <p:txBody>
          <a:bodyPr wrap="square">
            <a:spAutoFit/>
          </a:bodyPr>
          <a:lstStyle/>
          <a:p>
            <a:pPr algn="ctr"/>
            <a:r>
              <a:rPr sz="800" b="1" i="0">
                <a:solidFill>
                  <a:srgbClr val="688BC2"/>
                </a:solidFill>
              </a:rPr>
              <a:t>← 業種（IT→製造→金融） →</a:t>
            </a:r>
          </a:p>
        </p:txBody>
      </p:sp>
      <p:sp>
        <p:nvSpPr>
          <p:cNvPr id="35" name="TextBox 34"/>
          <p:cNvSpPr txBox="1"/>
          <p:nvPr/>
        </p:nvSpPr>
        <p:spPr>
          <a:xfrm>
            <a:off x="45719" y="3794760"/>
            <a:ext cx="457200" cy="914400"/>
          </a:xfrm>
          <a:prstGeom prst="rect">
            <a:avLst/>
          </a:prstGeom>
          <a:noFill/>
        </p:spPr>
        <p:txBody>
          <a:bodyPr wrap="square">
            <a:spAutoFit/>
          </a:bodyPr>
          <a:lstStyle/>
          <a:p>
            <a:pPr algn="l"/>
            <a:r>
              <a:rPr sz="800" b="1" i="0">
                <a:solidFill>
                  <a:srgbClr val="688BC2"/>
                </a:solidFill>
              </a:rPr>
              <a:t>↑ 企業規模（中小→中堅→大手）</a:t>
            </a:r>
          </a:p>
        </p:txBody>
      </p:sp>
      <p:sp>
        <p:nvSpPr>
          <p:cNvPr id="36" name="Rectangle 35"/>
          <p:cNvSpPr/>
          <p:nvPr/>
        </p:nvSpPr>
        <p:spPr>
          <a:xfrm>
            <a:off x="548640" y="4251960"/>
            <a:ext cx="685800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3977640" y="1828800"/>
            <a:ext cx="18288" cy="4846320"/>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543800" y="1828800"/>
            <a:ext cx="4069080" cy="914400"/>
          </a:xfrm>
          <a:prstGeom prst="rect">
            <a:avLst/>
          </a:prstGeom>
          <a:solidFill>
            <a:srgbClr val="E8EEF8"/>
          </a:solidFill>
          <a:ln w="6350">
            <a:solidFill>
              <a:srgbClr val="1D5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53527" y="1883664"/>
            <a:ext cx="3849624" cy="164592"/>
          </a:xfrm>
          <a:prstGeom prst="rect">
            <a:avLst/>
          </a:prstGeom>
          <a:noFill/>
        </p:spPr>
        <p:txBody>
          <a:bodyPr wrap="square">
            <a:spAutoFit/>
          </a:bodyPr>
          <a:lstStyle/>
          <a:p>
            <a:pPr algn="l"/>
            <a:r>
              <a:rPr sz="750" b="1" i="0">
                <a:solidFill>
                  <a:srgbClr val="1D51A3"/>
                </a:solidFill>
              </a:rPr>
              <a:t>INSIGHT</a:t>
            </a:r>
          </a:p>
        </p:txBody>
      </p:sp>
      <p:sp>
        <p:nvSpPr>
          <p:cNvPr id="40" name="TextBox 39"/>
          <p:cNvSpPr txBox="1"/>
          <p:nvPr/>
        </p:nvSpPr>
        <p:spPr>
          <a:xfrm>
            <a:off x="7653527" y="2066543"/>
            <a:ext cx="3849624" cy="621792"/>
          </a:xfrm>
          <a:prstGeom prst="rect">
            <a:avLst/>
          </a:prstGeom>
          <a:noFill/>
        </p:spPr>
        <p:txBody>
          <a:bodyPr wrap="square">
            <a:spAutoFit/>
          </a:bodyPr>
          <a:lstStyle/>
          <a:p>
            <a:pPr algn="l"/>
            <a:r>
              <a:rPr sz="750" b="0" i="0">
                <a:solidFill>
                  <a:srgbClr val="0C3570"/>
                </a:solidFill>
              </a:rPr>
              <a:t>最優先セグメント（大手製造業・中堅IT企業）への集中投資により、限られたリソースで最大の収益成長を実現できる。</a:t>
            </a:r>
          </a:p>
        </p:txBody>
      </p:sp>
      <p:sp>
        <p:nvSpPr>
          <p:cNvPr id="41" name="Rectangle 40"/>
          <p:cNvSpPr/>
          <p:nvPr/>
        </p:nvSpPr>
        <p:spPr>
          <a:xfrm>
            <a:off x="7543800" y="2834640"/>
            <a:ext cx="4069080"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653527" y="2907792"/>
            <a:ext cx="3849624" cy="182880"/>
          </a:xfrm>
          <a:prstGeom prst="rect">
            <a:avLst/>
          </a:prstGeom>
          <a:noFill/>
        </p:spPr>
        <p:txBody>
          <a:bodyPr wrap="square">
            <a:spAutoFit/>
          </a:bodyPr>
          <a:lstStyle/>
          <a:p>
            <a:pPr algn="l"/>
            <a:r>
              <a:rPr sz="750" b="1" i="0">
                <a:solidFill>
                  <a:srgbClr val="1D51A3"/>
                </a:solidFill>
              </a:rPr>
              <a:t>最優先：大手製造業</a:t>
            </a:r>
          </a:p>
        </p:txBody>
      </p:sp>
      <p:sp>
        <p:nvSpPr>
          <p:cNvPr id="43" name="TextBox 42"/>
          <p:cNvSpPr txBox="1"/>
          <p:nvPr/>
        </p:nvSpPr>
        <p:spPr>
          <a:xfrm>
            <a:off x="7653527" y="3108960"/>
            <a:ext cx="3849624" cy="502920"/>
          </a:xfrm>
          <a:prstGeom prst="rect">
            <a:avLst/>
          </a:prstGeom>
          <a:noFill/>
        </p:spPr>
        <p:txBody>
          <a:bodyPr wrap="square">
            <a:spAutoFit/>
          </a:bodyPr>
          <a:lstStyle/>
          <a:p>
            <a:pPr algn="l"/>
            <a:r>
              <a:rPr sz="750" b="0" i="0">
                <a:solidFill>
                  <a:srgbClr val="444444"/>
                </a:solidFill>
              </a:rPr>
              <a:t>最も収益性が高いセグメント。専任担当者を配置し、深耕営業と事例創出に注力する。</a:t>
            </a:r>
          </a:p>
        </p:txBody>
      </p:sp>
      <p:sp>
        <p:nvSpPr>
          <p:cNvPr id="44" name="Rectangle 43"/>
          <p:cNvSpPr/>
          <p:nvPr/>
        </p:nvSpPr>
        <p:spPr>
          <a:xfrm>
            <a:off x="7543800" y="3703320"/>
            <a:ext cx="4069080"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653527" y="3776472"/>
            <a:ext cx="3849624" cy="182880"/>
          </a:xfrm>
          <a:prstGeom prst="rect">
            <a:avLst/>
          </a:prstGeom>
          <a:noFill/>
        </p:spPr>
        <p:txBody>
          <a:bodyPr wrap="square">
            <a:spAutoFit/>
          </a:bodyPr>
          <a:lstStyle/>
          <a:p>
            <a:pPr algn="l"/>
            <a:r>
              <a:rPr sz="750" b="1" i="0">
                <a:solidFill>
                  <a:srgbClr val="1D51A3"/>
                </a:solidFill>
              </a:rPr>
              <a:t>優先：中堅IT企業</a:t>
            </a:r>
          </a:p>
        </p:txBody>
      </p:sp>
      <p:sp>
        <p:nvSpPr>
          <p:cNvPr id="46" name="TextBox 45"/>
          <p:cNvSpPr txBox="1"/>
          <p:nvPr/>
        </p:nvSpPr>
        <p:spPr>
          <a:xfrm>
            <a:off x="7653527" y="3977639"/>
            <a:ext cx="3849624" cy="502920"/>
          </a:xfrm>
          <a:prstGeom prst="rect">
            <a:avLst/>
          </a:prstGeom>
          <a:noFill/>
        </p:spPr>
        <p:txBody>
          <a:bodyPr wrap="square">
            <a:spAutoFit/>
          </a:bodyPr>
          <a:lstStyle/>
          <a:p>
            <a:pPr algn="l"/>
            <a:r>
              <a:rPr sz="750" b="0" i="0">
                <a:solidFill>
                  <a:srgbClr val="444444"/>
                </a:solidFill>
              </a:rPr>
              <a:t>成長性が高く、口コミ効果も大きいセグメント。オンボーディング品質を高め、推奨者を増やす。</a:t>
            </a:r>
          </a:p>
        </p:txBody>
      </p:sp>
      <p:sp>
        <p:nvSpPr>
          <p:cNvPr id="47" name="Rectangle 46"/>
          <p:cNvSpPr/>
          <p:nvPr/>
        </p:nvSpPr>
        <p:spPr>
          <a:xfrm>
            <a:off x="7543800" y="4572000"/>
            <a:ext cx="4069080"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653527" y="4645152"/>
            <a:ext cx="3849624" cy="182880"/>
          </a:xfrm>
          <a:prstGeom prst="rect">
            <a:avLst/>
          </a:prstGeom>
          <a:noFill/>
        </p:spPr>
        <p:txBody>
          <a:bodyPr wrap="square">
            <a:spAutoFit/>
          </a:bodyPr>
          <a:lstStyle/>
          <a:p>
            <a:pPr algn="l"/>
            <a:r>
              <a:rPr sz="750" b="1" i="0">
                <a:solidFill>
                  <a:srgbClr val="1D51A3"/>
                </a:solidFill>
              </a:rPr>
              <a:t>育成：中小IT企業</a:t>
            </a:r>
          </a:p>
        </p:txBody>
      </p:sp>
      <p:sp>
        <p:nvSpPr>
          <p:cNvPr id="49" name="TextBox 48"/>
          <p:cNvSpPr txBox="1"/>
          <p:nvPr/>
        </p:nvSpPr>
        <p:spPr>
          <a:xfrm>
            <a:off x="7653527" y="4846320"/>
            <a:ext cx="3849624" cy="502920"/>
          </a:xfrm>
          <a:prstGeom prst="rect">
            <a:avLst/>
          </a:prstGeom>
          <a:noFill/>
        </p:spPr>
        <p:txBody>
          <a:bodyPr wrap="square">
            <a:spAutoFit/>
          </a:bodyPr>
          <a:lstStyle/>
          <a:p>
            <a:pPr algn="l"/>
            <a:r>
              <a:rPr sz="750" b="0" i="0">
                <a:solidFill>
                  <a:srgbClr val="444444"/>
                </a:solidFill>
              </a:rPr>
              <a:t>件数は多いが単価が低いセグメント。自動化・セルフサービス化により効率的に対応する。</a:t>
            </a:r>
          </a:p>
        </p:txBody>
      </p:sp>
      <p:sp>
        <p:nvSpPr>
          <p:cNvPr id="50" name="Rectangle 49"/>
          <p:cNvSpPr/>
          <p:nvPr/>
        </p:nvSpPr>
        <p:spPr>
          <a:xfrm>
            <a:off x="7543800" y="5440680"/>
            <a:ext cx="4069080" cy="54864"/>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653527" y="5513832"/>
            <a:ext cx="3849624" cy="182880"/>
          </a:xfrm>
          <a:prstGeom prst="rect">
            <a:avLst/>
          </a:prstGeom>
          <a:noFill/>
        </p:spPr>
        <p:txBody>
          <a:bodyPr wrap="square">
            <a:spAutoFit/>
          </a:bodyPr>
          <a:lstStyle/>
          <a:p>
            <a:pPr algn="l"/>
            <a:r>
              <a:rPr sz="750" b="1" i="0">
                <a:solidFill>
                  <a:srgbClr val="1D51A3"/>
                </a:solidFill>
              </a:rPr>
              <a:t>検討：大手金融</a:t>
            </a:r>
          </a:p>
        </p:txBody>
      </p:sp>
      <p:sp>
        <p:nvSpPr>
          <p:cNvPr id="52" name="TextBox 51"/>
          <p:cNvSpPr txBox="1"/>
          <p:nvPr/>
        </p:nvSpPr>
        <p:spPr>
          <a:xfrm>
            <a:off x="7653527" y="5715000"/>
            <a:ext cx="3849624" cy="502920"/>
          </a:xfrm>
          <a:prstGeom prst="rect">
            <a:avLst/>
          </a:prstGeom>
          <a:noFill/>
        </p:spPr>
        <p:txBody>
          <a:bodyPr wrap="square">
            <a:spAutoFit/>
          </a:bodyPr>
          <a:lstStyle/>
          <a:p>
            <a:pPr algn="l"/>
            <a:r>
              <a:rPr sz="750" b="0" i="0">
                <a:solidFill>
                  <a:srgbClr val="444444"/>
                </a:solidFill>
              </a:rPr>
              <a:t>潜在的な市場規模は大きいが、規制対応コストが高い。専門チームを組成してから参入を検討する。</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SWOT分析：強み・弱み・機会・脅威を整理し、戦略の方向性を導く</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swot ／ 用途: 内外環境の4象限分析 ／ 件数: 4件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SWOT分析の結果、強みと機会を活かしたSO戦略（市場拡大×技術優位）が最も有効な戦略方向性であることが判明した。</a:t>
            </a:r>
          </a:p>
        </p:txBody>
      </p:sp>
      <p:sp>
        <p:nvSpPr>
          <p:cNvPr id="10" name="Rectangle 9"/>
          <p:cNvSpPr/>
          <p:nvPr/>
        </p:nvSpPr>
        <p:spPr>
          <a:xfrm>
            <a:off x="548640" y="1828800"/>
            <a:ext cx="5486400" cy="237744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828800"/>
            <a:ext cx="5486400" cy="36576"/>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920240"/>
            <a:ext cx="5266944" cy="237744"/>
          </a:xfrm>
          <a:prstGeom prst="rect">
            <a:avLst/>
          </a:prstGeom>
          <a:noFill/>
        </p:spPr>
        <p:txBody>
          <a:bodyPr wrap="square">
            <a:spAutoFit/>
          </a:bodyPr>
          <a:lstStyle/>
          <a:p>
            <a:pPr algn="l"/>
            <a:r>
              <a:rPr sz="1000" b="1" i="0">
                <a:solidFill>
                  <a:srgbClr val="0C3570"/>
                </a:solidFill>
              </a:rPr>
              <a:t>S：強み（Strengths）</a:t>
            </a:r>
          </a:p>
        </p:txBody>
      </p:sp>
      <p:sp>
        <p:nvSpPr>
          <p:cNvPr id="13" name="TextBox 12"/>
          <p:cNvSpPr txBox="1"/>
          <p:nvPr/>
        </p:nvSpPr>
        <p:spPr>
          <a:xfrm>
            <a:off x="658368" y="2194560"/>
            <a:ext cx="5266944" cy="347472"/>
          </a:xfrm>
          <a:prstGeom prst="rect">
            <a:avLst/>
          </a:prstGeom>
          <a:noFill/>
        </p:spPr>
        <p:txBody>
          <a:bodyPr wrap="square">
            <a:spAutoFit/>
          </a:bodyPr>
          <a:lstStyle/>
          <a:p>
            <a:pPr algn="l"/>
            <a:r>
              <a:rPr sz="750" b="0" i="0">
                <a:solidFill>
                  <a:srgbClr val="444444"/>
                </a:solidFill>
              </a:rPr>
              <a:t>競合が模倣困難なリソースや、高い市場シェアを持つ要因を記載する。</a:t>
            </a:r>
          </a:p>
        </p:txBody>
      </p:sp>
      <p:sp>
        <p:nvSpPr>
          <p:cNvPr id="14" name="TextBox 13"/>
          <p:cNvSpPr txBox="1"/>
          <p:nvPr/>
        </p:nvSpPr>
        <p:spPr>
          <a:xfrm>
            <a:off x="676656" y="2578608"/>
            <a:ext cx="5230368" cy="502920"/>
          </a:xfrm>
          <a:prstGeom prst="rect">
            <a:avLst/>
          </a:prstGeom>
          <a:noFill/>
        </p:spPr>
        <p:txBody>
          <a:bodyPr wrap="square">
            <a:spAutoFit/>
          </a:bodyPr>
          <a:lstStyle/>
          <a:p>
            <a:pPr algn="l"/>
            <a:r>
              <a:rPr sz="700" b="0" i="0">
                <a:solidFill>
                  <a:srgbClr val="444444"/>
                </a:solidFill>
              </a:rPr>
              <a:t>▶ 技術優位：独自のAI技術により、競合他社が3年以内に追随できない機能差別化を実現している。</a:t>
            </a:r>
          </a:p>
        </p:txBody>
      </p:sp>
      <p:sp>
        <p:nvSpPr>
          <p:cNvPr id="15" name="TextBox 14"/>
          <p:cNvSpPr txBox="1"/>
          <p:nvPr/>
        </p:nvSpPr>
        <p:spPr>
          <a:xfrm>
            <a:off x="676656" y="3108960"/>
            <a:ext cx="5230368" cy="502920"/>
          </a:xfrm>
          <a:prstGeom prst="rect">
            <a:avLst/>
          </a:prstGeom>
          <a:noFill/>
        </p:spPr>
        <p:txBody>
          <a:bodyPr wrap="square">
            <a:spAutoFit/>
          </a:bodyPr>
          <a:lstStyle/>
          <a:p>
            <a:pPr algn="l"/>
            <a:r>
              <a:rPr sz="700" b="0" i="0">
                <a:solidFill>
                  <a:srgbClr val="444444"/>
                </a:solidFill>
              </a:rPr>
              <a:t>▶ 顧客基盤：業界トップ企業200社との取引実績が信頼性の証拠となり、新規顧客獲得のハードルを下げている。</a:t>
            </a:r>
          </a:p>
        </p:txBody>
      </p:sp>
      <p:sp>
        <p:nvSpPr>
          <p:cNvPr id="16" name="Rectangle 15"/>
          <p:cNvSpPr/>
          <p:nvPr/>
        </p:nvSpPr>
        <p:spPr>
          <a:xfrm>
            <a:off x="6126479" y="1828800"/>
            <a:ext cx="5486400" cy="237744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26479" y="1828800"/>
            <a:ext cx="5486400" cy="36576"/>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6207" y="1920240"/>
            <a:ext cx="5266944" cy="237744"/>
          </a:xfrm>
          <a:prstGeom prst="rect">
            <a:avLst/>
          </a:prstGeom>
          <a:noFill/>
        </p:spPr>
        <p:txBody>
          <a:bodyPr wrap="square">
            <a:spAutoFit/>
          </a:bodyPr>
          <a:lstStyle/>
          <a:p>
            <a:pPr algn="l"/>
            <a:r>
              <a:rPr sz="1000" b="1" i="0">
                <a:solidFill>
                  <a:srgbClr val="0C3570"/>
                </a:solidFill>
              </a:rPr>
              <a:t>W：弱み（Weaknesses）</a:t>
            </a:r>
          </a:p>
        </p:txBody>
      </p:sp>
      <p:sp>
        <p:nvSpPr>
          <p:cNvPr id="19" name="TextBox 18"/>
          <p:cNvSpPr txBox="1"/>
          <p:nvPr/>
        </p:nvSpPr>
        <p:spPr>
          <a:xfrm>
            <a:off x="6236207" y="2194560"/>
            <a:ext cx="5266944" cy="347472"/>
          </a:xfrm>
          <a:prstGeom prst="rect">
            <a:avLst/>
          </a:prstGeom>
          <a:noFill/>
        </p:spPr>
        <p:txBody>
          <a:bodyPr wrap="square">
            <a:spAutoFit/>
          </a:bodyPr>
          <a:lstStyle/>
          <a:p>
            <a:pPr algn="l"/>
            <a:r>
              <a:rPr sz="750" b="0" i="0">
                <a:solidFill>
                  <a:srgbClr val="444444"/>
                </a:solidFill>
              </a:rPr>
              <a:t>コスト構造の改善点や、人材・ノウハウの不足など、対応が必要な領域を記載する。</a:t>
            </a:r>
          </a:p>
        </p:txBody>
      </p:sp>
      <p:sp>
        <p:nvSpPr>
          <p:cNvPr id="20" name="TextBox 19"/>
          <p:cNvSpPr txBox="1"/>
          <p:nvPr/>
        </p:nvSpPr>
        <p:spPr>
          <a:xfrm>
            <a:off x="6254495" y="2578608"/>
            <a:ext cx="5230368" cy="502920"/>
          </a:xfrm>
          <a:prstGeom prst="rect">
            <a:avLst/>
          </a:prstGeom>
          <a:noFill/>
        </p:spPr>
        <p:txBody>
          <a:bodyPr wrap="square">
            <a:spAutoFit/>
          </a:bodyPr>
          <a:lstStyle/>
          <a:p>
            <a:pPr algn="l"/>
            <a:r>
              <a:rPr sz="700" b="0" i="0">
                <a:solidFill>
                  <a:srgbClr val="444444"/>
                </a:solidFill>
              </a:rPr>
              <a:t>▶ CS体制：CS担当者1人あたりの顧客数が業界平均の2.4倍と過多であり、サービス品質の低下リスクがある。</a:t>
            </a:r>
          </a:p>
        </p:txBody>
      </p:sp>
      <p:sp>
        <p:nvSpPr>
          <p:cNvPr id="21" name="TextBox 20"/>
          <p:cNvSpPr txBox="1"/>
          <p:nvPr/>
        </p:nvSpPr>
        <p:spPr>
          <a:xfrm>
            <a:off x="6254495" y="3108960"/>
            <a:ext cx="5230368" cy="502920"/>
          </a:xfrm>
          <a:prstGeom prst="rect">
            <a:avLst/>
          </a:prstGeom>
          <a:noFill/>
        </p:spPr>
        <p:txBody>
          <a:bodyPr wrap="square">
            <a:spAutoFit/>
          </a:bodyPr>
          <a:lstStyle/>
          <a:p>
            <a:pPr algn="l"/>
            <a:r>
              <a:rPr sz="700" b="0" i="0">
                <a:solidFill>
                  <a:srgbClr val="444444"/>
                </a:solidFill>
              </a:rPr>
              <a:t>▶ 認知度：中小企業市場での認知度が低く、マーケティング投資が競合他社比で不足している。</a:t>
            </a:r>
          </a:p>
        </p:txBody>
      </p:sp>
      <p:sp>
        <p:nvSpPr>
          <p:cNvPr id="22" name="Rectangle 21"/>
          <p:cNvSpPr/>
          <p:nvPr/>
        </p:nvSpPr>
        <p:spPr>
          <a:xfrm>
            <a:off x="548640" y="4297680"/>
            <a:ext cx="5486400" cy="237744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 y="4389120"/>
            <a:ext cx="5266944" cy="237744"/>
          </a:xfrm>
          <a:prstGeom prst="rect">
            <a:avLst/>
          </a:prstGeom>
          <a:noFill/>
        </p:spPr>
        <p:txBody>
          <a:bodyPr wrap="square">
            <a:spAutoFit/>
          </a:bodyPr>
          <a:lstStyle/>
          <a:p>
            <a:pPr algn="l"/>
            <a:r>
              <a:rPr sz="1000" b="1" i="0">
                <a:solidFill>
                  <a:srgbClr val="FFFFFF"/>
                </a:solidFill>
              </a:rPr>
              <a:t>O：機会（Opportunities）</a:t>
            </a:r>
          </a:p>
        </p:txBody>
      </p:sp>
      <p:sp>
        <p:nvSpPr>
          <p:cNvPr id="24" name="TextBox 23"/>
          <p:cNvSpPr txBox="1"/>
          <p:nvPr/>
        </p:nvSpPr>
        <p:spPr>
          <a:xfrm>
            <a:off x="658368" y="4663440"/>
            <a:ext cx="5266944" cy="347472"/>
          </a:xfrm>
          <a:prstGeom prst="rect">
            <a:avLst/>
          </a:prstGeom>
          <a:noFill/>
        </p:spPr>
        <p:txBody>
          <a:bodyPr wrap="square">
            <a:spAutoFit/>
          </a:bodyPr>
          <a:lstStyle/>
          <a:p>
            <a:pPr algn="l"/>
            <a:r>
              <a:rPr sz="750" b="0" i="0">
                <a:solidFill>
                  <a:srgbClr val="FFFFFF"/>
                </a:solidFill>
              </a:rPr>
              <a:t>規制緩和・市場の急成長・顧客ニーズの新たなトレンドなどを記載する。</a:t>
            </a:r>
          </a:p>
        </p:txBody>
      </p:sp>
      <p:sp>
        <p:nvSpPr>
          <p:cNvPr id="25" name="TextBox 24"/>
          <p:cNvSpPr txBox="1"/>
          <p:nvPr/>
        </p:nvSpPr>
        <p:spPr>
          <a:xfrm>
            <a:off x="676656" y="5047488"/>
            <a:ext cx="5230368" cy="502920"/>
          </a:xfrm>
          <a:prstGeom prst="rect">
            <a:avLst/>
          </a:prstGeom>
          <a:noFill/>
        </p:spPr>
        <p:txBody>
          <a:bodyPr wrap="square">
            <a:spAutoFit/>
          </a:bodyPr>
          <a:lstStyle/>
          <a:p>
            <a:pPr algn="l"/>
            <a:r>
              <a:rPr sz="700" b="0" i="0">
                <a:solidFill>
                  <a:srgbClr val="FFFFFF"/>
                </a:solidFill>
              </a:rPr>
              <a:t>▶ 市場拡大：対象市場が年率18%で拡大しており、今後3年間で導入企業数が2倍以上になる見込みである。</a:t>
            </a:r>
          </a:p>
        </p:txBody>
      </p:sp>
      <p:sp>
        <p:nvSpPr>
          <p:cNvPr id="26" name="TextBox 25"/>
          <p:cNvSpPr txBox="1"/>
          <p:nvPr/>
        </p:nvSpPr>
        <p:spPr>
          <a:xfrm>
            <a:off x="676656" y="5577840"/>
            <a:ext cx="5230368" cy="502920"/>
          </a:xfrm>
          <a:prstGeom prst="rect">
            <a:avLst/>
          </a:prstGeom>
          <a:noFill/>
        </p:spPr>
        <p:txBody>
          <a:bodyPr wrap="square">
            <a:spAutoFit/>
          </a:bodyPr>
          <a:lstStyle/>
          <a:p>
            <a:pPr algn="l"/>
            <a:r>
              <a:rPr sz="700" b="0" i="0">
                <a:solidFill>
                  <a:srgbClr val="FFFFFF"/>
                </a:solidFill>
              </a:rPr>
              <a:t>▶ 競合の遅れ：主要競合3社が旧来型アーキテクチャに依存しており、新技術への移行が困難な状況にある。</a:t>
            </a:r>
          </a:p>
        </p:txBody>
      </p:sp>
      <p:sp>
        <p:nvSpPr>
          <p:cNvPr id="27" name="Rectangle 26"/>
          <p:cNvSpPr/>
          <p:nvPr/>
        </p:nvSpPr>
        <p:spPr>
          <a:xfrm>
            <a:off x="6126479" y="4297680"/>
            <a:ext cx="5486400" cy="237744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126479" y="4297680"/>
            <a:ext cx="5486400" cy="36576"/>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36207" y="4389120"/>
            <a:ext cx="5266944" cy="237744"/>
          </a:xfrm>
          <a:prstGeom prst="rect">
            <a:avLst/>
          </a:prstGeom>
          <a:noFill/>
        </p:spPr>
        <p:txBody>
          <a:bodyPr wrap="square">
            <a:spAutoFit/>
          </a:bodyPr>
          <a:lstStyle/>
          <a:p>
            <a:pPr algn="l"/>
            <a:r>
              <a:rPr sz="1000" b="1" i="0">
                <a:solidFill>
                  <a:srgbClr val="0C3570"/>
                </a:solidFill>
              </a:rPr>
              <a:t>T：脅威（Threats）</a:t>
            </a:r>
          </a:p>
        </p:txBody>
      </p:sp>
      <p:sp>
        <p:nvSpPr>
          <p:cNvPr id="30" name="TextBox 29"/>
          <p:cNvSpPr txBox="1"/>
          <p:nvPr/>
        </p:nvSpPr>
        <p:spPr>
          <a:xfrm>
            <a:off x="6236207" y="4663440"/>
            <a:ext cx="5266944" cy="347472"/>
          </a:xfrm>
          <a:prstGeom prst="rect">
            <a:avLst/>
          </a:prstGeom>
          <a:noFill/>
        </p:spPr>
        <p:txBody>
          <a:bodyPr wrap="square">
            <a:spAutoFit/>
          </a:bodyPr>
          <a:lstStyle/>
          <a:p>
            <a:pPr algn="l"/>
            <a:r>
              <a:rPr sz="750" b="0" i="0">
                <a:solidFill>
                  <a:srgbClr val="444444"/>
                </a:solidFill>
              </a:rPr>
              <a:t>新規参入者の脅威・原材料費の高騰・法的な規制強化などを記載する。</a:t>
            </a:r>
          </a:p>
        </p:txBody>
      </p:sp>
      <p:sp>
        <p:nvSpPr>
          <p:cNvPr id="31" name="TextBox 30"/>
          <p:cNvSpPr txBox="1"/>
          <p:nvPr/>
        </p:nvSpPr>
        <p:spPr>
          <a:xfrm>
            <a:off x="6254495" y="5047488"/>
            <a:ext cx="5230368" cy="502920"/>
          </a:xfrm>
          <a:prstGeom prst="rect">
            <a:avLst/>
          </a:prstGeom>
          <a:noFill/>
        </p:spPr>
        <p:txBody>
          <a:bodyPr wrap="square">
            <a:spAutoFit/>
          </a:bodyPr>
          <a:lstStyle/>
          <a:p>
            <a:pPr algn="l"/>
            <a:r>
              <a:rPr sz="700" b="0" i="0">
                <a:solidFill>
                  <a:srgbClr val="444444"/>
                </a:solidFill>
              </a:rPr>
              <a:t>▶ 新規参入：海外大手テック企業が同市場への参入を検討中であり、資金力と技術力で脅威となる可能性がある。</a:t>
            </a:r>
          </a:p>
        </p:txBody>
      </p:sp>
      <p:sp>
        <p:nvSpPr>
          <p:cNvPr id="32" name="TextBox 31"/>
          <p:cNvSpPr txBox="1"/>
          <p:nvPr/>
        </p:nvSpPr>
        <p:spPr>
          <a:xfrm>
            <a:off x="6254495" y="5577840"/>
            <a:ext cx="5230368" cy="502920"/>
          </a:xfrm>
          <a:prstGeom prst="rect">
            <a:avLst/>
          </a:prstGeom>
          <a:noFill/>
        </p:spPr>
        <p:txBody>
          <a:bodyPr wrap="square">
            <a:spAutoFit/>
          </a:bodyPr>
          <a:lstStyle/>
          <a:p>
            <a:pPr algn="l"/>
            <a:r>
              <a:rPr sz="700" b="0" i="0">
                <a:solidFill>
                  <a:srgbClr val="444444"/>
                </a:solidFill>
              </a:rPr>
              <a:t>▶ 規制変化：データプライバシー規制の強化により、製品の仕様変更と対応コストの増加が見込まれる。</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PEST分析：政治・経済・社会・技術の4環境変化から事業機会とリスクを特定する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pest ／ 用途: マクロ環境の4軸分析 ／ 件数: 4件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PEST分析の結果、技術変化（AI普及）と社会変化（DX推進）が最大の事業機会であり、政治変化（規制強化）が主要リスクであることが判明した。</a:t>
            </a:r>
          </a:p>
        </p:txBody>
      </p:sp>
      <p:sp>
        <p:nvSpPr>
          <p:cNvPr id="10" name="Rectangle 9"/>
          <p:cNvSpPr/>
          <p:nvPr/>
        </p:nvSpPr>
        <p:spPr>
          <a:xfrm>
            <a:off x="548640" y="1828800"/>
            <a:ext cx="5486400" cy="237744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828800"/>
            <a:ext cx="5486400" cy="36576"/>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920240"/>
            <a:ext cx="5266944" cy="237744"/>
          </a:xfrm>
          <a:prstGeom prst="rect">
            <a:avLst/>
          </a:prstGeom>
          <a:noFill/>
        </p:spPr>
        <p:txBody>
          <a:bodyPr wrap="square">
            <a:spAutoFit/>
          </a:bodyPr>
          <a:lstStyle/>
          <a:p>
            <a:pPr algn="l"/>
            <a:r>
              <a:rPr sz="1000" b="1" i="0">
                <a:solidFill>
                  <a:srgbClr val="0C3570"/>
                </a:solidFill>
              </a:rPr>
              <a:t>P：政治（Political）</a:t>
            </a:r>
          </a:p>
        </p:txBody>
      </p:sp>
      <p:sp>
        <p:nvSpPr>
          <p:cNvPr id="13" name="TextBox 12"/>
          <p:cNvSpPr txBox="1"/>
          <p:nvPr/>
        </p:nvSpPr>
        <p:spPr>
          <a:xfrm>
            <a:off x="658368" y="2194560"/>
            <a:ext cx="5266944" cy="347472"/>
          </a:xfrm>
          <a:prstGeom prst="rect">
            <a:avLst/>
          </a:prstGeom>
          <a:noFill/>
        </p:spPr>
        <p:txBody>
          <a:bodyPr wrap="square">
            <a:spAutoFit/>
          </a:bodyPr>
          <a:lstStyle/>
          <a:p>
            <a:pPr algn="l"/>
            <a:r>
              <a:rPr sz="750" b="0" i="0">
                <a:solidFill>
                  <a:srgbClr val="444444"/>
                </a:solidFill>
              </a:rPr>
              <a:t>規制・政策・法律の変化が事業に与える影響を分析する。</a:t>
            </a:r>
          </a:p>
        </p:txBody>
      </p:sp>
      <p:sp>
        <p:nvSpPr>
          <p:cNvPr id="14" name="TextBox 13"/>
          <p:cNvSpPr txBox="1"/>
          <p:nvPr/>
        </p:nvSpPr>
        <p:spPr>
          <a:xfrm>
            <a:off x="676656" y="2578608"/>
            <a:ext cx="5230368" cy="502920"/>
          </a:xfrm>
          <a:prstGeom prst="rect">
            <a:avLst/>
          </a:prstGeom>
          <a:noFill/>
        </p:spPr>
        <p:txBody>
          <a:bodyPr wrap="square">
            <a:spAutoFit/>
          </a:bodyPr>
          <a:lstStyle/>
          <a:p>
            <a:pPr algn="l"/>
            <a:r>
              <a:rPr sz="700" b="0" i="0">
                <a:solidFill>
                  <a:srgbClr val="444444"/>
                </a:solidFill>
              </a:rPr>
              <a:t>▶ データ規制：個人情報保護法の改正により、データ管理コストの増加と製品仕様変更が必要になる可能性がある。</a:t>
            </a:r>
          </a:p>
        </p:txBody>
      </p:sp>
      <p:sp>
        <p:nvSpPr>
          <p:cNvPr id="15" name="TextBox 14"/>
          <p:cNvSpPr txBox="1"/>
          <p:nvPr/>
        </p:nvSpPr>
        <p:spPr>
          <a:xfrm>
            <a:off x="676656" y="3108960"/>
            <a:ext cx="5230368" cy="502920"/>
          </a:xfrm>
          <a:prstGeom prst="rect">
            <a:avLst/>
          </a:prstGeom>
          <a:noFill/>
        </p:spPr>
        <p:txBody>
          <a:bodyPr wrap="square">
            <a:spAutoFit/>
          </a:bodyPr>
          <a:lstStyle/>
          <a:p>
            <a:pPr algn="l"/>
            <a:r>
              <a:rPr sz="700" b="0" i="0">
                <a:solidFill>
                  <a:srgbClr val="444444"/>
                </a:solidFill>
              </a:rPr>
              <a:t>▶ 補助金政策：DX推進補助金の拡充により、中小企業の導入障壁が下がり、新規市場が拡大する機会がある。</a:t>
            </a:r>
          </a:p>
        </p:txBody>
      </p:sp>
      <p:sp>
        <p:nvSpPr>
          <p:cNvPr id="16" name="Rectangle 15"/>
          <p:cNvSpPr/>
          <p:nvPr/>
        </p:nvSpPr>
        <p:spPr>
          <a:xfrm>
            <a:off x="6126479" y="1828800"/>
            <a:ext cx="5486400" cy="237744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26479" y="1828800"/>
            <a:ext cx="5486400" cy="36576"/>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6207" y="1920240"/>
            <a:ext cx="5266944" cy="237744"/>
          </a:xfrm>
          <a:prstGeom prst="rect">
            <a:avLst/>
          </a:prstGeom>
          <a:noFill/>
        </p:spPr>
        <p:txBody>
          <a:bodyPr wrap="square">
            <a:spAutoFit/>
          </a:bodyPr>
          <a:lstStyle/>
          <a:p>
            <a:pPr algn="l"/>
            <a:r>
              <a:rPr sz="1000" b="1" i="0">
                <a:solidFill>
                  <a:srgbClr val="0C3570"/>
                </a:solidFill>
              </a:rPr>
              <a:t>E：経済（Economic）</a:t>
            </a:r>
          </a:p>
        </p:txBody>
      </p:sp>
      <p:sp>
        <p:nvSpPr>
          <p:cNvPr id="19" name="TextBox 18"/>
          <p:cNvSpPr txBox="1"/>
          <p:nvPr/>
        </p:nvSpPr>
        <p:spPr>
          <a:xfrm>
            <a:off x="6236207" y="2194560"/>
            <a:ext cx="5266944" cy="347472"/>
          </a:xfrm>
          <a:prstGeom prst="rect">
            <a:avLst/>
          </a:prstGeom>
          <a:noFill/>
        </p:spPr>
        <p:txBody>
          <a:bodyPr wrap="square">
            <a:spAutoFit/>
          </a:bodyPr>
          <a:lstStyle/>
          <a:p>
            <a:pPr algn="l"/>
            <a:r>
              <a:rPr sz="750" b="0" i="0">
                <a:solidFill>
                  <a:srgbClr val="444444"/>
                </a:solidFill>
              </a:rPr>
              <a:t>景気・為替・金利・消費動向の変化が事業に与える影響を分析する。</a:t>
            </a:r>
          </a:p>
        </p:txBody>
      </p:sp>
      <p:sp>
        <p:nvSpPr>
          <p:cNvPr id="20" name="TextBox 19"/>
          <p:cNvSpPr txBox="1"/>
          <p:nvPr/>
        </p:nvSpPr>
        <p:spPr>
          <a:xfrm>
            <a:off x="6254495" y="2578608"/>
            <a:ext cx="5230368" cy="502920"/>
          </a:xfrm>
          <a:prstGeom prst="rect">
            <a:avLst/>
          </a:prstGeom>
          <a:noFill/>
        </p:spPr>
        <p:txBody>
          <a:bodyPr wrap="square">
            <a:spAutoFit/>
          </a:bodyPr>
          <a:lstStyle/>
          <a:p>
            <a:pPr algn="l"/>
            <a:r>
              <a:rPr sz="700" b="0" i="0">
                <a:solidFill>
                  <a:srgbClr val="444444"/>
                </a:solidFill>
              </a:rPr>
              <a:t>▶ IT投資動向：企業のIT投資が前年比12%増加しており、SaaS製品への需要拡大が見込まれる。</a:t>
            </a:r>
          </a:p>
        </p:txBody>
      </p:sp>
      <p:sp>
        <p:nvSpPr>
          <p:cNvPr id="21" name="TextBox 20"/>
          <p:cNvSpPr txBox="1"/>
          <p:nvPr/>
        </p:nvSpPr>
        <p:spPr>
          <a:xfrm>
            <a:off x="6254495" y="3108960"/>
            <a:ext cx="5230368" cy="502920"/>
          </a:xfrm>
          <a:prstGeom prst="rect">
            <a:avLst/>
          </a:prstGeom>
          <a:noFill/>
        </p:spPr>
        <p:txBody>
          <a:bodyPr wrap="square">
            <a:spAutoFit/>
          </a:bodyPr>
          <a:lstStyle/>
          <a:p>
            <a:pPr algn="l"/>
            <a:r>
              <a:rPr sz="700" b="0" i="0">
                <a:solidFill>
                  <a:srgbClr val="444444"/>
                </a:solidFill>
              </a:rPr>
              <a:t>▶ コスト上昇：人件費・クラウドコストの上昇により、運用コストの増加と価格競争力の低下リスクがある。</a:t>
            </a:r>
          </a:p>
        </p:txBody>
      </p:sp>
      <p:sp>
        <p:nvSpPr>
          <p:cNvPr id="22" name="Rectangle 21"/>
          <p:cNvSpPr/>
          <p:nvPr/>
        </p:nvSpPr>
        <p:spPr>
          <a:xfrm>
            <a:off x="548640" y="4297680"/>
            <a:ext cx="5486400" cy="237744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 y="4389120"/>
            <a:ext cx="5266944" cy="237744"/>
          </a:xfrm>
          <a:prstGeom prst="rect">
            <a:avLst/>
          </a:prstGeom>
          <a:noFill/>
        </p:spPr>
        <p:txBody>
          <a:bodyPr wrap="square">
            <a:spAutoFit/>
          </a:bodyPr>
          <a:lstStyle/>
          <a:p>
            <a:pPr algn="l"/>
            <a:r>
              <a:rPr sz="1000" b="1" i="0">
                <a:solidFill>
                  <a:srgbClr val="FFFFFF"/>
                </a:solidFill>
              </a:rPr>
              <a:t>S：社会（Social）</a:t>
            </a:r>
          </a:p>
        </p:txBody>
      </p:sp>
      <p:sp>
        <p:nvSpPr>
          <p:cNvPr id="24" name="TextBox 23"/>
          <p:cNvSpPr txBox="1"/>
          <p:nvPr/>
        </p:nvSpPr>
        <p:spPr>
          <a:xfrm>
            <a:off x="658368" y="4663440"/>
            <a:ext cx="5266944" cy="347472"/>
          </a:xfrm>
          <a:prstGeom prst="rect">
            <a:avLst/>
          </a:prstGeom>
          <a:noFill/>
        </p:spPr>
        <p:txBody>
          <a:bodyPr wrap="square">
            <a:spAutoFit/>
          </a:bodyPr>
          <a:lstStyle/>
          <a:p>
            <a:pPr algn="l"/>
            <a:r>
              <a:rPr sz="750" b="0" i="0">
                <a:solidFill>
                  <a:srgbClr val="FFFFFF"/>
                </a:solidFill>
              </a:rPr>
              <a:t>人口動態・ライフスタイル・価値観の変化が事業に与える影響を分析する。</a:t>
            </a:r>
          </a:p>
        </p:txBody>
      </p:sp>
      <p:sp>
        <p:nvSpPr>
          <p:cNvPr id="25" name="TextBox 24"/>
          <p:cNvSpPr txBox="1"/>
          <p:nvPr/>
        </p:nvSpPr>
        <p:spPr>
          <a:xfrm>
            <a:off x="676656" y="5047488"/>
            <a:ext cx="5230368" cy="502920"/>
          </a:xfrm>
          <a:prstGeom prst="rect">
            <a:avLst/>
          </a:prstGeom>
          <a:noFill/>
        </p:spPr>
        <p:txBody>
          <a:bodyPr wrap="square">
            <a:spAutoFit/>
          </a:bodyPr>
          <a:lstStyle/>
          <a:p>
            <a:pPr algn="l"/>
            <a:r>
              <a:rPr sz="700" b="0" i="0">
                <a:solidFill>
                  <a:srgbClr val="FFFFFF"/>
                </a:solidFill>
              </a:rPr>
              <a:t>▶ DX推進：企業のDX推進意識が高まっており、業務効率化ツールへの需要が急速に拡大している。</a:t>
            </a:r>
          </a:p>
        </p:txBody>
      </p:sp>
      <p:sp>
        <p:nvSpPr>
          <p:cNvPr id="26" name="TextBox 25"/>
          <p:cNvSpPr txBox="1"/>
          <p:nvPr/>
        </p:nvSpPr>
        <p:spPr>
          <a:xfrm>
            <a:off x="676656" y="5577840"/>
            <a:ext cx="5230368" cy="502920"/>
          </a:xfrm>
          <a:prstGeom prst="rect">
            <a:avLst/>
          </a:prstGeom>
          <a:noFill/>
        </p:spPr>
        <p:txBody>
          <a:bodyPr wrap="square">
            <a:spAutoFit/>
          </a:bodyPr>
          <a:lstStyle/>
          <a:p>
            <a:pPr algn="l"/>
            <a:r>
              <a:rPr sz="700" b="0" i="0">
                <a:solidFill>
                  <a:srgbClr val="FFFFFF"/>
                </a:solidFill>
              </a:rPr>
              <a:t>▶ 人材不足：IT人材不足が深刻化しており、自動化・省力化ツールへのニーズが高まっている。</a:t>
            </a:r>
          </a:p>
        </p:txBody>
      </p:sp>
      <p:sp>
        <p:nvSpPr>
          <p:cNvPr id="27" name="Rectangle 26"/>
          <p:cNvSpPr/>
          <p:nvPr/>
        </p:nvSpPr>
        <p:spPr>
          <a:xfrm>
            <a:off x="6126479" y="4297680"/>
            <a:ext cx="5486400" cy="237744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126479" y="4297680"/>
            <a:ext cx="5486400" cy="36576"/>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36207" y="4389120"/>
            <a:ext cx="5266944" cy="237744"/>
          </a:xfrm>
          <a:prstGeom prst="rect">
            <a:avLst/>
          </a:prstGeom>
          <a:noFill/>
        </p:spPr>
        <p:txBody>
          <a:bodyPr wrap="square">
            <a:spAutoFit/>
          </a:bodyPr>
          <a:lstStyle/>
          <a:p>
            <a:pPr algn="l"/>
            <a:r>
              <a:rPr sz="1000" b="1" i="0">
                <a:solidFill>
                  <a:srgbClr val="0C3570"/>
                </a:solidFill>
              </a:rPr>
              <a:t>T：技術（Technological）</a:t>
            </a:r>
          </a:p>
        </p:txBody>
      </p:sp>
      <p:sp>
        <p:nvSpPr>
          <p:cNvPr id="30" name="TextBox 29"/>
          <p:cNvSpPr txBox="1"/>
          <p:nvPr/>
        </p:nvSpPr>
        <p:spPr>
          <a:xfrm>
            <a:off x="6236207" y="4663440"/>
            <a:ext cx="5266944" cy="347472"/>
          </a:xfrm>
          <a:prstGeom prst="rect">
            <a:avLst/>
          </a:prstGeom>
          <a:noFill/>
        </p:spPr>
        <p:txBody>
          <a:bodyPr wrap="square">
            <a:spAutoFit/>
          </a:bodyPr>
          <a:lstStyle/>
          <a:p>
            <a:pPr algn="l"/>
            <a:r>
              <a:rPr sz="750" b="0" i="0">
                <a:solidFill>
                  <a:srgbClr val="444444"/>
                </a:solidFill>
              </a:rPr>
              <a:t>技術革新・デジタル化・自動化の進展が事業に与える影響を分析する。</a:t>
            </a:r>
          </a:p>
        </p:txBody>
      </p:sp>
      <p:sp>
        <p:nvSpPr>
          <p:cNvPr id="31" name="TextBox 30"/>
          <p:cNvSpPr txBox="1"/>
          <p:nvPr/>
        </p:nvSpPr>
        <p:spPr>
          <a:xfrm>
            <a:off x="6254495" y="5047488"/>
            <a:ext cx="5230368" cy="502920"/>
          </a:xfrm>
          <a:prstGeom prst="rect">
            <a:avLst/>
          </a:prstGeom>
          <a:noFill/>
        </p:spPr>
        <p:txBody>
          <a:bodyPr wrap="square">
            <a:spAutoFit/>
          </a:bodyPr>
          <a:lstStyle/>
          <a:p>
            <a:pPr algn="l"/>
            <a:r>
              <a:rPr sz="700" b="0" i="0">
                <a:solidFill>
                  <a:srgbClr val="444444"/>
                </a:solidFill>
              </a:rPr>
              <a:t>▶ AI普及：生成AIの普及により、製品への組み込みが競合優位の必須条件になりつつある。</a:t>
            </a:r>
          </a:p>
        </p:txBody>
      </p:sp>
      <p:sp>
        <p:nvSpPr>
          <p:cNvPr id="32" name="TextBox 31"/>
          <p:cNvSpPr txBox="1"/>
          <p:nvPr/>
        </p:nvSpPr>
        <p:spPr>
          <a:xfrm>
            <a:off x="6254495" y="5577840"/>
            <a:ext cx="5230368" cy="502920"/>
          </a:xfrm>
          <a:prstGeom prst="rect">
            <a:avLst/>
          </a:prstGeom>
          <a:noFill/>
        </p:spPr>
        <p:txBody>
          <a:bodyPr wrap="square">
            <a:spAutoFit/>
          </a:bodyPr>
          <a:lstStyle/>
          <a:p>
            <a:pPr algn="l"/>
            <a:r>
              <a:rPr sz="700" b="0" i="0">
                <a:solidFill>
                  <a:srgbClr val="444444"/>
                </a:solidFill>
              </a:rPr>
              <a:t>▶ クラウド化：オンプレミスからクラウドへの移行が加速しており、SaaS製品への需要拡大が見込まれる。</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3C分析：顧客・競合・自社の3軸から戦略的ポジションを明確にする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3c ／ 用途: 顧客・競合・自社の3軸分析 ／ 件数: 3件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3C分析の結果、顧客ニーズ（スピード・コスト）と自社強み（技術・サポート）が合致しており、競合の弱点を突く差別化戦略が有効であることが判明した。</a:t>
            </a:r>
          </a:p>
        </p:txBody>
      </p:sp>
      <p:sp>
        <p:nvSpPr>
          <p:cNvPr id="10" name="Rectangle 9"/>
          <p:cNvSpPr/>
          <p:nvPr/>
        </p:nvSpPr>
        <p:spPr>
          <a:xfrm>
            <a:off x="548640" y="1828800"/>
            <a:ext cx="362712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828800"/>
            <a:ext cx="3627120" cy="36576"/>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920240"/>
            <a:ext cx="3407664" cy="237744"/>
          </a:xfrm>
          <a:prstGeom prst="rect">
            <a:avLst/>
          </a:prstGeom>
          <a:noFill/>
        </p:spPr>
        <p:txBody>
          <a:bodyPr wrap="square">
            <a:spAutoFit/>
          </a:bodyPr>
          <a:lstStyle/>
          <a:p>
            <a:pPr algn="l"/>
            <a:r>
              <a:rPr sz="1000" b="1" i="0">
                <a:solidFill>
                  <a:srgbClr val="0C3570"/>
                </a:solidFill>
              </a:rPr>
              <a:t>C：顧客（Customer）</a:t>
            </a:r>
          </a:p>
        </p:txBody>
      </p:sp>
      <p:sp>
        <p:nvSpPr>
          <p:cNvPr id="13" name="TextBox 12"/>
          <p:cNvSpPr txBox="1"/>
          <p:nvPr/>
        </p:nvSpPr>
        <p:spPr>
          <a:xfrm>
            <a:off x="658368" y="2194560"/>
            <a:ext cx="3407664" cy="347472"/>
          </a:xfrm>
          <a:prstGeom prst="rect">
            <a:avLst/>
          </a:prstGeom>
          <a:noFill/>
        </p:spPr>
        <p:txBody>
          <a:bodyPr wrap="square">
            <a:spAutoFit/>
          </a:bodyPr>
          <a:lstStyle/>
          <a:p>
            <a:pPr algn="l"/>
            <a:r>
              <a:rPr sz="750" b="0" i="0">
                <a:solidFill>
                  <a:srgbClr val="444444"/>
                </a:solidFill>
              </a:rPr>
              <a:t>ターゲット顧客の定義・課題・ニーズ・市場規模などの外部要因を記述する。</a:t>
            </a:r>
          </a:p>
        </p:txBody>
      </p:sp>
      <p:sp>
        <p:nvSpPr>
          <p:cNvPr id="14" name="TextBox 13"/>
          <p:cNvSpPr txBox="1"/>
          <p:nvPr/>
        </p:nvSpPr>
        <p:spPr>
          <a:xfrm>
            <a:off x="676656" y="2578608"/>
            <a:ext cx="3371088" cy="502920"/>
          </a:xfrm>
          <a:prstGeom prst="rect">
            <a:avLst/>
          </a:prstGeom>
          <a:noFill/>
        </p:spPr>
        <p:txBody>
          <a:bodyPr wrap="square">
            <a:spAutoFit/>
          </a:bodyPr>
          <a:lstStyle/>
          <a:p>
            <a:pPr algn="l"/>
            <a:r>
              <a:rPr sz="700" b="0" i="0">
                <a:solidFill>
                  <a:srgbClr val="444444"/>
                </a:solidFill>
              </a:rPr>
              <a:t>▶ ターゲット：中堅〜大手企業のIT部門・経営企画部門。DX推進の担当者が主要な意思決定者となる。</a:t>
            </a:r>
          </a:p>
        </p:txBody>
      </p:sp>
      <p:sp>
        <p:nvSpPr>
          <p:cNvPr id="15" name="TextBox 14"/>
          <p:cNvSpPr txBox="1"/>
          <p:nvPr/>
        </p:nvSpPr>
        <p:spPr>
          <a:xfrm>
            <a:off x="676656" y="3108960"/>
            <a:ext cx="3371088" cy="502920"/>
          </a:xfrm>
          <a:prstGeom prst="rect">
            <a:avLst/>
          </a:prstGeom>
          <a:noFill/>
        </p:spPr>
        <p:txBody>
          <a:bodyPr wrap="square">
            <a:spAutoFit/>
          </a:bodyPr>
          <a:lstStyle/>
          <a:p>
            <a:pPr algn="l"/>
            <a:r>
              <a:rPr sz="700" b="0" i="0">
                <a:solidFill>
                  <a:srgbClr val="444444"/>
                </a:solidFill>
              </a:rPr>
              <a:t>▶ ニーズ：導入の容易さ・コスト削減・業務効率化の3点が最重要ニーズ。スピードと確実性を重視する傾向がある。</a:t>
            </a:r>
          </a:p>
        </p:txBody>
      </p:sp>
      <p:sp>
        <p:nvSpPr>
          <p:cNvPr id="16" name="TextBox 15"/>
          <p:cNvSpPr txBox="1"/>
          <p:nvPr/>
        </p:nvSpPr>
        <p:spPr>
          <a:xfrm>
            <a:off x="676656" y="3639312"/>
            <a:ext cx="3371088" cy="502920"/>
          </a:xfrm>
          <a:prstGeom prst="rect">
            <a:avLst/>
          </a:prstGeom>
          <a:noFill/>
        </p:spPr>
        <p:txBody>
          <a:bodyPr wrap="square">
            <a:spAutoFit/>
          </a:bodyPr>
          <a:lstStyle/>
          <a:p>
            <a:pPr algn="l"/>
            <a:r>
              <a:rPr sz="700" b="0" i="0">
                <a:solidFill>
                  <a:srgbClr val="444444"/>
                </a:solidFill>
              </a:rPr>
              <a:t>▶ 市場規模：国内対象市場は年間3,000億円規模で、年率18%で拡大中。今後3年間で2倍以上になる見込み。</a:t>
            </a:r>
          </a:p>
        </p:txBody>
      </p:sp>
      <p:sp>
        <p:nvSpPr>
          <p:cNvPr id="17" name="Rectangle 16"/>
          <p:cNvSpPr/>
          <p:nvPr/>
        </p:nvSpPr>
        <p:spPr>
          <a:xfrm>
            <a:off x="4267199" y="1828800"/>
            <a:ext cx="3627120"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76928" y="1920240"/>
            <a:ext cx="3407664" cy="237744"/>
          </a:xfrm>
          <a:prstGeom prst="rect">
            <a:avLst/>
          </a:prstGeom>
          <a:noFill/>
        </p:spPr>
        <p:txBody>
          <a:bodyPr wrap="square">
            <a:spAutoFit/>
          </a:bodyPr>
          <a:lstStyle/>
          <a:p>
            <a:pPr algn="l"/>
            <a:r>
              <a:rPr sz="1000" b="1" i="0">
                <a:solidFill>
                  <a:srgbClr val="FFFFFF"/>
                </a:solidFill>
              </a:rPr>
              <a:t>C：競合（Competitor）</a:t>
            </a:r>
          </a:p>
        </p:txBody>
      </p:sp>
      <p:sp>
        <p:nvSpPr>
          <p:cNvPr id="19" name="TextBox 18"/>
          <p:cNvSpPr txBox="1"/>
          <p:nvPr/>
        </p:nvSpPr>
        <p:spPr>
          <a:xfrm>
            <a:off x="4376928" y="2194560"/>
            <a:ext cx="3407664" cy="347472"/>
          </a:xfrm>
          <a:prstGeom prst="rect">
            <a:avLst/>
          </a:prstGeom>
          <a:noFill/>
        </p:spPr>
        <p:txBody>
          <a:bodyPr wrap="square">
            <a:spAutoFit/>
          </a:bodyPr>
          <a:lstStyle/>
          <a:p>
            <a:pPr algn="l"/>
            <a:r>
              <a:rPr sz="750" b="0" i="0">
                <a:solidFill>
                  <a:srgbClr val="FFFFFF"/>
                </a:solidFill>
              </a:rPr>
              <a:t>競合他社の強み・弱み・参入障壁・代替品の存在などを記述する。</a:t>
            </a:r>
          </a:p>
        </p:txBody>
      </p:sp>
      <p:sp>
        <p:nvSpPr>
          <p:cNvPr id="20" name="TextBox 19"/>
          <p:cNvSpPr txBox="1"/>
          <p:nvPr/>
        </p:nvSpPr>
        <p:spPr>
          <a:xfrm>
            <a:off x="4395215" y="2578608"/>
            <a:ext cx="3371088" cy="502920"/>
          </a:xfrm>
          <a:prstGeom prst="rect">
            <a:avLst/>
          </a:prstGeom>
          <a:noFill/>
        </p:spPr>
        <p:txBody>
          <a:bodyPr wrap="square">
            <a:spAutoFit/>
          </a:bodyPr>
          <a:lstStyle/>
          <a:p>
            <a:pPr algn="l"/>
            <a:r>
              <a:rPr sz="700" b="0" i="0">
                <a:solidFill>
                  <a:srgbClr val="FFFFFF"/>
                </a:solidFill>
              </a:rPr>
              <a:t>▶ 競合の強み：主要競合3社は知名度と既存顧客基盤が強み。大手企業との取引実績が信頼性の証拠となっている。</a:t>
            </a:r>
          </a:p>
        </p:txBody>
      </p:sp>
      <p:sp>
        <p:nvSpPr>
          <p:cNvPr id="21" name="TextBox 20"/>
          <p:cNvSpPr txBox="1"/>
          <p:nvPr/>
        </p:nvSpPr>
        <p:spPr>
          <a:xfrm>
            <a:off x="4395215" y="3108960"/>
            <a:ext cx="3371088" cy="502920"/>
          </a:xfrm>
          <a:prstGeom prst="rect">
            <a:avLst/>
          </a:prstGeom>
          <a:noFill/>
        </p:spPr>
        <p:txBody>
          <a:bodyPr wrap="square">
            <a:spAutoFit/>
          </a:bodyPr>
          <a:lstStyle/>
          <a:p>
            <a:pPr algn="l"/>
            <a:r>
              <a:rPr sz="700" b="0" i="0">
                <a:solidFill>
                  <a:srgbClr val="FFFFFF"/>
                </a:solidFill>
              </a:rPr>
              <a:t>▶ 競合の弱み：旧来型アーキテクチャへの依存度が高く、新技術への移行コストが大きいため、機能革新が遅い。</a:t>
            </a:r>
          </a:p>
        </p:txBody>
      </p:sp>
      <p:sp>
        <p:nvSpPr>
          <p:cNvPr id="22" name="TextBox 21"/>
          <p:cNvSpPr txBox="1"/>
          <p:nvPr/>
        </p:nvSpPr>
        <p:spPr>
          <a:xfrm>
            <a:off x="4395215" y="3639312"/>
            <a:ext cx="3371088" cy="502920"/>
          </a:xfrm>
          <a:prstGeom prst="rect">
            <a:avLst/>
          </a:prstGeom>
          <a:noFill/>
        </p:spPr>
        <p:txBody>
          <a:bodyPr wrap="square">
            <a:spAutoFit/>
          </a:bodyPr>
          <a:lstStyle/>
          <a:p>
            <a:pPr algn="l"/>
            <a:r>
              <a:rPr sz="700" b="0" i="0">
                <a:solidFill>
                  <a:srgbClr val="FFFFFF"/>
                </a:solidFill>
              </a:rPr>
              <a:t>▶ 参入障壁：顧客の乗り換えコストが高く、一度導入されると継続率が高い。新規参入者には不利な市場構造。</a:t>
            </a:r>
          </a:p>
        </p:txBody>
      </p:sp>
      <p:sp>
        <p:nvSpPr>
          <p:cNvPr id="23" name="Rectangle 22"/>
          <p:cNvSpPr/>
          <p:nvPr/>
        </p:nvSpPr>
        <p:spPr>
          <a:xfrm>
            <a:off x="7985759" y="1828800"/>
            <a:ext cx="362712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985759" y="1828800"/>
            <a:ext cx="3627120" cy="36576"/>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95487" y="1920240"/>
            <a:ext cx="3407664" cy="237744"/>
          </a:xfrm>
          <a:prstGeom prst="rect">
            <a:avLst/>
          </a:prstGeom>
          <a:noFill/>
        </p:spPr>
        <p:txBody>
          <a:bodyPr wrap="square">
            <a:spAutoFit/>
          </a:bodyPr>
          <a:lstStyle/>
          <a:p>
            <a:pPr algn="l"/>
            <a:r>
              <a:rPr sz="1000" b="1" i="0">
                <a:solidFill>
                  <a:srgbClr val="0C3570"/>
                </a:solidFill>
              </a:rPr>
              <a:t>C：自社（Company）</a:t>
            </a:r>
          </a:p>
        </p:txBody>
      </p:sp>
      <p:sp>
        <p:nvSpPr>
          <p:cNvPr id="26" name="TextBox 25"/>
          <p:cNvSpPr txBox="1"/>
          <p:nvPr/>
        </p:nvSpPr>
        <p:spPr>
          <a:xfrm>
            <a:off x="8095487" y="2194560"/>
            <a:ext cx="3407664" cy="347472"/>
          </a:xfrm>
          <a:prstGeom prst="rect">
            <a:avLst/>
          </a:prstGeom>
          <a:noFill/>
        </p:spPr>
        <p:txBody>
          <a:bodyPr wrap="square">
            <a:spAutoFit/>
          </a:bodyPr>
          <a:lstStyle/>
          <a:p>
            <a:pPr algn="l"/>
            <a:r>
              <a:rPr sz="750" b="0" i="0">
                <a:solidFill>
                  <a:srgbClr val="444444"/>
                </a:solidFill>
              </a:rPr>
              <a:t>自社の独自価値・コアコンピタンス・保有する経営資源・具体的な実施計画を記述する。</a:t>
            </a:r>
          </a:p>
        </p:txBody>
      </p:sp>
      <p:sp>
        <p:nvSpPr>
          <p:cNvPr id="27" name="TextBox 26"/>
          <p:cNvSpPr txBox="1"/>
          <p:nvPr/>
        </p:nvSpPr>
        <p:spPr>
          <a:xfrm>
            <a:off x="8113776" y="2578608"/>
            <a:ext cx="3371088" cy="502920"/>
          </a:xfrm>
          <a:prstGeom prst="rect">
            <a:avLst/>
          </a:prstGeom>
          <a:noFill/>
        </p:spPr>
        <p:txBody>
          <a:bodyPr wrap="square">
            <a:spAutoFit/>
          </a:bodyPr>
          <a:lstStyle/>
          <a:p>
            <a:pPr algn="l"/>
            <a:r>
              <a:rPr sz="700" b="0" i="0">
                <a:solidFill>
                  <a:srgbClr val="444444"/>
                </a:solidFill>
              </a:rPr>
              <a:t>▶ 独自価値：AI技術と24時間サポートの組み合わせにより、競合が提供できない顧客成功体験を実現できる。</a:t>
            </a:r>
          </a:p>
        </p:txBody>
      </p:sp>
      <p:sp>
        <p:nvSpPr>
          <p:cNvPr id="28" name="TextBox 27"/>
          <p:cNvSpPr txBox="1"/>
          <p:nvPr/>
        </p:nvSpPr>
        <p:spPr>
          <a:xfrm>
            <a:off x="8113776" y="3108960"/>
            <a:ext cx="3371088" cy="502920"/>
          </a:xfrm>
          <a:prstGeom prst="rect">
            <a:avLst/>
          </a:prstGeom>
          <a:noFill/>
        </p:spPr>
        <p:txBody>
          <a:bodyPr wrap="square">
            <a:spAutoFit/>
          </a:bodyPr>
          <a:lstStyle/>
          <a:p>
            <a:pPr algn="l"/>
            <a:r>
              <a:rPr sz="700" b="0" i="0">
                <a:solidFill>
                  <a:srgbClr val="444444"/>
                </a:solidFill>
              </a:rPr>
              <a:t>▶ コアコンピタンス：業界特化の知識と、200社以上の導入実績から蓄積したノウハウが競合模倣困難な強みとなっている。</a:t>
            </a:r>
          </a:p>
        </p:txBody>
      </p:sp>
      <p:sp>
        <p:nvSpPr>
          <p:cNvPr id="29" name="TextBox 28"/>
          <p:cNvSpPr txBox="1"/>
          <p:nvPr/>
        </p:nvSpPr>
        <p:spPr>
          <a:xfrm>
            <a:off x="8113776" y="3639312"/>
            <a:ext cx="3371088" cy="502920"/>
          </a:xfrm>
          <a:prstGeom prst="rect">
            <a:avLst/>
          </a:prstGeom>
          <a:noFill/>
        </p:spPr>
        <p:txBody>
          <a:bodyPr wrap="square">
            <a:spAutoFit/>
          </a:bodyPr>
          <a:lstStyle/>
          <a:p>
            <a:pPr algn="l"/>
            <a:r>
              <a:rPr sz="700" b="0" i="0">
                <a:solidFill>
                  <a:srgbClr val="444444"/>
                </a:solidFill>
              </a:rPr>
              <a:t>▶ 実施計画：CS体制強化とオンボーディング改善を今期中に完了し、継続率87%→90%を来期目標に設定する。</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4P分析：製品・価格・流通・プロモーションの4軸でマーケティング戦略を整理する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4p ／ 用途: マーケティングミックスの4軸分析 ／ 件数: 4件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4P分析の結果、製品の差別化（AI機能）と価格の競争力（月額制）が最大の強みであり、流通とプロモーションの強化が次の優先課題である。</a:t>
            </a:r>
          </a:p>
        </p:txBody>
      </p:sp>
      <p:sp>
        <p:nvSpPr>
          <p:cNvPr id="10" name="Rectangle 9"/>
          <p:cNvSpPr/>
          <p:nvPr/>
        </p:nvSpPr>
        <p:spPr>
          <a:xfrm>
            <a:off x="548640" y="1828800"/>
            <a:ext cx="5486400" cy="237744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828800"/>
            <a:ext cx="5486400" cy="36576"/>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920240"/>
            <a:ext cx="5266944" cy="237744"/>
          </a:xfrm>
          <a:prstGeom prst="rect">
            <a:avLst/>
          </a:prstGeom>
          <a:noFill/>
        </p:spPr>
        <p:txBody>
          <a:bodyPr wrap="square">
            <a:spAutoFit/>
          </a:bodyPr>
          <a:lstStyle/>
          <a:p>
            <a:pPr algn="l"/>
            <a:r>
              <a:rPr sz="1000" b="1" i="0">
                <a:solidFill>
                  <a:srgbClr val="0C3570"/>
                </a:solidFill>
              </a:rPr>
              <a:t>P：製品（Product）</a:t>
            </a:r>
          </a:p>
        </p:txBody>
      </p:sp>
      <p:sp>
        <p:nvSpPr>
          <p:cNvPr id="13" name="TextBox 12"/>
          <p:cNvSpPr txBox="1"/>
          <p:nvPr/>
        </p:nvSpPr>
        <p:spPr>
          <a:xfrm>
            <a:off x="658368" y="2194560"/>
            <a:ext cx="5266944" cy="347472"/>
          </a:xfrm>
          <a:prstGeom prst="rect">
            <a:avLst/>
          </a:prstGeom>
          <a:noFill/>
        </p:spPr>
        <p:txBody>
          <a:bodyPr wrap="square">
            <a:spAutoFit/>
          </a:bodyPr>
          <a:lstStyle/>
          <a:p>
            <a:pPr algn="l"/>
            <a:r>
              <a:rPr sz="750" b="0" i="0">
                <a:solidFill>
                  <a:srgbClr val="444444"/>
                </a:solidFill>
              </a:rPr>
              <a:t>提供する製品・サービスの特徴・差別化要因・顧客価値を記述する。</a:t>
            </a:r>
          </a:p>
        </p:txBody>
      </p:sp>
      <p:sp>
        <p:nvSpPr>
          <p:cNvPr id="14" name="TextBox 13"/>
          <p:cNvSpPr txBox="1"/>
          <p:nvPr/>
        </p:nvSpPr>
        <p:spPr>
          <a:xfrm>
            <a:off x="676656" y="2578608"/>
            <a:ext cx="5230368" cy="502920"/>
          </a:xfrm>
          <a:prstGeom prst="rect">
            <a:avLst/>
          </a:prstGeom>
          <a:noFill/>
        </p:spPr>
        <p:txBody>
          <a:bodyPr wrap="square">
            <a:spAutoFit/>
          </a:bodyPr>
          <a:lstStyle/>
          <a:p>
            <a:pPr algn="l"/>
            <a:r>
              <a:rPr sz="700" b="0" i="0">
                <a:solidFill>
                  <a:srgbClr val="444444"/>
                </a:solidFill>
              </a:rPr>
              <a:t>▶ 差別化機能：AI自動トリアージ・ヘルススコア管理・24時間サポートの3機能が競合にない独自価値を提供する。</a:t>
            </a:r>
          </a:p>
        </p:txBody>
      </p:sp>
      <p:sp>
        <p:nvSpPr>
          <p:cNvPr id="15" name="TextBox 14"/>
          <p:cNvSpPr txBox="1"/>
          <p:nvPr/>
        </p:nvSpPr>
        <p:spPr>
          <a:xfrm>
            <a:off x="676656" y="3108960"/>
            <a:ext cx="5230368" cy="502920"/>
          </a:xfrm>
          <a:prstGeom prst="rect">
            <a:avLst/>
          </a:prstGeom>
          <a:noFill/>
        </p:spPr>
        <p:txBody>
          <a:bodyPr wrap="square">
            <a:spAutoFit/>
          </a:bodyPr>
          <a:lstStyle/>
          <a:p>
            <a:pPr algn="l"/>
            <a:r>
              <a:rPr sz="700" b="0" i="0">
                <a:solidFill>
                  <a:srgbClr val="444444"/>
                </a:solidFill>
              </a:rPr>
              <a:t>▶ 顧客価値：導入後4週間での稼働と、30日以内の初期成果創出により、顧客の投資回収を最速で実現する。</a:t>
            </a:r>
          </a:p>
        </p:txBody>
      </p:sp>
      <p:sp>
        <p:nvSpPr>
          <p:cNvPr id="16" name="Rectangle 15"/>
          <p:cNvSpPr/>
          <p:nvPr/>
        </p:nvSpPr>
        <p:spPr>
          <a:xfrm>
            <a:off x="6126479" y="1828800"/>
            <a:ext cx="5486400" cy="237744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36207" y="1920240"/>
            <a:ext cx="5266944" cy="237744"/>
          </a:xfrm>
          <a:prstGeom prst="rect">
            <a:avLst/>
          </a:prstGeom>
          <a:noFill/>
        </p:spPr>
        <p:txBody>
          <a:bodyPr wrap="square">
            <a:spAutoFit/>
          </a:bodyPr>
          <a:lstStyle/>
          <a:p>
            <a:pPr algn="l"/>
            <a:r>
              <a:rPr sz="1000" b="1" i="0">
                <a:solidFill>
                  <a:srgbClr val="FFFFFF"/>
                </a:solidFill>
              </a:rPr>
              <a:t>P：価格（Price）</a:t>
            </a:r>
          </a:p>
        </p:txBody>
      </p:sp>
      <p:sp>
        <p:nvSpPr>
          <p:cNvPr id="18" name="TextBox 17"/>
          <p:cNvSpPr txBox="1"/>
          <p:nvPr/>
        </p:nvSpPr>
        <p:spPr>
          <a:xfrm>
            <a:off x="6236207" y="2194560"/>
            <a:ext cx="5266944" cy="347472"/>
          </a:xfrm>
          <a:prstGeom prst="rect">
            <a:avLst/>
          </a:prstGeom>
          <a:noFill/>
        </p:spPr>
        <p:txBody>
          <a:bodyPr wrap="square">
            <a:spAutoFit/>
          </a:bodyPr>
          <a:lstStyle/>
          <a:p>
            <a:pPr algn="l"/>
            <a:r>
              <a:rPr sz="750" b="0" i="0">
                <a:solidFill>
                  <a:srgbClr val="FFFFFF"/>
                </a:solidFill>
              </a:rPr>
              <a:t>価格設定の根拠・競合との比較・顧客の価格感度への対応を記述する。</a:t>
            </a:r>
          </a:p>
        </p:txBody>
      </p:sp>
      <p:sp>
        <p:nvSpPr>
          <p:cNvPr id="19" name="TextBox 18"/>
          <p:cNvSpPr txBox="1"/>
          <p:nvPr/>
        </p:nvSpPr>
        <p:spPr>
          <a:xfrm>
            <a:off x="6254495" y="2578608"/>
            <a:ext cx="5230368" cy="502920"/>
          </a:xfrm>
          <a:prstGeom prst="rect">
            <a:avLst/>
          </a:prstGeom>
          <a:noFill/>
        </p:spPr>
        <p:txBody>
          <a:bodyPr wrap="square">
            <a:spAutoFit/>
          </a:bodyPr>
          <a:lstStyle/>
          <a:p>
            <a:pPr algn="l"/>
            <a:r>
              <a:rPr sz="700" b="0" i="0">
                <a:solidFill>
                  <a:srgbClr val="FFFFFF"/>
                </a:solidFill>
              </a:rPr>
              <a:t>▶ 価格体系：月額制で初期費用ゼロ。利用量に応じたスケーリングにより、顧客の成長に合わせた価格設定が可能。</a:t>
            </a:r>
          </a:p>
        </p:txBody>
      </p:sp>
      <p:sp>
        <p:nvSpPr>
          <p:cNvPr id="20" name="TextBox 19"/>
          <p:cNvSpPr txBox="1"/>
          <p:nvPr/>
        </p:nvSpPr>
        <p:spPr>
          <a:xfrm>
            <a:off x="6254495" y="3108960"/>
            <a:ext cx="5230368" cy="502920"/>
          </a:xfrm>
          <a:prstGeom prst="rect">
            <a:avLst/>
          </a:prstGeom>
          <a:noFill/>
        </p:spPr>
        <p:txBody>
          <a:bodyPr wrap="square">
            <a:spAutoFit/>
          </a:bodyPr>
          <a:lstStyle/>
          <a:p>
            <a:pPr algn="l"/>
            <a:r>
              <a:rPr sz="700" b="0" i="0">
                <a:solidFill>
                  <a:srgbClr val="FFFFFF"/>
                </a:solidFill>
              </a:rPr>
              <a:t>▶ 競合比較：競合他社比で初期費用を80%削減しながら、機能・サポートで優位性を維持する価格競争力を持つ。</a:t>
            </a:r>
          </a:p>
        </p:txBody>
      </p:sp>
      <p:sp>
        <p:nvSpPr>
          <p:cNvPr id="21" name="Rectangle 20"/>
          <p:cNvSpPr/>
          <p:nvPr/>
        </p:nvSpPr>
        <p:spPr>
          <a:xfrm>
            <a:off x="548640" y="4297680"/>
            <a:ext cx="5486400" cy="237744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48640" y="4297680"/>
            <a:ext cx="5486400" cy="36576"/>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 y="4389120"/>
            <a:ext cx="5266944" cy="237744"/>
          </a:xfrm>
          <a:prstGeom prst="rect">
            <a:avLst/>
          </a:prstGeom>
          <a:noFill/>
        </p:spPr>
        <p:txBody>
          <a:bodyPr wrap="square">
            <a:spAutoFit/>
          </a:bodyPr>
          <a:lstStyle/>
          <a:p>
            <a:pPr algn="l"/>
            <a:r>
              <a:rPr sz="1000" b="1" i="0">
                <a:solidFill>
                  <a:srgbClr val="0C3570"/>
                </a:solidFill>
              </a:rPr>
              <a:t>P：流通（Place）</a:t>
            </a:r>
          </a:p>
        </p:txBody>
      </p:sp>
      <p:sp>
        <p:nvSpPr>
          <p:cNvPr id="24" name="TextBox 23"/>
          <p:cNvSpPr txBox="1"/>
          <p:nvPr/>
        </p:nvSpPr>
        <p:spPr>
          <a:xfrm>
            <a:off x="658368" y="4663440"/>
            <a:ext cx="5266944" cy="347472"/>
          </a:xfrm>
          <a:prstGeom prst="rect">
            <a:avLst/>
          </a:prstGeom>
          <a:noFill/>
        </p:spPr>
        <p:txBody>
          <a:bodyPr wrap="square">
            <a:spAutoFit/>
          </a:bodyPr>
          <a:lstStyle/>
          <a:p>
            <a:pPr algn="l"/>
            <a:r>
              <a:rPr sz="750" b="0" i="0">
                <a:solidFill>
                  <a:srgbClr val="444444"/>
                </a:solidFill>
              </a:rPr>
              <a:t>製品・サービスの提供チャネル・パートナー戦略・地理的展開を記述する。</a:t>
            </a:r>
          </a:p>
        </p:txBody>
      </p:sp>
      <p:sp>
        <p:nvSpPr>
          <p:cNvPr id="25" name="TextBox 24"/>
          <p:cNvSpPr txBox="1"/>
          <p:nvPr/>
        </p:nvSpPr>
        <p:spPr>
          <a:xfrm>
            <a:off x="676656" y="5047488"/>
            <a:ext cx="5230368" cy="502920"/>
          </a:xfrm>
          <a:prstGeom prst="rect">
            <a:avLst/>
          </a:prstGeom>
          <a:noFill/>
        </p:spPr>
        <p:txBody>
          <a:bodyPr wrap="square">
            <a:spAutoFit/>
          </a:bodyPr>
          <a:lstStyle/>
          <a:p>
            <a:pPr algn="l"/>
            <a:r>
              <a:rPr sz="700" b="0" i="0">
                <a:solidFill>
                  <a:srgbClr val="444444"/>
                </a:solidFill>
              </a:rPr>
              <a:t>▶ 直販チャネル：インサイドセールスとフィールドセールスの2チャネルで、中堅〜大手企業に直接アプローチする。</a:t>
            </a:r>
          </a:p>
        </p:txBody>
      </p:sp>
      <p:sp>
        <p:nvSpPr>
          <p:cNvPr id="26" name="TextBox 25"/>
          <p:cNvSpPr txBox="1"/>
          <p:nvPr/>
        </p:nvSpPr>
        <p:spPr>
          <a:xfrm>
            <a:off x="676656" y="5577840"/>
            <a:ext cx="5230368" cy="502920"/>
          </a:xfrm>
          <a:prstGeom prst="rect">
            <a:avLst/>
          </a:prstGeom>
          <a:noFill/>
        </p:spPr>
        <p:txBody>
          <a:bodyPr wrap="square">
            <a:spAutoFit/>
          </a:bodyPr>
          <a:lstStyle/>
          <a:p>
            <a:pPr algn="l"/>
            <a:r>
              <a:rPr sz="700" b="0" i="0">
                <a:solidFill>
                  <a:srgbClr val="444444"/>
                </a:solidFill>
              </a:rPr>
              <a:t>▶ パートナー：SIerとコンサルティング会社との提携により、既存顧客基盤を活用した間接販売チャネルを構築する。</a:t>
            </a:r>
          </a:p>
        </p:txBody>
      </p:sp>
      <p:sp>
        <p:nvSpPr>
          <p:cNvPr id="27" name="Rectangle 26"/>
          <p:cNvSpPr/>
          <p:nvPr/>
        </p:nvSpPr>
        <p:spPr>
          <a:xfrm>
            <a:off x="6126479" y="4297680"/>
            <a:ext cx="5486400" cy="237744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126479" y="4297680"/>
            <a:ext cx="5486400" cy="36576"/>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36207" y="4389120"/>
            <a:ext cx="5266944" cy="237744"/>
          </a:xfrm>
          <a:prstGeom prst="rect">
            <a:avLst/>
          </a:prstGeom>
          <a:noFill/>
        </p:spPr>
        <p:txBody>
          <a:bodyPr wrap="square">
            <a:spAutoFit/>
          </a:bodyPr>
          <a:lstStyle/>
          <a:p>
            <a:pPr algn="l"/>
            <a:r>
              <a:rPr sz="1000" b="1" i="0">
                <a:solidFill>
                  <a:srgbClr val="0C3570"/>
                </a:solidFill>
              </a:rPr>
              <a:t>P：プロモーション（Promotion）</a:t>
            </a:r>
          </a:p>
        </p:txBody>
      </p:sp>
      <p:sp>
        <p:nvSpPr>
          <p:cNvPr id="30" name="TextBox 29"/>
          <p:cNvSpPr txBox="1"/>
          <p:nvPr/>
        </p:nvSpPr>
        <p:spPr>
          <a:xfrm>
            <a:off x="6236207" y="4663440"/>
            <a:ext cx="5266944" cy="347472"/>
          </a:xfrm>
          <a:prstGeom prst="rect">
            <a:avLst/>
          </a:prstGeom>
          <a:noFill/>
        </p:spPr>
        <p:txBody>
          <a:bodyPr wrap="square">
            <a:spAutoFit/>
          </a:bodyPr>
          <a:lstStyle/>
          <a:p>
            <a:pPr algn="l"/>
            <a:r>
              <a:rPr sz="750" b="0" i="0">
                <a:solidFill>
                  <a:srgbClr val="444444"/>
                </a:solidFill>
              </a:rPr>
              <a:t>認知拡大・リード獲得・成約促進のための施策と予算配分を記述する。</a:t>
            </a:r>
          </a:p>
        </p:txBody>
      </p:sp>
      <p:sp>
        <p:nvSpPr>
          <p:cNvPr id="31" name="TextBox 30"/>
          <p:cNvSpPr txBox="1"/>
          <p:nvPr/>
        </p:nvSpPr>
        <p:spPr>
          <a:xfrm>
            <a:off x="6254495" y="5047488"/>
            <a:ext cx="5230368" cy="502920"/>
          </a:xfrm>
          <a:prstGeom prst="rect">
            <a:avLst/>
          </a:prstGeom>
          <a:noFill/>
        </p:spPr>
        <p:txBody>
          <a:bodyPr wrap="square">
            <a:spAutoFit/>
          </a:bodyPr>
          <a:lstStyle/>
          <a:p>
            <a:pPr algn="l"/>
            <a:r>
              <a:rPr sz="700" b="0" i="0">
                <a:solidFill>
                  <a:srgbClr val="444444"/>
                </a:solidFill>
              </a:rPr>
              <a:t>▶ コンテンツ：業界特化のホワイトペーパーと成功事例集により、見込み顧客の課題解決を支援しながら信頼を構築する。</a:t>
            </a:r>
          </a:p>
        </p:txBody>
      </p:sp>
      <p:sp>
        <p:nvSpPr>
          <p:cNvPr id="32" name="TextBox 31"/>
          <p:cNvSpPr txBox="1"/>
          <p:nvPr/>
        </p:nvSpPr>
        <p:spPr>
          <a:xfrm>
            <a:off x="6254495" y="5577840"/>
            <a:ext cx="5230368" cy="502920"/>
          </a:xfrm>
          <a:prstGeom prst="rect">
            <a:avLst/>
          </a:prstGeom>
          <a:noFill/>
        </p:spPr>
        <p:txBody>
          <a:bodyPr wrap="square">
            <a:spAutoFit/>
          </a:bodyPr>
          <a:lstStyle/>
          <a:p>
            <a:pPr algn="l"/>
            <a:r>
              <a:rPr sz="700" b="0" i="0">
                <a:solidFill>
                  <a:srgbClr val="444444"/>
                </a:solidFill>
              </a:rPr>
              <a:t>▶ イベント：業界カンファレンスへの出展と自社主催ウェビナーにより、ターゲット顧客との接点を創出する。</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STP分析：セグメンテーション・ターゲティング・ポジショニングで戦略的市場参入を設計する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stp ／ 用途: 市場戦略の3段階設計 ／ 件数: 3件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STP分析の結果、中堅IT企業と大手製造業を最優先ターゲットに設定し、「最速導入×最高サポート」のポジションを確立することを推奨する。</a:t>
            </a:r>
          </a:p>
        </p:txBody>
      </p:sp>
      <p:sp>
        <p:nvSpPr>
          <p:cNvPr id="10" name="Rectangle 9"/>
          <p:cNvSpPr/>
          <p:nvPr/>
        </p:nvSpPr>
        <p:spPr>
          <a:xfrm>
            <a:off x="548640" y="1828800"/>
            <a:ext cx="362712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828800"/>
            <a:ext cx="3627120" cy="36576"/>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920240"/>
            <a:ext cx="3407664" cy="237744"/>
          </a:xfrm>
          <a:prstGeom prst="rect">
            <a:avLst/>
          </a:prstGeom>
          <a:noFill/>
        </p:spPr>
        <p:txBody>
          <a:bodyPr wrap="square">
            <a:spAutoFit/>
          </a:bodyPr>
          <a:lstStyle/>
          <a:p>
            <a:pPr algn="l"/>
            <a:r>
              <a:rPr sz="1000" b="1" i="0">
                <a:solidFill>
                  <a:srgbClr val="0C3570"/>
                </a:solidFill>
              </a:rPr>
              <a:t>S：セグメンテーション</a:t>
            </a:r>
          </a:p>
        </p:txBody>
      </p:sp>
      <p:sp>
        <p:nvSpPr>
          <p:cNvPr id="13" name="TextBox 12"/>
          <p:cNvSpPr txBox="1"/>
          <p:nvPr/>
        </p:nvSpPr>
        <p:spPr>
          <a:xfrm>
            <a:off x="658368" y="2194560"/>
            <a:ext cx="3407664" cy="347472"/>
          </a:xfrm>
          <a:prstGeom prst="rect">
            <a:avLst/>
          </a:prstGeom>
          <a:noFill/>
        </p:spPr>
        <p:txBody>
          <a:bodyPr wrap="square">
            <a:spAutoFit/>
          </a:bodyPr>
          <a:lstStyle/>
          <a:p>
            <a:pPr algn="l"/>
            <a:r>
              <a:rPr sz="750" b="0" i="0">
                <a:solidFill>
                  <a:srgbClr val="444444"/>
                </a:solidFill>
              </a:rPr>
              <a:t>市場を意味のある基準で分割し、各セグメントの特性と規模を明確にする。</a:t>
            </a:r>
          </a:p>
        </p:txBody>
      </p:sp>
      <p:sp>
        <p:nvSpPr>
          <p:cNvPr id="14" name="TextBox 13"/>
          <p:cNvSpPr txBox="1"/>
          <p:nvPr/>
        </p:nvSpPr>
        <p:spPr>
          <a:xfrm>
            <a:off x="676656" y="2578608"/>
            <a:ext cx="3371088" cy="502920"/>
          </a:xfrm>
          <a:prstGeom prst="rect">
            <a:avLst/>
          </a:prstGeom>
          <a:noFill/>
        </p:spPr>
        <p:txBody>
          <a:bodyPr wrap="square">
            <a:spAutoFit/>
          </a:bodyPr>
          <a:lstStyle/>
          <a:p>
            <a:pPr algn="l"/>
            <a:r>
              <a:rPr sz="700" b="0" i="0">
                <a:solidFill>
                  <a:srgbClr val="444444"/>
                </a:solidFill>
              </a:rPr>
              <a:t>▶ 企業規模別：大手企業（売上100億円以上）・中堅企業（10〜100億円）・中小企業（10億円未満）の3セグメントに分類。</a:t>
            </a:r>
          </a:p>
        </p:txBody>
      </p:sp>
      <p:sp>
        <p:nvSpPr>
          <p:cNvPr id="15" name="TextBox 14"/>
          <p:cNvSpPr txBox="1"/>
          <p:nvPr/>
        </p:nvSpPr>
        <p:spPr>
          <a:xfrm>
            <a:off x="676656" y="3108960"/>
            <a:ext cx="3371088" cy="502920"/>
          </a:xfrm>
          <a:prstGeom prst="rect">
            <a:avLst/>
          </a:prstGeom>
          <a:noFill/>
        </p:spPr>
        <p:txBody>
          <a:bodyPr wrap="square">
            <a:spAutoFit/>
          </a:bodyPr>
          <a:lstStyle/>
          <a:p>
            <a:pPr algn="l"/>
            <a:r>
              <a:rPr sz="700" b="0" i="0">
                <a:solidFill>
                  <a:srgbClr val="444444"/>
                </a:solidFill>
              </a:rPr>
              <a:t>▶ 業種別：IT・製造・金融・小売の4業種に分類。各業種でDX推進の優先度と予算規模が異なる。</a:t>
            </a:r>
          </a:p>
        </p:txBody>
      </p:sp>
      <p:sp>
        <p:nvSpPr>
          <p:cNvPr id="16" name="TextBox 15"/>
          <p:cNvSpPr txBox="1"/>
          <p:nvPr/>
        </p:nvSpPr>
        <p:spPr>
          <a:xfrm>
            <a:off x="676656" y="3639312"/>
            <a:ext cx="3371088" cy="502920"/>
          </a:xfrm>
          <a:prstGeom prst="rect">
            <a:avLst/>
          </a:prstGeom>
          <a:noFill/>
        </p:spPr>
        <p:txBody>
          <a:bodyPr wrap="square">
            <a:spAutoFit/>
          </a:bodyPr>
          <a:lstStyle/>
          <a:p>
            <a:pPr algn="l"/>
            <a:r>
              <a:rPr sz="700" b="0" i="0">
                <a:solidFill>
                  <a:srgbClr val="444444"/>
                </a:solidFill>
              </a:rPr>
              <a:t>▶ ニーズ別：スピード重視・コスト重視・品質重視の3タイプに分類。意思決定者の属性により優先軸が異なる。</a:t>
            </a:r>
          </a:p>
        </p:txBody>
      </p:sp>
      <p:sp>
        <p:nvSpPr>
          <p:cNvPr id="17" name="Rectangle 16"/>
          <p:cNvSpPr/>
          <p:nvPr/>
        </p:nvSpPr>
        <p:spPr>
          <a:xfrm>
            <a:off x="4267199" y="1828800"/>
            <a:ext cx="3627120" cy="4846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76928" y="1920240"/>
            <a:ext cx="3407664" cy="237744"/>
          </a:xfrm>
          <a:prstGeom prst="rect">
            <a:avLst/>
          </a:prstGeom>
          <a:noFill/>
        </p:spPr>
        <p:txBody>
          <a:bodyPr wrap="square">
            <a:spAutoFit/>
          </a:bodyPr>
          <a:lstStyle/>
          <a:p>
            <a:pPr algn="l"/>
            <a:r>
              <a:rPr sz="1000" b="1" i="0">
                <a:solidFill>
                  <a:srgbClr val="FFFFFF"/>
                </a:solidFill>
              </a:rPr>
              <a:t>T：ターゲティング</a:t>
            </a:r>
          </a:p>
        </p:txBody>
      </p:sp>
      <p:sp>
        <p:nvSpPr>
          <p:cNvPr id="19" name="TextBox 18"/>
          <p:cNvSpPr txBox="1"/>
          <p:nvPr/>
        </p:nvSpPr>
        <p:spPr>
          <a:xfrm>
            <a:off x="4376928" y="2194560"/>
            <a:ext cx="3407664" cy="347472"/>
          </a:xfrm>
          <a:prstGeom prst="rect">
            <a:avLst/>
          </a:prstGeom>
          <a:noFill/>
        </p:spPr>
        <p:txBody>
          <a:bodyPr wrap="square">
            <a:spAutoFit/>
          </a:bodyPr>
          <a:lstStyle/>
          <a:p>
            <a:pPr algn="l"/>
            <a:r>
              <a:rPr sz="750" b="0" i="0">
                <a:solidFill>
                  <a:srgbClr val="FFFFFF"/>
                </a:solidFill>
              </a:rPr>
              <a:t>最も収益性が高く、自社の強みが活きるセグメントを選定する根拠を記述する。</a:t>
            </a:r>
          </a:p>
        </p:txBody>
      </p:sp>
      <p:sp>
        <p:nvSpPr>
          <p:cNvPr id="20" name="TextBox 19"/>
          <p:cNvSpPr txBox="1"/>
          <p:nvPr/>
        </p:nvSpPr>
        <p:spPr>
          <a:xfrm>
            <a:off x="4395215" y="2578608"/>
            <a:ext cx="3371088" cy="502920"/>
          </a:xfrm>
          <a:prstGeom prst="rect">
            <a:avLst/>
          </a:prstGeom>
          <a:noFill/>
        </p:spPr>
        <p:txBody>
          <a:bodyPr wrap="square">
            <a:spAutoFit/>
          </a:bodyPr>
          <a:lstStyle/>
          <a:p>
            <a:pPr algn="l"/>
            <a:r>
              <a:rPr sz="700" b="0" i="0">
                <a:solidFill>
                  <a:srgbClr val="FFFFFF"/>
                </a:solidFill>
              </a:rPr>
              <a:t>▶ 最優先ターゲット：中堅IT企業（売上10〜100億円）と大手製造業（売上100億円以上）を最優先ターゲットに設定する。</a:t>
            </a:r>
          </a:p>
        </p:txBody>
      </p:sp>
      <p:sp>
        <p:nvSpPr>
          <p:cNvPr id="21" name="TextBox 20"/>
          <p:cNvSpPr txBox="1"/>
          <p:nvPr/>
        </p:nvSpPr>
        <p:spPr>
          <a:xfrm>
            <a:off x="4395215" y="3108960"/>
            <a:ext cx="3371088" cy="502920"/>
          </a:xfrm>
          <a:prstGeom prst="rect">
            <a:avLst/>
          </a:prstGeom>
          <a:noFill/>
        </p:spPr>
        <p:txBody>
          <a:bodyPr wrap="square">
            <a:spAutoFit/>
          </a:bodyPr>
          <a:lstStyle/>
          <a:p>
            <a:pPr algn="l"/>
            <a:r>
              <a:rPr sz="700" b="0" i="0">
                <a:solidFill>
                  <a:srgbClr val="FFFFFF"/>
                </a:solidFill>
              </a:rPr>
              <a:t>▶ 選定根拠：継続率92%・LTV高・紹介効果大の3点で最も収益性が高く、自社の技術優位が最も活きるセグメントである。</a:t>
            </a:r>
          </a:p>
        </p:txBody>
      </p:sp>
      <p:sp>
        <p:nvSpPr>
          <p:cNvPr id="22" name="TextBox 21"/>
          <p:cNvSpPr txBox="1"/>
          <p:nvPr/>
        </p:nvSpPr>
        <p:spPr>
          <a:xfrm>
            <a:off x="4395215" y="3639312"/>
            <a:ext cx="3371088" cy="502920"/>
          </a:xfrm>
          <a:prstGeom prst="rect">
            <a:avLst/>
          </a:prstGeom>
          <a:noFill/>
        </p:spPr>
        <p:txBody>
          <a:bodyPr wrap="square">
            <a:spAutoFit/>
          </a:bodyPr>
          <a:lstStyle/>
          <a:p>
            <a:pPr algn="l"/>
            <a:r>
              <a:rPr sz="700" b="0" i="0">
                <a:solidFill>
                  <a:srgbClr val="FFFFFF"/>
                </a:solidFill>
              </a:rPr>
              <a:t>▶ 市場規模：最優先ターゲットの合計市場規模は年間800億円。現在の市場シェア3%から10%への拡大を目指す。</a:t>
            </a:r>
          </a:p>
        </p:txBody>
      </p:sp>
      <p:sp>
        <p:nvSpPr>
          <p:cNvPr id="23" name="Rectangle 22"/>
          <p:cNvSpPr/>
          <p:nvPr/>
        </p:nvSpPr>
        <p:spPr>
          <a:xfrm>
            <a:off x="7985759" y="1828800"/>
            <a:ext cx="3627120" cy="4846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985759" y="1828800"/>
            <a:ext cx="3627120" cy="36576"/>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95487" y="1920240"/>
            <a:ext cx="3407664" cy="237744"/>
          </a:xfrm>
          <a:prstGeom prst="rect">
            <a:avLst/>
          </a:prstGeom>
          <a:noFill/>
        </p:spPr>
        <p:txBody>
          <a:bodyPr wrap="square">
            <a:spAutoFit/>
          </a:bodyPr>
          <a:lstStyle/>
          <a:p>
            <a:pPr algn="l"/>
            <a:r>
              <a:rPr sz="1000" b="1" i="0">
                <a:solidFill>
                  <a:srgbClr val="0C3570"/>
                </a:solidFill>
              </a:rPr>
              <a:t>P：ポジショニング</a:t>
            </a:r>
          </a:p>
        </p:txBody>
      </p:sp>
      <p:sp>
        <p:nvSpPr>
          <p:cNvPr id="26" name="TextBox 25"/>
          <p:cNvSpPr txBox="1"/>
          <p:nvPr/>
        </p:nvSpPr>
        <p:spPr>
          <a:xfrm>
            <a:off x="8095487" y="2194560"/>
            <a:ext cx="3407664" cy="347472"/>
          </a:xfrm>
          <a:prstGeom prst="rect">
            <a:avLst/>
          </a:prstGeom>
          <a:noFill/>
        </p:spPr>
        <p:txBody>
          <a:bodyPr wrap="square">
            <a:spAutoFit/>
          </a:bodyPr>
          <a:lstStyle/>
          <a:p>
            <a:pPr algn="l"/>
            <a:r>
              <a:rPr sz="750" b="0" i="0">
                <a:solidFill>
                  <a:srgbClr val="444444"/>
                </a:solidFill>
              </a:rPr>
              <a:t>ターゲット顧客の心の中で、競合と差別化された独自のポジションを確立する方法を記述する。</a:t>
            </a:r>
          </a:p>
        </p:txBody>
      </p:sp>
      <p:sp>
        <p:nvSpPr>
          <p:cNvPr id="27" name="TextBox 26"/>
          <p:cNvSpPr txBox="1"/>
          <p:nvPr/>
        </p:nvSpPr>
        <p:spPr>
          <a:xfrm>
            <a:off x="8113776" y="2578608"/>
            <a:ext cx="3371088" cy="502920"/>
          </a:xfrm>
          <a:prstGeom prst="rect">
            <a:avLst/>
          </a:prstGeom>
          <a:noFill/>
        </p:spPr>
        <p:txBody>
          <a:bodyPr wrap="square">
            <a:spAutoFit/>
          </a:bodyPr>
          <a:lstStyle/>
          <a:p>
            <a:pPr algn="l"/>
            <a:r>
              <a:rPr sz="700" b="0" i="0">
                <a:solidFill>
                  <a:srgbClr val="444444"/>
                </a:solidFill>
              </a:rPr>
              <a:t>▶ ポジション：「最速導入（4週間）×最高サポート（24時間365日）」のポジションを確立し、競合との明確な差別化を図る。</a:t>
            </a:r>
          </a:p>
        </p:txBody>
      </p:sp>
      <p:sp>
        <p:nvSpPr>
          <p:cNvPr id="28" name="TextBox 27"/>
          <p:cNvSpPr txBox="1"/>
          <p:nvPr/>
        </p:nvSpPr>
        <p:spPr>
          <a:xfrm>
            <a:off x="8113776" y="3108960"/>
            <a:ext cx="3371088" cy="502920"/>
          </a:xfrm>
          <a:prstGeom prst="rect">
            <a:avLst/>
          </a:prstGeom>
          <a:noFill/>
        </p:spPr>
        <p:txBody>
          <a:bodyPr wrap="square">
            <a:spAutoFit/>
          </a:bodyPr>
          <a:lstStyle/>
          <a:p>
            <a:pPr algn="l"/>
            <a:r>
              <a:rPr sz="700" b="0" i="0">
                <a:solidFill>
                  <a:srgbClr val="444444"/>
                </a:solidFill>
              </a:rPr>
              <a:t>▶ 訴求メッセージ：「導入から30日で成果を実感できる唯一のSaaS」というメッセージで、スピードと確実性を訴求する。</a:t>
            </a:r>
          </a:p>
        </p:txBody>
      </p:sp>
      <p:sp>
        <p:nvSpPr>
          <p:cNvPr id="29" name="TextBox 28"/>
          <p:cNvSpPr txBox="1"/>
          <p:nvPr/>
        </p:nvSpPr>
        <p:spPr>
          <a:xfrm>
            <a:off x="8113776" y="3639312"/>
            <a:ext cx="3371088" cy="502920"/>
          </a:xfrm>
          <a:prstGeom prst="rect">
            <a:avLst/>
          </a:prstGeom>
          <a:noFill/>
        </p:spPr>
        <p:txBody>
          <a:bodyPr wrap="square">
            <a:spAutoFit/>
          </a:bodyPr>
          <a:lstStyle/>
          <a:p>
            <a:pPr algn="l"/>
            <a:r>
              <a:rPr sz="700" b="0" i="0">
                <a:solidFill>
                  <a:srgbClr val="444444"/>
                </a:solidFill>
              </a:rPr>
              <a:t>▶ 証拠：200社以上の導入実績と、業界最高水準の継続率87%が、ポジションの信頼性を裏付ける証拠となる。</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バリュープロポジションキャンバス：顧客の課題と自社の価値提供の適合性を検証する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value_proposition_canvas ／ 用途: 顧客価値の適合性検証 ／ 件数: 2件</a:t>
            </a:r>
          </a:p>
        </p:txBody>
      </p:sp>
      <p:sp>
        <p:nvSpPr>
          <p:cNvPr id="7" name="Rectangle 6"/>
          <p:cNvSpPr/>
          <p:nvPr/>
        </p:nvSpPr>
        <p:spPr>
          <a:xfrm>
            <a:off x="0" y="6784848"/>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顧客プロファイル（課題・利得・ジョブ）と価値マップ（痛み解消・利得創出・製品）の適合性を検証し、提案の価値を明確化する。</a:t>
            </a:r>
          </a:p>
        </p:txBody>
      </p:sp>
      <p:sp>
        <p:nvSpPr>
          <p:cNvPr id="10" name="TextBox 9"/>
          <p:cNvSpPr txBox="1"/>
          <p:nvPr/>
        </p:nvSpPr>
        <p:spPr>
          <a:xfrm>
            <a:off x="548640" y="1874519"/>
            <a:ext cx="5394960" cy="228600"/>
          </a:xfrm>
          <a:prstGeom prst="rect">
            <a:avLst/>
          </a:prstGeom>
          <a:noFill/>
        </p:spPr>
        <p:txBody>
          <a:bodyPr wrap="square">
            <a:spAutoFit/>
          </a:bodyPr>
          <a:lstStyle/>
          <a:p>
            <a:pPr algn="l"/>
            <a:r>
              <a:rPr sz="900" b="1" i="0">
                <a:solidFill>
                  <a:srgbClr val="1D51A3"/>
                </a:solidFill>
              </a:rPr>
              <a:t>顧客プロファイル（Customer Profile）</a:t>
            </a:r>
          </a:p>
        </p:txBody>
      </p:sp>
      <p:sp>
        <p:nvSpPr>
          <p:cNvPr id="11" name="Rectangle 10"/>
          <p:cNvSpPr/>
          <p:nvPr/>
        </p:nvSpPr>
        <p:spPr>
          <a:xfrm>
            <a:off x="548640" y="2148840"/>
            <a:ext cx="5394960" cy="1417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2221992"/>
            <a:ext cx="5175504" cy="201168"/>
          </a:xfrm>
          <a:prstGeom prst="rect">
            <a:avLst/>
          </a:prstGeom>
          <a:noFill/>
        </p:spPr>
        <p:txBody>
          <a:bodyPr wrap="square">
            <a:spAutoFit/>
          </a:bodyPr>
          <a:lstStyle/>
          <a:p>
            <a:pPr algn="l"/>
            <a:r>
              <a:rPr sz="850" b="1" i="0">
                <a:solidFill>
                  <a:srgbClr val="0C3570"/>
                </a:solidFill>
              </a:rPr>
              <a:t>顧客のジョブ（Jobs to be done）</a:t>
            </a:r>
          </a:p>
        </p:txBody>
      </p:sp>
      <p:sp>
        <p:nvSpPr>
          <p:cNvPr id="13" name="TextBox 12"/>
          <p:cNvSpPr txBox="1"/>
          <p:nvPr/>
        </p:nvSpPr>
        <p:spPr>
          <a:xfrm>
            <a:off x="658368" y="2441448"/>
            <a:ext cx="5175504" cy="256032"/>
          </a:xfrm>
          <a:prstGeom prst="rect">
            <a:avLst/>
          </a:prstGeom>
          <a:noFill/>
        </p:spPr>
        <p:txBody>
          <a:bodyPr wrap="square">
            <a:spAutoFit/>
          </a:bodyPr>
          <a:lstStyle/>
          <a:p>
            <a:pPr algn="l"/>
            <a:r>
              <a:rPr sz="750" b="0" i="0">
                <a:solidFill>
                  <a:srgbClr val="444444"/>
                </a:solidFill>
              </a:rPr>
              <a:t>顧客が達成しようとしている目標・タスク・問題を記述する。</a:t>
            </a:r>
          </a:p>
        </p:txBody>
      </p:sp>
      <p:sp>
        <p:nvSpPr>
          <p:cNvPr id="14" name="TextBox 13"/>
          <p:cNvSpPr txBox="1"/>
          <p:nvPr/>
        </p:nvSpPr>
        <p:spPr>
          <a:xfrm>
            <a:off x="694944" y="2743200"/>
            <a:ext cx="5120640" cy="384048"/>
          </a:xfrm>
          <a:prstGeom prst="rect">
            <a:avLst/>
          </a:prstGeom>
          <a:noFill/>
        </p:spPr>
        <p:txBody>
          <a:bodyPr wrap="square">
            <a:spAutoFit/>
          </a:bodyPr>
          <a:lstStyle/>
          <a:p>
            <a:pPr algn="l"/>
            <a:r>
              <a:rPr sz="700" b="0" i="0">
                <a:solidFill>
                  <a:srgbClr val="444444"/>
                </a:solidFill>
              </a:rPr>
              <a:t>▶ 機能的ジョブ：顧客対応の効率化と品質向上を実現し、限られた人員で最大の成果を出したい。</a:t>
            </a:r>
          </a:p>
        </p:txBody>
      </p:sp>
      <p:sp>
        <p:nvSpPr>
          <p:cNvPr id="15" name="TextBox 14"/>
          <p:cNvSpPr txBox="1"/>
          <p:nvPr/>
        </p:nvSpPr>
        <p:spPr>
          <a:xfrm>
            <a:off x="694944" y="3145536"/>
            <a:ext cx="5120640" cy="384048"/>
          </a:xfrm>
          <a:prstGeom prst="rect">
            <a:avLst/>
          </a:prstGeom>
          <a:noFill/>
        </p:spPr>
        <p:txBody>
          <a:bodyPr wrap="square">
            <a:spAutoFit/>
          </a:bodyPr>
          <a:lstStyle/>
          <a:p>
            <a:pPr algn="l"/>
            <a:r>
              <a:rPr sz="700" b="0" i="0">
                <a:solidFill>
                  <a:srgbClr val="444444"/>
                </a:solidFill>
              </a:rPr>
              <a:t>▶ 感情的ジョブ：顧客から信頼される企業として認められ、業界内での評判を高めたい。</a:t>
            </a:r>
          </a:p>
        </p:txBody>
      </p:sp>
      <p:sp>
        <p:nvSpPr>
          <p:cNvPr id="16" name="Rectangle 15"/>
          <p:cNvSpPr/>
          <p:nvPr/>
        </p:nvSpPr>
        <p:spPr>
          <a:xfrm>
            <a:off x="548640" y="3657600"/>
            <a:ext cx="5394960" cy="1417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3730752"/>
            <a:ext cx="5175504" cy="201168"/>
          </a:xfrm>
          <a:prstGeom prst="rect">
            <a:avLst/>
          </a:prstGeom>
          <a:noFill/>
        </p:spPr>
        <p:txBody>
          <a:bodyPr wrap="square">
            <a:spAutoFit/>
          </a:bodyPr>
          <a:lstStyle/>
          <a:p>
            <a:pPr algn="l"/>
            <a:r>
              <a:rPr sz="850" b="1" i="0">
                <a:solidFill>
                  <a:srgbClr val="0C3570"/>
                </a:solidFill>
              </a:rPr>
              <a:t>顧客の痛み（Pains）</a:t>
            </a:r>
          </a:p>
        </p:txBody>
      </p:sp>
      <p:sp>
        <p:nvSpPr>
          <p:cNvPr id="18" name="TextBox 17"/>
          <p:cNvSpPr txBox="1"/>
          <p:nvPr/>
        </p:nvSpPr>
        <p:spPr>
          <a:xfrm>
            <a:off x="658368" y="3950208"/>
            <a:ext cx="5175504" cy="256032"/>
          </a:xfrm>
          <a:prstGeom prst="rect">
            <a:avLst/>
          </a:prstGeom>
          <a:noFill/>
        </p:spPr>
        <p:txBody>
          <a:bodyPr wrap="square">
            <a:spAutoFit/>
          </a:bodyPr>
          <a:lstStyle/>
          <a:p>
            <a:pPr algn="l"/>
            <a:r>
              <a:rPr sz="750" b="0" i="0">
                <a:solidFill>
                  <a:srgbClr val="444444"/>
                </a:solidFill>
              </a:rPr>
              <a:t>顧客が経験している課題・リスク・障壁を記述する。</a:t>
            </a:r>
          </a:p>
        </p:txBody>
      </p:sp>
      <p:sp>
        <p:nvSpPr>
          <p:cNvPr id="19" name="TextBox 18"/>
          <p:cNvSpPr txBox="1"/>
          <p:nvPr/>
        </p:nvSpPr>
        <p:spPr>
          <a:xfrm>
            <a:off x="694944" y="4251960"/>
            <a:ext cx="5120640" cy="384048"/>
          </a:xfrm>
          <a:prstGeom prst="rect">
            <a:avLst/>
          </a:prstGeom>
          <a:noFill/>
        </p:spPr>
        <p:txBody>
          <a:bodyPr wrap="square">
            <a:spAutoFit/>
          </a:bodyPr>
          <a:lstStyle/>
          <a:p>
            <a:pPr algn="l"/>
            <a:r>
              <a:rPr sz="700" b="0" i="0">
                <a:solidFill>
                  <a:srgbClr val="444444"/>
                </a:solidFill>
              </a:rPr>
              <a:t>▶ 主要な痛み：対応時間が長く顧客満足度が低い。担当者の経験差による品質のばらつきが解消できない。</a:t>
            </a:r>
          </a:p>
        </p:txBody>
      </p:sp>
      <p:sp>
        <p:nvSpPr>
          <p:cNvPr id="20" name="TextBox 19"/>
          <p:cNvSpPr txBox="1"/>
          <p:nvPr/>
        </p:nvSpPr>
        <p:spPr>
          <a:xfrm>
            <a:off x="694944" y="4654296"/>
            <a:ext cx="5120640" cy="384048"/>
          </a:xfrm>
          <a:prstGeom prst="rect">
            <a:avLst/>
          </a:prstGeom>
          <a:noFill/>
        </p:spPr>
        <p:txBody>
          <a:bodyPr wrap="square">
            <a:spAutoFit/>
          </a:bodyPr>
          <a:lstStyle/>
          <a:p>
            <a:pPr algn="l"/>
            <a:r>
              <a:rPr sz="700" b="0" i="0">
                <a:solidFill>
                  <a:srgbClr val="444444"/>
                </a:solidFill>
              </a:rPr>
              <a:t>▶ 副次的な痛み：ナレッジが個人に蓄積されており、担当者交代時の引き継ぎコストが大きい。</a:t>
            </a:r>
          </a:p>
        </p:txBody>
      </p:sp>
      <p:sp>
        <p:nvSpPr>
          <p:cNvPr id="21" name="Rectangle 20"/>
          <p:cNvSpPr/>
          <p:nvPr/>
        </p:nvSpPr>
        <p:spPr>
          <a:xfrm>
            <a:off x="548640" y="5166360"/>
            <a:ext cx="5394960" cy="1417320"/>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 y="5239512"/>
            <a:ext cx="5175504" cy="201168"/>
          </a:xfrm>
          <a:prstGeom prst="rect">
            <a:avLst/>
          </a:prstGeom>
          <a:noFill/>
        </p:spPr>
        <p:txBody>
          <a:bodyPr wrap="square">
            <a:spAutoFit/>
          </a:bodyPr>
          <a:lstStyle/>
          <a:p>
            <a:pPr algn="l"/>
            <a:r>
              <a:rPr sz="850" b="1" i="0">
                <a:solidFill>
                  <a:srgbClr val="0C3570"/>
                </a:solidFill>
              </a:rPr>
              <a:t>顧客の利得（Gains）</a:t>
            </a:r>
          </a:p>
        </p:txBody>
      </p:sp>
      <p:sp>
        <p:nvSpPr>
          <p:cNvPr id="23" name="TextBox 22"/>
          <p:cNvSpPr txBox="1"/>
          <p:nvPr/>
        </p:nvSpPr>
        <p:spPr>
          <a:xfrm>
            <a:off x="658368" y="5458968"/>
            <a:ext cx="5175504" cy="256032"/>
          </a:xfrm>
          <a:prstGeom prst="rect">
            <a:avLst/>
          </a:prstGeom>
          <a:noFill/>
        </p:spPr>
        <p:txBody>
          <a:bodyPr wrap="square">
            <a:spAutoFit/>
          </a:bodyPr>
          <a:lstStyle/>
          <a:p>
            <a:pPr algn="l"/>
            <a:r>
              <a:rPr sz="750" b="0" i="0">
                <a:solidFill>
                  <a:srgbClr val="444444"/>
                </a:solidFill>
              </a:rPr>
              <a:t>顧客が期待している成果・メリット・喜びを記述する。</a:t>
            </a:r>
          </a:p>
        </p:txBody>
      </p:sp>
      <p:sp>
        <p:nvSpPr>
          <p:cNvPr id="24" name="TextBox 23"/>
          <p:cNvSpPr txBox="1"/>
          <p:nvPr/>
        </p:nvSpPr>
        <p:spPr>
          <a:xfrm>
            <a:off x="694944" y="5760720"/>
            <a:ext cx="5120640" cy="384048"/>
          </a:xfrm>
          <a:prstGeom prst="rect">
            <a:avLst/>
          </a:prstGeom>
          <a:noFill/>
        </p:spPr>
        <p:txBody>
          <a:bodyPr wrap="square">
            <a:spAutoFit/>
          </a:bodyPr>
          <a:lstStyle/>
          <a:p>
            <a:pPr algn="l"/>
            <a:r>
              <a:rPr sz="700" b="0" i="0">
                <a:solidFill>
                  <a:srgbClr val="444444"/>
                </a:solidFill>
              </a:rPr>
              <a:t>▶ 必須の利得：対応時間の短縮と品質の均一化により、顧客満足度スコアを業界平均以上に改善したい。</a:t>
            </a:r>
          </a:p>
        </p:txBody>
      </p:sp>
      <p:sp>
        <p:nvSpPr>
          <p:cNvPr id="25" name="TextBox 24"/>
          <p:cNvSpPr txBox="1"/>
          <p:nvPr/>
        </p:nvSpPr>
        <p:spPr>
          <a:xfrm>
            <a:off x="694944" y="6163056"/>
            <a:ext cx="5120640" cy="384048"/>
          </a:xfrm>
          <a:prstGeom prst="rect">
            <a:avLst/>
          </a:prstGeom>
          <a:noFill/>
        </p:spPr>
        <p:txBody>
          <a:bodyPr wrap="square">
            <a:spAutoFit/>
          </a:bodyPr>
          <a:lstStyle/>
          <a:p>
            <a:pPr algn="l"/>
            <a:r>
              <a:rPr sz="700" b="0" i="0">
                <a:solidFill>
                  <a:srgbClr val="444444"/>
                </a:solidFill>
              </a:rPr>
              <a:t>▶ 期待する利得：コスト削減と効率化により、CS担当者が戦略的な業務に集中できる環境を作りたい。</a:t>
            </a:r>
          </a:p>
        </p:txBody>
      </p:sp>
      <p:sp>
        <p:nvSpPr>
          <p:cNvPr id="26" name="TextBox 25"/>
          <p:cNvSpPr txBox="1"/>
          <p:nvPr/>
        </p:nvSpPr>
        <p:spPr>
          <a:xfrm>
            <a:off x="6080760" y="1874519"/>
            <a:ext cx="5394960" cy="228600"/>
          </a:xfrm>
          <a:prstGeom prst="rect">
            <a:avLst/>
          </a:prstGeom>
          <a:noFill/>
        </p:spPr>
        <p:txBody>
          <a:bodyPr wrap="square">
            <a:spAutoFit/>
          </a:bodyPr>
          <a:lstStyle/>
          <a:p>
            <a:pPr algn="l"/>
            <a:r>
              <a:rPr sz="900" b="1" i="0">
                <a:solidFill>
                  <a:srgbClr val="1D51A3"/>
                </a:solidFill>
              </a:rPr>
              <a:t>価値マップ（Value Map）</a:t>
            </a:r>
          </a:p>
        </p:txBody>
      </p:sp>
      <p:sp>
        <p:nvSpPr>
          <p:cNvPr id="27" name="Rectangle 26"/>
          <p:cNvSpPr/>
          <p:nvPr/>
        </p:nvSpPr>
        <p:spPr>
          <a:xfrm>
            <a:off x="6080760" y="2148840"/>
            <a:ext cx="5394960" cy="1417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90488" y="2221992"/>
            <a:ext cx="5175504" cy="201168"/>
          </a:xfrm>
          <a:prstGeom prst="rect">
            <a:avLst/>
          </a:prstGeom>
          <a:noFill/>
        </p:spPr>
        <p:txBody>
          <a:bodyPr wrap="square">
            <a:spAutoFit/>
          </a:bodyPr>
          <a:lstStyle/>
          <a:p>
            <a:pPr algn="l"/>
            <a:r>
              <a:rPr sz="850" b="1" i="0">
                <a:solidFill>
                  <a:srgbClr val="FFFFFF"/>
                </a:solidFill>
              </a:rPr>
              <a:t>製品・サービス（Products &amp; Services）</a:t>
            </a:r>
          </a:p>
        </p:txBody>
      </p:sp>
      <p:sp>
        <p:nvSpPr>
          <p:cNvPr id="29" name="TextBox 28"/>
          <p:cNvSpPr txBox="1"/>
          <p:nvPr/>
        </p:nvSpPr>
        <p:spPr>
          <a:xfrm>
            <a:off x="6190488" y="2441448"/>
            <a:ext cx="5175504" cy="256032"/>
          </a:xfrm>
          <a:prstGeom prst="rect">
            <a:avLst/>
          </a:prstGeom>
          <a:noFill/>
        </p:spPr>
        <p:txBody>
          <a:bodyPr wrap="square">
            <a:spAutoFit/>
          </a:bodyPr>
          <a:lstStyle/>
          <a:p>
            <a:pPr algn="l"/>
            <a:r>
              <a:rPr sz="750" b="0" i="0">
                <a:solidFill>
                  <a:srgbClr val="FFFFFF"/>
                </a:solidFill>
              </a:rPr>
              <a:t>顧客のジョブ達成を支援する製品・サービスを記述する。</a:t>
            </a:r>
          </a:p>
        </p:txBody>
      </p:sp>
      <p:sp>
        <p:nvSpPr>
          <p:cNvPr id="30" name="TextBox 29"/>
          <p:cNvSpPr txBox="1"/>
          <p:nvPr/>
        </p:nvSpPr>
        <p:spPr>
          <a:xfrm>
            <a:off x="6227064" y="2743200"/>
            <a:ext cx="5120640" cy="384048"/>
          </a:xfrm>
          <a:prstGeom prst="rect">
            <a:avLst/>
          </a:prstGeom>
          <a:noFill/>
        </p:spPr>
        <p:txBody>
          <a:bodyPr wrap="square">
            <a:spAutoFit/>
          </a:bodyPr>
          <a:lstStyle/>
          <a:p>
            <a:pPr algn="l"/>
            <a:r>
              <a:rPr sz="700" b="0" i="0">
                <a:solidFill>
                  <a:srgbClr val="FFFFFF"/>
                </a:solidFill>
              </a:rPr>
              <a:t>▶ コア製品：AI自動トリアージ・ヘルススコア管理・24時間サポートの3機能を統合したSaaSプラットフォーム。</a:t>
            </a:r>
          </a:p>
        </p:txBody>
      </p:sp>
      <p:sp>
        <p:nvSpPr>
          <p:cNvPr id="31" name="TextBox 30"/>
          <p:cNvSpPr txBox="1"/>
          <p:nvPr/>
        </p:nvSpPr>
        <p:spPr>
          <a:xfrm>
            <a:off x="6227064" y="3145536"/>
            <a:ext cx="5120640" cy="384048"/>
          </a:xfrm>
          <a:prstGeom prst="rect">
            <a:avLst/>
          </a:prstGeom>
          <a:noFill/>
        </p:spPr>
        <p:txBody>
          <a:bodyPr wrap="square">
            <a:spAutoFit/>
          </a:bodyPr>
          <a:lstStyle/>
          <a:p>
            <a:pPr algn="l"/>
            <a:r>
              <a:rPr sz="700" b="0" i="0">
                <a:solidFill>
                  <a:srgbClr val="FFFFFF"/>
                </a:solidFill>
              </a:rPr>
              <a:t>▶ 付帯サービス：構造化オンボーディングプログラムと専任CSによる継続的な成功支援サービス。</a:t>
            </a:r>
          </a:p>
        </p:txBody>
      </p:sp>
      <p:sp>
        <p:nvSpPr>
          <p:cNvPr id="32" name="Rectangle 31"/>
          <p:cNvSpPr/>
          <p:nvPr/>
        </p:nvSpPr>
        <p:spPr>
          <a:xfrm>
            <a:off x="6080760" y="3657600"/>
            <a:ext cx="5394960" cy="1417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190488" y="3730752"/>
            <a:ext cx="5175504" cy="201168"/>
          </a:xfrm>
          <a:prstGeom prst="rect">
            <a:avLst/>
          </a:prstGeom>
          <a:noFill/>
        </p:spPr>
        <p:txBody>
          <a:bodyPr wrap="square">
            <a:spAutoFit/>
          </a:bodyPr>
          <a:lstStyle/>
          <a:p>
            <a:pPr algn="l"/>
            <a:r>
              <a:rPr sz="850" b="1" i="0">
                <a:solidFill>
                  <a:srgbClr val="FFFFFF"/>
                </a:solidFill>
              </a:rPr>
              <a:t>痛み解消策（Pain Relievers）</a:t>
            </a:r>
          </a:p>
        </p:txBody>
      </p:sp>
      <p:sp>
        <p:nvSpPr>
          <p:cNvPr id="34" name="TextBox 33"/>
          <p:cNvSpPr txBox="1"/>
          <p:nvPr/>
        </p:nvSpPr>
        <p:spPr>
          <a:xfrm>
            <a:off x="6190488" y="3950208"/>
            <a:ext cx="5175504" cy="256032"/>
          </a:xfrm>
          <a:prstGeom prst="rect">
            <a:avLst/>
          </a:prstGeom>
          <a:noFill/>
        </p:spPr>
        <p:txBody>
          <a:bodyPr wrap="square">
            <a:spAutoFit/>
          </a:bodyPr>
          <a:lstStyle/>
          <a:p>
            <a:pPr algn="l"/>
            <a:r>
              <a:rPr sz="750" b="0" i="0">
                <a:solidFill>
                  <a:srgbClr val="FFFFFF"/>
                </a:solidFill>
              </a:rPr>
              <a:t>顧客の痛みを解消する具体的な方法を記述する。</a:t>
            </a:r>
          </a:p>
        </p:txBody>
      </p:sp>
      <p:sp>
        <p:nvSpPr>
          <p:cNvPr id="35" name="TextBox 34"/>
          <p:cNvSpPr txBox="1"/>
          <p:nvPr/>
        </p:nvSpPr>
        <p:spPr>
          <a:xfrm>
            <a:off x="6227064" y="4251960"/>
            <a:ext cx="5120640" cy="384048"/>
          </a:xfrm>
          <a:prstGeom prst="rect">
            <a:avLst/>
          </a:prstGeom>
          <a:noFill/>
        </p:spPr>
        <p:txBody>
          <a:bodyPr wrap="square">
            <a:spAutoFit/>
          </a:bodyPr>
          <a:lstStyle/>
          <a:p>
            <a:pPr algn="l"/>
            <a:r>
              <a:rPr sz="700" b="0" i="0">
                <a:solidFill>
                  <a:srgbClr val="FFFFFF"/>
                </a:solidFill>
              </a:rPr>
              <a:t>▶ 対応時間短縮：AI自動トリアージにより、問い合わせの60%を即時解決し、平均対応時間を48時間から8時間に短縮する。</a:t>
            </a:r>
          </a:p>
        </p:txBody>
      </p:sp>
      <p:sp>
        <p:nvSpPr>
          <p:cNvPr id="36" name="TextBox 35"/>
          <p:cNvSpPr txBox="1"/>
          <p:nvPr/>
        </p:nvSpPr>
        <p:spPr>
          <a:xfrm>
            <a:off x="6227064" y="4654296"/>
            <a:ext cx="5120640" cy="384048"/>
          </a:xfrm>
          <a:prstGeom prst="rect">
            <a:avLst/>
          </a:prstGeom>
          <a:noFill/>
        </p:spPr>
        <p:txBody>
          <a:bodyPr wrap="square">
            <a:spAutoFit/>
          </a:bodyPr>
          <a:lstStyle/>
          <a:p>
            <a:pPr algn="l"/>
            <a:r>
              <a:rPr sz="700" b="0" i="0">
                <a:solidFill>
                  <a:srgbClr val="FFFFFF"/>
                </a:solidFill>
              </a:rPr>
              <a:t>▶ 品質均一化：ナレッジベースの整備と標準化されたプロセスにより、担当者によるばらつきをなくす。</a:t>
            </a:r>
          </a:p>
        </p:txBody>
      </p:sp>
      <p:sp>
        <p:nvSpPr>
          <p:cNvPr id="37" name="Rectangle 36"/>
          <p:cNvSpPr/>
          <p:nvPr/>
        </p:nvSpPr>
        <p:spPr>
          <a:xfrm>
            <a:off x="6080760" y="5166360"/>
            <a:ext cx="5394960" cy="141732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190488" y="5239512"/>
            <a:ext cx="5175504" cy="201168"/>
          </a:xfrm>
          <a:prstGeom prst="rect">
            <a:avLst/>
          </a:prstGeom>
          <a:noFill/>
        </p:spPr>
        <p:txBody>
          <a:bodyPr wrap="square">
            <a:spAutoFit/>
          </a:bodyPr>
          <a:lstStyle/>
          <a:p>
            <a:pPr algn="l"/>
            <a:r>
              <a:rPr sz="850" b="1" i="0">
                <a:solidFill>
                  <a:srgbClr val="FFFFFF"/>
                </a:solidFill>
              </a:rPr>
              <a:t>利得創出策（Gain Creators）</a:t>
            </a:r>
          </a:p>
        </p:txBody>
      </p:sp>
      <p:sp>
        <p:nvSpPr>
          <p:cNvPr id="39" name="TextBox 38"/>
          <p:cNvSpPr txBox="1"/>
          <p:nvPr/>
        </p:nvSpPr>
        <p:spPr>
          <a:xfrm>
            <a:off x="6190488" y="5458968"/>
            <a:ext cx="5175504" cy="256032"/>
          </a:xfrm>
          <a:prstGeom prst="rect">
            <a:avLst/>
          </a:prstGeom>
          <a:noFill/>
        </p:spPr>
        <p:txBody>
          <a:bodyPr wrap="square">
            <a:spAutoFit/>
          </a:bodyPr>
          <a:lstStyle/>
          <a:p>
            <a:pPr algn="l"/>
            <a:r>
              <a:rPr sz="750" b="0" i="0">
                <a:solidFill>
                  <a:srgbClr val="FFFFFF"/>
                </a:solidFill>
              </a:rPr>
              <a:t>顧客の期待する利得を創出する具体的な方法を記述する。</a:t>
            </a:r>
          </a:p>
        </p:txBody>
      </p:sp>
      <p:sp>
        <p:nvSpPr>
          <p:cNvPr id="40" name="TextBox 39"/>
          <p:cNvSpPr txBox="1"/>
          <p:nvPr/>
        </p:nvSpPr>
        <p:spPr>
          <a:xfrm>
            <a:off x="6227064" y="5760720"/>
            <a:ext cx="5120640" cy="384048"/>
          </a:xfrm>
          <a:prstGeom prst="rect">
            <a:avLst/>
          </a:prstGeom>
          <a:noFill/>
        </p:spPr>
        <p:txBody>
          <a:bodyPr wrap="square">
            <a:spAutoFit/>
          </a:bodyPr>
          <a:lstStyle/>
          <a:p>
            <a:pPr algn="l"/>
            <a:r>
              <a:rPr sz="700" b="0" i="0">
                <a:solidFill>
                  <a:srgbClr val="FFFFFF"/>
                </a:solidFill>
              </a:rPr>
              <a:t>▶ 満足度向上：対応品質の改善により、顧客満足度スコアを72点から85点以上に改善し、NPS+20ptを実現する。</a:t>
            </a:r>
          </a:p>
        </p:txBody>
      </p:sp>
      <p:sp>
        <p:nvSpPr>
          <p:cNvPr id="41" name="TextBox 40"/>
          <p:cNvSpPr txBox="1"/>
          <p:nvPr/>
        </p:nvSpPr>
        <p:spPr>
          <a:xfrm>
            <a:off x="6227064" y="6163056"/>
            <a:ext cx="5120640" cy="384048"/>
          </a:xfrm>
          <a:prstGeom prst="rect">
            <a:avLst/>
          </a:prstGeom>
          <a:noFill/>
        </p:spPr>
        <p:txBody>
          <a:bodyPr wrap="square">
            <a:spAutoFit/>
          </a:bodyPr>
          <a:lstStyle/>
          <a:p>
            <a:pPr algn="l"/>
            <a:r>
              <a:rPr sz="700" b="0" i="0">
                <a:solidFill>
                  <a:srgbClr val="FFFFFF"/>
                </a:solidFill>
              </a:rPr>
              <a:t>▶ コスト削減：自動化と効率化により、運用コストを年間8,000万円削減し、CS担当者が戦略業務に集中できる環境を作る。</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548640"/>
          </a:xfrm>
          <a:prstGeom prst="rect">
            <a:avLst/>
          </a:prstGeom>
          <a:noFill/>
        </p:spPr>
        <p:txBody>
          <a:bodyPr wrap="square">
            <a:spAutoFit/>
          </a:bodyPr>
          <a:lstStyle/>
          <a:p>
            <a:pPr algn="l"/>
            <a:r>
              <a:rPr sz="1800" b="1" i="0">
                <a:solidFill>
                  <a:srgbClr val="0C3570"/>
                </a:solidFill>
              </a:rPr>
              <a:t>ビジネスモデルキャンバス：9つのブロックで事業モデルの全体像を可視化する</a:t>
            </a:r>
          </a:p>
        </p:txBody>
      </p:sp>
      <p:sp>
        <p:nvSpPr>
          <p:cNvPr id="4" name="Rectangle 3"/>
          <p:cNvSpPr/>
          <p:nvPr/>
        </p:nvSpPr>
        <p:spPr>
          <a:xfrm>
            <a:off x="548640" y="987552"/>
            <a:ext cx="11064240" cy="18288"/>
          </a:xfrm>
          <a:prstGeom prst="rect">
            <a:avLst/>
          </a:prstGeom>
          <a:solidFill>
            <a:srgbClr val="688B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14984"/>
            <a:ext cx="5486400" cy="9144"/>
          </a:xfrm>
          <a:prstGeom prst="rect">
            <a:avLst/>
          </a:prstGeom>
          <a:solidFill>
            <a:srgbClr val="93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42415"/>
            <a:ext cx="11064240" cy="228600"/>
          </a:xfrm>
          <a:prstGeom prst="rect">
            <a:avLst/>
          </a:prstGeom>
          <a:noFill/>
        </p:spPr>
        <p:txBody>
          <a:bodyPr wrap="square">
            <a:spAutoFit/>
          </a:bodyPr>
          <a:lstStyle/>
          <a:p>
            <a:pPr algn="l"/>
            <a:r>
              <a:rPr sz="800" b="0" i="0">
                <a:solidFill>
                  <a:srgbClr val="99A2AD"/>
                </a:solidFill>
              </a:rPr>
              <a:t>layout_id: business_model_canvas ／ 用途: 事業モデルの全体設計 ／ 件数: 9件</a:t>
            </a:r>
          </a:p>
        </p:txBody>
      </p:sp>
      <p:sp>
        <p:nvSpPr>
          <p:cNvPr id="7" name="Rectangle 6"/>
          <p:cNvSpPr/>
          <p:nvPr/>
        </p:nvSpPr>
        <p:spPr>
          <a:xfrm>
            <a:off x="305" y="6789420"/>
            <a:ext cx="12191695" cy="73152"/>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353312"/>
            <a:ext cx="11064240" cy="384048"/>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389888"/>
            <a:ext cx="10844784" cy="310896"/>
          </a:xfrm>
          <a:prstGeom prst="rect">
            <a:avLst/>
          </a:prstGeom>
          <a:noFill/>
        </p:spPr>
        <p:txBody>
          <a:bodyPr wrap="square">
            <a:spAutoFit/>
          </a:bodyPr>
          <a:lstStyle/>
          <a:p>
            <a:pPr algn="l"/>
            <a:r>
              <a:rPr sz="850" b="0" i="0">
                <a:solidFill>
                  <a:srgbClr val="FFFFFF"/>
                </a:solidFill>
              </a:rPr>
              <a:t>9つのブロックで事業モデルの全体像を可視化し、各要素の整合性と改善余地を確認する。</a:t>
            </a:r>
          </a:p>
        </p:txBody>
      </p:sp>
      <p:sp>
        <p:nvSpPr>
          <p:cNvPr id="10" name="Rectangle 9"/>
          <p:cNvSpPr/>
          <p:nvPr/>
        </p:nvSpPr>
        <p:spPr>
          <a:xfrm>
            <a:off x="548640" y="1828800"/>
            <a:ext cx="1920240" cy="3947893"/>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1901952"/>
            <a:ext cx="1737360" cy="201168"/>
          </a:xfrm>
          <a:prstGeom prst="rect">
            <a:avLst/>
          </a:prstGeom>
          <a:noFill/>
        </p:spPr>
        <p:txBody>
          <a:bodyPr wrap="square">
            <a:spAutoFit/>
          </a:bodyPr>
          <a:lstStyle/>
          <a:p>
            <a:pPr algn="l"/>
            <a:r>
              <a:rPr sz="850" b="1" i="0">
                <a:solidFill>
                  <a:srgbClr val="FFFFFF"/>
                </a:solidFill>
              </a:rPr>
              <a:t>KP：主要パートナー</a:t>
            </a:r>
          </a:p>
        </p:txBody>
      </p:sp>
      <p:sp>
        <p:nvSpPr>
          <p:cNvPr id="12" name="TextBox 11"/>
          <p:cNvSpPr txBox="1"/>
          <p:nvPr/>
        </p:nvSpPr>
        <p:spPr>
          <a:xfrm>
            <a:off x="640080" y="2121408"/>
            <a:ext cx="1737360" cy="347472"/>
          </a:xfrm>
          <a:prstGeom prst="rect">
            <a:avLst/>
          </a:prstGeom>
          <a:noFill/>
        </p:spPr>
        <p:txBody>
          <a:bodyPr wrap="square">
            <a:spAutoFit/>
          </a:bodyPr>
          <a:lstStyle/>
          <a:p>
            <a:pPr algn="l"/>
            <a:r>
              <a:rPr sz="750" b="0" i="0">
                <a:solidFill>
                  <a:srgbClr val="FFFFFF"/>
                </a:solidFill>
              </a:rPr>
              <a:t>SIer・コンサル・クラウドベンダーとの提携により、販売チャネルと技術基盤を強化する。</a:t>
            </a:r>
          </a:p>
        </p:txBody>
      </p:sp>
      <p:sp>
        <p:nvSpPr>
          <p:cNvPr id="13" name="TextBox 12"/>
          <p:cNvSpPr txBox="1"/>
          <p:nvPr/>
        </p:nvSpPr>
        <p:spPr>
          <a:xfrm>
            <a:off x="658368" y="2514600"/>
            <a:ext cx="1700784" cy="457200"/>
          </a:xfrm>
          <a:prstGeom prst="rect">
            <a:avLst/>
          </a:prstGeom>
          <a:noFill/>
        </p:spPr>
        <p:txBody>
          <a:bodyPr wrap="square">
            <a:spAutoFit/>
          </a:bodyPr>
          <a:lstStyle/>
          <a:p>
            <a:pPr algn="l"/>
            <a:r>
              <a:rPr sz="700" b="0" i="0">
                <a:solidFill>
                  <a:srgbClr val="FFFFFF"/>
                </a:solidFill>
              </a:rPr>
              <a:t>▶ SIer提携：既存顧客基盤を活用した間接販売チャネルを構築し、営業効率を高める。</a:t>
            </a:r>
          </a:p>
        </p:txBody>
      </p:sp>
      <p:sp>
        <p:nvSpPr>
          <p:cNvPr id="14" name="TextBox 13"/>
          <p:cNvSpPr txBox="1"/>
          <p:nvPr/>
        </p:nvSpPr>
        <p:spPr>
          <a:xfrm>
            <a:off x="658368" y="2990088"/>
            <a:ext cx="1700784" cy="457200"/>
          </a:xfrm>
          <a:prstGeom prst="rect">
            <a:avLst/>
          </a:prstGeom>
          <a:noFill/>
        </p:spPr>
        <p:txBody>
          <a:bodyPr wrap="square">
            <a:spAutoFit/>
          </a:bodyPr>
          <a:lstStyle/>
          <a:p>
            <a:pPr algn="l"/>
            <a:r>
              <a:rPr sz="700" b="0" i="0">
                <a:solidFill>
                  <a:srgbClr val="FFFFFF"/>
                </a:solidFill>
              </a:rPr>
              <a:t>▶ クラウド：AWS・Azureとの技術提携により、インフラコストを最適化する。</a:t>
            </a:r>
          </a:p>
        </p:txBody>
      </p:sp>
      <p:sp>
        <p:nvSpPr>
          <p:cNvPr id="15" name="Rectangle 14"/>
          <p:cNvSpPr/>
          <p:nvPr/>
        </p:nvSpPr>
        <p:spPr>
          <a:xfrm>
            <a:off x="2514600" y="1828800"/>
            <a:ext cx="1920240" cy="189945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606040" y="1901952"/>
            <a:ext cx="1737360" cy="201168"/>
          </a:xfrm>
          <a:prstGeom prst="rect">
            <a:avLst/>
          </a:prstGeom>
          <a:noFill/>
        </p:spPr>
        <p:txBody>
          <a:bodyPr wrap="square">
            <a:spAutoFit/>
          </a:bodyPr>
          <a:lstStyle/>
          <a:p>
            <a:pPr algn="l"/>
            <a:r>
              <a:rPr sz="850" b="1" i="0">
                <a:solidFill>
                  <a:srgbClr val="0C3570"/>
                </a:solidFill>
              </a:rPr>
              <a:t>KA：主要活動</a:t>
            </a:r>
          </a:p>
        </p:txBody>
      </p:sp>
      <p:sp>
        <p:nvSpPr>
          <p:cNvPr id="17" name="TextBox 16"/>
          <p:cNvSpPr txBox="1"/>
          <p:nvPr/>
        </p:nvSpPr>
        <p:spPr>
          <a:xfrm>
            <a:off x="2606040" y="2121408"/>
            <a:ext cx="1737360" cy="347472"/>
          </a:xfrm>
          <a:prstGeom prst="rect">
            <a:avLst/>
          </a:prstGeom>
          <a:noFill/>
        </p:spPr>
        <p:txBody>
          <a:bodyPr wrap="square">
            <a:spAutoFit/>
          </a:bodyPr>
          <a:lstStyle/>
          <a:p>
            <a:pPr algn="l"/>
            <a:r>
              <a:rPr sz="750" b="0" i="0">
                <a:solidFill>
                  <a:srgbClr val="444444"/>
                </a:solidFill>
              </a:rPr>
              <a:t>製品開発・CS運営・マーケティングの3活動が事業の中核を担う。</a:t>
            </a:r>
          </a:p>
        </p:txBody>
      </p:sp>
      <p:sp>
        <p:nvSpPr>
          <p:cNvPr id="18" name="TextBox 17"/>
          <p:cNvSpPr txBox="1"/>
          <p:nvPr/>
        </p:nvSpPr>
        <p:spPr>
          <a:xfrm>
            <a:off x="2624328" y="2514600"/>
            <a:ext cx="1700784" cy="457200"/>
          </a:xfrm>
          <a:prstGeom prst="rect">
            <a:avLst/>
          </a:prstGeom>
          <a:noFill/>
        </p:spPr>
        <p:txBody>
          <a:bodyPr wrap="square">
            <a:spAutoFit/>
          </a:bodyPr>
          <a:lstStyle/>
          <a:p>
            <a:pPr algn="l"/>
            <a:r>
              <a:rPr sz="700" b="0" i="0">
                <a:solidFill>
                  <a:srgbClr val="444444"/>
                </a:solidFill>
              </a:rPr>
              <a:t>▶ 製品開発：AI機能の継続的な改善と新機能開発により、競合優位を維持する。</a:t>
            </a:r>
          </a:p>
        </p:txBody>
      </p:sp>
      <p:sp>
        <p:nvSpPr>
          <p:cNvPr id="19" name="Rectangle 18"/>
          <p:cNvSpPr/>
          <p:nvPr/>
        </p:nvSpPr>
        <p:spPr>
          <a:xfrm>
            <a:off x="4480560" y="1828800"/>
            <a:ext cx="2377440" cy="3947893"/>
          </a:xfrm>
          <a:prstGeom prst="rect">
            <a:avLst/>
          </a:prstGeom>
          <a:solidFill>
            <a:srgbClr val="0A2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0" y="1901952"/>
            <a:ext cx="2194560" cy="201168"/>
          </a:xfrm>
          <a:prstGeom prst="rect">
            <a:avLst/>
          </a:prstGeom>
          <a:noFill/>
        </p:spPr>
        <p:txBody>
          <a:bodyPr wrap="square">
            <a:spAutoFit/>
          </a:bodyPr>
          <a:lstStyle/>
          <a:p>
            <a:pPr algn="l"/>
            <a:r>
              <a:rPr sz="850" b="1" i="0">
                <a:solidFill>
                  <a:srgbClr val="FFFFFF"/>
                </a:solidFill>
              </a:rPr>
              <a:t>VP：価値提案</a:t>
            </a:r>
          </a:p>
        </p:txBody>
      </p:sp>
      <p:sp>
        <p:nvSpPr>
          <p:cNvPr id="21" name="TextBox 20"/>
          <p:cNvSpPr txBox="1"/>
          <p:nvPr/>
        </p:nvSpPr>
        <p:spPr>
          <a:xfrm>
            <a:off x="4572000" y="2121408"/>
            <a:ext cx="2194560" cy="347472"/>
          </a:xfrm>
          <a:prstGeom prst="rect">
            <a:avLst/>
          </a:prstGeom>
          <a:noFill/>
        </p:spPr>
        <p:txBody>
          <a:bodyPr wrap="square">
            <a:spAutoFit/>
          </a:bodyPr>
          <a:lstStyle/>
          <a:p>
            <a:pPr algn="l"/>
            <a:r>
              <a:rPr sz="750" b="0" i="0">
                <a:solidFill>
                  <a:srgbClr val="FFFFFF"/>
                </a:solidFill>
              </a:rPr>
              <a:t>「最速導入×最高サポート」により、顧客の成功を最短で実現する唯一のSaaS。</a:t>
            </a:r>
          </a:p>
        </p:txBody>
      </p:sp>
      <p:sp>
        <p:nvSpPr>
          <p:cNvPr id="22" name="TextBox 21"/>
          <p:cNvSpPr txBox="1"/>
          <p:nvPr/>
        </p:nvSpPr>
        <p:spPr>
          <a:xfrm>
            <a:off x="4590288" y="2514600"/>
            <a:ext cx="2157984" cy="457200"/>
          </a:xfrm>
          <a:prstGeom prst="rect">
            <a:avLst/>
          </a:prstGeom>
          <a:noFill/>
        </p:spPr>
        <p:txBody>
          <a:bodyPr wrap="square">
            <a:spAutoFit/>
          </a:bodyPr>
          <a:lstStyle/>
          <a:p>
            <a:pPr algn="l"/>
            <a:r>
              <a:rPr sz="700" b="0" i="0">
                <a:solidFill>
                  <a:srgbClr val="FFFFFF"/>
                </a:solidFill>
              </a:rPr>
              <a:t>▶ 差別化：4週間導入・24時間サポート・AI自動化の3点が競合にない独自価値を提供する。</a:t>
            </a:r>
          </a:p>
        </p:txBody>
      </p:sp>
      <p:sp>
        <p:nvSpPr>
          <p:cNvPr id="23" name="TextBox 22"/>
          <p:cNvSpPr txBox="1"/>
          <p:nvPr/>
        </p:nvSpPr>
        <p:spPr>
          <a:xfrm>
            <a:off x="4590288" y="2990088"/>
            <a:ext cx="2157984" cy="457200"/>
          </a:xfrm>
          <a:prstGeom prst="rect">
            <a:avLst/>
          </a:prstGeom>
          <a:noFill/>
        </p:spPr>
        <p:txBody>
          <a:bodyPr wrap="square">
            <a:spAutoFit/>
          </a:bodyPr>
          <a:lstStyle/>
          <a:p>
            <a:pPr algn="l"/>
            <a:r>
              <a:rPr sz="700" b="0" i="0">
                <a:solidFill>
                  <a:srgbClr val="FFFFFF"/>
                </a:solidFill>
              </a:rPr>
              <a:t>▶ 証拠：継続率87%・NPS+42・200社以上の導入実績が価値提案の信頼性を裏付ける。</a:t>
            </a:r>
          </a:p>
        </p:txBody>
      </p:sp>
      <p:sp>
        <p:nvSpPr>
          <p:cNvPr id="24" name="Rectangle 23"/>
          <p:cNvSpPr/>
          <p:nvPr/>
        </p:nvSpPr>
        <p:spPr>
          <a:xfrm>
            <a:off x="2514600" y="3845560"/>
            <a:ext cx="1920240" cy="189945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606040" y="3918712"/>
            <a:ext cx="1737360" cy="201168"/>
          </a:xfrm>
          <a:prstGeom prst="rect">
            <a:avLst/>
          </a:prstGeom>
          <a:noFill/>
        </p:spPr>
        <p:txBody>
          <a:bodyPr wrap="square">
            <a:spAutoFit/>
          </a:bodyPr>
          <a:lstStyle/>
          <a:p>
            <a:pPr algn="l"/>
            <a:r>
              <a:rPr sz="850" b="1" i="0">
                <a:solidFill>
                  <a:srgbClr val="0C3570"/>
                </a:solidFill>
              </a:rPr>
              <a:t>KR：主要リソース</a:t>
            </a:r>
          </a:p>
        </p:txBody>
      </p:sp>
      <p:sp>
        <p:nvSpPr>
          <p:cNvPr id="26" name="TextBox 25"/>
          <p:cNvSpPr txBox="1"/>
          <p:nvPr/>
        </p:nvSpPr>
        <p:spPr>
          <a:xfrm>
            <a:off x="2606040" y="4138168"/>
            <a:ext cx="1737360" cy="347472"/>
          </a:xfrm>
          <a:prstGeom prst="rect">
            <a:avLst/>
          </a:prstGeom>
          <a:noFill/>
        </p:spPr>
        <p:txBody>
          <a:bodyPr wrap="square">
            <a:spAutoFit/>
          </a:bodyPr>
          <a:lstStyle/>
          <a:p>
            <a:pPr algn="l"/>
            <a:r>
              <a:rPr sz="750" b="0" i="0">
                <a:solidFill>
                  <a:srgbClr val="444444"/>
                </a:solidFill>
              </a:rPr>
              <a:t>AI技術・CS人材・顧客データの3リソースが競合優位の源泉となる。</a:t>
            </a:r>
          </a:p>
        </p:txBody>
      </p:sp>
      <p:sp>
        <p:nvSpPr>
          <p:cNvPr id="27" name="TextBox 26"/>
          <p:cNvSpPr txBox="1"/>
          <p:nvPr/>
        </p:nvSpPr>
        <p:spPr>
          <a:xfrm>
            <a:off x="2624328" y="4531360"/>
            <a:ext cx="1700784" cy="457200"/>
          </a:xfrm>
          <a:prstGeom prst="rect">
            <a:avLst/>
          </a:prstGeom>
          <a:noFill/>
        </p:spPr>
        <p:txBody>
          <a:bodyPr wrap="square">
            <a:spAutoFit/>
          </a:bodyPr>
          <a:lstStyle/>
          <a:p>
            <a:pPr algn="l"/>
            <a:r>
              <a:rPr sz="700" b="0" i="0">
                <a:solidFill>
                  <a:srgbClr val="444444"/>
                </a:solidFill>
              </a:rPr>
              <a:t>▶ AI技術：独自開発のAIエンジンが競合模倣困難な差別化要因となっている。</a:t>
            </a:r>
          </a:p>
        </p:txBody>
      </p:sp>
      <p:sp>
        <p:nvSpPr>
          <p:cNvPr id="28" name="Rectangle 27"/>
          <p:cNvSpPr/>
          <p:nvPr/>
        </p:nvSpPr>
        <p:spPr>
          <a:xfrm>
            <a:off x="6949440" y="1828800"/>
            <a:ext cx="1920240" cy="189945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040879" y="1901952"/>
            <a:ext cx="1737360" cy="201168"/>
          </a:xfrm>
          <a:prstGeom prst="rect">
            <a:avLst/>
          </a:prstGeom>
          <a:noFill/>
        </p:spPr>
        <p:txBody>
          <a:bodyPr wrap="square">
            <a:spAutoFit/>
          </a:bodyPr>
          <a:lstStyle/>
          <a:p>
            <a:pPr algn="l"/>
            <a:r>
              <a:rPr sz="850" b="1" i="0">
                <a:solidFill>
                  <a:srgbClr val="0C3570"/>
                </a:solidFill>
              </a:rPr>
              <a:t>CR：顧客との関係</a:t>
            </a:r>
          </a:p>
        </p:txBody>
      </p:sp>
      <p:sp>
        <p:nvSpPr>
          <p:cNvPr id="30" name="TextBox 29"/>
          <p:cNvSpPr txBox="1"/>
          <p:nvPr/>
        </p:nvSpPr>
        <p:spPr>
          <a:xfrm>
            <a:off x="7040879" y="2121408"/>
            <a:ext cx="1737360" cy="347472"/>
          </a:xfrm>
          <a:prstGeom prst="rect">
            <a:avLst/>
          </a:prstGeom>
          <a:noFill/>
        </p:spPr>
        <p:txBody>
          <a:bodyPr wrap="square">
            <a:spAutoFit/>
          </a:bodyPr>
          <a:lstStyle/>
          <a:p>
            <a:pPr algn="l"/>
            <a:r>
              <a:rPr sz="750" b="0" i="0">
                <a:solidFill>
                  <a:srgbClr val="444444"/>
                </a:solidFill>
              </a:rPr>
              <a:t>専任CSによる個別対応と、コミュニティによる自律的な成功支援を組み合わせる。</a:t>
            </a:r>
          </a:p>
        </p:txBody>
      </p:sp>
      <p:sp>
        <p:nvSpPr>
          <p:cNvPr id="31" name="TextBox 30"/>
          <p:cNvSpPr txBox="1"/>
          <p:nvPr/>
        </p:nvSpPr>
        <p:spPr>
          <a:xfrm>
            <a:off x="7059168" y="2514600"/>
            <a:ext cx="1700784" cy="457200"/>
          </a:xfrm>
          <a:prstGeom prst="rect">
            <a:avLst/>
          </a:prstGeom>
          <a:noFill/>
        </p:spPr>
        <p:txBody>
          <a:bodyPr wrap="square">
            <a:spAutoFit/>
          </a:bodyPr>
          <a:lstStyle/>
          <a:p>
            <a:pPr algn="l"/>
            <a:r>
              <a:rPr sz="700" b="0" i="0">
                <a:solidFill>
                  <a:srgbClr val="444444"/>
                </a:solidFill>
              </a:rPr>
              <a:t>▶ 専任CS：担当顧客50社以下の体制で、プロアクティブな成功支援を提供する。</a:t>
            </a:r>
          </a:p>
        </p:txBody>
      </p:sp>
      <p:sp>
        <p:nvSpPr>
          <p:cNvPr id="32" name="Rectangle 31"/>
          <p:cNvSpPr/>
          <p:nvPr/>
        </p:nvSpPr>
        <p:spPr>
          <a:xfrm>
            <a:off x="8915400" y="1828800"/>
            <a:ext cx="2697480" cy="3947893"/>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006840" y="1901952"/>
            <a:ext cx="2514600" cy="201168"/>
          </a:xfrm>
          <a:prstGeom prst="rect">
            <a:avLst/>
          </a:prstGeom>
          <a:noFill/>
        </p:spPr>
        <p:txBody>
          <a:bodyPr wrap="square">
            <a:spAutoFit/>
          </a:bodyPr>
          <a:lstStyle/>
          <a:p>
            <a:pPr algn="l"/>
            <a:r>
              <a:rPr sz="850" b="1" i="0">
                <a:solidFill>
                  <a:srgbClr val="0C3570"/>
                </a:solidFill>
              </a:rPr>
              <a:t>CS：顧客セグメント</a:t>
            </a:r>
          </a:p>
        </p:txBody>
      </p:sp>
      <p:sp>
        <p:nvSpPr>
          <p:cNvPr id="34" name="TextBox 33"/>
          <p:cNvSpPr txBox="1"/>
          <p:nvPr/>
        </p:nvSpPr>
        <p:spPr>
          <a:xfrm>
            <a:off x="9006840" y="2121408"/>
            <a:ext cx="2514600" cy="347472"/>
          </a:xfrm>
          <a:prstGeom prst="rect">
            <a:avLst/>
          </a:prstGeom>
          <a:noFill/>
        </p:spPr>
        <p:txBody>
          <a:bodyPr wrap="square">
            <a:spAutoFit/>
          </a:bodyPr>
          <a:lstStyle/>
          <a:p>
            <a:pPr algn="l"/>
            <a:r>
              <a:rPr sz="750" b="0" i="0">
                <a:solidFill>
                  <a:srgbClr val="444444"/>
                </a:solidFill>
              </a:rPr>
              <a:t>中堅IT企業と大手製造業を最優先ターゲットに設定する。</a:t>
            </a:r>
          </a:p>
        </p:txBody>
      </p:sp>
      <p:sp>
        <p:nvSpPr>
          <p:cNvPr id="35" name="TextBox 34"/>
          <p:cNvSpPr txBox="1"/>
          <p:nvPr/>
        </p:nvSpPr>
        <p:spPr>
          <a:xfrm>
            <a:off x="9025128" y="2514600"/>
            <a:ext cx="2478024" cy="457200"/>
          </a:xfrm>
          <a:prstGeom prst="rect">
            <a:avLst/>
          </a:prstGeom>
          <a:noFill/>
        </p:spPr>
        <p:txBody>
          <a:bodyPr wrap="square">
            <a:spAutoFit/>
          </a:bodyPr>
          <a:lstStyle/>
          <a:p>
            <a:pPr algn="l"/>
            <a:r>
              <a:rPr sz="700" b="0" i="0">
                <a:solidFill>
                  <a:srgbClr val="444444"/>
                </a:solidFill>
              </a:rPr>
              <a:t>▶ 最優先：中堅IT企業（売上10〜100億円）・大手製造業（売上100億円以上）</a:t>
            </a:r>
          </a:p>
        </p:txBody>
      </p:sp>
      <p:sp>
        <p:nvSpPr>
          <p:cNvPr id="36" name="TextBox 35"/>
          <p:cNvSpPr txBox="1"/>
          <p:nvPr/>
        </p:nvSpPr>
        <p:spPr>
          <a:xfrm>
            <a:off x="9025128" y="2990088"/>
            <a:ext cx="2478024" cy="457200"/>
          </a:xfrm>
          <a:prstGeom prst="rect">
            <a:avLst/>
          </a:prstGeom>
          <a:noFill/>
        </p:spPr>
        <p:txBody>
          <a:bodyPr wrap="square">
            <a:spAutoFit/>
          </a:bodyPr>
          <a:lstStyle/>
          <a:p>
            <a:pPr algn="l"/>
            <a:r>
              <a:rPr sz="700" b="0" i="0">
                <a:solidFill>
                  <a:srgbClr val="444444"/>
                </a:solidFill>
              </a:rPr>
              <a:t>▶ 市場規模：合計800億円規模。現在3%→10%のシェア拡大を目指す。</a:t>
            </a:r>
          </a:p>
        </p:txBody>
      </p:sp>
      <p:sp>
        <p:nvSpPr>
          <p:cNvPr id="37" name="Rectangle 36"/>
          <p:cNvSpPr/>
          <p:nvPr/>
        </p:nvSpPr>
        <p:spPr>
          <a:xfrm>
            <a:off x="6949440" y="3845560"/>
            <a:ext cx="1920240" cy="1899458"/>
          </a:xfrm>
          <a:prstGeom prst="rect">
            <a:avLst/>
          </a:prstGeom>
          <a:solidFill>
            <a:srgbClr val="F1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040879" y="3918712"/>
            <a:ext cx="1737360" cy="201168"/>
          </a:xfrm>
          <a:prstGeom prst="rect">
            <a:avLst/>
          </a:prstGeom>
          <a:noFill/>
        </p:spPr>
        <p:txBody>
          <a:bodyPr wrap="square">
            <a:spAutoFit/>
          </a:bodyPr>
          <a:lstStyle/>
          <a:p>
            <a:pPr algn="l"/>
            <a:r>
              <a:rPr sz="850" b="1" i="0">
                <a:solidFill>
                  <a:srgbClr val="0C3570"/>
                </a:solidFill>
              </a:rPr>
              <a:t>CH：チャネル</a:t>
            </a:r>
          </a:p>
        </p:txBody>
      </p:sp>
      <p:sp>
        <p:nvSpPr>
          <p:cNvPr id="39" name="TextBox 38"/>
          <p:cNvSpPr txBox="1"/>
          <p:nvPr/>
        </p:nvSpPr>
        <p:spPr>
          <a:xfrm>
            <a:off x="7040879" y="4138168"/>
            <a:ext cx="1737360" cy="347472"/>
          </a:xfrm>
          <a:prstGeom prst="rect">
            <a:avLst/>
          </a:prstGeom>
          <a:noFill/>
        </p:spPr>
        <p:txBody>
          <a:bodyPr wrap="square">
            <a:spAutoFit/>
          </a:bodyPr>
          <a:lstStyle/>
          <a:p>
            <a:pPr algn="l"/>
            <a:r>
              <a:rPr sz="750" b="0" i="0">
                <a:solidFill>
                  <a:srgbClr val="444444"/>
                </a:solidFill>
              </a:rPr>
              <a:t>直販・パートナー・デジタルの3チャネルで顧客にリーチする。</a:t>
            </a:r>
          </a:p>
        </p:txBody>
      </p:sp>
      <p:sp>
        <p:nvSpPr>
          <p:cNvPr id="40" name="TextBox 39"/>
          <p:cNvSpPr txBox="1"/>
          <p:nvPr/>
        </p:nvSpPr>
        <p:spPr>
          <a:xfrm>
            <a:off x="7059168" y="4531360"/>
            <a:ext cx="1700784" cy="457200"/>
          </a:xfrm>
          <a:prstGeom prst="rect">
            <a:avLst/>
          </a:prstGeom>
          <a:noFill/>
        </p:spPr>
        <p:txBody>
          <a:bodyPr wrap="square">
            <a:spAutoFit/>
          </a:bodyPr>
          <a:lstStyle/>
          <a:p>
            <a:pPr algn="l"/>
            <a:r>
              <a:rPr sz="700" b="0" i="0">
                <a:solidFill>
                  <a:srgbClr val="444444"/>
                </a:solidFill>
              </a:rPr>
              <a:t>▶ 直販：インサイドセールスとフィールドセールスで中堅〜大手企業に直接アプローチする。</a:t>
            </a:r>
          </a:p>
        </p:txBody>
      </p:sp>
      <p:sp>
        <p:nvSpPr>
          <p:cNvPr id="41" name="Rectangle 40"/>
          <p:cNvSpPr/>
          <p:nvPr/>
        </p:nvSpPr>
        <p:spPr>
          <a:xfrm>
            <a:off x="548640" y="5873407"/>
            <a:ext cx="4114800" cy="548640"/>
          </a:xfrm>
          <a:prstGeom prst="rect">
            <a:avLst/>
          </a:prstGeom>
          <a:solidFill>
            <a:srgbClr val="E0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0080" y="5946559"/>
            <a:ext cx="3931920" cy="201168"/>
          </a:xfrm>
          <a:prstGeom prst="rect">
            <a:avLst/>
          </a:prstGeom>
          <a:noFill/>
        </p:spPr>
        <p:txBody>
          <a:bodyPr wrap="square">
            <a:spAutoFit/>
          </a:bodyPr>
          <a:lstStyle/>
          <a:p>
            <a:pPr algn="l"/>
            <a:r>
              <a:rPr sz="850" b="1" i="0">
                <a:solidFill>
                  <a:srgbClr val="0C3570"/>
                </a:solidFill>
              </a:rPr>
              <a:t>C$：コスト構造</a:t>
            </a:r>
          </a:p>
        </p:txBody>
      </p:sp>
      <p:sp>
        <p:nvSpPr>
          <p:cNvPr id="43" name="TextBox 42"/>
          <p:cNvSpPr txBox="1"/>
          <p:nvPr/>
        </p:nvSpPr>
        <p:spPr>
          <a:xfrm>
            <a:off x="640080" y="6099048"/>
            <a:ext cx="3931920" cy="347472"/>
          </a:xfrm>
          <a:prstGeom prst="rect">
            <a:avLst/>
          </a:prstGeom>
          <a:noFill/>
        </p:spPr>
        <p:txBody>
          <a:bodyPr wrap="square">
            <a:spAutoFit/>
          </a:bodyPr>
          <a:lstStyle/>
          <a:p>
            <a:pPr algn="l"/>
            <a:r>
              <a:rPr sz="750" b="0" i="0" dirty="0">
                <a:solidFill>
                  <a:srgbClr val="444444"/>
                </a:solidFill>
              </a:rPr>
              <a:t>人件費（CS・開発）60%・インフラ20%・マーケティング20%の構成。規模拡大でインフラコストが低下する。</a:t>
            </a:r>
          </a:p>
        </p:txBody>
      </p:sp>
      <p:sp>
        <p:nvSpPr>
          <p:cNvPr id="44" name="Rectangle 43"/>
          <p:cNvSpPr/>
          <p:nvPr/>
        </p:nvSpPr>
        <p:spPr>
          <a:xfrm>
            <a:off x="4754880" y="5873407"/>
            <a:ext cx="6858000" cy="548640"/>
          </a:xfrm>
          <a:prstGeom prst="rect">
            <a:avLst/>
          </a:prstGeom>
          <a:solidFill>
            <a:srgbClr val="1D5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846320" y="5946559"/>
            <a:ext cx="6675120" cy="201168"/>
          </a:xfrm>
          <a:prstGeom prst="rect">
            <a:avLst/>
          </a:prstGeom>
          <a:noFill/>
        </p:spPr>
        <p:txBody>
          <a:bodyPr wrap="square">
            <a:spAutoFit/>
          </a:bodyPr>
          <a:lstStyle/>
          <a:p>
            <a:pPr algn="l"/>
            <a:r>
              <a:rPr sz="850" b="1" i="0">
                <a:solidFill>
                  <a:srgbClr val="FFFFFF"/>
                </a:solidFill>
              </a:rPr>
              <a:t>R$：収益の流れ</a:t>
            </a:r>
          </a:p>
        </p:txBody>
      </p:sp>
      <p:sp>
        <p:nvSpPr>
          <p:cNvPr id="46" name="TextBox 45"/>
          <p:cNvSpPr txBox="1"/>
          <p:nvPr/>
        </p:nvSpPr>
        <p:spPr>
          <a:xfrm>
            <a:off x="4828032" y="6184303"/>
            <a:ext cx="6675120" cy="347472"/>
          </a:xfrm>
          <a:prstGeom prst="rect">
            <a:avLst/>
          </a:prstGeom>
          <a:noFill/>
        </p:spPr>
        <p:txBody>
          <a:bodyPr wrap="square">
            <a:spAutoFit/>
          </a:bodyPr>
          <a:lstStyle/>
          <a:p>
            <a:pPr algn="l"/>
            <a:r>
              <a:rPr sz="750" b="0" i="0" dirty="0">
                <a:solidFill>
                  <a:srgbClr val="FFFFFF"/>
                </a:solidFill>
              </a:rPr>
              <a:t>月額サブスクリプション（80%）＋導入支援（15%）＋オプション（5%）</a:t>
            </a:r>
            <a:r>
              <a:rPr sz="750" b="0" i="0" dirty="0" err="1">
                <a:solidFill>
                  <a:srgbClr val="FFFFFF"/>
                </a:solidFill>
              </a:rPr>
              <a:t>の収益構成</a:t>
            </a:r>
            <a:r>
              <a:rPr sz="750" b="0" i="0" dirty="0">
                <a:solidFill>
                  <a:srgbClr val="FFFFFF"/>
                </a:solidFill>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8109</Words>
  <Application>Microsoft Office PowerPoint</Application>
  <PresentationFormat>ワイド画面</PresentationFormat>
  <Paragraphs>1409</Paragraphs>
  <Slides>57</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57</vt:i4>
      </vt:variant>
    </vt:vector>
  </HeadingPairs>
  <TitlesOfParts>
    <vt:vector size="60" baseType="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 Bando</cp:lastModifiedBy>
  <cp:revision>2</cp:revision>
  <dcterms:created xsi:type="dcterms:W3CDTF">2013-01-27T09:14:16Z</dcterms:created>
  <dcterms:modified xsi:type="dcterms:W3CDTF">2026-05-25T00:16:02Z</dcterms:modified>
  <cp:category/>
</cp:coreProperties>
</file>